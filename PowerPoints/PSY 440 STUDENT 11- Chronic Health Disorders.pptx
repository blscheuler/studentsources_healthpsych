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07" r:id="rId6"/>
    <p:sldId id="319" r:id="rId7"/>
    <p:sldId id="321" r:id="rId8"/>
    <p:sldId id="320" r:id="rId9"/>
    <p:sldId id="322" r:id="rId10"/>
    <p:sldId id="323" r:id="rId11"/>
    <p:sldId id="329" r:id="rId12"/>
    <p:sldId id="324" r:id="rId13"/>
    <p:sldId id="325" r:id="rId14"/>
    <p:sldId id="327" r:id="rId15"/>
    <p:sldId id="33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74361" autoAdjust="0"/>
  </p:normalViewPr>
  <p:slideViewPr>
    <p:cSldViewPr snapToGrid="0">
      <p:cViewPr varScale="1">
        <p:scale>
          <a:sx n="80" d="100"/>
          <a:sy n="80" d="100"/>
        </p:scale>
        <p:origin x="3204" y="9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24339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9715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5814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6470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4473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2957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98056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5539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4233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7920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stockphoto.com/vector/happy-family-cartoon-boy-standing-together-with-mother-and-grandma-relatives-group-gm1434116990-475836258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openclipart.org/detail/544/gerald-g-balance-scale-by-gerald_g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6000" b="1" dirty="0"/>
              <a:t>Management of Chronic Health Disorders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12" y="914400"/>
            <a:ext cx="5828503" cy="5029200"/>
          </a:xfrm>
        </p:spPr>
        <p:txBody>
          <a:bodyPr/>
          <a:lstStyle/>
          <a:p>
            <a:r>
              <a:rPr lang="en-US" sz="11500" b="1" dirty="0">
                <a:solidFill>
                  <a:srgbClr val="002060"/>
                </a:solidFill>
              </a:rPr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819161"/>
              </p:ext>
            </p:extLst>
          </p:nvPr>
        </p:nvGraphicFramePr>
        <p:xfrm>
          <a:off x="6869113" y="1143000"/>
          <a:ext cx="4190999" cy="5446238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latin typeface="+mn-lt"/>
                          <a:cs typeface="Gill Sans Light" panose="020B0302020104020203" pitchFamily="34" charset="-79"/>
                        </a:rPr>
                        <a:t>Quality of Life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r>
                        <a:rPr lang="en-US" sz="3200" b="0" dirty="0"/>
                        <a:t>Responses to Chronic Health Disorders</a:t>
                      </a:r>
                    </a:p>
                    <a:p>
                      <a:pPr algn="r"/>
                      <a:endParaRPr lang="en-US" sz="32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3200" b="0" dirty="0"/>
                        <a:t>Comanagement of Chronic Health Disorders</a:t>
                      </a:r>
                    </a:p>
                    <a:p>
                      <a:pPr algn="r"/>
                      <a:endParaRPr lang="en-US" sz="32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Interventions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58360F-490E-EFD0-5185-57F392DF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7534656" cy="547912"/>
          </a:xfrm>
        </p:spPr>
        <p:txBody>
          <a:bodyPr/>
          <a:lstStyle/>
          <a:p>
            <a:r>
              <a:rPr lang="en-US" dirty="0"/>
              <a:t>Important Terminology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4CDE65-2628-43F8-0055-6474258C1A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 lnSpcReduction="10000"/>
          </a:bodyPr>
          <a:lstStyle/>
          <a:p>
            <a:r>
              <a:rPr lang="en-US" sz="2400" b="1" u="sng" dirty="0"/>
              <a:t>Chronic health disorder</a:t>
            </a:r>
            <a:r>
              <a:rPr lang="en-US" sz="2400" b="1" dirty="0"/>
              <a:t> </a:t>
            </a:r>
            <a:r>
              <a:rPr lang="en-US" sz="2400" dirty="0"/>
              <a:t>– a disease that a person experiences over an extended period of time</a:t>
            </a:r>
          </a:p>
          <a:p>
            <a:pPr lvl="1"/>
            <a:r>
              <a:rPr lang="en-US" sz="2000" dirty="0"/>
              <a:t>Ex: partial hearing loss, hypertension, Alzheimer’s disease, cancer</a:t>
            </a:r>
          </a:p>
          <a:p>
            <a:r>
              <a:rPr lang="en-US" sz="2400" b="1" u="sng" dirty="0"/>
              <a:t>Quality-of-life</a:t>
            </a:r>
            <a:r>
              <a:rPr lang="en-US" sz="2400" dirty="0"/>
              <a:t> – a multidimensional rating of a person’s wellbeing, that accounts for physical, mental, cognitive, social, and spiritual health</a:t>
            </a:r>
          </a:p>
          <a:p>
            <a:r>
              <a:rPr lang="en-US" sz="2400" b="1" u="sng" dirty="0"/>
              <a:t>Comorbidity</a:t>
            </a:r>
            <a:r>
              <a:rPr lang="en-US" sz="2400" dirty="0"/>
              <a:t> – the addition of a disease (or diseases) during the assessment or treatment of a pre-existing condition</a:t>
            </a:r>
          </a:p>
          <a:p>
            <a:pPr lvl="1"/>
            <a:r>
              <a:rPr lang="en-US" sz="2200" dirty="0"/>
              <a:t>Ex: cancer and depression</a:t>
            </a:r>
          </a:p>
          <a:p>
            <a:pPr lvl="1"/>
            <a:r>
              <a:rPr lang="en-US" sz="2200" dirty="0"/>
              <a:t>Typically considered disease-focused</a:t>
            </a:r>
          </a:p>
          <a:p>
            <a:r>
              <a:rPr lang="en-US" sz="2400" b="1" u="sng" dirty="0"/>
              <a:t>Multimorbidity</a:t>
            </a:r>
            <a:r>
              <a:rPr lang="en-US" sz="2400" dirty="0"/>
              <a:t> – the co-existence of multiple diseases, where one disease is not more prominent than the other(s)</a:t>
            </a:r>
          </a:p>
          <a:p>
            <a:pPr lvl="1"/>
            <a:r>
              <a:rPr lang="en-US" sz="2200" dirty="0"/>
              <a:t>Ex: anxiety and depression</a:t>
            </a:r>
          </a:p>
          <a:p>
            <a:pPr lvl="1"/>
            <a:r>
              <a:rPr lang="en-US" sz="2200" dirty="0"/>
              <a:t>Typically considered patient-focused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B23E5-7A92-C1EB-A061-226C9D433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632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2019A1-1973-FCEB-BC71-E9E6A88C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224" y="914400"/>
            <a:ext cx="10561805" cy="3538728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What are the similarities &amp; differences between a chronic illness and a terminal illness?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C68C5-1370-8CD0-194C-FD2EA639CA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0013" y="5880100"/>
            <a:ext cx="661987" cy="895350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60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01801-435B-C20B-265A-EFDEC2F6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C6393B-CD92-67F1-DAE0-67E4A8F49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7534656" cy="547912"/>
          </a:xfrm>
        </p:spPr>
        <p:txBody>
          <a:bodyPr/>
          <a:lstStyle/>
          <a:p>
            <a:r>
              <a:rPr lang="en-US" dirty="0"/>
              <a:t>Quality-of-Life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9CE8F2-7FF7-6614-C55F-D700F65E9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dirty="0"/>
              <a:t>Assessments measure the extent to which a patient’s normal life activities have been compromised by disease and treatment.</a:t>
            </a:r>
          </a:p>
          <a:p>
            <a:r>
              <a:rPr lang="en-US" sz="2400" dirty="0"/>
              <a:t>Components: ability to maintain normal life functioning, as well as physical, mental, cognitive, social, and spiritual health (though inclusion in assessments may vary)</a:t>
            </a:r>
          </a:p>
          <a:p>
            <a:r>
              <a:rPr lang="en-US" sz="2400" dirty="0"/>
              <a:t>As survivability of chronic illnesses have increased, Q-o-L has become a larger concern</a:t>
            </a:r>
          </a:p>
          <a:p>
            <a:pPr lvl="1"/>
            <a:r>
              <a:rPr lang="en-US" sz="2200" dirty="0"/>
              <a:t>Can be a determining factor in treatment selection</a:t>
            </a:r>
          </a:p>
          <a:p>
            <a:r>
              <a:rPr lang="en-US" sz="2400" dirty="0"/>
              <a:t>Q-o-L can impact success of treatments and severity symptoms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E3B97-2AF1-021C-9CB4-3C251B31D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52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9732-2681-CAB1-851D-2481972E1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597958-810F-806E-7626-927C8DD2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7534656" cy="547912"/>
          </a:xfrm>
        </p:spPr>
        <p:txBody>
          <a:bodyPr/>
          <a:lstStyle/>
          <a:p>
            <a:r>
              <a:rPr lang="en-US" dirty="0"/>
              <a:t>Responses to Diagnosis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125D9-27DE-9452-F2C5-4EADFC6B9E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dirty="0"/>
              <a:t>Being diagnosed with a chronic illness can massively impact a patient’s life, and can lead to denial, anxiety, and depression</a:t>
            </a:r>
          </a:p>
          <a:p>
            <a:pPr lvl="1"/>
            <a:r>
              <a:rPr lang="en-US" sz="2200" dirty="0"/>
              <a:t>Consider: What are common symptoms of anxiety and depression? What are common symptoms of being immunocompromised? </a:t>
            </a:r>
          </a:p>
          <a:p>
            <a:pPr lvl="1"/>
            <a:r>
              <a:rPr lang="en-US" sz="2200" dirty="0"/>
              <a:t>These can impact treatment adherence and symptom severity</a:t>
            </a:r>
          </a:p>
          <a:p>
            <a:r>
              <a:rPr lang="en-US" sz="2400" dirty="0"/>
              <a:t>Diagnosis can impact a person’s </a:t>
            </a:r>
            <a:r>
              <a:rPr lang="en-US" sz="2400" b="1" u="sng" dirty="0"/>
              <a:t>self-concept</a:t>
            </a:r>
            <a:r>
              <a:rPr lang="en-US" sz="2400" dirty="0"/>
              <a:t> (the set of beliefs about one’s personal qualities). Domains impacted include:</a:t>
            </a:r>
          </a:p>
          <a:p>
            <a:pPr lvl="1"/>
            <a:r>
              <a:rPr lang="en-US" sz="2200" dirty="0"/>
              <a:t>Body image</a:t>
            </a:r>
          </a:p>
          <a:p>
            <a:pPr lvl="1"/>
            <a:r>
              <a:rPr lang="en-US" sz="2200" dirty="0"/>
              <a:t>Physical health &amp; capability</a:t>
            </a:r>
          </a:p>
          <a:p>
            <a:pPr lvl="1"/>
            <a:r>
              <a:rPr lang="en-US" sz="2200" dirty="0"/>
              <a:t>Sense of achievement/ cognitive ability</a:t>
            </a:r>
          </a:p>
          <a:p>
            <a:pPr lvl="1"/>
            <a:r>
              <a:rPr lang="en-US" sz="2200" dirty="0"/>
              <a:t>Social-ness</a:t>
            </a:r>
          </a:p>
          <a:p>
            <a:pPr lvl="1"/>
            <a:r>
              <a:rPr lang="en-US" sz="2200" dirty="0"/>
              <a:t>Personal beliefs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8BC2B-4993-ED93-C299-5820F9C66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CF8D4-FB42-6881-144C-B16E3F748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F87251-FEDD-32AE-8989-2B0560CFA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8646060" cy="547912"/>
          </a:xfrm>
        </p:spPr>
        <p:txBody>
          <a:bodyPr/>
          <a:lstStyle/>
          <a:p>
            <a:r>
              <a:rPr lang="en-US" dirty="0"/>
              <a:t>Coping with Chronic Health Disorders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3DF760-663E-F2BB-DF63-3F91E288964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dirty="0"/>
              <a:t>People use a variety of strategies, including:</a:t>
            </a:r>
          </a:p>
          <a:p>
            <a:pPr lvl="1"/>
            <a:r>
              <a:rPr lang="en-US" sz="2200" dirty="0"/>
              <a:t>Social support or direct problem solving.</a:t>
            </a:r>
          </a:p>
          <a:p>
            <a:pPr lvl="1"/>
            <a:r>
              <a:rPr lang="en-US" sz="2200" dirty="0"/>
              <a:t>Distancing.</a:t>
            </a:r>
          </a:p>
          <a:p>
            <a:pPr lvl="1"/>
            <a:r>
              <a:rPr lang="en-US" sz="2200" dirty="0"/>
              <a:t>Positive focus.</a:t>
            </a:r>
          </a:p>
          <a:p>
            <a:pPr lvl="1"/>
            <a:r>
              <a:rPr lang="en-US" sz="2200" dirty="0"/>
              <a:t>Cognitive escape or avoidance.</a:t>
            </a:r>
          </a:p>
          <a:p>
            <a:pPr lvl="1"/>
            <a:r>
              <a:rPr lang="en-US" sz="2200" dirty="0"/>
              <a:t>Behavioral escape or avoidance.</a:t>
            </a:r>
            <a:endParaRPr lang="en-US" sz="2400" dirty="0"/>
          </a:p>
          <a:p>
            <a:r>
              <a:rPr lang="en-US" sz="2400" dirty="0"/>
              <a:t>Strategies that work: Active (approach-oriented) coping, maintaining a positive focus that emphasizes self-efficacy</a:t>
            </a:r>
          </a:p>
          <a:p>
            <a:r>
              <a:rPr lang="en-US" sz="2400" dirty="0"/>
              <a:t>Potential concern: during the coping process, a patient may develop unhealthy or inaccurate beliefs about their disorder and what caused its development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D769D-A5C5-B47B-78C3-44EF5792F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16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E4EF-088B-100F-7E66-930AC0CF6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C556C9-D598-C70B-5296-FA00770D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8646060" cy="547912"/>
          </a:xfrm>
        </p:spPr>
        <p:txBody>
          <a:bodyPr/>
          <a:lstStyle/>
          <a:p>
            <a:r>
              <a:rPr lang="en-US" dirty="0"/>
              <a:t>Chronic Health Disorder Comanagement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FCEC1B-5690-7179-3A77-62A65BDA4B4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Comanagement</a:t>
            </a:r>
            <a:r>
              <a:rPr lang="en-US" sz="2400" b="1" dirty="0"/>
              <a:t> </a:t>
            </a:r>
            <a:r>
              <a:rPr lang="en-US" sz="2400" dirty="0"/>
              <a:t>– the process of managing a disorder from multiple domains simultaneously </a:t>
            </a:r>
          </a:p>
          <a:p>
            <a:r>
              <a:rPr lang="en-US" sz="2400" dirty="0"/>
              <a:t>In addition to the more straightforward physical and mental outcomes, a chronic health disorder can impact accessibility, workplace performance, family dynamics, sexual health, dietary restrictions, and spiritual/ emotional needs</a:t>
            </a:r>
          </a:p>
          <a:p>
            <a:r>
              <a:rPr lang="en-US" sz="2400" dirty="0"/>
              <a:t>A treatment team can include: illness-specific physicians, physical therapists, occupational therapists, dietitians, social workers, and more</a:t>
            </a:r>
          </a:p>
          <a:p>
            <a:r>
              <a:rPr lang="en-US" sz="2400" dirty="0"/>
              <a:t>Often, a heavy reliance is placed on caregivers</a:t>
            </a:r>
          </a:p>
          <a:p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40FEF-0DF4-9A2E-7E66-0C68B9221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246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C00D0-AB29-ABAC-4727-048E045E1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DB08BA-0112-5697-3F54-57790A224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275346"/>
            <a:ext cx="7074569" cy="5125453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100" dirty="0"/>
              <a:t>How might having a chronic illness be different for…</a:t>
            </a:r>
            <a:br>
              <a:rPr lang="en-US" sz="4100" dirty="0"/>
            </a:br>
            <a:r>
              <a:rPr lang="en-US" sz="4100" dirty="0"/>
              <a:t>an 8-year-old?</a:t>
            </a:r>
            <a:br>
              <a:rPr lang="en-US" sz="4100" dirty="0"/>
            </a:br>
            <a:r>
              <a:rPr lang="en-US" sz="4100" dirty="0"/>
              <a:t>a 30-year old?</a:t>
            </a:r>
            <a:br>
              <a:rPr lang="en-US" sz="4100" dirty="0"/>
            </a:br>
            <a:r>
              <a:rPr lang="en-US" sz="4100" dirty="0"/>
              <a:t>an 80-year old?</a:t>
            </a:r>
            <a:br>
              <a:rPr lang="en-US" sz="4100" dirty="0"/>
            </a:br>
            <a:r>
              <a:rPr lang="en-US" sz="4100" dirty="0"/>
              <a:t>How might caregiving look different for these ages?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4801B27-FE18-C836-C2A5-70A119EDC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6015" b="6015"/>
          <a:stretch>
            <a:fillRect/>
          </a:stretch>
        </p:blipFill>
        <p:spPr>
          <a:xfrm>
            <a:off x="7402513" y="0"/>
            <a:ext cx="4789487" cy="6586538"/>
          </a:xfrm>
        </p:spPr>
      </p:pic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B40B0D55-8650-B47F-0036-C7A3446C72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0013" y="5880100"/>
            <a:ext cx="661987" cy="895350"/>
          </a:xfrm>
        </p:spPr>
        <p:txBody>
          <a:bodyPr/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71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5DC2E-44C8-FC93-BC89-FAE3C73C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A9C976-9395-326C-EE39-9E457E3E5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7534656" cy="547912"/>
          </a:xfrm>
        </p:spPr>
        <p:txBody>
          <a:bodyPr/>
          <a:lstStyle/>
          <a:p>
            <a:r>
              <a:rPr lang="en-US" dirty="0"/>
              <a:t>Interventions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FA71A8-290E-20DC-1B8D-6A85DBD834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dirty="0"/>
              <a:t>Pharmacological interventions</a:t>
            </a:r>
          </a:p>
          <a:p>
            <a:pPr lvl="1"/>
            <a:r>
              <a:rPr lang="en-US" sz="2200" dirty="0"/>
              <a:t>May including additions like antidepressants</a:t>
            </a:r>
          </a:p>
          <a:p>
            <a:r>
              <a:rPr lang="en-US" sz="2400" dirty="0"/>
              <a:t>Individual therapy</a:t>
            </a:r>
          </a:p>
          <a:p>
            <a:pPr lvl="1"/>
            <a:r>
              <a:rPr lang="en-US" sz="2200" dirty="0"/>
              <a:t>More episodic/ as-needed than traditional therapy sessions</a:t>
            </a:r>
          </a:p>
          <a:p>
            <a:pPr lvl="1"/>
            <a:r>
              <a:rPr lang="en-US" sz="2200" dirty="0"/>
              <a:t>Requires a therapist knowledgeable about that chronic health disorder</a:t>
            </a:r>
          </a:p>
          <a:p>
            <a:pPr lvl="1"/>
            <a:r>
              <a:rPr lang="en-US" sz="2200" dirty="0"/>
              <a:t>Typically focuses on building coping skills and reducing anxiety</a:t>
            </a:r>
          </a:p>
          <a:p>
            <a:r>
              <a:rPr lang="en-US" sz="2400" dirty="0"/>
              <a:t>Mindfulness-based therapies (relaxation training, expressive writing, Acceptance and Commitment Therapy, etc.)</a:t>
            </a:r>
          </a:p>
          <a:p>
            <a:r>
              <a:rPr lang="en-US" sz="2400" dirty="0"/>
              <a:t>Physical rehabilitation and exercise</a:t>
            </a:r>
          </a:p>
          <a:p>
            <a:r>
              <a:rPr lang="en-US" sz="2400" dirty="0"/>
              <a:t>Social support (including friends/family and support groups)</a:t>
            </a: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F6AFD-87EB-2BFE-69DE-62A030E96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23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D5B80-CA42-42F8-DF90-4AD98340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A8C186-577B-4535-99D6-D449FD7C0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8374456" cy="547912"/>
          </a:xfrm>
        </p:spPr>
        <p:txBody>
          <a:bodyPr/>
          <a:lstStyle/>
          <a:p>
            <a:r>
              <a:rPr lang="en-US" dirty="0"/>
              <a:t>Treatment Priorities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1837C-C8A4-0E5E-A3D7-24E146D1D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" name="Content Placeholder 7">
            <a:extLst>
              <a:ext uri="{FF2B5EF4-FFF2-40B4-BE49-F238E27FC236}">
                <a16:creationId xmlns:a16="http://schemas.microsoft.com/office/drawing/2014/main" id="{D9BC9DA3-B2E2-0203-CFC9-7503ADA02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378607" y="2218037"/>
            <a:ext cx="3750075" cy="2421923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52C1856-AEF1-0287-3DD2-86D6EC6E804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4440" y="1387352"/>
            <a:ext cx="3309161" cy="4083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/>
              <a:t>Treatment Adherence</a:t>
            </a:r>
          </a:p>
          <a:p>
            <a:pPr marL="0" indent="0">
              <a:buNone/>
            </a:pPr>
            <a:r>
              <a:rPr lang="en-US" sz="2400" dirty="0"/>
              <a:t>-better at preventing illness progression</a:t>
            </a:r>
          </a:p>
          <a:p>
            <a:pPr marL="0" indent="0">
              <a:buNone/>
            </a:pPr>
            <a:r>
              <a:rPr lang="en-US" sz="2400" dirty="0"/>
              <a:t>-reduce hospitalizations</a:t>
            </a:r>
          </a:p>
          <a:p>
            <a:pPr marL="0" indent="0">
              <a:buNone/>
            </a:pPr>
            <a:r>
              <a:rPr lang="en-US" sz="2400" dirty="0"/>
              <a:t>-increase survival rates</a:t>
            </a:r>
          </a:p>
          <a:p>
            <a:pPr marL="0" indent="0">
              <a:buNone/>
            </a:pPr>
            <a:r>
              <a:rPr lang="en-US" sz="2400" dirty="0"/>
              <a:t>-provides sense of structure</a:t>
            </a:r>
          </a:p>
          <a:p>
            <a:pPr marL="0" indent="0">
              <a:buNone/>
            </a:pPr>
            <a:r>
              <a:rPr lang="en-US" sz="2400" dirty="0"/>
              <a:t>-risk of fatigue and burnout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0D75752-F149-BC82-CD89-253B8A36CB5D}"/>
              </a:ext>
            </a:extLst>
          </p:cNvPr>
          <p:cNvSpPr txBox="1">
            <a:spLocks/>
          </p:cNvSpPr>
          <p:nvPr/>
        </p:nvSpPr>
        <p:spPr>
          <a:xfrm>
            <a:off x="7333219" y="1387352"/>
            <a:ext cx="3408721" cy="4083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u="sng" dirty="0"/>
              <a:t>Quality-of-Life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-provides sense of autonomy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-can reduce anxiety/ depression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-helps sustain long-term adherence to key aspects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-can facilitate compassion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-decreases long-term health/ survivability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08382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BBD74A-9A7D-E58C-3F51-E02DC762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 on PSY 440…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DA13C1D-EA80-4B25-3243-78FB54D7F47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Before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Complete today’s journal prompt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Due TOMORROW at 11:59 pm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F48A430-B8AF-1DC0-DA44-029337EE894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In Our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activity!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Group selection depends on journal prompts, so please do not be late submitting your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3CE4A-7631-B354-9299-9CA7821E9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161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{5D393DFC-1BBF-40D3-AD94-4284BE9CF5C4}TF1ed9553b-00c4-4092-846a-c8f7f2908f3beecd942f_win32-8e33096c3cfc</Template>
  <TotalTime>280</TotalTime>
  <Words>688</Words>
  <Application>Microsoft Office PowerPoint</Application>
  <PresentationFormat>Widescreen</PresentationFormat>
  <Paragraphs>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Gill Sans Nova Light</vt:lpstr>
      <vt:lpstr>Sagona Book</vt:lpstr>
      <vt:lpstr>Custom</vt:lpstr>
      <vt:lpstr>Management of Chronic Health Disorders</vt:lpstr>
      <vt:lpstr>Agenda</vt:lpstr>
      <vt:lpstr>Important Terminology</vt:lpstr>
      <vt:lpstr>What are the similarities &amp; differences between a chronic illness and a terminal illness?</vt:lpstr>
      <vt:lpstr>Quality-of-Life</vt:lpstr>
      <vt:lpstr>Responses to Diagnosis</vt:lpstr>
      <vt:lpstr>Coping with Chronic Health Disorders</vt:lpstr>
      <vt:lpstr>Chronic Health Disorder Comanagement</vt:lpstr>
      <vt:lpstr>How might having a chronic illness be different for… an 8-year-old? a 30-year old? an 80-year old? How might caregiving look different for these ages?</vt:lpstr>
      <vt:lpstr>Interventions</vt:lpstr>
      <vt:lpstr>Treatment Priorities</vt:lpstr>
      <vt:lpstr>Next Time on PSY 440…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9</cp:revision>
  <dcterms:created xsi:type="dcterms:W3CDTF">2025-10-29T06:28:47Z</dcterms:created>
  <dcterms:modified xsi:type="dcterms:W3CDTF">2026-03-23T14:38:21Z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