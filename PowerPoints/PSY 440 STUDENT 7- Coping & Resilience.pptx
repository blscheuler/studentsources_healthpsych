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20"/>
  </p:notesMasterIdLst>
  <p:sldIdLst>
    <p:sldId id="333" r:id="rId5"/>
    <p:sldId id="334" r:id="rId6"/>
    <p:sldId id="335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6" r:id="rId15"/>
    <p:sldId id="347" r:id="rId16"/>
    <p:sldId id="348" r:id="rId17"/>
    <p:sldId id="349" r:id="rId18"/>
    <p:sldId id="33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8" autoAdjust="0"/>
    <p:restoredTop sz="88623" autoAdjust="0"/>
  </p:normalViewPr>
  <p:slideViewPr>
    <p:cSldViewPr snapToGrid="0">
      <p:cViewPr varScale="1">
        <p:scale>
          <a:sx n="96" d="100"/>
          <a:sy n="96" d="100"/>
        </p:scale>
        <p:origin x="27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C6C6A-8751-4458-BDED-AFC28DEAE1D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430F1D-ED92-4116-B1BB-909B1C611570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What is coping?</a:t>
          </a:r>
          <a:endParaRPr lang="en-US" dirty="0">
            <a:solidFill>
              <a:schemeClr val="bg1"/>
            </a:solidFill>
          </a:endParaRPr>
        </a:p>
      </dgm:t>
    </dgm:pt>
    <dgm:pt modelId="{985B2D14-9BDA-4AD1-A32F-4A2840589BFF}" type="parTrans" cxnId="{610D30B3-E777-458B-8E28-55B5162F498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D2AEE90-DC25-435A-994F-78E503CF6ADC}" type="sibTrans" cxnId="{610D30B3-E777-458B-8E28-55B5162F498A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B3DEE6A-9443-4CCD-B739-6CD0F319FA78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Coping styles</a:t>
          </a:r>
          <a:endParaRPr lang="en-US">
            <a:solidFill>
              <a:schemeClr val="bg1"/>
            </a:solidFill>
          </a:endParaRPr>
        </a:p>
      </dgm:t>
    </dgm:pt>
    <dgm:pt modelId="{40736A29-A3DD-4235-AAB0-3D3C5E26A46F}" type="parTrans" cxnId="{EEA191D9-D86C-43FA-B2B0-6A9E93AB89F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F61F303-B202-4EC4-A218-1DE8EA1F75A4}" type="sibTrans" cxnId="{EEA191D9-D86C-43FA-B2B0-6A9E93AB89F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EDB0A01-3E12-4DFB-9CF2-EE17B05E92F2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Coping skills</a:t>
          </a:r>
          <a:endParaRPr lang="en-US">
            <a:solidFill>
              <a:schemeClr val="bg1"/>
            </a:solidFill>
          </a:endParaRPr>
        </a:p>
      </dgm:t>
    </dgm:pt>
    <dgm:pt modelId="{B6DA116F-0BDB-4CBF-AC27-663624D09EB8}" type="parTrans" cxnId="{8553ABFD-7E27-4328-B6BD-F14AB53D756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FD0B3D2-1883-4271-91F2-72BABE9C9C6B}" type="sibTrans" cxnId="{8553ABFD-7E27-4328-B6BD-F14AB53D756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203510E-176D-4ABA-B7CC-CB5F45B4823A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Social support</a:t>
          </a:r>
          <a:endParaRPr lang="en-US">
            <a:solidFill>
              <a:schemeClr val="bg1"/>
            </a:solidFill>
          </a:endParaRPr>
        </a:p>
      </dgm:t>
    </dgm:pt>
    <dgm:pt modelId="{6D60D8B8-E3E8-4116-BE40-80CDFCA419BF}" type="parTrans" cxnId="{B4AEC365-4446-4924-A4F4-FCDB64F6BF1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B87636C-DFBD-48C8-A0B9-0A9C7F4F4F43}" type="sibTrans" cxnId="{B4AEC365-4446-4924-A4F4-FCDB64F6BF1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8B9429B-E702-4E5B-9054-B73BCBBBE9E6}" type="pres">
      <dgm:prSet presAssocID="{EE2C6C6A-8751-4458-BDED-AFC28DEAE1DA}" presName="vert0" presStyleCnt="0">
        <dgm:presLayoutVars>
          <dgm:dir/>
          <dgm:animOne val="branch"/>
          <dgm:animLvl val="lvl"/>
        </dgm:presLayoutVars>
      </dgm:prSet>
      <dgm:spPr/>
    </dgm:pt>
    <dgm:pt modelId="{6CEEE6F6-E91E-4FFE-80ED-D960FB6E38F1}" type="pres">
      <dgm:prSet presAssocID="{5C430F1D-ED92-4116-B1BB-909B1C611570}" presName="thickLine" presStyleLbl="alignNode1" presStyleIdx="0" presStyleCnt="4"/>
      <dgm:spPr/>
    </dgm:pt>
    <dgm:pt modelId="{B50ACC70-43CE-46E4-94F3-68BBBD7C1B68}" type="pres">
      <dgm:prSet presAssocID="{5C430F1D-ED92-4116-B1BB-909B1C611570}" presName="horz1" presStyleCnt="0"/>
      <dgm:spPr/>
    </dgm:pt>
    <dgm:pt modelId="{5FE6C51C-D2D0-4444-AE76-0367B6351768}" type="pres">
      <dgm:prSet presAssocID="{5C430F1D-ED92-4116-B1BB-909B1C611570}" presName="tx1" presStyleLbl="revTx" presStyleIdx="0" presStyleCnt="4"/>
      <dgm:spPr/>
    </dgm:pt>
    <dgm:pt modelId="{93CF9150-172A-476D-8486-26252FD095F0}" type="pres">
      <dgm:prSet presAssocID="{5C430F1D-ED92-4116-B1BB-909B1C611570}" presName="vert1" presStyleCnt="0"/>
      <dgm:spPr/>
    </dgm:pt>
    <dgm:pt modelId="{5524CBFF-30BB-45F5-A3DA-09328A7690AA}" type="pres">
      <dgm:prSet presAssocID="{AB3DEE6A-9443-4CCD-B739-6CD0F319FA78}" presName="thickLine" presStyleLbl="alignNode1" presStyleIdx="1" presStyleCnt="4"/>
      <dgm:spPr/>
    </dgm:pt>
    <dgm:pt modelId="{9282E43D-7618-48E3-846D-D40885F82314}" type="pres">
      <dgm:prSet presAssocID="{AB3DEE6A-9443-4CCD-B739-6CD0F319FA78}" presName="horz1" presStyleCnt="0"/>
      <dgm:spPr/>
    </dgm:pt>
    <dgm:pt modelId="{5E769828-8005-4808-9035-67D60980F849}" type="pres">
      <dgm:prSet presAssocID="{AB3DEE6A-9443-4CCD-B739-6CD0F319FA78}" presName="tx1" presStyleLbl="revTx" presStyleIdx="1" presStyleCnt="4"/>
      <dgm:spPr/>
    </dgm:pt>
    <dgm:pt modelId="{CB80DF9D-B9C4-4CB1-A603-604426AA113D}" type="pres">
      <dgm:prSet presAssocID="{AB3DEE6A-9443-4CCD-B739-6CD0F319FA78}" presName="vert1" presStyleCnt="0"/>
      <dgm:spPr/>
    </dgm:pt>
    <dgm:pt modelId="{DCE51856-DD7C-4087-B478-95D03CA5E1C4}" type="pres">
      <dgm:prSet presAssocID="{4EDB0A01-3E12-4DFB-9CF2-EE17B05E92F2}" presName="thickLine" presStyleLbl="alignNode1" presStyleIdx="2" presStyleCnt="4"/>
      <dgm:spPr/>
    </dgm:pt>
    <dgm:pt modelId="{EFC3AC28-2914-4BDE-BD15-F62315DE6B06}" type="pres">
      <dgm:prSet presAssocID="{4EDB0A01-3E12-4DFB-9CF2-EE17B05E92F2}" presName="horz1" presStyleCnt="0"/>
      <dgm:spPr/>
    </dgm:pt>
    <dgm:pt modelId="{5F4C4087-1F8E-479D-B6FD-4C84D9FB3A6E}" type="pres">
      <dgm:prSet presAssocID="{4EDB0A01-3E12-4DFB-9CF2-EE17B05E92F2}" presName="tx1" presStyleLbl="revTx" presStyleIdx="2" presStyleCnt="4"/>
      <dgm:spPr/>
    </dgm:pt>
    <dgm:pt modelId="{39460692-81E9-48A7-BDEE-B6E6555F1F5B}" type="pres">
      <dgm:prSet presAssocID="{4EDB0A01-3E12-4DFB-9CF2-EE17B05E92F2}" presName="vert1" presStyleCnt="0"/>
      <dgm:spPr/>
    </dgm:pt>
    <dgm:pt modelId="{CE6FD2C3-78F6-4122-8699-F6569DDD6C05}" type="pres">
      <dgm:prSet presAssocID="{6203510E-176D-4ABA-B7CC-CB5F45B4823A}" presName="thickLine" presStyleLbl="alignNode1" presStyleIdx="3" presStyleCnt="4"/>
      <dgm:spPr/>
    </dgm:pt>
    <dgm:pt modelId="{BC27FC99-60F3-47BC-A744-6D9913BB3FBB}" type="pres">
      <dgm:prSet presAssocID="{6203510E-176D-4ABA-B7CC-CB5F45B4823A}" presName="horz1" presStyleCnt="0"/>
      <dgm:spPr/>
    </dgm:pt>
    <dgm:pt modelId="{620E135F-AB9B-49D7-A476-2295A768EC48}" type="pres">
      <dgm:prSet presAssocID="{6203510E-176D-4ABA-B7CC-CB5F45B4823A}" presName="tx1" presStyleLbl="revTx" presStyleIdx="3" presStyleCnt="4"/>
      <dgm:spPr/>
    </dgm:pt>
    <dgm:pt modelId="{2F6ED4EB-04FA-4BF0-9797-2AEBA14881B0}" type="pres">
      <dgm:prSet presAssocID="{6203510E-176D-4ABA-B7CC-CB5F45B4823A}" presName="vert1" presStyleCnt="0"/>
      <dgm:spPr/>
    </dgm:pt>
  </dgm:ptLst>
  <dgm:cxnLst>
    <dgm:cxn modelId="{DACB4A01-D820-4187-B5CA-B529907F3C70}" type="presOf" srcId="{6203510E-176D-4ABA-B7CC-CB5F45B4823A}" destId="{620E135F-AB9B-49D7-A476-2295A768EC48}" srcOrd="0" destOrd="0" presId="urn:microsoft.com/office/officeart/2008/layout/LinedList"/>
    <dgm:cxn modelId="{F8B22A1B-4384-4BCA-9692-9B6EE72C13C7}" type="presOf" srcId="{EE2C6C6A-8751-4458-BDED-AFC28DEAE1DA}" destId="{68B9429B-E702-4E5B-9054-B73BCBBBE9E6}" srcOrd="0" destOrd="0" presId="urn:microsoft.com/office/officeart/2008/layout/LinedList"/>
    <dgm:cxn modelId="{B4AEC365-4446-4924-A4F4-FCDB64F6BF17}" srcId="{EE2C6C6A-8751-4458-BDED-AFC28DEAE1DA}" destId="{6203510E-176D-4ABA-B7CC-CB5F45B4823A}" srcOrd="3" destOrd="0" parTransId="{6D60D8B8-E3E8-4116-BE40-80CDFCA419BF}" sibTransId="{7B87636C-DFBD-48C8-A0B9-0A9C7F4F4F43}"/>
    <dgm:cxn modelId="{898C8DA8-8B48-4899-9668-582B625E3F48}" type="presOf" srcId="{AB3DEE6A-9443-4CCD-B739-6CD0F319FA78}" destId="{5E769828-8005-4808-9035-67D60980F849}" srcOrd="0" destOrd="0" presId="urn:microsoft.com/office/officeart/2008/layout/LinedList"/>
    <dgm:cxn modelId="{89B20FB0-2CD3-4376-9DB5-C6D79D76F6F2}" type="presOf" srcId="{4EDB0A01-3E12-4DFB-9CF2-EE17B05E92F2}" destId="{5F4C4087-1F8E-479D-B6FD-4C84D9FB3A6E}" srcOrd="0" destOrd="0" presId="urn:microsoft.com/office/officeart/2008/layout/LinedList"/>
    <dgm:cxn modelId="{610D30B3-E777-458B-8E28-55B5162F498A}" srcId="{EE2C6C6A-8751-4458-BDED-AFC28DEAE1DA}" destId="{5C430F1D-ED92-4116-B1BB-909B1C611570}" srcOrd="0" destOrd="0" parTransId="{985B2D14-9BDA-4AD1-A32F-4A2840589BFF}" sibTransId="{6D2AEE90-DC25-435A-994F-78E503CF6ADC}"/>
    <dgm:cxn modelId="{EEA191D9-D86C-43FA-B2B0-6A9E93AB89F5}" srcId="{EE2C6C6A-8751-4458-BDED-AFC28DEAE1DA}" destId="{AB3DEE6A-9443-4CCD-B739-6CD0F319FA78}" srcOrd="1" destOrd="0" parTransId="{40736A29-A3DD-4235-AAB0-3D3C5E26A46F}" sibTransId="{3F61F303-B202-4EC4-A218-1DE8EA1F75A4}"/>
    <dgm:cxn modelId="{357906E9-6333-408E-8181-C2D000A60C5B}" type="presOf" srcId="{5C430F1D-ED92-4116-B1BB-909B1C611570}" destId="{5FE6C51C-D2D0-4444-AE76-0367B6351768}" srcOrd="0" destOrd="0" presId="urn:microsoft.com/office/officeart/2008/layout/LinedList"/>
    <dgm:cxn modelId="{8553ABFD-7E27-4328-B6BD-F14AB53D7565}" srcId="{EE2C6C6A-8751-4458-BDED-AFC28DEAE1DA}" destId="{4EDB0A01-3E12-4DFB-9CF2-EE17B05E92F2}" srcOrd="2" destOrd="0" parTransId="{B6DA116F-0BDB-4CBF-AC27-663624D09EB8}" sibTransId="{AFD0B3D2-1883-4271-91F2-72BABE9C9C6B}"/>
    <dgm:cxn modelId="{28F8C39B-793E-4A4E-91E0-BF8C33CB5D41}" type="presParOf" srcId="{68B9429B-E702-4E5B-9054-B73BCBBBE9E6}" destId="{6CEEE6F6-E91E-4FFE-80ED-D960FB6E38F1}" srcOrd="0" destOrd="0" presId="urn:microsoft.com/office/officeart/2008/layout/LinedList"/>
    <dgm:cxn modelId="{460B870B-B439-475B-AADB-142A906E9676}" type="presParOf" srcId="{68B9429B-E702-4E5B-9054-B73BCBBBE9E6}" destId="{B50ACC70-43CE-46E4-94F3-68BBBD7C1B68}" srcOrd="1" destOrd="0" presId="urn:microsoft.com/office/officeart/2008/layout/LinedList"/>
    <dgm:cxn modelId="{D3C2462A-2CDD-4754-9261-75C027679FC2}" type="presParOf" srcId="{B50ACC70-43CE-46E4-94F3-68BBBD7C1B68}" destId="{5FE6C51C-D2D0-4444-AE76-0367B6351768}" srcOrd="0" destOrd="0" presId="urn:microsoft.com/office/officeart/2008/layout/LinedList"/>
    <dgm:cxn modelId="{8929FFFA-4EA5-4770-A1EC-12B5A55105D7}" type="presParOf" srcId="{B50ACC70-43CE-46E4-94F3-68BBBD7C1B68}" destId="{93CF9150-172A-476D-8486-26252FD095F0}" srcOrd="1" destOrd="0" presId="urn:microsoft.com/office/officeart/2008/layout/LinedList"/>
    <dgm:cxn modelId="{0D755701-5B84-4EAF-A5AB-2F2ABBA818A9}" type="presParOf" srcId="{68B9429B-E702-4E5B-9054-B73BCBBBE9E6}" destId="{5524CBFF-30BB-45F5-A3DA-09328A7690AA}" srcOrd="2" destOrd="0" presId="urn:microsoft.com/office/officeart/2008/layout/LinedList"/>
    <dgm:cxn modelId="{E146C001-BBF3-43A1-80A0-D6BC06D42241}" type="presParOf" srcId="{68B9429B-E702-4E5B-9054-B73BCBBBE9E6}" destId="{9282E43D-7618-48E3-846D-D40885F82314}" srcOrd="3" destOrd="0" presId="urn:microsoft.com/office/officeart/2008/layout/LinedList"/>
    <dgm:cxn modelId="{B2988A8B-5CBD-44CA-80BD-73C55503EC16}" type="presParOf" srcId="{9282E43D-7618-48E3-846D-D40885F82314}" destId="{5E769828-8005-4808-9035-67D60980F849}" srcOrd="0" destOrd="0" presId="urn:microsoft.com/office/officeart/2008/layout/LinedList"/>
    <dgm:cxn modelId="{F8387C8C-9707-4639-81AD-AD7695AA0133}" type="presParOf" srcId="{9282E43D-7618-48E3-846D-D40885F82314}" destId="{CB80DF9D-B9C4-4CB1-A603-604426AA113D}" srcOrd="1" destOrd="0" presId="urn:microsoft.com/office/officeart/2008/layout/LinedList"/>
    <dgm:cxn modelId="{0F502894-8C52-4F7A-AA9D-58BA48A7D064}" type="presParOf" srcId="{68B9429B-E702-4E5B-9054-B73BCBBBE9E6}" destId="{DCE51856-DD7C-4087-B478-95D03CA5E1C4}" srcOrd="4" destOrd="0" presId="urn:microsoft.com/office/officeart/2008/layout/LinedList"/>
    <dgm:cxn modelId="{F761C8DD-ED08-4C74-AF70-12ED5B8E72D9}" type="presParOf" srcId="{68B9429B-E702-4E5B-9054-B73BCBBBE9E6}" destId="{EFC3AC28-2914-4BDE-BD15-F62315DE6B06}" srcOrd="5" destOrd="0" presId="urn:microsoft.com/office/officeart/2008/layout/LinedList"/>
    <dgm:cxn modelId="{D01834E8-EDFF-468F-AEA0-5556919CF5C7}" type="presParOf" srcId="{EFC3AC28-2914-4BDE-BD15-F62315DE6B06}" destId="{5F4C4087-1F8E-479D-B6FD-4C84D9FB3A6E}" srcOrd="0" destOrd="0" presId="urn:microsoft.com/office/officeart/2008/layout/LinedList"/>
    <dgm:cxn modelId="{2535D32B-95B5-4AA8-A6C5-2E0EBA8611EA}" type="presParOf" srcId="{EFC3AC28-2914-4BDE-BD15-F62315DE6B06}" destId="{39460692-81E9-48A7-BDEE-B6E6555F1F5B}" srcOrd="1" destOrd="0" presId="urn:microsoft.com/office/officeart/2008/layout/LinedList"/>
    <dgm:cxn modelId="{665BC8C7-2F42-4A76-822B-6323B38851B9}" type="presParOf" srcId="{68B9429B-E702-4E5B-9054-B73BCBBBE9E6}" destId="{CE6FD2C3-78F6-4122-8699-F6569DDD6C05}" srcOrd="6" destOrd="0" presId="urn:microsoft.com/office/officeart/2008/layout/LinedList"/>
    <dgm:cxn modelId="{DF0083E7-66A7-4BD4-AEBD-0BBABE3569F9}" type="presParOf" srcId="{68B9429B-E702-4E5B-9054-B73BCBBBE9E6}" destId="{BC27FC99-60F3-47BC-A744-6D9913BB3FBB}" srcOrd="7" destOrd="0" presId="urn:microsoft.com/office/officeart/2008/layout/LinedList"/>
    <dgm:cxn modelId="{D49C1F52-5AF3-454E-98ED-35FB7AD1E5F7}" type="presParOf" srcId="{BC27FC99-60F3-47BC-A744-6D9913BB3FBB}" destId="{620E135F-AB9B-49D7-A476-2295A768EC48}" srcOrd="0" destOrd="0" presId="urn:microsoft.com/office/officeart/2008/layout/LinedList"/>
    <dgm:cxn modelId="{5A099BEF-F4A0-42FF-B3FA-2E6121810B58}" type="presParOf" srcId="{BC27FC99-60F3-47BC-A744-6D9913BB3FBB}" destId="{2F6ED4EB-04FA-4BF0-9797-2AEBA14881B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EEE6F6-E91E-4FFE-80ED-D960FB6E38F1}">
      <dsp:nvSpPr>
        <dsp:cNvPr id="0" name=""/>
        <dsp:cNvSpPr/>
      </dsp:nvSpPr>
      <dsp:spPr>
        <a:xfrm>
          <a:off x="0" y="0"/>
          <a:ext cx="52730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6C51C-D2D0-4444-AE76-0367B6351768}">
      <dsp:nvSpPr>
        <dsp:cNvPr id="0" name=""/>
        <dsp:cNvSpPr/>
      </dsp:nvSpPr>
      <dsp:spPr>
        <a:xfrm>
          <a:off x="0" y="0"/>
          <a:ext cx="5273043" cy="1264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0" i="0" kern="1200" dirty="0">
              <a:solidFill>
                <a:schemeClr val="bg1"/>
              </a:solidFill>
            </a:rPr>
            <a:t>What is coping?</a:t>
          </a:r>
          <a:endParaRPr lang="en-US" sz="5000" kern="1200" dirty="0">
            <a:solidFill>
              <a:schemeClr val="bg1"/>
            </a:solidFill>
          </a:endParaRPr>
        </a:p>
      </dsp:txBody>
      <dsp:txXfrm>
        <a:off x="0" y="0"/>
        <a:ext cx="5273043" cy="1264186"/>
      </dsp:txXfrm>
    </dsp:sp>
    <dsp:sp modelId="{5524CBFF-30BB-45F5-A3DA-09328A7690AA}">
      <dsp:nvSpPr>
        <dsp:cNvPr id="0" name=""/>
        <dsp:cNvSpPr/>
      </dsp:nvSpPr>
      <dsp:spPr>
        <a:xfrm>
          <a:off x="0" y="1264186"/>
          <a:ext cx="52730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69828-8005-4808-9035-67D60980F849}">
      <dsp:nvSpPr>
        <dsp:cNvPr id="0" name=""/>
        <dsp:cNvSpPr/>
      </dsp:nvSpPr>
      <dsp:spPr>
        <a:xfrm>
          <a:off x="0" y="1264186"/>
          <a:ext cx="5273043" cy="1264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0" i="0" kern="1200">
              <a:solidFill>
                <a:schemeClr val="bg1"/>
              </a:solidFill>
            </a:rPr>
            <a:t>Coping styles</a:t>
          </a:r>
          <a:endParaRPr lang="en-US" sz="5000" kern="1200">
            <a:solidFill>
              <a:schemeClr val="bg1"/>
            </a:solidFill>
          </a:endParaRPr>
        </a:p>
      </dsp:txBody>
      <dsp:txXfrm>
        <a:off x="0" y="1264186"/>
        <a:ext cx="5273043" cy="1264186"/>
      </dsp:txXfrm>
    </dsp:sp>
    <dsp:sp modelId="{DCE51856-DD7C-4087-B478-95D03CA5E1C4}">
      <dsp:nvSpPr>
        <dsp:cNvPr id="0" name=""/>
        <dsp:cNvSpPr/>
      </dsp:nvSpPr>
      <dsp:spPr>
        <a:xfrm>
          <a:off x="0" y="2528373"/>
          <a:ext cx="52730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C4087-1F8E-479D-B6FD-4C84D9FB3A6E}">
      <dsp:nvSpPr>
        <dsp:cNvPr id="0" name=""/>
        <dsp:cNvSpPr/>
      </dsp:nvSpPr>
      <dsp:spPr>
        <a:xfrm>
          <a:off x="0" y="2528373"/>
          <a:ext cx="5273043" cy="1264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0" i="0" kern="1200">
              <a:solidFill>
                <a:schemeClr val="bg1"/>
              </a:solidFill>
            </a:rPr>
            <a:t>Coping skills</a:t>
          </a:r>
          <a:endParaRPr lang="en-US" sz="5000" kern="1200">
            <a:solidFill>
              <a:schemeClr val="bg1"/>
            </a:solidFill>
          </a:endParaRPr>
        </a:p>
      </dsp:txBody>
      <dsp:txXfrm>
        <a:off x="0" y="2528373"/>
        <a:ext cx="5273043" cy="1264186"/>
      </dsp:txXfrm>
    </dsp:sp>
    <dsp:sp modelId="{CE6FD2C3-78F6-4122-8699-F6569DDD6C05}">
      <dsp:nvSpPr>
        <dsp:cNvPr id="0" name=""/>
        <dsp:cNvSpPr/>
      </dsp:nvSpPr>
      <dsp:spPr>
        <a:xfrm>
          <a:off x="0" y="3792560"/>
          <a:ext cx="52730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E135F-AB9B-49D7-A476-2295A768EC48}">
      <dsp:nvSpPr>
        <dsp:cNvPr id="0" name=""/>
        <dsp:cNvSpPr/>
      </dsp:nvSpPr>
      <dsp:spPr>
        <a:xfrm>
          <a:off x="0" y="3792560"/>
          <a:ext cx="5273043" cy="1264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0" i="0" kern="1200">
              <a:solidFill>
                <a:schemeClr val="bg1"/>
              </a:solidFill>
            </a:rPr>
            <a:t>Social support</a:t>
          </a:r>
          <a:endParaRPr lang="en-US" sz="5000" kern="1200">
            <a:solidFill>
              <a:schemeClr val="bg1"/>
            </a:solidFill>
          </a:endParaRPr>
        </a:p>
      </dsp:txBody>
      <dsp:txXfrm>
        <a:off x="0" y="3792560"/>
        <a:ext cx="5273043" cy="12641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918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6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49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70EF2-8400-5A62-25A9-A64ADD85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8611B-F5D8-C85B-62A4-9A391BEB7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3A14-078B-D72D-C69F-1C6119DA7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97DBA-43FF-E064-9162-626C43068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14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D056-8020-1888-D349-E2AFCAA9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5E7B7-3FDA-F3F7-339A-655DA90D5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B8A45-6C40-044A-E8C0-A60EB6802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7B82D-CCD8-B583-A9CD-173E30CE8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483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5DDEE-FFFE-206E-53A9-9881759F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4CBE5-1F42-6261-9FD2-E4675E264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ABAC8-690D-9D8B-A895-F10AA7A6F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BC321-CE2A-1135-D5C5-B465199BB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78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6BD7E-791D-225E-3E87-F5965AF0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05679-B07F-D7CE-1A19-BE0A1276D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1B726-0D63-881A-539B-D0C9FBDF8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30112-40D5-BCA9-6BD2-4B215B89B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424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53D3-CC07-7838-EC77-CC2979F5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09FA0-B0CE-1D98-5CF7-B6EE67DB0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B83F0-008D-3BF7-7534-BB460CC28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80E1E-E6D8-BB25-C1D8-E6C33FF04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17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70DAD-C025-F7FF-D336-BCF91E652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CB2ED-E7BF-7C36-6E32-77E2C6553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BD7A0-F02F-69C1-05F4-B41955E65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8D586-710D-9970-4850-AC9EEF83B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315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11561-167A-17E0-C063-1E5EBF38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E049D-55FC-7606-DD62-E634ED781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304FD-8E9B-BFFF-AD91-791C4168D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022B8-67A0-CDB6-E4AB-2581DD43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8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37E0-5ACF-1211-86E3-EB00CAE6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3FC5E-91E4-B129-0010-B01848248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CF908-6BFA-365C-3A8E-376DE1356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9FA38-40D6-2D97-3072-EEC58545C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744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A178-C9BE-1B5F-DBD8-91BA616C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DEF8C-9623-8176-1285-02F9AD26A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1594D-B632-E4B0-F5EA-DF5BFB65D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E19EE-CC75-8B11-E51E-C3CFD011D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395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2E4B-E121-A9AA-6722-81233650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6B3B1-E134-3D86-2C32-77E3E6950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8A41F-E367-F7CB-D694-3600246C1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95A28-4960-AC58-B97A-A2E85D847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29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574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70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87D9900-95AD-EC4F-B7E1-959F0521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00C6AD-400C-F5F8-0A07-09147BFB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01EBB8-0583-30D5-D5C9-6064F992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b="23302"/>
          <a:stretch>
            <a:fillRect/>
          </a:stretch>
        </p:blipFill>
        <p:spPr>
          <a:xfrm>
            <a:off x="0" y="3632200"/>
            <a:ext cx="3839210" cy="3261166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109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1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7472374" cy="1913892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6723" y="3152220"/>
            <a:ext cx="6977077" cy="326401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D50F62-7F43-2FBB-55E3-23F629397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1096963"/>
            <a:ext cx="4152900" cy="5761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18A9A4E-F149-44F8-9FAE-8ABA2BD2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 flipV="1">
            <a:off x="1881504" y="4663441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4170C3-9FB6-324B-DD88-972B181F5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956" r="-1"/>
          <a:stretch/>
        </p:blipFill>
        <p:spPr>
          <a:xfrm flipH="1">
            <a:off x="10185174" y="1234440"/>
            <a:ext cx="2024907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091CD0-1D83-5BBE-A26C-2D7EAF85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t="-1" b="51667"/>
          <a:stretch/>
        </p:blipFill>
        <p:spPr>
          <a:xfrm flipV="1">
            <a:off x="0" y="-1"/>
            <a:ext cx="3839210" cy="2055127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5" y="1097237"/>
            <a:ext cx="11076631" cy="2885630"/>
          </a:xfrm>
        </p:spPr>
        <p:txBody>
          <a:bodyPr lIns="0" rIns="0"/>
          <a:lstStyle>
            <a:lvl1pPr>
              <a:defRPr sz="72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05300" y="4059067"/>
            <a:ext cx="7338056" cy="26922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6" y="1091885"/>
            <a:ext cx="5273043" cy="5056747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1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65" y="3870960"/>
            <a:ext cx="11533835" cy="2941320"/>
          </a:xfrm>
        </p:spPr>
        <p:txBody>
          <a:bodyPr lIns="0" tIns="0" rIns="0" bIns="0" anchor="ctr"/>
          <a:lstStyle>
            <a:lvl1pPr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defRPr sz="720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506222-0BCA-9701-399C-0CF92FA231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112500" cy="37719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+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F0DABCC-5F7F-4B44-B780-46F5D46079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433638"/>
            <a:ext cx="5821363" cy="39671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7926" y="2433005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7472" y="2392441"/>
            <a:ext cx="5303523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345663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01538" y="2392441"/>
            <a:ext cx="6969458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4358" y="2417765"/>
            <a:ext cx="6680202" cy="3967795"/>
          </a:xfrm>
        </p:spPr>
        <p:txBody>
          <a:bodyPr lIns="45720"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740664" indent="-283464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23200" y="2417763"/>
            <a:ext cx="3838248" cy="396779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2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66724" y="2417763"/>
            <a:ext cx="11094724" cy="39677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697707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5773" y="2392440"/>
            <a:ext cx="3655675" cy="396779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7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19982B1-35C2-DE4A-CC6C-C7EF3864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330D7F-AB80-0985-7B65-80D66CC84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5AA66F-C4B1-E34A-8E6B-F893310B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700ADD-BC9D-410F-D6AC-1D0E4F10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33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806" y="1432518"/>
            <a:ext cx="7958331" cy="2237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808" y="3696004"/>
            <a:ext cx="7796540" cy="237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88E8CDA-4B53-1285-4909-D3A5FB6B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671" y="459077"/>
            <a:ext cx="2267211" cy="480363"/>
          </a:xfrm>
          <a:prstGeom prst="rect">
            <a:avLst/>
          </a:prstGeom>
        </p:spPr>
        <p:txBody>
          <a:bodyPr vert="horz" lIns="0" tIns="0" rIns="91440" bIns="18288" rtlCol="0" anchor="ctr"/>
          <a:lstStyle>
            <a:lvl1pPr algn="l">
              <a:defRPr sz="12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0A2341-0273-5256-69F5-7D63AFB93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9025" y="459081"/>
            <a:ext cx="789138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4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000" b="1" i="0" kern="1200" cap="none" spc="-300">
          <a:solidFill>
            <a:schemeClr val="bg1"/>
          </a:solidFill>
          <a:effectLst/>
          <a:latin typeface="+mj-lt"/>
          <a:ea typeface="+mj-ea"/>
          <a:cs typeface="Kalinga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20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8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6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4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2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vecteezy.com/free-photos/maple-leaf-wat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engzf20.github.io/blo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feelslikehomeblog.com/product/40-printable-positive-affirmations-for-christians-with-anxiety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freepik.com/premium-ai-image/zen-garden-meditation-stone-sand-wave-background_115261541.ht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openclipart.org/detail/544/gerald-g-balance-scale-by-gerald_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ydiasyogatherapy.com/free-video-training-programs/#video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open.spotify.com/show/6AZ2VyITjVYFvygseqcLpp?si=72c96a40ba88418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154" y="992777"/>
            <a:ext cx="8736903" cy="5314043"/>
          </a:xfrm>
        </p:spPr>
        <p:txBody>
          <a:bodyPr/>
          <a:lstStyle/>
          <a:p>
            <a:pPr algn="r"/>
            <a:r>
              <a:rPr lang="en-US" dirty="0"/>
              <a:t>Coping &amp; </a:t>
            </a:r>
            <a:br>
              <a:rPr lang="en-US" dirty="0"/>
            </a:br>
            <a:r>
              <a:rPr lang="en-US" dirty="0"/>
              <a:t>Resilience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0925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B515DA-B5BA-1D54-0138-5A9DBF40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5011113" cy="5048974"/>
          </a:xfrm>
        </p:spPr>
        <p:txBody>
          <a:bodyPr anchor="t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010E8-1DAC-D1A8-367B-24A839DD6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6" name="Content Placeholder 13">
            <a:extLst>
              <a:ext uri="{FF2B5EF4-FFF2-40B4-BE49-F238E27FC236}">
                <a16:creationId xmlns:a16="http://schemas.microsoft.com/office/drawing/2014/main" id="{92A48737-24FD-25CA-B0B3-CD766C0E55D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541173944"/>
              </p:ext>
            </p:extLst>
          </p:nvPr>
        </p:nvGraphicFramePr>
        <p:xfrm>
          <a:off x="6370316" y="1091885"/>
          <a:ext cx="5273043" cy="5056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60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D52B27-02F8-EBC5-95E8-FA2C9309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7"/>
            <a:ext cx="11094723" cy="714145"/>
          </a:xfrm>
        </p:spPr>
        <p:txBody>
          <a:bodyPr/>
          <a:lstStyle/>
          <a:p>
            <a:r>
              <a:rPr lang="en-US" dirty="0"/>
              <a:t>Important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06C7ED-17F5-ED13-FA36-7B9792E1B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09AD3-BA7B-1441-8C13-31CC66AF1F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793965"/>
            <a:ext cx="11104270" cy="456627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Stress moderators</a:t>
            </a:r>
            <a:r>
              <a:rPr lang="en-US" dirty="0"/>
              <a:t> – factors that modify how stress is experienced</a:t>
            </a:r>
          </a:p>
          <a:p>
            <a:pPr marL="690372" lvl="1"/>
            <a:r>
              <a:rPr lang="en-US" dirty="0"/>
              <a:t>Ex: coping skills, financial security, social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Coping</a:t>
            </a:r>
            <a:r>
              <a:rPr lang="en-US" dirty="0"/>
              <a:t>– managing the internal and external demands of stressful situations using thoughts and behaviors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Negative affectivity</a:t>
            </a:r>
            <a:r>
              <a:rPr lang="en-US" dirty="0"/>
              <a:t> (also called neuroticism) – a pervasive negative mood marked by anxiety, depression, and hostility; often leads to increased distress and worse health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Resilience</a:t>
            </a:r>
            <a:r>
              <a:rPr lang="en-US" dirty="0"/>
              <a:t> – the psychological fortitude that helps a person respond, adapt, and recover from stress</a:t>
            </a:r>
            <a:endParaRPr lang="en-US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16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FE1A-95DC-8D54-31DA-385A003CD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C25640-FB83-5DDE-56CF-91DD8ECB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7"/>
            <a:ext cx="11094723" cy="714145"/>
          </a:xfrm>
        </p:spPr>
        <p:txBody>
          <a:bodyPr/>
          <a:lstStyle/>
          <a:p>
            <a:r>
              <a:rPr lang="en-US" dirty="0"/>
              <a:t>Coping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E1F7F-9B7A-CB35-C110-B7D18E995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B580F-AD7F-F139-2971-6D6363B0BF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793965"/>
            <a:ext cx="11104270" cy="456627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Coping style</a:t>
            </a:r>
            <a:r>
              <a:rPr lang="en-US" dirty="0"/>
              <a:t> – the approach a person typically utilizes when processing stress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Avoidance-oriented coping vs approach-oriented coping</a:t>
            </a:r>
          </a:p>
          <a:p>
            <a:pPr marL="690372" lvl="1"/>
            <a:r>
              <a:rPr lang="en-US" b="1" u="sng" dirty="0"/>
              <a:t>Avoidance-oriented coping</a:t>
            </a:r>
            <a:r>
              <a:rPr lang="en-US" dirty="0"/>
              <a:t> – a coping style where a person will push away stressor-related thoughts and feelings, deny the existence or seriousness of the stressor, or distract oneself</a:t>
            </a:r>
          </a:p>
          <a:p>
            <a:pPr marL="690372" lvl="1"/>
            <a:r>
              <a:rPr lang="en-US" b="1" u="sng" dirty="0"/>
              <a:t>Approach-oriented coping</a:t>
            </a:r>
            <a:r>
              <a:rPr lang="en-US" dirty="0"/>
              <a:t> – a coping style where a person makes an effort to solve the problem, seek support, and actively reframe the stressor towards the positive</a:t>
            </a:r>
          </a:p>
          <a:p>
            <a:pPr marL="1056132" lvl="2"/>
            <a:r>
              <a:rPr lang="en-US" dirty="0"/>
              <a:t>Leads to better health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Problem-focused coping vs emotion-focused coping</a:t>
            </a:r>
          </a:p>
          <a:p>
            <a:pPr marL="690372" lvl="1"/>
            <a:r>
              <a:rPr lang="en-US" b="1" u="sng" dirty="0"/>
              <a:t>Problem-focused coping</a:t>
            </a:r>
            <a:r>
              <a:rPr lang="en-US" dirty="0"/>
              <a:t> – attempting to do something constructive about the stressful conditions.</a:t>
            </a:r>
          </a:p>
          <a:p>
            <a:pPr marL="690372" lvl="1"/>
            <a:r>
              <a:rPr lang="en-US" b="1" u="sng" dirty="0"/>
              <a:t>Emotion-focused coping</a:t>
            </a:r>
            <a:r>
              <a:rPr lang="en-US" dirty="0"/>
              <a:t> – regulating emotions experienced because of the stressful event.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50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1CE8-949D-0E1E-5437-957B4AF6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FA8F2-8200-993D-C146-9A7501AE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 dirty="0"/>
              <a:t>Mindfulness Meditation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A6A9CF-2F39-1D94-A089-1C49E85E2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C19081-1636-B9D3-528B-E875057260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6726" y="1984817"/>
            <a:ext cx="5303523" cy="460327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Teaches individuals to:</a:t>
            </a:r>
          </a:p>
          <a:p>
            <a:pPr marL="795528" lvl="1"/>
            <a:r>
              <a:rPr lang="en-US" sz="2000" dirty="0"/>
              <a:t>Have greater awareness of the present.</a:t>
            </a:r>
          </a:p>
          <a:p>
            <a:pPr marL="795528" lvl="1"/>
            <a:r>
              <a:rPr lang="en-US" sz="2000" dirty="0"/>
              <a:t>Focus on the present and accept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Dialectical Behavior Therapy (DBT) – a variation of CBT that incorporates mindfulness training</a:t>
            </a:r>
          </a:p>
          <a:p>
            <a:pPr marL="690372" lvl="1"/>
            <a:r>
              <a:rPr lang="en-US" sz="2000" dirty="0"/>
              <a:t>Developed for treating Borderline Personality Disorder, but has been successful in treating anxiety, depression, PTSD, and substance use disorders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51C83-136D-E369-609F-949D7D648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11116" b="3"/>
          <a:stretch>
            <a:fillRect/>
          </a:stretch>
        </p:blipFill>
        <p:spPr>
          <a:xfrm>
            <a:off x="6532725" y="1984817"/>
            <a:ext cx="5303523" cy="39677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691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56CD4-E61D-E8C9-550A-A93192B9F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EB4520-4F36-C204-69AA-B194B9C4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 dirty="0"/>
              <a:t>Acceptance and Commitment Therapy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65F9D1-7A83-9304-5CAB-293E68132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DCF20-0787-3268-F7B8-0FDE1A466F9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6727" y="2392441"/>
            <a:ext cx="3950190" cy="396779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Promotes flexibility and pursuit of values and goals rather than constant striving to eliminate or escape life’s troubles.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Incorporates mindful awareness and acceptance.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026" name="Picture 2" descr="Diagram illustrating six core principles of mindfulness and acceptance in a hexagonal layout with connecting lines and circular nodes. Each principle is labeled with a title and brief explanation, including Being Present, Values, Commitment, Self as Context, Defusion, and Acceptance, emphasizing focus, importance, action, identity, thought observation, and emotional willingness.&#10;">
            <a:extLst>
              <a:ext uri="{FF2B5EF4-FFF2-40B4-BE49-F238E27FC236}">
                <a16:creationId xmlns:a16="http://schemas.microsoft.com/office/drawing/2014/main" id="{F55D6BF1-6C38-F32D-BFA0-ADBFC30D2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65542" y="2150048"/>
            <a:ext cx="6595907" cy="412244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830650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7CF5-4093-67F1-0CE3-00744EFD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1921C8-4747-E6DA-F37F-9E083363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 dirty="0"/>
              <a:t>Expressive Writing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6917AD-C9F1-5C63-A4BE-1F615BA55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55103-A690-D9F9-F930-AFB21B755A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6727" y="2392441"/>
            <a:ext cx="4188154" cy="3967795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Writing one’s deepest thoughts and feelings about a traumatic or stressful event.</a:t>
            </a:r>
          </a:p>
          <a:p>
            <a:pPr marL="342900" indent="-342900"/>
            <a:r>
              <a:rPr lang="en-US" dirty="0"/>
              <a:t>Has been shown to improve psychological and physiological indicators of stress and direct indicators of health (for example, wound healing)</a:t>
            </a:r>
          </a:p>
          <a:p>
            <a:pPr marL="342900" indent="-342900"/>
            <a:r>
              <a:rPr lang="en-US" dirty="0"/>
              <a:t>Variation: dream scripts and lucid dreaming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0436CA-B562-2BE7-5542-C4578A87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67463" y="2600693"/>
            <a:ext cx="5303837" cy="3550502"/>
          </a:xfrm>
        </p:spPr>
      </p:pic>
    </p:spTree>
    <p:extLst>
      <p:ext uri="{BB962C8B-B14F-4D97-AF65-F5344CB8AC3E}">
        <p14:creationId xmlns:p14="http://schemas.microsoft.com/office/powerpoint/2010/main" val="170862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CCCA-E087-0844-4B76-54FA9239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599B5C-8FD3-7A96-F1D3-98B847F1A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 dirty="0"/>
              <a:t>Self-Affirmation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13A1D4-E09C-5AF7-C07F-C54D8AB00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4676D-BB20-5F7F-8E9B-0DE0EA373C2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Self-affirmation</a:t>
            </a:r>
            <a:r>
              <a:rPr lang="en-US" dirty="0"/>
              <a:t> – when people positively affirm their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Has a wide variety of effects, including:</a:t>
            </a:r>
          </a:p>
          <a:p>
            <a:pPr marL="690372" lvl="1"/>
            <a:r>
              <a:rPr lang="en-US" sz="2000" dirty="0"/>
              <a:t>Helps individuals feel better about themselves.</a:t>
            </a:r>
          </a:p>
          <a:p>
            <a:pPr marL="690372" lvl="1"/>
            <a:r>
              <a:rPr lang="en-US" sz="2000" dirty="0"/>
              <a:t>Lowers physiological activity and distress.</a:t>
            </a:r>
          </a:p>
          <a:p>
            <a:pPr marL="690372" lvl="1"/>
            <a:r>
              <a:rPr lang="en-US" sz="2000" dirty="0"/>
              <a:t>Reduces defensive reactions to health threats.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2C1F8-1411-6AD0-8270-09D0F84EB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10781" b="2"/>
          <a:stretch>
            <a:fillRect/>
          </a:stretch>
        </p:blipFill>
        <p:spPr>
          <a:xfrm>
            <a:off x="6367472" y="2392441"/>
            <a:ext cx="5303523" cy="3967795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C044A6-8454-7FC9-504A-3FA3A3FC77B2}"/>
              </a:ext>
            </a:extLst>
          </p:cNvPr>
          <p:cNvSpPr txBox="1"/>
          <p:nvPr/>
        </p:nvSpPr>
        <p:spPr>
          <a:xfrm>
            <a:off x="8801300" y="6160181"/>
            <a:ext cx="286969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feelslikehomeblog.com/product/40-printable-positive-affirmations-for-christians-with-anxiet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15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1FC6D-797F-B346-4731-BF6F50680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868FD3-C5C3-B7A8-C87A-D3353C955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 dirty="0"/>
              <a:t>Relaxation Training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E1D2F9-13BD-9AEA-238F-E0379B48D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215B9-6A0E-CC25-17AC-6D2EC1E407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6727" y="2392441"/>
            <a:ext cx="4214594" cy="396779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Relaxation training</a:t>
            </a:r>
            <a:r>
              <a:rPr lang="en-US" dirty="0"/>
              <a:t> – reducing arousal by influencing the physiological experience of stress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Progressive muscle relaxation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Deep breathing &amp; square breathing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Guided imagery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Yoga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762E28-82BE-2182-5B83-EE0A84EDE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75858" y="2068203"/>
            <a:ext cx="6585591" cy="3692559"/>
          </a:xfrm>
        </p:spPr>
      </p:pic>
    </p:spTree>
    <p:extLst>
      <p:ext uri="{BB962C8B-B14F-4D97-AF65-F5344CB8AC3E}">
        <p14:creationId xmlns:p14="http://schemas.microsoft.com/office/powerpoint/2010/main" val="4086129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EB43-CD56-8100-2647-7C8A95FA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DAA448-C864-B67B-4D02-63019CEF3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 dirty="0"/>
              <a:t>Coping Skills Training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B710E0-CD23-77E2-E163-793C67507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76A994-C4C6-E315-7A11-FE74B25CE8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6726" y="2392441"/>
            <a:ext cx="5303523" cy="3967795"/>
          </a:xfrm>
        </p:spPr>
        <p:txBody>
          <a:bodyPr/>
          <a:lstStyle/>
          <a:p>
            <a:r>
              <a:rPr lang="en-US" dirty="0"/>
              <a:t>Create stress management programs, which involve three phases:</a:t>
            </a:r>
          </a:p>
          <a:p>
            <a:pPr lvl="1"/>
            <a:r>
              <a:rPr lang="en-US" dirty="0"/>
              <a:t>Learning and identifying stressors</a:t>
            </a:r>
          </a:p>
          <a:p>
            <a:pPr lvl="1"/>
            <a:r>
              <a:rPr lang="en-US" dirty="0"/>
              <a:t>Training stress coping skills</a:t>
            </a:r>
          </a:p>
          <a:p>
            <a:pPr lvl="1"/>
            <a:r>
              <a:rPr lang="en-US" dirty="0"/>
              <a:t>Practicing the techniques</a:t>
            </a:r>
          </a:p>
          <a:p>
            <a:r>
              <a:rPr lang="en-US" dirty="0"/>
              <a:t>Techniques often include aspects like time management/ planning and how to change self-talk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834B54-3E3A-1B08-A14C-DDA45ADBA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008" y="1097238"/>
            <a:ext cx="4996080" cy="499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829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EB67-3CF6-A773-8EF3-C2C91BC8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2519F-8AAD-473A-4458-74DCD772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7"/>
            <a:ext cx="11094723" cy="714145"/>
          </a:xfrm>
        </p:spPr>
        <p:txBody>
          <a:bodyPr/>
          <a:lstStyle/>
          <a:p>
            <a:r>
              <a:rPr lang="en-US" dirty="0"/>
              <a:t>Social Support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414067-125F-234E-ECC7-56D45B62B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875F7-A872-92EE-51FF-3FD0343B85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793965"/>
            <a:ext cx="11104270" cy="456627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Social support</a:t>
            </a:r>
            <a:r>
              <a:rPr lang="en-US" dirty="0"/>
              <a:t> – information from others that one is loved and cared for, esteemed and valued, and part of a network of communication and mutual obligations.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Multiple types of support:</a:t>
            </a:r>
          </a:p>
          <a:p>
            <a:pPr marL="690372" lvl="1"/>
            <a:r>
              <a:rPr lang="en-US" dirty="0"/>
              <a:t>Tangible assistance (services, finances, material goods)</a:t>
            </a:r>
          </a:p>
          <a:p>
            <a:pPr marL="690372" lvl="1"/>
            <a:r>
              <a:rPr lang="en-US" dirty="0"/>
              <a:t>Informational support</a:t>
            </a:r>
          </a:p>
          <a:p>
            <a:pPr marL="690372" lvl="1"/>
            <a:r>
              <a:rPr lang="en-US" dirty="0"/>
              <a:t>Emotional support</a:t>
            </a:r>
          </a:p>
          <a:p>
            <a:pPr marL="690372" lvl="1"/>
            <a:r>
              <a:rPr lang="en-US" dirty="0"/>
              <a:t>Invisible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Direct effects hypothesis</a:t>
            </a:r>
            <a:r>
              <a:rPr lang="en-US" dirty="0"/>
              <a:t> – social support is generally beneficial during non-stressful as well as stressful times.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Buffering hypothesis</a:t>
            </a:r>
            <a:r>
              <a:rPr lang="en-US" dirty="0"/>
              <a:t> – physical and mental health benefits of social support are chiefly evident during periods of high stress.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01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3CBE5-5FEE-E39B-8846-A6143309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A2B4E2-7A07-FC74-58D6-552218371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7"/>
            <a:ext cx="11094723" cy="714145"/>
          </a:xfrm>
        </p:spPr>
        <p:txBody>
          <a:bodyPr/>
          <a:lstStyle/>
          <a:p>
            <a:r>
              <a:rPr lang="en-US" dirty="0"/>
              <a:t>Social Support Outcomes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0821B3-A6EE-1634-FED8-626147DE1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1B951-BC5F-BF6C-EA67-32288763E8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793965"/>
            <a:ext cx="11104270" cy="456627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Lowers physiological and neuroendocrine responses to stress.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Decreases cortisol responses to stress.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Better immune functioning.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Modifies the brain’s responses to stress.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Lowers the likelihood of illness.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Speeds up recovery.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Reduces the risk of mortality.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Encourages individuals to use health services and stick to their medical regimens.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lead to some bad health habits.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466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0C68-FAE4-308A-089C-5EECBE27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F21B91-2BC5-1E78-3923-777E2E60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7"/>
            <a:ext cx="11094723" cy="714145"/>
          </a:xfrm>
        </p:spPr>
        <p:txBody>
          <a:bodyPr/>
          <a:lstStyle/>
          <a:p>
            <a:r>
              <a:rPr lang="en-US" dirty="0"/>
              <a:t>Social Support – The Balance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D981F7-15FF-7E21-674F-11654EE02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64EC3D-7180-A1EE-6AC5-866E1F353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271406" y="2159931"/>
            <a:ext cx="5649187" cy="3648433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DF3DF0-3C22-879A-FE68-50C5F22E1995}"/>
              </a:ext>
            </a:extLst>
          </p:cNvPr>
          <p:cNvSpPr txBox="1"/>
          <p:nvPr/>
        </p:nvSpPr>
        <p:spPr>
          <a:xfrm>
            <a:off x="1057514" y="3010648"/>
            <a:ext cx="26784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Provide support that meets the needs of a stressful event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ECFBA-AA62-706F-9506-B4B3580C0986}"/>
              </a:ext>
            </a:extLst>
          </p:cNvPr>
          <p:cNvSpPr txBox="1"/>
          <p:nvPr/>
        </p:nvSpPr>
        <p:spPr>
          <a:xfrm>
            <a:off x="8992533" y="3010647"/>
            <a:ext cx="26784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Respect the person, being careful not to control, direct, or cross boundaries</a:t>
            </a:r>
          </a:p>
        </p:txBody>
      </p:sp>
    </p:spTree>
    <p:extLst>
      <p:ext uri="{BB962C8B-B14F-4D97-AF65-F5344CB8AC3E}">
        <p14:creationId xmlns:p14="http://schemas.microsoft.com/office/powerpoint/2010/main" val="1925031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053B5A-A63E-86F2-5054-28D1A284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07" y="1049447"/>
            <a:ext cx="3569844" cy="5094386"/>
          </a:xfrm>
        </p:spPr>
        <p:txBody>
          <a:bodyPr/>
          <a:lstStyle/>
          <a:p>
            <a:r>
              <a:rPr lang="en-US" sz="5400" dirty="0"/>
              <a:t>Resources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4F5D77-BC66-7D34-BDFF-30E2A790BC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14651" y="1049447"/>
            <a:ext cx="7263263" cy="509438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Dr. Daby’s therapeutic yoga free videos: </a:t>
            </a:r>
            <a:r>
              <a:rPr lang="en-US" dirty="0">
                <a:hlinkClick r:id="rId3"/>
              </a:rPr>
              <a:t>https://nydiasyogatherapy.com/free-video-training-programs/#videos</a:t>
            </a:r>
            <a:r>
              <a:rPr lang="en-US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Relax With Animal Facts podcast: </a:t>
            </a:r>
            <a:br>
              <a:rPr lang="en-US" dirty="0"/>
            </a:br>
            <a:r>
              <a:rPr lang="en-US" dirty="0">
                <a:hlinkClick r:id="rId4"/>
              </a:rPr>
              <a:t>https://open.spotify.com/show/6AZ2VyITjVYFvygseqcLpp?si=72c96a40ba884184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0ABC4A-D850-9A8E-F76D-F3E3AC9FF9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9188" y="517525"/>
            <a:ext cx="912812" cy="4794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67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A7FAD2-E764-A293-303C-7B859B6F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on PSY 440…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541D32-D15B-C6A2-951F-4D7E6C4BF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086B64-94DE-AF4E-22A3-E76EF672740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Before Next Class:</a:t>
            </a:r>
            <a:endParaRPr lang="en-US" dirty="0"/>
          </a:p>
          <a:p>
            <a:r>
              <a:rPr lang="en-US" dirty="0"/>
              <a:t>Complete Journal Prompt</a:t>
            </a:r>
          </a:p>
          <a:p>
            <a:pPr lvl="1"/>
            <a:r>
              <a:rPr lang="en-US" dirty="0"/>
              <a:t>Due Wednesday at 11:59 pm</a:t>
            </a:r>
          </a:p>
          <a:p>
            <a:r>
              <a:rPr lang="en-US" dirty="0"/>
              <a:t>Continue work on BCP</a:t>
            </a:r>
          </a:p>
          <a:p>
            <a:pPr lvl="1"/>
            <a:r>
              <a:rPr lang="en-US" dirty="0"/>
              <a:t>Due Wednesday at 11:59 pm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18FD0-6965-902B-EFD4-099460B3B3C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b="1" dirty="0"/>
              <a:t>In Our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BCP Workday</a:t>
            </a:r>
          </a:p>
        </p:txBody>
      </p:sp>
    </p:spTree>
    <p:extLst>
      <p:ext uri="{BB962C8B-B14F-4D97-AF65-F5344CB8AC3E}">
        <p14:creationId xmlns:p14="http://schemas.microsoft.com/office/powerpoint/2010/main" val="3668912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D29"/>
      </a:dk2>
      <a:lt2>
        <a:srgbClr val="E6B32E"/>
      </a:lt2>
      <a:accent1>
        <a:srgbClr val="9F9CD8"/>
      </a:accent1>
      <a:accent2>
        <a:srgbClr val="ED95A2"/>
      </a:accent2>
      <a:accent3>
        <a:srgbClr val="8BB9E1"/>
      </a:accent3>
      <a:accent4>
        <a:srgbClr val="C33F51"/>
      </a:accent4>
      <a:accent5>
        <a:srgbClr val="004048"/>
      </a:accent5>
      <a:accent6>
        <a:srgbClr val="8EC0C1"/>
      </a:accent6>
      <a:hlink>
        <a:srgbClr val="6D9D9B"/>
      </a:hlink>
      <a:folHlink>
        <a:srgbClr val="6D8583"/>
      </a:folHlink>
    </a:clrScheme>
    <a:fontScheme name="Custom 116">
      <a:majorFont>
        <a:latin typeface="Kalinga"/>
        <a:ea typeface=""/>
        <a:cs typeface=""/>
      </a:majorFont>
      <a:minorFont>
        <a:latin typeface="Kalinga"/>
        <a:ea typeface=""/>
        <a:cs typeface="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9" id="{1C1685F1-2AF6-4AF8-B809-5763D0E52941}" vid="{50BDB98F-F06A-48E8-BE85-F709AAFF09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Pastels Presentation</Template>
  <TotalTime>110</TotalTime>
  <Words>726</Words>
  <Application>Microsoft Office PowerPoint</Application>
  <PresentationFormat>Widescreen</PresentationFormat>
  <Paragraphs>100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Kalinga</vt:lpstr>
      <vt:lpstr>Wingdings</vt:lpstr>
      <vt:lpstr>Madison</vt:lpstr>
      <vt:lpstr>Coping &amp;  Resilience</vt:lpstr>
      <vt:lpstr>Agenda</vt:lpstr>
      <vt:lpstr>Important Terminology</vt:lpstr>
      <vt:lpstr>Coping Style</vt:lpstr>
      <vt:lpstr>Mindfulness Meditation</vt:lpstr>
      <vt:lpstr>Acceptance and Commitment Therapy</vt:lpstr>
      <vt:lpstr>Expressive Writing</vt:lpstr>
      <vt:lpstr>Self-Affirmation</vt:lpstr>
      <vt:lpstr>Relaxation Training</vt:lpstr>
      <vt:lpstr>Coping Skills Training</vt:lpstr>
      <vt:lpstr>Social Support</vt:lpstr>
      <vt:lpstr>Social Support Outcomes</vt:lpstr>
      <vt:lpstr>Social Support – The Balance</vt:lpstr>
      <vt:lpstr>Resources</vt:lpstr>
      <vt:lpstr>Next Time on PSY 440…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6</cp:revision>
  <dcterms:created xsi:type="dcterms:W3CDTF">2025-10-03T08:09:12Z</dcterms:created>
  <dcterms:modified xsi:type="dcterms:W3CDTF">2026-02-23T15:40:23Z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