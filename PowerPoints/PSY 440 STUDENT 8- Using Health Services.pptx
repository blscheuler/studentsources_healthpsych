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17"/>
  </p:notesMasterIdLst>
  <p:sldIdLst>
    <p:sldId id="333" r:id="rId5"/>
    <p:sldId id="334" r:id="rId6"/>
    <p:sldId id="335" r:id="rId7"/>
    <p:sldId id="338" r:id="rId8"/>
    <p:sldId id="339" r:id="rId9"/>
    <p:sldId id="340" r:id="rId10"/>
    <p:sldId id="341" r:id="rId11"/>
    <p:sldId id="343" r:id="rId12"/>
    <p:sldId id="345" r:id="rId13"/>
    <p:sldId id="344" r:id="rId14"/>
    <p:sldId id="342" r:id="rId15"/>
    <p:sldId id="33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8623" autoAdjust="0"/>
  </p:normalViewPr>
  <p:slideViewPr>
    <p:cSldViewPr snapToGrid="0">
      <p:cViewPr varScale="1">
        <p:scale>
          <a:sx n="96" d="100"/>
          <a:sy n="96" d="100"/>
        </p:scale>
        <p:origin x="2790" y="7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2C6C6A-8751-4458-BDED-AFC28DEAE1D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C430F1D-ED92-4116-B1BB-909B1C611570}">
      <dgm:prSet/>
      <dgm:spPr/>
      <dgm:t>
        <a:bodyPr/>
        <a:lstStyle/>
        <a:p>
          <a:r>
            <a:rPr lang="en-US" b="0" i="0" dirty="0">
              <a:solidFill>
                <a:schemeClr val="bg1"/>
              </a:solidFill>
            </a:rPr>
            <a:t>Important terminology</a:t>
          </a:r>
          <a:endParaRPr lang="en-US" dirty="0">
            <a:solidFill>
              <a:schemeClr val="bg1"/>
            </a:solidFill>
          </a:endParaRPr>
        </a:p>
      </dgm:t>
    </dgm:pt>
    <dgm:pt modelId="{985B2D14-9BDA-4AD1-A32F-4A2840589BFF}" type="parTrans" cxnId="{610D30B3-E777-458B-8E28-55B5162F498A}">
      <dgm:prSet/>
      <dgm:spPr/>
      <dgm:t>
        <a:bodyPr/>
        <a:lstStyle/>
        <a:p>
          <a:endParaRPr lang="en-US">
            <a:solidFill>
              <a:schemeClr val="bg1"/>
            </a:solidFill>
          </a:endParaRPr>
        </a:p>
      </dgm:t>
    </dgm:pt>
    <dgm:pt modelId="{6D2AEE90-DC25-435A-994F-78E503CF6ADC}" type="sibTrans" cxnId="{610D30B3-E777-458B-8E28-55B5162F498A}">
      <dgm:prSet/>
      <dgm:spPr/>
      <dgm:t>
        <a:bodyPr/>
        <a:lstStyle/>
        <a:p>
          <a:endParaRPr lang="en-US">
            <a:solidFill>
              <a:schemeClr val="bg1"/>
            </a:solidFill>
          </a:endParaRPr>
        </a:p>
      </dgm:t>
    </dgm:pt>
    <dgm:pt modelId="{AB3DEE6A-9443-4CCD-B739-6CD0F319FA78}">
      <dgm:prSet/>
      <dgm:spPr/>
      <dgm:t>
        <a:bodyPr/>
        <a:lstStyle/>
        <a:p>
          <a:r>
            <a:rPr lang="en-US" b="0" i="0" dirty="0">
              <a:solidFill>
                <a:schemeClr val="bg1"/>
              </a:solidFill>
            </a:rPr>
            <a:t>Interpretation of symptoms</a:t>
          </a:r>
          <a:endParaRPr lang="en-US" dirty="0">
            <a:solidFill>
              <a:schemeClr val="bg1"/>
            </a:solidFill>
          </a:endParaRPr>
        </a:p>
      </dgm:t>
    </dgm:pt>
    <dgm:pt modelId="{40736A29-A3DD-4235-AAB0-3D3C5E26A46F}" type="parTrans" cxnId="{EEA191D9-D86C-43FA-B2B0-6A9E93AB89F5}">
      <dgm:prSet/>
      <dgm:spPr/>
      <dgm:t>
        <a:bodyPr/>
        <a:lstStyle/>
        <a:p>
          <a:endParaRPr lang="en-US">
            <a:solidFill>
              <a:schemeClr val="bg1"/>
            </a:solidFill>
          </a:endParaRPr>
        </a:p>
      </dgm:t>
    </dgm:pt>
    <dgm:pt modelId="{3F61F303-B202-4EC4-A218-1DE8EA1F75A4}" type="sibTrans" cxnId="{EEA191D9-D86C-43FA-B2B0-6A9E93AB89F5}">
      <dgm:prSet/>
      <dgm:spPr/>
      <dgm:t>
        <a:bodyPr/>
        <a:lstStyle/>
        <a:p>
          <a:endParaRPr lang="en-US">
            <a:solidFill>
              <a:schemeClr val="bg1"/>
            </a:solidFill>
          </a:endParaRPr>
        </a:p>
      </dgm:t>
    </dgm:pt>
    <dgm:pt modelId="{4EDB0A01-3E12-4DFB-9CF2-EE17B05E92F2}">
      <dgm:prSet/>
      <dgm:spPr/>
      <dgm:t>
        <a:bodyPr/>
        <a:lstStyle/>
        <a:p>
          <a:r>
            <a:rPr lang="en-US" b="0" i="0" dirty="0">
              <a:solidFill>
                <a:schemeClr val="bg1"/>
              </a:solidFill>
            </a:rPr>
            <a:t>Who uses health services</a:t>
          </a:r>
          <a:endParaRPr lang="en-US" dirty="0">
            <a:solidFill>
              <a:schemeClr val="bg1"/>
            </a:solidFill>
          </a:endParaRPr>
        </a:p>
      </dgm:t>
    </dgm:pt>
    <dgm:pt modelId="{B6DA116F-0BDB-4CBF-AC27-663624D09EB8}" type="parTrans" cxnId="{8553ABFD-7E27-4328-B6BD-F14AB53D7565}">
      <dgm:prSet/>
      <dgm:spPr/>
      <dgm:t>
        <a:bodyPr/>
        <a:lstStyle/>
        <a:p>
          <a:endParaRPr lang="en-US">
            <a:solidFill>
              <a:schemeClr val="bg1"/>
            </a:solidFill>
          </a:endParaRPr>
        </a:p>
      </dgm:t>
    </dgm:pt>
    <dgm:pt modelId="{AFD0B3D2-1883-4271-91F2-72BABE9C9C6B}" type="sibTrans" cxnId="{8553ABFD-7E27-4328-B6BD-F14AB53D7565}">
      <dgm:prSet/>
      <dgm:spPr/>
      <dgm:t>
        <a:bodyPr/>
        <a:lstStyle/>
        <a:p>
          <a:endParaRPr lang="en-US">
            <a:solidFill>
              <a:schemeClr val="bg1"/>
            </a:solidFill>
          </a:endParaRPr>
        </a:p>
      </dgm:t>
    </dgm:pt>
    <dgm:pt modelId="{6203510E-176D-4ABA-B7CC-CB5F45B4823A}">
      <dgm:prSet/>
      <dgm:spPr/>
      <dgm:t>
        <a:bodyPr/>
        <a:lstStyle/>
        <a:p>
          <a:r>
            <a:rPr lang="en-US" b="0" i="0" dirty="0">
              <a:solidFill>
                <a:schemeClr val="bg1"/>
              </a:solidFill>
            </a:rPr>
            <a:t>Misuse of health services</a:t>
          </a:r>
          <a:endParaRPr lang="en-US" dirty="0">
            <a:solidFill>
              <a:schemeClr val="bg1"/>
            </a:solidFill>
          </a:endParaRPr>
        </a:p>
      </dgm:t>
    </dgm:pt>
    <dgm:pt modelId="{6D60D8B8-E3E8-4116-BE40-80CDFCA419BF}" type="parTrans" cxnId="{B4AEC365-4446-4924-A4F4-FCDB64F6BF17}">
      <dgm:prSet/>
      <dgm:spPr/>
      <dgm:t>
        <a:bodyPr/>
        <a:lstStyle/>
        <a:p>
          <a:endParaRPr lang="en-US">
            <a:solidFill>
              <a:schemeClr val="bg1"/>
            </a:solidFill>
          </a:endParaRPr>
        </a:p>
      </dgm:t>
    </dgm:pt>
    <dgm:pt modelId="{7B87636C-DFBD-48C8-A0B9-0A9C7F4F4F43}" type="sibTrans" cxnId="{B4AEC365-4446-4924-A4F4-FCDB64F6BF17}">
      <dgm:prSet/>
      <dgm:spPr/>
      <dgm:t>
        <a:bodyPr/>
        <a:lstStyle/>
        <a:p>
          <a:endParaRPr lang="en-US">
            <a:solidFill>
              <a:schemeClr val="bg1"/>
            </a:solidFill>
          </a:endParaRPr>
        </a:p>
      </dgm:t>
    </dgm:pt>
    <dgm:pt modelId="{68B9429B-E702-4E5B-9054-B73BCBBBE9E6}" type="pres">
      <dgm:prSet presAssocID="{EE2C6C6A-8751-4458-BDED-AFC28DEAE1DA}" presName="vert0" presStyleCnt="0">
        <dgm:presLayoutVars>
          <dgm:dir/>
          <dgm:animOne val="branch"/>
          <dgm:animLvl val="lvl"/>
        </dgm:presLayoutVars>
      </dgm:prSet>
      <dgm:spPr/>
    </dgm:pt>
    <dgm:pt modelId="{6CEEE6F6-E91E-4FFE-80ED-D960FB6E38F1}" type="pres">
      <dgm:prSet presAssocID="{5C430F1D-ED92-4116-B1BB-909B1C611570}" presName="thickLine" presStyleLbl="alignNode1" presStyleIdx="0" presStyleCnt="4"/>
      <dgm:spPr/>
    </dgm:pt>
    <dgm:pt modelId="{B50ACC70-43CE-46E4-94F3-68BBBD7C1B68}" type="pres">
      <dgm:prSet presAssocID="{5C430F1D-ED92-4116-B1BB-909B1C611570}" presName="horz1" presStyleCnt="0"/>
      <dgm:spPr/>
    </dgm:pt>
    <dgm:pt modelId="{5FE6C51C-D2D0-4444-AE76-0367B6351768}" type="pres">
      <dgm:prSet presAssocID="{5C430F1D-ED92-4116-B1BB-909B1C611570}" presName="tx1" presStyleLbl="revTx" presStyleIdx="0" presStyleCnt="4"/>
      <dgm:spPr/>
    </dgm:pt>
    <dgm:pt modelId="{93CF9150-172A-476D-8486-26252FD095F0}" type="pres">
      <dgm:prSet presAssocID="{5C430F1D-ED92-4116-B1BB-909B1C611570}" presName="vert1" presStyleCnt="0"/>
      <dgm:spPr/>
    </dgm:pt>
    <dgm:pt modelId="{5524CBFF-30BB-45F5-A3DA-09328A7690AA}" type="pres">
      <dgm:prSet presAssocID="{AB3DEE6A-9443-4CCD-B739-6CD0F319FA78}" presName="thickLine" presStyleLbl="alignNode1" presStyleIdx="1" presStyleCnt="4"/>
      <dgm:spPr/>
    </dgm:pt>
    <dgm:pt modelId="{9282E43D-7618-48E3-846D-D40885F82314}" type="pres">
      <dgm:prSet presAssocID="{AB3DEE6A-9443-4CCD-B739-6CD0F319FA78}" presName="horz1" presStyleCnt="0"/>
      <dgm:spPr/>
    </dgm:pt>
    <dgm:pt modelId="{5E769828-8005-4808-9035-67D60980F849}" type="pres">
      <dgm:prSet presAssocID="{AB3DEE6A-9443-4CCD-B739-6CD0F319FA78}" presName="tx1" presStyleLbl="revTx" presStyleIdx="1" presStyleCnt="4"/>
      <dgm:spPr/>
    </dgm:pt>
    <dgm:pt modelId="{CB80DF9D-B9C4-4CB1-A603-604426AA113D}" type="pres">
      <dgm:prSet presAssocID="{AB3DEE6A-9443-4CCD-B739-6CD0F319FA78}" presName="vert1" presStyleCnt="0"/>
      <dgm:spPr/>
    </dgm:pt>
    <dgm:pt modelId="{DCE51856-DD7C-4087-B478-95D03CA5E1C4}" type="pres">
      <dgm:prSet presAssocID="{4EDB0A01-3E12-4DFB-9CF2-EE17B05E92F2}" presName="thickLine" presStyleLbl="alignNode1" presStyleIdx="2" presStyleCnt="4"/>
      <dgm:spPr/>
    </dgm:pt>
    <dgm:pt modelId="{EFC3AC28-2914-4BDE-BD15-F62315DE6B06}" type="pres">
      <dgm:prSet presAssocID="{4EDB0A01-3E12-4DFB-9CF2-EE17B05E92F2}" presName="horz1" presStyleCnt="0"/>
      <dgm:spPr/>
    </dgm:pt>
    <dgm:pt modelId="{5F4C4087-1F8E-479D-B6FD-4C84D9FB3A6E}" type="pres">
      <dgm:prSet presAssocID="{4EDB0A01-3E12-4DFB-9CF2-EE17B05E92F2}" presName="tx1" presStyleLbl="revTx" presStyleIdx="2" presStyleCnt="4"/>
      <dgm:spPr/>
    </dgm:pt>
    <dgm:pt modelId="{39460692-81E9-48A7-BDEE-B6E6555F1F5B}" type="pres">
      <dgm:prSet presAssocID="{4EDB0A01-3E12-4DFB-9CF2-EE17B05E92F2}" presName="vert1" presStyleCnt="0"/>
      <dgm:spPr/>
    </dgm:pt>
    <dgm:pt modelId="{CE6FD2C3-78F6-4122-8699-F6569DDD6C05}" type="pres">
      <dgm:prSet presAssocID="{6203510E-176D-4ABA-B7CC-CB5F45B4823A}" presName="thickLine" presStyleLbl="alignNode1" presStyleIdx="3" presStyleCnt="4"/>
      <dgm:spPr/>
    </dgm:pt>
    <dgm:pt modelId="{BC27FC99-60F3-47BC-A744-6D9913BB3FBB}" type="pres">
      <dgm:prSet presAssocID="{6203510E-176D-4ABA-B7CC-CB5F45B4823A}" presName="horz1" presStyleCnt="0"/>
      <dgm:spPr/>
    </dgm:pt>
    <dgm:pt modelId="{620E135F-AB9B-49D7-A476-2295A768EC48}" type="pres">
      <dgm:prSet presAssocID="{6203510E-176D-4ABA-B7CC-CB5F45B4823A}" presName="tx1" presStyleLbl="revTx" presStyleIdx="3" presStyleCnt="4"/>
      <dgm:spPr/>
    </dgm:pt>
    <dgm:pt modelId="{2F6ED4EB-04FA-4BF0-9797-2AEBA14881B0}" type="pres">
      <dgm:prSet presAssocID="{6203510E-176D-4ABA-B7CC-CB5F45B4823A}" presName="vert1" presStyleCnt="0"/>
      <dgm:spPr/>
    </dgm:pt>
  </dgm:ptLst>
  <dgm:cxnLst>
    <dgm:cxn modelId="{DACB4A01-D820-4187-B5CA-B529907F3C70}" type="presOf" srcId="{6203510E-176D-4ABA-B7CC-CB5F45B4823A}" destId="{620E135F-AB9B-49D7-A476-2295A768EC48}" srcOrd="0" destOrd="0" presId="urn:microsoft.com/office/officeart/2008/layout/LinedList"/>
    <dgm:cxn modelId="{F8B22A1B-4384-4BCA-9692-9B6EE72C13C7}" type="presOf" srcId="{EE2C6C6A-8751-4458-BDED-AFC28DEAE1DA}" destId="{68B9429B-E702-4E5B-9054-B73BCBBBE9E6}" srcOrd="0" destOrd="0" presId="urn:microsoft.com/office/officeart/2008/layout/LinedList"/>
    <dgm:cxn modelId="{B4AEC365-4446-4924-A4F4-FCDB64F6BF17}" srcId="{EE2C6C6A-8751-4458-BDED-AFC28DEAE1DA}" destId="{6203510E-176D-4ABA-B7CC-CB5F45B4823A}" srcOrd="3" destOrd="0" parTransId="{6D60D8B8-E3E8-4116-BE40-80CDFCA419BF}" sibTransId="{7B87636C-DFBD-48C8-A0B9-0A9C7F4F4F43}"/>
    <dgm:cxn modelId="{898C8DA8-8B48-4899-9668-582B625E3F48}" type="presOf" srcId="{AB3DEE6A-9443-4CCD-B739-6CD0F319FA78}" destId="{5E769828-8005-4808-9035-67D60980F849}" srcOrd="0" destOrd="0" presId="urn:microsoft.com/office/officeart/2008/layout/LinedList"/>
    <dgm:cxn modelId="{89B20FB0-2CD3-4376-9DB5-C6D79D76F6F2}" type="presOf" srcId="{4EDB0A01-3E12-4DFB-9CF2-EE17B05E92F2}" destId="{5F4C4087-1F8E-479D-B6FD-4C84D9FB3A6E}" srcOrd="0" destOrd="0" presId="urn:microsoft.com/office/officeart/2008/layout/LinedList"/>
    <dgm:cxn modelId="{610D30B3-E777-458B-8E28-55B5162F498A}" srcId="{EE2C6C6A-8751-4458-BDED-AFC28DEAE1DA}" destId="{5C430F1D-ED92-4116-B1BB-909B1C611570}" srcOrd="0" destOrd="0" parTransId="{985B2D14-9BDA-4AD1-A32F-4A2840589BFF}" sibTransId="{6D2AEE90-DC25-435A-994F-78E503CF6ADC}"/>
    <dgm:cxn modelId="{EEA191D9-D86C-43FA-B2B0-6A9E93AB89F5}" srcId="{EE2C6C6A-8751-4458-BDED-AFC28DEAE1DA}" destId="{AB3DEE6A-9443-4CCD-B739-6CD0F319FA78}" srcOrd="1" destOrd="0" parTransId="{40736A29-A3DD-4235-AAB0-3D3C5E26A46F}" sibTransId="{3F61F303-B202-4EC4-A218-1DE8EA1F75A4}"/>
    <dgm:cxn modelId="{357906E9-6333-408E-8181-C2D000A60C5B}" type="presOf" srcId="{5C430F1D-ED92-4116-B1BB-909B1C611570}" destId="{5FE6C51C-D2D0-4444-AE76-0367B6351768}" srcOrd="0" destOrd="0" presId="urn:microsoft.com/office/officeart/2008/layout/LinedList"/>
    <dgm:cxn modelId="{8553ABFD-7E27-4328-B6BD-F14AB53D7565}" srcId="{EE2C6C6A-8751-4458-BDED-AFC28DEAE1DA}" destId="{4EDB0A01-3E12-4DFB-9CF2-EE17B05E92F2}" srcOrd="2" destOrd="0" parTransId="{B6DA116F-0BDB-4CBF-AC27-663624D09EB8}" sibTransId="{AFD0B3D2-1883-4271-91F2-72BABE9C9C6B}"/>
    <dgm:cxn modelId="{28F8C39B-793E-4A4E-91E0-BF8C33CB5D41}" type="presParOf" srcId="{68B9429B-E702-4E5B-9054-B73BCBBBE9E6}" destId="{6CEEE6F6-E91E-4FFE-80ED-D960FB6E38F1}" srcOrd="0" destOrd="0" presId="urn:microsoft.com/office/officeart/2008/layout/LinedList"/>
    <dgm:cxn modelId="{460B870B-B439-475B-AADB-142A906E9676}" type="presParOf" srcId="{68B9429B-E702-4E5B-9054-B73BCBBBE9E6}" destId="{B50ACC70-43CE-46E4-94F3-68BBBD7C1B68}" srcOrd="1" destOrd="0" presId="urn:microsoft.com/office/officeart/2008/layout/LinedList"/>
    <dgm:cxn modelId="{D3C2462A-2CDD-4754-9261-75C027679FC2}" type="presParOf" srcId="{B50ACC70-43CE-46E4-94F3-68BBBD7C1B68}" destId="{5FE6C51C-D2D0-4444-AE76-0367B6351768}" srcOrd="0" destOrd="0" presId="urn:microsoft.com/office/officeart/2008/layout/LinedList"/>
    <dgm:cxn modelId="{8929FFFA-4EA5-4770-A1EC-12B5A55105D7}" type="presParOf" srcId="{B50ACC70-43CE-46E4-94F3-68BBBD7C1B68}" destId="{93CF9150-172A-476D-8486-26252FD095F0}" srcOrd="1" destOrd="0" presId="urn:microsoft.com/office/officeart/2008/layout/LinedList"/>
    <dgm:cxn modelId="{0D755701-5B84-4EAF-A5AB-2F2ABBA818A9}" type="presParOf" srcId="{68B9429B-E702-4E5B-9054-B73BCBBBE9E6}" destId="{5524CBFF-30BB-45F5-A3DA-09328A7690AA}" srcOrd="2" destOrd="0" presId="urn:microsoft.com/office/officeart/2008/layout/LinedList"/>
    <dgm:cxn modelId="{E146C001-BBF3-43A1-80A0-D6BC06D42241}" type="presParOf" srcId="{68B9429B-E702-4E5B-9054-B73BCBBBE9E6}" destId="{9282E43D-7618-48E3-846D-D40885F82314}" srcOrd="3" destOrd="0" presId="urn:microsoft.com/office/officeart/2008/layout/LinedList"/>
    <dgm:cxn modelId="{B2988A8B-5CBD-44CA-80BD-73C55503EC16}" type="presParOf" srcId="{9282E43D-7618-48E3-846D-D40885F82314}" destId="{5E769828-8005-4808-9035-67D60980F849}" srcOrd="0" destOrd="0" presId="urn:microsoft.com/office/officeart/2008/layout/LinedList"/>
    <dgm:cxn modelId="{F8387C8C-9707-4639-81AD-AD7695AA0133}" type="presParOf" srcId="{9282E43D-7618-48E3-846D-D40885F82314}" destId="{CB80DF9D-B9C4-4CB1-A603-604426AA113D}" srcOrd="1" destOrd="0" presId="urn:microsoft.com/office/officeart/2008/layout/LinedList"/>
    <dgm:cxn modelId="{0F502894-8C52-4F7A-AA9D-58BA48A7D064}" type="presParOf" srcId="{68B9429B-E702-4E5B-9054-B73BCBBBE9E6}" destId="{DCE51856-DD7C-4087-B478-95D03CA5E1C4}" srcOrd="4" destOrd="0" presId="urn:microsoft.com/office/officeart/2008/layout/LinedList"/>
    <dgm:cxn modelId="{F761C8DD-ED08-4C74-AF70-12ED5B8E72D9}" type="presParOf" srcId="{68B9429B-E702-4E5B-9054-B73BCBBBE9E6}" destId="{EFC3AC28-2914-4BDE-BD15-F62315DE6B06}" srcOrd="5" destOrd="0" presId="urn:microsoft.com/office/officeart/2008/layout/LinedList"/>
    <dgm:cxn modelId="{D01834E8-EDFF-468F-AEA0-5556919CF5C7}" type="presParOf" srcId="{EFC3AC28-2914-4BDE-BD15-F62315DE6B06}" destId="{5F4C4087-1F8E-479D-B6FD-4C84D9FB3A6E}" srcOrd="0" destOrd="0" presId="urn:microsoft.com/office/officeart/2008/layout/LinedList"/>
    <dgm:cxn modelId="{2535D32B-95B5-4AA8-A6C5-2E0EBA8611EA}" type="presParOf" srcId="{EFC3AC28-2914-4BDE-BD15-F62315DE6B06}" destId="{39460692-81E9-48A7-BDEE-B6E6555F1F5B}" srcOrd="1" destOrd="0" presId="urn:microsoft.com/office/officeart/2008/layout/LinedList"/>
    <dgm:cxn modelId="{665BC8C7-2F42-4A76-822B-6323B38851B9}" type="presParOf" srcId="{68B9429B-E702-4E5B-9054-B73BCBBBE9E6}" destId="{CE6FD2C3-78F6-4122-8699-F6569DDD6C05}" srcOrd="6" destOrd="0" presId="urn:microsoft.com/office/officeart/2008/layout/LinedList"/>
    <dgm:cxn modelId="{DF0083E7-66A7-4BD4-AEBD-0BBABE3569F9}" type="presParOf" srcId="{68B9429B-E702-4E5B-9054-B73BCBBBE9E6}" destId="{BC27FC99-60F3-47BC-A744-6D9913BB3FBB}" srcOrd="7" destOrd="0" presId="urn:microsoft.com/office/officeart/2008/layout/LinedList"/>
    <dgm:cxn modelId="{D49C1F52-5AF3-454E-98ED-35FB7AD1E5F7}" type="presParOf" srcId="{BC27FC99-60F3-47BC-A744-6D9913BB3FBB}" destId="{620E135F-AB9B-49D7-A476-2295A768EC48}" srcOrd="0" destOrd="0" presId="urn:microsoft.com/office/officeart/2008/layout/LinedList"/>
    <dgm:cxn modelId="{5A099BEF-F4A0-42FF-B3FA-2E6121810B58}" type="presParOf" srcId="{BC27FC99-60F3-47BC-A744-6D9913BB3FBB}" destId="{2F6ED4EB-04FA-4BF0-9797-2AEBA14881B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EE6F6-E91E-4FFE-80ED-D960FB6E38F1}">
      <dsp:nvSpPr>
        <dsp:cNvPr id="0" name=""/>
        <dsp:cNvSpPr/>
      </dsp:nvSpPr>
      <dsp:spPr>
        <a:xfrm>
          <a:off x="0" y="0"/>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E6C51C-D2D0-4444-AE76-0367B6351768}">
      <dsp:nvSpPr>
        <dsp:cNvPr id="0" name=""/>
        <dsp:cNvSpPr/>
      </dsp:nvSpPr>
      <dsp:spPr>
        <a:xfrm>
          <a:off x="0" y="0"/>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0" i="0" kern="1200" dirty="0">
              <a:solidFill>
                <a:schemeClr val="bg1"/>
              </a:solidFill>
            </a:rPr>
            <a:t>Important terminology</a:t>
          </a:r>
          <a:endParaRPr lang="en-US" sz="4200" kern="1200" dirty="0">
            <a:solidFill>
              <a:schemeClr val="bg1"/>
            </a:solidFill>
          </a:endParaRPr>
        </a:p>
      </dsp:txBody>
      <dsp:txXfrm>
        <a:off x="0" y="0"/>
        <a:ext cx="7184570" cy="1245336"/>
      </dsp:txXfrm>
    </dsp:sp>
    <dsp:sp modelId="{5524CBFF-30BB-45F5-A3DA-09328A7690AA}">
      <dsp:nvSpPr>
        <dsp:cNvPr id="0" name=""/>
        <dsp:cNvSpPr/>
      </dsp:nvSpPr>
      <dsp:spPr>
        <a:xfrm>
          <a:off x="0" y="1245336"/>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769828-8005-4808-9035-67D60980F849}">
      <dsp:nvSpPr>
        <dsp:cNvPr id="0" name=""/>
        <dsp:cNvSpPr/>
      </dsp:nvSpPr>
      <dsp:spPr>
        <a:xfrm>
          <a:off x="0" y="1245336"/>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0" i="0" kern="1200" dirty="0">
              <a:solidFill>
                <a:schemeClr val="bg1"/>
              </a:solidFill>
            </a:rPr>
            <a:t>Interpretation of symptoms</a:t>
          </a:r>
          <a:endParaRPr lang="en-US" sz="4200" kern="1200" dirty="0">
            <a:solidFill>
              <a:schemeClr val="bg1"/>
            </a:solidFill>
          </a:endParaRPr>
        </a:p>
      </dsp:txBody>
      <dsp:txXfrm>
        <a:off x="0" y="1245336"/>
        <a:ext cx="7184570" cy="1245336"/>
      </dsp:txXfrm>
    </dsp:sp>
    <dsp:sp modelId="{DCE51856-DD7C-4087-B478-95D03CA5E1C4}">
      <dsp:nvSpPr>
        <dsp:cNvPr id="0" name=""/>
        <dsp:cNvSpPr/>
      </dsp:nvSpPr>
      <dsp:spPr>
        <a:xfrm>
          <a:off x="0" y="2490672"/>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4C4087-1F8E-479D-B6FD-4C84D9FB3A6E}">
      <dsp:nvSpPr>
        <dsp:cNvPr id="0" name=""/>
        <dsp:cNvSpPr/>
      </dsp:nvSpPr>
      <dsp:spPr>
        <a:xfrm>
          <a:off x="0" y="2490673"/>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0" i="0" kern="1200" dirty="0">
              <a:solidFill>
                <a:schemeClr val="bg1"/>
              </a:solidFill>
            </a:rPr>
            <a:t>Who uses health services</a:t>
          </a:r>
          <a:endParaRPr lang="en-US" sz="4200" kern="1200" dirty="0">
            <a:solidFill>
              <a:schemeClr val="bg1"/>
            </a:solidFill>
          </a:endParaRPr>
        </a:p>
      </dsp:txBody>
      <dsp:txXfrm>
        <a:off x="0" y="2490673"/>
        <a:ext cx="7184570" cy="1245336"/>
      </dsp:txXfrm>
    </dsp:sp>
    <dsp:sp modelId="{CE6FD2C3-78F6-4122-8699-F6569DDD6C05}">
      <dsp:nvSpPr>
        <dsp:cNvPr id="0" name=""/>
        <dsp:cNvSpPr/>
      </dsp:nvSpPr>
      <dsp:spPr>
        <a:xfrm>
          <a:off x="0" y="3736009"/>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0E135F-AB9B-49D7-A476-2295A768EC48}">
      <dsp:nvSpPr>
        <dsp:cNvPr id="0" name=""/>
        <dsp:cNvSpPr/>
      </dsp:nvSpPr>
      <dsp:spPr>
        <a:xfrm>
          <a:off x="0" y="3736009"/>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0" i="0" kern="1200" dirty="0">
              <a:solidFill>
                <a:schemeClr val="bg1"/>
              </a:solidFill>
            </a:rPr>
            <a:t>Misuse of health services</a:t>
          </a:r>
          <a:endParaRPr lang="en-US" sz="4200" kern="1200" dirty="0">
            <a:solidFill>
              <a:schemeClr val="bg1"/>
            </a:solidFill>
          </a:endParaRPr>
        </a:p>
      </dsp:txBody>
      <dsp:txXfrm>
        <a:off x="0" y="3736009"/>
        <a:ext cx="7184570" cy="12453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2/25/2026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68143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10354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21B0-FFDE-F6F4-5C7C-75AB07CA1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69501-0BA4-084E-88B9-87EE37936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67F30-2B2B-9BE3-67E9-7AE3D39629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3BEA1-0AEA-F3BC-CA33-43F1F283EF34}"/>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24814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D8A69-563D-62D2-61B9-857E41793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66C60-8CBC-C996-D0D4-61ECBA64C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3A21C-3F9A-AB13-94C1-5AE4EFE57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BC6F68-4D25-22CE-3A74-94F0B864CBB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97181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310B-30AC-44F9-6DD8-CEBA5CCE8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551B9-C335-6B80-54F3-2F833DC04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CBF9D-EFFC-3AE1-1AC5-B039A5D48F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907B7-6E3B-CCC9-B9C5-D48F14A904D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4928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D8E1C-3B2B-2143-1801-47B7AD3CC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D5BF0-0CFC-952B-3B46-38B605092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76C1C-A607-0BA1-5965-90C5550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30A938-D0DD-7FDD-C36D-FB3AC89A90A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0776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7197F-C1E4-339D-C5F6-CCFFDEE34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4A17B-2715-CAC9-BA1B-47A9B817D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8E4F4-D328-AE43-E2D2-32E07C093E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9E93D8-D5DE-394D-6828-54FA65F9C7D8}"/>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55997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88122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41AFC-2AE3-B479-9A06-865528A96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F4762-2A87-309E-FBF0-F29581659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DA7EE-F9A8-5858-403C-B09A2637B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77937A-54B1-CCB5-E857-CB3ECF9BC05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75684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1358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0258335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s://ar.inspiredpencil.com/pictures-2023/need-help-image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2595154" y="992777"/>
            <a:ext cx="8736903" cy="5314043"/>
          </a:xfrm>
        </p:spPr>
        <p:txBody>
          <a:bodyPr/>
          <a:lstStyle/>
          <a:p>
            <a:pPr algn="r"/>
            <a:r>
              <a:rPr lang="en-US" dirty="0"/>
              <a:t>Using Health Services</a:t>
            </a:r>
            <a:endParaRPr lang="en-US" sz="4400" dirty="0"/>
          </a:p>
        </p:txBody>
      </p:sp>
    </p:spTree>
    <p:extLst>
      <p:ext uri="{BB962C8B-B14F-4D97-AF65-F5344CB8AC3E}">
        <p14:creationId xmlns:p14="http://schemas.microsoft.com/office/powerpoint/2010/main" val="3609250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4B515DA-B5BA-1D54-0138-5A9DBF40B1D4}"/>
              </a:ext>
            </a:extLst>
          </p:cNvPr>
          <p:cNvSpPr>
            <a:spLocks noGrp="1"/>
          </p:cNvSpPr>
          <p:nvPr>
            <p:ph type="title"/>
          </p:nvPr>
        </p:nvSpPr>
        <p:spPr>
          <a:xfrm>
            <a:off x="566726" y="1097238"/>
            <a:ext cx="5011113" cy="5048974"/>
          </a:xfrm>
        </p:spPr>
        <p:txBody>
          <a:bodyPr anchor="t">
            <a:normAutofit/>
          </a:bodyPr>
          <a:lstStyle/>
          <a:p>
            <a:r>
              <a:rPr lang="en-US" dirty="0"/>
              <a:t>Agenda</a:t>
            </a:r>
          </a:p>
        </p:txBody>
      </p:sp>
      <p:sp>
        <p:nvSpPr>
          <p:cNvPr id="4" name="Slide Number Placeholder 3">
            <a:extLst>
              <a:ext uri="{FF2B5EF4-FFF2-40B4-BE49-F238E27FC236}">
                <a16:creationId xmlns:a16="http://schemas.microsoft.com/office/drawing/2014/main" id="{205010E8-1DAC-D1A8-367B-24A839DD6B72}"/>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2</a:t>
            </a:fld>
            <a:endParaRPr lang="en-US"/>
          </a:p>
        </p:txBody>
      </p:sp>
      <p:graphicFrame>
        <p:nvGraphicFramePr>
          <p:cNvPr id="16" name="Content Placeholder 13">
            <a:extLst>
              <a:ext uri="{FF2B5EF4-FFF2-40B4-BE49-F238E27FC236}">
                <a16:creationId xmlns:a16="http://schemas.microsoft.com/office/drawing/2014/main" id="{92A48737-24FD-25CA-B0B3-CD766C0E55D5}"/>
              </a:ext>
            </a:extLst>
          </p:cNvPr>
          <p:cNvGraphicFramePr>
            <a:graphicFrameLocks noGrp="1"/>
          </p:cNvGraphicFramePr>
          <p:nvPr>
            <p:ph sz="quarter" idx="10"/>
            <p:extLst>
              <p:ext uri="{D42A27DB-BD31-4B8C-83A1-F6EECF244321}">
                <p14:modId xmlns:p14="http://schemas.microsoft.com/office/powerpoint/2010/main" val="3491583925"/>
              </p:ext>
            </p:extLst>
          </p:nvPr>
        </p:nvGraphicFramePr>
        <p:xfrm>
          <a:off x="4458790" y="1097238"/>
          <a:ext cx="7184570" cy="4981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60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a:xfrm>
            <a:off x="576273" y="863458"/>
            <a:ext cx="11094723" cy="480364"/>
          </a:xfrm>
        </p:spPr>
        <p:txBody>
          <a:bodyPr/>
          <a:lstStyle/>
          <a:p>
            <a:r>
              <a:rPr lang="en-US" sz="3600" dirty="0"/>
              <a:t>Important Terminology</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1343822"/>
            <a:ext cx="11104270" cy="5274691"/>
          </a:xfrm>
        </p:spPr>
        <p:txBody>
          <a:bodyPr>
            <a:normAutofit fontScale="92500" lnSpcReduction="10000"/>
          </a:bodyPr>
          <a:lstStyle/>
          <a:p>
            <a:pPr marL="342900" indent="-342900">
              <a:lnSpc>
                <a:spcPct val="170000"/>
              </a:lnSpc>
              <a:spcBef>
                <a:spcPts val="0"/>
              </a:spcBef>
              <a:spcAft>
                <a:spcPts val="0"/>
              </a:spcAft>
              <a:buFont typeface="Arial" panose="020B0604020202020204" pitchFamily="34" charset="0"/>
              <a:buChar char="•"/>
            </a:pPr>
            <a:r>
              <a:rPr lang="en-US" sz="1600" b="1" u="sng" dirty="0"/>
              <a:t>Illness anxiety disorder</a:t>
            </a:r>
            <a:r>
              <a:rPr lang="en-US" sz="1600" dirty="0"/>
              <a:t> (formerly: hypochondria/ hypochondriasis) – a mental health condition where a person interprets normal physical functions as indicators of a serious underlying illness; individuals with this illness can experience severe anxiety, fear, and distress</a:t>
            </a:r>
          </a:p>
          <a:p>
            <a:pPr marL="342900" indent="-342900">
              <a:lnSpc>
                <a:spcPct val="170000"/>
              </a:lnSpc>
              <a:spcBef>
                <a:spcPts val="0"/>
              </a:spcBef>
              <a:spcAft>
                <a:spcPts val="0"/>
              </a:spcAft>
              <a:buFont typeface="Arial" panose="020B0604020202020204" pitchFamily="34" charset="0"/>
              <a:buChar char="•"/>
            </a:pPr>
            <a:r>
              <a:rPr lang="en-US" sz="1600" b="1" u="sng" dirty="0"/>
              <a:t>Medical students’ disease</a:t>
            </a:r>
            <a:r>
              <a:rPr lang="en-US" sz="1600" b="1" dirty="0"/>
              <a:t> </a:t>
            </a:r>
            <a:r>
              <a:rPr lang="en-US" sz="1600" dirty="0"/>
              <a:t>– a colloquialism for how many medical students report symptoms of the illness they are currently studying, leading them to believe they also have the illness</a:t>
            </a:r>
          </a:p>
          <a:p>
            <a:pPr marL="342900" indent="-342900">
              <a:lnSpc>
                <a:spcPct val="170000"/>
              </a:lnSpc>
              <a:spcBef>
                <a:spcPts val="0"/>
              </a:spcBef>
              <a:spcAft>
                <a:spcPts val="0"/>
              </a:spcAft>
              <a:buFont typeface="Arial" panose="020B0604020202020204" pitchFamily="34" charset="0"/>
              <a:buChar char="•"/>
            </a:pPr>
            <a:r>
              <a:rPr lang="en-US" sz="1600" b="1" u="sng" dirty="0"/>
              <a:t>Acute illness</a:t>
            </a:r>
            <a:r>
              <a:rPr lang="en-US" sz="1600" dirty="0"/>
              <a:t> – a short-term illness, often caused by a virus or bacteria; typically has no long-term consequences (ex: flu)</a:t>
            </a:r>
          </a:p>
          <a:p>
            <a:pPr marL="342900" indent="-342900">
              <a:lnSpc>
                <a:spcPct val="170000"/>
              </a:lnSpc>
              <a:spcBef>
                <a:spcPts val="0"/>
              </a:spcBef>
              <a:spcAft>
                <a:spcPts val="0"/>
              </a:spcAft>
              <a:buFont typeface="Arial" panose="020B0604020202020204" pitchFamily="34" charset="0"/>
              <a:buChar char="•"/>
            </a:pPr>
            <a:r>
              <a:rPr lang="en-US" sz="1600" b="1" u="sng" dirty="0"/>
              <a:t>Chronic illness</a:t>
            </a:r>
            <a:r>
              <a:rPr lang="en-US" sz="1600" dirty="0"/>
              <a:t> – a long-term illness, typically caused by a variety of factors, including health habits and genetics. This form of illness can have severe consequences (ex: heart disease)</a:t>
            </a:r>
            <a:endParaRPr lang="en-US" sz="1600" b="1" u="sng" dirty="0"/>
          </a:p>
          <a:p>
            <a:pPr marL="342900" indent="-342900">
              <a:lnSpc>
                <a:spcPct val="170000"/>
              </a:lnSpc>
              <a:spcBef>
                <a:spcPts val="0"/>
              </a:spcBef>
              <a:spcAft>
                <a:spcPts val="0"/>
              </a:spcAft>
              <a:buFont typeface="Arial" panose="020B0604020202020204" pitchFamily="34" charset="0"/>
              <a:buChar char="•"/>
            </a:pPr>
            <a:r>
              <a:rPr lang="en-US" sz="1600" b="1" u="sng" dirty="0"/>
              <a:t>Cyclic illness</a:t>
            </a:r>
            <a:r>
              <a:rPr lang="en-US" sz="1600" dirty="0"/>
              <a:t> – an illness that goes through periods where symptoms are dormant or active </a:t>
            </a:r>
            <a:br>
              <a:rPr lang="en-US" sz="1600" dirty="0"/>
            </a:br>
            <a:r>
              <a:rPr lang="en-US" sz="1600" dirty="0"/>
              <a:t>(ex: herpes)</a:t>
            </a:r>
          </a:p>
          <a:p>
            <a:pPr marL="342900" indent="-342900">
              <a:lnSpc>
                <a:spcPct val="170000"/>
              </a:lnSpc>
              <a:spcBef>
                <a:spcPts val="0"/>
              </a:spcBef>
              <a:spcAft>
                <a:spcPts val="0"/>
              </a:spcAft>
              <a:buFont typeface="Arial" panose="020B0604020202020204" pitchFamily="34" charset="0"/>
              <a:buChar char="•"/>
            </a:pPr>
            <a:r>
              <a:rPr lang="en-US" sz="1600" b="1" u="sng" dirty="0"/>
              <a:t>Lay referral network</a:t>
            </a:r>
            <a:r>
              <a:rPr lang="en-US" sz="1600" dirty="0"/>
              <a:t> – an informal network of family and friends who provide their own interpretations of symptoms</a:t>
            </a:r>
          </a:p>
          <a:p>
            <a:pPr marL="342900" indent="-342900">
              <a:lnSpc>
                <a:spcPct val="170000"/>
              </a:lnSpc>
              <a:spcBef>
                <a:spcPts val="0"/>
              </a:spcBef>
              <a:spcAft>
                <a:spcPts val="0"/>
              </a:spcAft>
              <a:buFont typeface="Arial" panose="020B0604020202020204" pitchFamily="34" charset="0"/>
              <a:buChar char="•"/>
            </a:pPr>
            <a:r>
              <a:rPr lang="en-US" sz="1600" b="1" u="sng" dirty="0"/>
              <a:t>Delay behavior</a:t>
            </a:r>
            <a:r>
              <a:rPr lang="en-US" sz="1600" dirty="0"/>
              <a:t> – when a person experiencing notable symptoms avoids seeking healthcare</a:t>
            </a:r>
          </a:p>
          <a:p>
            <a:pPr marL="690372" lvl="1">
              <a:lnSpc>
                <a:spcPct val="170000"/>
              </a:lnSpc>
              <a:spcBef>
                <a:spcPts val="0"/>
              </a:spcBef>
              <a:spcAft>
                <a:spcPts val="0"/>
              </a:spcAft>
            </a:pPr>
            <a:r>
              <a:rPr lang="en-US" sz="1600" dirty="0"/>
              <a:t>Ex: appraisal delay, illness delay, behavioral delay, and medical delay</a:t>
            </a:r>
            <a:endParaRPr lang="en-US" sz="1600" b="1" u="sng" dirty="0"/>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72171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621F0-4843-3FB4-B4ED-0FF77D9E57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A7E020-048B-AB22-531F-10E4CEB79D84}"/>
              </a:ext>
            </a:extLst>
          </p:cNvPr>
          <p:cNvSpPr>
            <a:spLocks noGrp="1"/>
          </p:cNvSpPr>
          <p:nvPr>
            <p:ph type="title"/>
          </p:nvPr>
        </p:nvSpPr>
        <p:spPr>
          <a:xfrm>
            <a:off x="576273" y="863457"/>
            <a:ext cx="11094723" cy="714145"/>
          </a:xfrm>
        </p:spPr>
        <p:txBody>
          <a:bodyPr/>
          <a:lstStyle/>
          <a:p>
            <a:r>
              <a:rPr lang="en-US" dirty="0"/>
              <a:t>Interpretations of Symptoms</a:t>
            </a:r>
          </a:p>
        </p:txBody>
      </p:sp>
      <p:sp>
        <p:nvSpPr>
          <p:cNvPr id="3" name="Slide Number Placeholder 2">
            <a:extLst>
              <a:ext uri="{FF2B5EF4-FFF2-40B4-BE49-F238E27FC236}">
                <a16:creationId xmlns:a16="http://schemas.microsoft.com/office/drawing/2014/main" id="{5209A94B-BA09-70FB-B461-64E5F1E89F34}"/>
              </a:ext>
            </a:extLst>
          </p:cNvPr>
          <p:cNvSpPr>
            <a:spLocks noGrp="1"/>
          </p:cNvSpPr>
          <p:nvPr>
            <p:ph type="sldNum" sz="quarter" idx="4"/>
          </p:nvPr>
        </p:nvSpPr>
        <p:spPr/>
        <p:txBody>
          <a:bodyPr/>
          <a:lstStyle/>
          <a:p>
            <a:fld id="{6D22F896-40B5-4ADD-8801-0D06FADFA095}" type="slidenum">
              <a:rPr lang="en-US" smtClean="0"/>
              <a:pPr/>
              <a:t>4</a:t>
            </a:fld>
            <a:endParaRPr lang="en-US" dirty="0"/>
          </a:p>
        </p:txBody>
      </p:sp>
      <p:sp>
        <p:nvSpPr>
          <p:cNvPr id="6" name="Content Placeholder 5">
            <a:extLst>
              <a:ext uri="{FF2B5EF4-FFF2-40B4-BE49-F238E27FC236}">
                <a16:creationId xmlns:a16="http://schemas.microsoft.com/office/drawing/2014/main" id="{0EAC4FAD-5B94-D2DA-7A6A-5C49D24D2D38}"/>
              </a:ext>
            </a:extLst>
          </p:cNvPr>
          <p:cNvSpPr>
            <a:spLocks noGrp="1"/>
          </p:cNvSpPr>
          <p:nvPr>
            <p:ph sz="quarter" idx="10"/>
          </p:nvPr>
        </p:nvSpPr>
        <p:spPr>
          <a:xfrm>
            <a:off x="566726" y="1577603"/>
            <a:ext cx="11104270" cy="4927700"/>
          </a:xfrm>
        </p:spPr>
        <p:txBody>
          <a:bodyPr>
            <a:normAutofit lnSpcReduction="10000"/>
          </a:bodyPr>
          <a:lstStyle/>
          <a:p>
            <a:pPr marL="342900" indent="-342900">
              <a:lnSpc>
                <a:spcPct val="170000"/>
              </a:lnSpc>
              <a:spcBef>
                <a:spcPts val="0"/>
              </a:spcBef>
              <a:spcAft>
                <a:spcPts val="0"/>
              </a:spcAft>
              <a:buFont typeface="Arial" panose="020B0604020202020204" pitchFamily="34" charset="0"/>
              <a:buChar char="•"/>
            </a:pPr>
            <a:r>
              <a:rPr lang="en-US" sz="1800" dirty="0"/>
              <a:t>To make the choice to access health care, a person needs to both pay attention to their physical experience and recognize symptoms as potential concerns</a:t>
            </a:r>
          </a:p>
          <a:p>
            <a:pPr marL="342900" indent="-342900">
              <a:lnSpc>
                <a:spcPct val="170000"/>
              </a:lnSpc>
              <a:spcBef>
                <a:spcPts val="0"/>
              </a:spcBef>
              <a:spcAft>
                <a:spcPts val="0"/>
              </a:spcAft>
              <a:buFont typeface="Arial" panose="020B0604020202020204" pitchFamily="34" charset="0"/>
              <a:buChar char="•"/>
            </a:pPr>
            <a:r>
              <a:rPr lang="en-US" sz="1800" dirty="0"/>
              <a:t> What makes people pay attention to their symptoms?</a:t>
            </a:r>
          </a:p>
          <a:p>
            <a:pPr marL="690372" lvl="1">
              <a:lnSpc>
                <a:spcPct val="170000"/>
              </a:lnSpc>
              <a:spcBef>
                <a:spcPts val="0"/>
              </a:spcBef>
              <a:spcAft>
                <a:spcPts val="0"/>
              </a:spcAft>
            </a:pPr>
            <a:r>
              <a:rPr lang="en-US" sz="1800" dirty="0"/>
              <a:t>Personality differences (ex: individuals with higher anxiety/ neuroticism)</a:t>
            </a:r>
          </a:p>
          <a:p>
            <a:pPr marL="690372" lvl="1">
              <a:lnSpc>
                <a:spcPct val="170000"/>
              </a:lnSpc>
              <a:spcBef>
                <a:spcPts val="0"/>
              </a:spcBef>
              <a:spcAft>
                <a:spcPts val="0"/>
              </a:spcAft>
            </a:pPr>
            <a:r>
              <a:rPr lang="en-US" sz="1800" dirty="0"/>
              <a:t>Self-awareness</a:t>
            </a:r>
          </a:p>
          <a:p>
            <a:pPr marL="690372" lvl="1">
              <a:lnSpc>
                <a:spcPct val="170000"/>
              </a:lnSpc>
              <a:spcBef>
                <a:spcPts val="0"/>
              </a:spcBef>
              <a:spcAft>
                <a:spcPts val="0"/>
              </a:spcAft>
            </a:pPr>
            <a:r>
              <a:rPr lang="en-US" sz="1800" dirty="0"/>
              <a:t>Situational factors (distractions, life expectations, busy-ness, etc.)</a:t>
            </a:r>
          </a:p>
          <a:p>
            <a:pPr marL="690372" lvl="1">
              <a:lnSpc>
                <a:spcPct val="170000"/>
              </a:lnSpc>
              <a:spcBef>
                <a:spcPts val="0"/>
              </a:spcBef>
              <a:spcAft>
                <a:spcPts val="0"/>
              </a:spcAft>
            </a:pPr>
            <a:r>
              <a:rPr lang="en-US" sz="1800" dirty="0"/>
              <a:t>Stress and mood</a:t>
            </a:r>
          </a:p>
          <a:p>
            <a:pPr marL="342900" indent="-342900">
              <a:lnSpc>
                <a:spcPct val="170000"/>
              </a:lnSpc>
              <a:spcBef>
                <a:spcPts val="0"/>
              </a:spcBef>
              <a:spcAft>
                <a:spcPts val="0"/>
              </a:spcAft>
              <a:buFont typeface="Arial" panose="020B0604020202020204" pitchFamily="34" charset="0"/>
              <a:buChar char="•"/>
            </a:pPr>
            <a:r>
              <a:rPr lang="en-US" sz="1800" dirty="0"/>
              <a:t>What contributes to if a person recognizes the symptoms as potential concerns?</a:t>
            </a:r>
          </a:p>
          <a:p>
            <a:pPr marL="690372" lvl="1">
              <a:lnSpc>
                <a:spcPct val="170000"/>
              </a:lnSpc>
              <a:spcBef>
                <a:spcPts val="0"/>
              </a:spcBef>
              <a:spcAft>
                <a:spcPts val="0"/>
              </a:spcAft>
            </a:pPr>
            <a:r>
              <a:rPr lang="en-US" sz="1800" dirty="0"/>
              <a:t>Prior experience and knowledge about the illness</a:t>
            </a:r>
          </a:p>
          <a:p>
            <a:pPr marL="690372" lvl="1">
              <a:lnSpc>
                <a:spcPct val="170000"/>
              </a:lnSpc>
              <a:spcBef>
                <a:spcPts val="0"/>
              </a:spcBef>
              <a:spcAft>
                <a:spcPts val="0"/>
              </a:spcAft>
            </a:pPr>
            <a:r>
              <a:rPr lang="en-US" sz="1800" dirty="0"/>
              <a:t>Expectations (expected symptoms are amplified, while unexpected symptoms are ignored)</a:t>
            </a:r>
          </a:p>
          <a:p>
            <a:pPr marL="690372" lvl="1">
              <a:lnSpc>
                <a:spcPct val="170000"/>
              </a:lnSpc>
              <a:spcBef>
                <a:spcPts val="0"/>
              </a:spcBef>
              <a:spcAft>
                <a:spcPts val="0"/>
              </a:spcAft>
            </a:pPr>
            <a:r>
              <a:rPr lang="en-US" sz="1800" dirty="0"/>
              <a:t>Seriousness of the illness (impact to daily life function)</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227711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9672-F9E7-46DC-BAC0-34AC74746D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5AF508-AD65-872D-6230-BF0B3CA54AE7}"/>
              </a:ext>
            </a:extLst>
          </p:cNvPr>
          <p:cNvSpPr>
            <a:spLocks noGrp="1"/>
          </p:cNvSpPr>
          <p:nvPr>
            <p:ph type="title"/>
          </p:nvPr>
        </p:nvSpPr>
        <p:spPr>
          <a:xfrm>
            <a:off x="576273" y="863457"/>
            <a:ext cx="11094723" cy="714145"/>
          </a:xfrm>
        </p:spPr>
        <p:txBody>
          <a:bodyPr/>
          <a:lstStyle/>
          <a:p>
            <a:r>
              <a:rPr lang="en-US" dirty="0"/>
              <a:t>Commonsense Model of Illness</a:t>
            </a:r>
          </a:p>
        </p:txBody>
      </p:sp>
      <p:sp>
        <p:nvSpPr>
          <p:cNvPr id="3" name="Slide Number Placeholder 2">
            <a:extLst>
              <a:ext uri="{FF2B5EF4-FFF2-40B4-BE49-F238E27FC236}">
                <a16:creationId xmlns:a16="http://schemas.microsoft.com/office/drawing/2014/main" id="{F531FC4C-6C34-8464-617B-9D6680C8198D}"/>
              </a:ext>
            </a:extLst>
          </p:cNvPr>
          <p:cNvSpPr>
            <a:spLocks noGrp="1"/>
          </p:cNvSpPr>
          <p:nvPr>
            <p:ph type="sldNum" sz="quarter" idx="4"/>
          </p:nvPr>
        </p:nvSpPr>
        <p:spPr/>
        <p:txBody>
          <a:bodyPr/>
          <a:lstStyle/>
          <a:p>
            <a:fld id="{6D22F896-40B5-4ADD-8801-0D06FADFA095}" type="slidenum">
              <a:rPr lang="en-US" smtClean="0"/>
              <a:pPr/>
              <a:t>5</a:t>
            </a:fld>
            <a:endParaRPr lang="en-US" dirty="0"/>
          </a:p>
        </p:txBody>
      </p:sp>
      <p:sp>
        <p:nvSpPr>
          <p:cNvPr id="6" name="Content Placeholder 5">
            <a:extLst>
              <a:ext uri="{FF2B5EF4-FFF2-40B4-BE49-F238E27FC236}">
                <a16:creationId xmlns:a16="http://schemas.microsoft.com/office/drawing/2014/main" id="{BCC48A4E-F78D-6B7C-167E-9CBE7E53B477}"/>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dirty="0"/>
              <a:t>People hold implicit commonsense beliefs about their symptoms and illnesses</a:t>
            </a:r>
          </a:p>
          <a:p>
            <a:pPr marL="342900" indent="-342900">
              <a:lnSpc>
                <a:spcPct val="170000"/>
              </a:lnSpc>
              <a:spcBef>
                <a:spcPts val="0"/>
              </a:spcBef>
              <a:spcAft>
                <a:spcPts val="0"/>
              </a:spcAft>
              <a:buFont typeface="Arial" panose="020B0604020202020204" pitchFamily="34" charset="0"/>
              <a:buChar char="•"/>
            </a:pPr>
            <a:r>
              <a:rPr lang="en-US" sz="1800" dirty="0"/>
              <a:t>These beliefs results in schemas (representations) about illnesses. These schemas include information about:</a:t>
            </a:r>
          </a:p>
          <a:p>
            <a:pPr marL="690372" lvl="1">
              <a:lnSpc>
                <a:spcPct val="170000"/>
              </a:lnSpc>
              <a:spcBef>
                <a:spcPts val="0"/>
              </a:spcBef>
              <a:spcAft>
                <a:spcPts val="0"/>
              </a:spcAft>
            </a:pPr>
            <a:r>
              <a:rPr lang="en-US" sz="1800" dirty="0"/>
              <a:t>Identity (name of the illness)</a:t>
            </a:r>
          </a:p>
          <a:p>
            <a:pPr marL="690372" lvl="1">
              <a:lnSpc>
                <a:spcPct val="170000"/>
              </a:lnSpc>
              <a:spcBef>
                <a:spcPts val="0"/>
              </a:spcBef>
              <a:spcAft>
                <a:spcPts val="0"/>
              </a:spcAft>
            </a:pPr>
            <a:r>
              <a:rPr lang="en-US" sz="1800" dirty="0"/>
              <a:t>Causes</a:t>
            </a:r>
          </a:p>
          <a:p>
            <a:pPr marL="690372" lvl="1">
              <a:lnSpc>
                <a:spcPct val="170000"/>
              </a:lnSpc>
              <a:spcBef>
                <a:spcPts val="0"/>
              </a:spcBef>
              <a:spcAft>
                <a:spcPts val="0"/>
              </a:spcAft>
            </a:pPr>
            <a:r>
              <a:rPr lang="en-US" sz="1800" dirty="0"/>
              <a:t>Consequences (symptoms, treatments, and implications for quality-of-life)</a:t>
            </a:r>
          </a:p>
          <a:p>
            <a:pPr marL="690372" lvl="1">
              <a:lnSpc>
                <a:spcPct val="170000"/>
              </a:lnSpc>
              <a:spcBef>
                <a:spcPts val="0"/>
              </a:spcBef>
              <a:spcAft>
                <a:spcPts val="0"/>
              </a:spcAft>
            </a:pPr>
            <a:r>
              <a:rPr lang="en-US" sz="1800" dirty="0"/>
              <a:t>Timeline</a:t>
            </a:r>
          </a:p>
          <a:p>
            <a:pPr marL="690372" lvl="1">
              <a:lnSpc>
                <a:spcPct val="170000"/>
              </a:lnSpc>
              <a:spcBef>
                <a:spcPts val="0"/>
              </a:spcBef>
              <a:spcAft>
                <a:spcPts val="0"/>
              </a:spcAft>
            </a:pPr>
            <a:r>
              <a:rPr lang="en-US" sz="1800" dirty="0"/>
              <a:t>Control/cure</a:t>
            </a:r>
          </a:p>
          <a:p>
            <a:pPr marL="690372" lvl="1">
              <a:lnSpc>
                <a:spcPct val="170000"/>
              </a:lnSpc>
              <a:spcBef>
                <a:spcPts val="0"/>
              </a:spcBef>
              <a:spcAft>
                <a:spcPts val="0"/>
              </a:spcAft>
            </a:pPr>
            <a:r>
              <a:rPr lang="en-US" sz="1800" dirty="0"/>
              <a:t>Coherence (how well these beliefs all relate to the same disease)</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2577313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42571-EE62-E661-2CE0-4B53E7C3BD7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DFFB1-CDC0-0D6D-9EA2-A586B845CB8D}"/>
              </a:ext>
            </a:extLst>
          </p:cNvPr>
          <p:cNvSpPr>
            <a:spLocks noGrp="1"/>
          </p:cNvSpPr>
          <p:nvPr>
            <p:ph type="title"/>
          </p:nvPr>
        </p:nvSpPr>
        <p:spPr>
          <a:xfrm>
            <a:off x="658166" y="3870960"/>
            <a:ext cx="11112500" cy="2941320"/>
          </a:xfrm>
        </p:spPr>
        <p:txBody>
          <a:bodyPr/>
          <a:lstStyle/>
          <a:p>
            <a:r>
              <a:rPr lang="en-US" sz="5400" dirty="0"/>
              <a:t>Are factors like a lay referral network and the internet a “good” thing?</a:t>
            </a:r>
          </a:p>
        </p:txBody>
      </p:sp>
      <p:pic>
        <p:nvPicPr>
          <p:cNvPr id="8" name="Picture Placeholder 7">
            <a:extLst>
              <a:ext uri="{FF2B5EF4-FFF2-40B4-BE49-F238E27FC236}">
                <a16:creationId xmlns:a16="http://schemas.microsoft.com/office/drawing/2014/main" id="{1CA37FF8-A717-135F-B0BC-D7D5C723C986}"/>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19829" b="19829"/>
          <a:stretch>
            <a:fillRect/>
          </a:stretch>
        </p:blipFill>
        <p:spPr>
          <a:xfrm>
            <a:off x="166688" y="99060"/>
            <a:ext cx="11112500" cy="3771900"/>
          </a:xfrm>
        </p:spPr>
      </p:pic>
      <p:sp>
        <p:nvSpPr>
          <p:cNvPr id="3" name="Slide Number Placeholder 2">
            <a:extLst>
              <a:ext uri="{FF2B5EF4-FFF2-40B4-BE49-F238E27FC236}">
                <a16:creationId xmlns:a16="http://schemas.microsoft.com/office/drawing/2014/main" id="{0091BD42-D626-2B9D-9F44-191BD7296FC3}"/>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6</a:t>
            </a:fld>
            <a:endParaRPr lang="en-US" dirty="0"/>
          </a:p>
        </p:txBody>
      </p:sp>
    </p:spTree>
    <p:extLst>
      <p:ext uri="{BB962C8B-B14F-4D97-AF65-F5344CB8AC3E}">
        <p14:creationId xmlns:p14="http://schemas.microsoft.com/office/powerpoint/2010/main" val="332546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9936D-1653-660D-D5EE-84D8392B06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10F7-5B1A-AEF3-057A-EA2D33022AC7}"/>
              </a:ext>
            </a:extLst>
          </p:cNvPr>
          <p:cNvSpPr>
            <a:spLocks noGrp="1"/>
          </p:cNvSpPr>
          <p:nvPr>
            <p:ph type="title"/>
          </p:nvPr>
        </p:nvSpPr>
        <p:spPr>
          <a:xfrm>
            <a:off x="576273" y="863457"/>
            <a:ext cx="11094723" cy="714145"/>
          </a:xfrm>
        </p:spPr>
        <p:txBody>
          <a:bodyPr/>
          <a:lstStyle/>
          <a:p>
            <a:r>
              <a:rPr lang="en-US" dirty="0"/>
              <a:t>Who Uses Health Services?</a:t>
            </a:r>
          </a:p>
        </p:txBody>
      </p:sp>
      <p:sp>
        <p:nvSpPr>
          <p:cNvPr id="3" name="Slide Number Placeholder 2">
            <a:extLst>
              <a:ext uri="{FF2B5EF4-FFF2-40B4-BE49-F238E27FC236}">
                <a16:creationId xmlns:a16="http://schemas.microsoft.com/office/drawing/2014/main" id="{F89F7A42-CA40-4C2A-CFE4-47F594761C40}"/>
              </a:ext>
            </a:extLst>
          </p:cNvPr>
          <p:cNvSpPr>
            <a:spLocks noGrp="1"/>
          </p:cNvSpPr>
          <p:nvPr>
            <p:ph type="sldNum" sz="quarter" idx="4"/>
          </p:nvPr>
        </p:nvSpPr>
        <p:spPr/>
        <p:txBody>
          <a:bodyPr/>
          <a:lstStyle/>
          <a:p>
            <a:fld id="{6D22F896-40B5-4ADD-8801-0D06FADFA095}" type="slidenum">
              <a:rPr lang="en-US" smtClean="0"/>
              <a:pPr/>
              <a:t>7</a:t>
            </a:fld>
            <a:endParaRPr lang="en-US" dirty="0"/>
          </a:p>
        </p:txBody>
      </p:sp>
      <p:sp>
        <p:nvSpPr>
          <p:cNvPr id="6" name="Content Placeholder 5">
            <a:extLst>
              <a:ext uri="{FF2B5EF4-FFF2-40B4-BE49-F238E27FC236}">
                <a16:creationId xmlns:a16="http://schemas.microsoft.com/office/drawing/2014/main" id="{47074D62-B465-D4C2-C1B4-B7B84EFD89FD}"/>
              </a:ext>
            </a:extLst>
          </p:cNvPr>
          <p:cNvSpPr>
            <a:spLocks noGrp="1"/>
          </p:cNvSpPr>
          <p:nvPr>
            <p:ph sz="quarter" idx="10"/>
          </p:nvPr>
        </p:nvSpPr>
        <p:spPr>
          <a:xfrm>
            <a:off x="566726" y="1577603"/>
            <a:ext cx="11104270" cy="4927700"/>
          </a:xfrm>
        </p:spPr>
        <p:txBody>
          <a:bodyPr>
            <a:normAutofit fontScale="92500" lnSpcReduction="20000"/>
          </a:bodyPr>
          <a:lstStyle/>
          <a:p>
            <a:pPr marL="342900" indent="-342900">
              <a:lnSpc>
                <a:spcPct val="170000"/>
              </a:lnSpc>
              <a:spcBef>
                <a:spcPts val="0"/>
              </a:spcBef>
              <a:spcAft>
                <a:spcPts val="0"/>
              </a:spcAft>
              <a:buFont typeface="Arial" panose="020B0604020202020204" pitchFamily="34" charset="0"/>
              <a:buChar char="•"/>
            </a:pPr>
            <a:r>
              <a:rPr lang="en-US" sz="1800" dirty="0"/>
              <a:t>Multiple factors impact if someone will utilize health services, including:</a:t>
            </a:r>
          </a:p>
          <a:p>
            <a:pPr marL="690372" lvl="1">
              <a:lnSpc>
                <a:spcPct val="170000"/>
              </a:lnSpc>
              <a:spcBef>
                <a:spcPts val="0"/>
              </a:spcBef>
              <a:spcAft>
                <a:spcPts val="0"/>
              </a:spcAft>
            </a:pPr>
            <a:r>
              <a:rPr lang="en-US" sz="1800" dirty="0"/>
              <a:t>Age </a:t>
            </a:r>
          </a:p>
          <a:p>
            <a:pPr marL="1056132" lvl="2">
              <a:lnSpc>
                <a:spcPct val="170000"/>
              </a:lnSpc>
              <a:spcBef>
                <a:spcPts val="0"/>
              </a:spcBef>
              <a:spcAft>
                <a:spcPts val="0"/>
              </a:spcAft>
            </a:pPr>
            <a:r>
              <a:rPr lang="en-US" sz="1800" dirty="0"/>
              <a:t>Most likely to use: Very young and older adults</a:t>
            </a:r>
          </a:p>
          <a:p>
            <a:pPr marL="690372" lvl="1">
              <a:lnSpc>
                <a:spcPct val="170000"/>
              </a:lnSpc>
              <a:spcBef>
                <a:spcPts val="0"/>
              </a:spcBef>
              <a:spcAft>
                <a:spcPts val="0"/>
              </a:spcAft>
            </a:pPr>
            <a:r>
              <a:rPr lang="en-US" sz="1800" dirty="0"/>
              <a:t>Gender</a:t>
            </a:r>
          </a:p>
          <a:p>
            <a:pPr marL="1056132" lvl="2">
              <a:lnSpc>
                <a:spcPct val="170000"/>
              </a:lnSpc>
              <a:spcBef>
                <a:spcPts val="0"/>
              </a:spcBef>
              <a:spcAft>
                <a:spcPts val="0"/>
              </a:spcAft>
            </a:pPr>
            <a:r>
              <a:rPr lang="en-US" sz="1800" dirty="0"/>
              <a:t>Most likely to use: Women (partially due to menstruation and childbirth)</a:t>
            </a:r>
          </a:p>
          <a:p>
            <a:pPr marL="690372" lvl="1">
              <a:lnSpc>
                <a:spcPct val="170000"/>
              </a:lnSpc>
              <a:spcBef>
                <a:spcPts val="0"/>
              </a:spcBef>
              <a:spcAft>
                <a:spcPts val="0"/>
              </a:spcAft>
            </a:pPr>
            <a:r>
              <a:rPr lang="en-US" sz="1800" dirty="0"/>
              <a:t>Socioeconomic Status</a:t>
            </a:r>
          </a:p>
          <a:p>
            <a:pPr marL="1056132" lvl="2">
              <a:lnSpc>
                <a:spcPct val="170000"/>
              </a:lnSpc>
              <a:spcBef>
                <a:spcPts val="0"/>
              </a:spcBef>
              <a:spcAft>
                <a:spcPts val="0"/>
              </a:spcAft>
            </a:pPr>
            <a:r>
              <a:rPr lang="en-US" sz="1800" dirty="0"/>
              <a:t>Most likely to use: Individuals with higher SES and insurance</a:t>
            </a:r>
          </a:p>
          <a:p>
            <a:pPr marL="1056132" lvl="2">
              <a:lnSpc>
                <a:spcPct val="170000"/>
              </a:lnSpc>
              <a:spcBef>
                <a:spcPts val="0"/>
              </a:spcBef>
              <a:spcAft>
                <a:spcPts val="0"/>
              </a:spcAft>
            </a:pPr>
            <a:r>
              <a:rPr lang="en-US" sz="1800" dirty="0"/>
              <a:t>Regional impact of SES (affluent communities are more likely to have fully staffed health care services)</a:t>
            </a:r>
          </a:p>
          <a:p>
            <a:pPr marL="690372" lvl="1">
              <a:lnSpc>
                <a:spcPct val="170000"/>
              </a:lnSpc>
              <a:spcBef>
                <a:spcPts val="0"/>
              </a:spcBef>
              <a:spcAft>
                <a:spcPts val="0"/>
              </a:spcAft>
            </a:pPr>
            <a:r>
              <a:rPr lang="en-US" sz="1800" dirty="0"/>
              <a:t>Culture/ social factors</a:t>
            </a:r>
          </a:p>
          <a:p>
            <a:pPr marL="1056132" lvl="2">
              <a:lnSpc>
                <a:spcPct val="170000"/>
              </a:lnSpc>
              <a:spcBef>
                <a:spcPts val="0"/>
              </a:spcBef>
              <a:spcAft>
                <a:spcPts val="0"/>
              </a:spcAft>
            </a:pPr>
            <a:r>
              <a:rPr lang="en-US" sz="1800" dirty="0"/>
              <a:t>Most likely to use: Individuals who grew up in a home who utilized health services; socially-connected individuals; individuals who trust the health care system</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4016471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EE8C-AE55-079B-39E5-5EF56B56AB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962949-1A73-18B5-BA13-17B4434E7328}"/>
              </a:ext>
            </a:extLst>
          </p:cNvPr>
          <p:cNvSpPr>
            <a:spLocks noGrp="1"/>
          </p:cNvSpPr>
          <p:nvPr>
            <p:ph type="title"/>
          </p:nvPr>
        </p:nvSpPr>
        <p:spPr>
          <a:xfrm>
            <a:off x="576273" y="863457"/>
            <a:ext cx="11094723" cy="714145"/>
          </a:xfrm>
        </p:spPr>
        <p:txBody>
          <a:bodyPr/>
          <a:lstStyle/>
          <a:p>
            <a:r>
              <a:rPr lang="en-US" dirty="0"/>
              <a:t>Misuse of Health Services</a:t>
            </a:r>
          </a:p>
        </p:txBody>
      </p:sp>
      <p:sp>
        <p:nvSpPr>
          <p:cNvPr id="3" name="Slide Number Placeholder 2">
            <a:extLst>
              <a:ext uri="{FF2B5EF4-FFF2-40B4-BE49-F238E27FC236}">
                <a16:creationId xmlns:a16="http://schemas.microsoft.com/office/drawing/2014/main" id="{A52A911F-0A30-2FA8-B4F8-E7D8AEFA477B}"/>
              </a:ext>
            </a:extLst>
          </p:cNvPr>
          <p:cNvSpPr>
            <a:spLocks noGrp="1"/>
          </p:cNvSpPr>
          <p:nvPr>
            <p:ph type="sldNum" sz="quarter" idx="4"/>
          </p:nvPr>
        </p:nvSpPr>
        <p:spPr/>
        <p:txBody>
          <a:bodyPr/>
          <a:lstStyle/>
          <a:p>
            <a:fld id="{6D22F896-40B5-4ADD-8801-0D06FADFA095}" type="slidenum">
              <a:rPr lang="en-US" smtClean="0"/>
              <a:pPr/>
              <a:t>8</a:t>
            </a:fld>
            <a:endParaRPr lang="en-US" dirty="0"/>
          </a:p>
        </p:txBody>
      </p:sp>
      <p:sp>
        <p:nvSpPr>
          <p:cNvPr id="6" name="Content Placeholder 5">
            <a:extLst>
              <a:ext uri="{FF2B5EF4-FFF2-40B4-BE49-F238E27FC236}">
                <a16:creationId xmlns:a16="http://schemas.microsoft.com/office/drawing/2014/main" id="{8D0F3E39-9DBB-9A64-44BC-9E82C48DDE2E}"/>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dirty="0"/>
              <a:t>Two main categories of health service: overuse and disuse  </a:t>
            </a:r>
          </a:p>
          <a:p>
            <a:pPr marL="342900" indent="-342900">
              <a:lnSpc>
                <a:spcPct val="170000"/>
              </a:lnSpc>
              <a:spcBef>
                <a:spcPts val="0"/>
              </a:spcBef>
              <a:spcAft>
                <a:spcPts val="0"/>
              </a:spcAft>
              <a:buFont typeface="Arial" panose="020B0604020202020204" pitchFamily="34" charset="0"/>
              <a:buChar char="•"/>
            </a:pPr>
            <a:r>
              <a:rPr lang="en-US" sz="1800" b="1" dirty="0"/>
              <a:t>Overusing health services:</a:t>
            </a:r>
          </a:p>
          <a:p>
            <a:pPr marL="690372" lvl="1">
              <a:lnSpc>
                <a:spcPct val="170000"/>
              </a:lnSpc>
              <a:spcBef>
                <a:spcPts val="0"/>
              </a:spcBef>
              <a:spcAft>
                <a:spcPts val="0"/>
              </a:spcAft>
            </a:pPr>
            <a:r>
              <a:rPr lang="en-US" sz="1800" dirty="0"/>
              <a:t>Physicians estimate that 1/2 to 1/3 of their time is spent with psychological concerns rather than physical concerns </a:t>
            </a:r>
          </a:p>
          <a:p>
            <a:pPr marL="1056132" lvl="2">
              <a:lnSpc>
                <a:spcPct val="170000"/>
              </a:lnSpc>
              <a:spcBef>
                <a:spcPts val="0"/>
              </a:spcBef>
              <a:spcAft>
                <a:spcPts val="0"/>
              </a:spcAft>
            </a:pPr>
            <a:r>
              <a:rPr lang="en-US" sz="1800" dirty="0"/>
              <a:t>Psychosomatic symptoms (ex: anxiety causing heart racing and fatigue)</a:t>
            </a:r>
          </a:p>
          <a:p>
            <a:pPr marL="1056132" lvl="2">
              <a:lnSpc>
                <a:spcPct val="170000"/>
              </a:lnSpc>
              <a:spcBef>
                <a:spcPts val="0"/>
              </a:spcBef>
              <a:spcAft>
                <a:spcPts val="0"/>
              </a:spcAft>
            </a:pPr>
            <a:r>
              <a:rPr lang="en-US" sz="1800" dirty="0"/>
              <a:t>Lack of mental health education</a:t>
            </a:r>
          </a:p>
          <a:p>
            <a:pPr marL="690372" lvl="1">
              <a:lnSpc>
                <a:spcPct val="170000"/>
              </a:lnSpc>
              <a:spcBef>
                <a:spcPts val="0"/>
              </a:spcBef>
              <a:spcAft>
                <a:spcPts val="0"/>
              </a:spcAft>
            </a:pPr>
            <a:r>
              <a:rPr lang="en-US" sz="1800" dirty="0"/>
              <a:t>Secondary gains</a:t>
            </a:r>
          </a:p>
          <a:p>
            <a:pPr marL="1056132" lvl="2">
              <a:lnSpc>
                <a:spcPct val="170000"/>
              </a:lnSpc>
              <a:spcBef>
                <a:spcPts val="0"/>
              </a:spcBef>
              <a:spcAft>
                <a:spcPts val="0"/>
              </a:spcAft>
            </a:pPr>
            <a:r>
              <a:rPr lang="en-US" sz="1800" dirty="0"/>
              <a:t>Ability to rest, support from others, time off work, free from unpleasant tasks</a:t>
            </a:r>
          </a:p>
          <a:p>
            <a:pPr>
              <a:lnSpc>
                <a:spcPct val="170000"/>
              </a:lnSpc>
              <a:spcBef>
                <a:spcPts val="0"/>
              </a:spcBef>
              <a:spcAft>
                <a:spcPts val="0"/>
              </a:spcAft>
            </a:pPr>
            <a:endParaRPr lang="en-US" sz="1800" dirty="0"/>
          </a:p>
        </p:txBody>
      </p:sp>
    </p:spTree>
    <p:extLst>
      <p:ext uri="{BB962C8B-B14F-4D97-AF65-F5344CB8AC3E}">
        <p14:creationId xmlns:p14="http://schemas.microsoft.com/office/powerpoint/2010/main" val="444017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2C9454-8702-0C39-20C2-DAC86E79D596}"/>
              </a:ext>
            </a:extLst>
          </p:cNvPr>
          <p:cNvSpPr>
            <a:spLocks noGrp="1"/>
          </p:cNvSpPr>
          <p:nvPr>
            <p:ph type="title"/>
          </p:nvPr>
        </p:nvSpPr>
        <p:spPr>
          <a:xfrm>
            <a:off x="566726" y="740187"/>
            <a:ext cx="11094723" cy="949276"/>
          </a:xfrm>
        </p:spPr>
        <p:txBody>
          <a:bodyPr/>
          <a:lstStyle/>
          <a:p>
            <a:r>
              <a:rPr lang="en-US" dirty="0"/>
              <a:t>Is It Real or Misuse of Health Services?</a:t>
            </a:r>
          </a:p>
        </p:txBody>
      </p:sp>
      <p:sp>
        <p:nvSpPr>
          <p:cNvPr id="3" name="Slide Number Placeholder 2">
            <a:extLst>
              <a:ext uri="{FF2B5EF4-FFF2-40B4-BE49-F238E27FC236}">
                <a16:creationId xmlns:a16="http://schemas.microsoft.com/office/drawing/2014/main" id="{706A2D09-09AD-5EE2-9C0B-F151B1FC05AD}"/>
              </a:ext>
            </a:extLst>
          </p:cNvPr>
          <p:cNvSpPr>
            <a:spLocks noGrp="1"/>
          </p:cNvSpPr>
          <p:nvPr>
            <p:ph type="sldNum" sz="quarter" idx="4"/>
          </p:nvPr>
        </p:nvSpPr>
        <p:spPr/>
        <p:txBody>
          <a:bodyPr/>
          <a:lstStyle/>
          <a:p>
            <a:fld id="{6D22F896-40B5-4ADD-8801-0D06FADFA095}" type="slidenum">
              <a:rPr lang="en-US" smtClean="0"/>
              <a:pPr/>
              <a:t>9</a:t>
            </a:fld>
            <a:endParaRPr lang="en-US" dirty="0"/>
          </a:p>
        </p:txBody>
      </p:sp>
      <p:sp>
        <p:nvSpPr>
          <p:cNvPr id="8" name="Content Placeholder 7">
            <a:extLst>
              <a:ext uri="{FF2B5EF4-FFF2-40B4-BE49-F238E27FC236}">
                <a16:creationId xmlns:a16="http://schemas.microsoft.com/office/drawing/2014/main" id="{FFDE52CC-0CF1-F65D-8B97-51D2EB0804D7}"/>
              </a:ext>
            </a:extLst>
          </p:cNvPr>
          <p:cNvSpPr>
            <a:spLocks noGrp="1"/>
          </p:cNvSpPr>
          <p:nvPr>
            <p:ph sz="quarter" idx="11"/>
          </p:nvPr>
        </p:nvSpPr>
        <p:spPr>
          <a:xfrm>
            <a:off x="566726" y="1558834"/>
            <a:ext cx="5303523" cy="4929051"/>
          </a:xfrm>
        </p:spPr>
        <p:txBody>
          <a:bodyPr>
            <a:normAutofit fontScale="92500" lnSpcReduction="10000"/>
          </a:bodyPr>
          <a:lstStyle/>
          <a:p>
            <a:pPr marL="0" indent="0">
              <a:buNone/>
            </a:pPr>
            <a:r>
              <a:rPr lang="en-US" b="1" u="sng" dirty="0"/>
              <a:t>Fibromyalgia</a:t>
            </a:r>
          </a:p>
          <a:p>
            <a:r>
              <a:rPr lang="en-US" dirty="0"/>
              <a:t>A chronic illness characterized by widespread pain throughout the body</a:t>
            </a:r>
          </a:p>
          <a:p>
            <a:r>
              <a:rPr lang="en-US" dirty="0"/>
              <a:t>Underlying mechanism: nerve amplification and neural pathway alterations</a:t>
            </a:r>
          </a:p>
          <a:p>
            <a:r>
              <a:rPr lang="en-US" dirty="0"/>
              <a:t>Can impact health-related activities, such as sleep, exercise, and substance-use</a:t>
            </a:r>
          </a:p>
          <a:p>
            <a:r>
              <a:rPr lang="en-US" dirty="0"/>
              <a:t>Very difficult to diagnose </a:t>
            </a:r>
          </a:p>
          <a:p>
            <a:pPr lvl="1"/>
            <a:r>
              <a:rPr lang="en-US" dirty="0"/>
              <a:t>There’s no specific assessment; instead, other conditions are ruled out while tracking pain ratings</a:t>
            </a:r>
          </a:p>
          <a:p>
            <a:pPr lvl="1"/>
            <a:r>
              <a:rPr lang="en-US" dirty="0"/>
              <a:t>Patient may have to convince their health care providers that their illness is real</a:t>
            </a:r>
          </a:p>
        </p:txBody>
      </p:sp>
      <p:sp>
        <p:nvSpPr>
          <p:cNvPr id="7" name="Content Placeholder 6">
            <a:extLst>
              <a:ext uri="{FF2B5EF4-FFF2-40B4-BE49-F238E27FC236}">
                <a16:creationId xmlns:a16="http://schemas.microsoft.com/office/drawing/2014/main" id="{720F3836-AD09-75D5-CC03-A5C474FDC979}"/>
              </a:ext>
            </a:extLst>
          </p:cNvPr>
          <p:cNvSpPr>
            <a:spLocks noGrp="1"/>
          </p:cNvSpPr>
          <p:nvPr>
            <p:ph sz="quarter" idx="10"/>
          </p:nvPr>
        </p:nvSpPr>
        <p:spPr>
          <a:xfrm>
            <a:off x="6096000" y="1558835"/>
            <a:ext cx="5704114" cy="4801401"/>
          </a:xfrm>
        </p:spPr>
        <p:txBody>
          <a:bodyPr>
            <a:normAutofit fontScale="92500" lnSpcReduction="10000"/>
          </a:bodyPr>
          <a:lstStyle/>
          <a:p>
            <a:r>
              <a:rPr lang="en-US" b="1" u="sng" dirty="0"/>
              <a:t>Factitious Disorder Imposed on Self/ Others</a:t>
            </a:r>
          </a:p>
          <a:p>
            <a:pPr marL="342900" indent="-342900">
              <a:buFont typeface="Arial" panose="020B0604020202020204" pitchFamily="34" charset="0"/>
              <a:buChar char="•"/>
            </a:pPr>
            <a:r>
              <a:rPr lang="en-US" dirty="0"/>
              <a:t>Previously called Munchausen syndrome</a:t>
            </a:r>
          </a:p>
          <a:p>
            <a:pPr marL="342900" indent="-342900">
              <a:buFont typeface="Arial" panose="020B0604020202020204" pitchFamily="34" charset="0"/>
              <a:buChar char="•"/>
            </a:pPr>
            <a:r>
              <a:rPr lang="en-US" dirty="0"/>
              <a:t>A psychological disorder characterized by a patient faking symptoms (or causing their own symptoms)</a:t>
            </a:r>
          </a:p>
          <a:p>
            <a:pPr marL="342900" indent="-342900">
              <a:buFont typeface="Arial" panose="020B0604020202020204" pitchFamily="34" charset="0"/>
              <a:buChar char="•"/>
            </a:pPr>
            <a:r>
              <a:rPr lang="en-US" dirty="0"/>
              <a:t>Individuals with FDIS often have a series of medical assessments that don’t match their reported symptoms</a:t>
            </a:r>
          </a:p>
          <a:p>
            <a:pPr marL="690372" lvl="1"/>
            <a:r>
              <a:rPr lang="en-US" dirty="0"/>
              <a:t>Additionally, they can have falsified documents/ altered tests</a:t>
            </a:r>
          </a:p>
          <a:p>
            <a:pPr marL="342900" indent="-342900">
              <a:buFont typeface="Arial" panose="020B0604020202020204" pitchFamily="34" charset="0"/>
              <a:buChar char="•"/>
            </a:pPr>
            <a:r>
              <a:rPr lang="en-US" dirty="0"/>
              <a:t>Very difficult to diagnose</a:t>
            </a:r>
          </a:p>
          <a:p>
            <a:pPr marL="690372" lvl="1"/>
            <a:r>
              <a:rPr lang="en-US" dirty="0"/>
              <a:t>There’s no specific assessment; instead, other conditions are ruled out while tracking health behaviors</a:t>
            </a:r>
          </a:p>
        </p:txBody>
      </p:sp>
    </p:spTree>
    <p:extLst>
      <p:ext uri="{BB962C8B-B14F-4D97-AF65-F5344CB8AC3E}">
        <p14:creationId xmlns:p14="http://schemas.microsoft.com/office/powerpoint/2010/main" val="1048792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1CF7D-E880-96E5-429D-73AC9217C8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9669EF-E17F-D6B1-3583-7B34E680FEB7}"/>
              </a:ext>
            </a:extLst>
          </p:cNvPr>
          <p:cNvSpPr>
            <a:spLocks noGrp="1"/>
          </p:cNvSpPr>
          <p:nvPr>
            <p:ph type="title"/>
          </p:nvPr>
        </p:nvSpPr>
        <p:spPr>
          <a:xfrm>
            <a:off x="576273" y="863457"/>
            <a:ext cx="11094723" cy="714145"/>
          </a:xfrm>
        </p:spPr>
        <p:txBody>
          <a:bodyPr/>
          <a:lstStyle/>
          <a:p>
            <a:r>
              <a:rPr lang="en-US" dirty="0"/>
              <a:t>Misuse of Health Services</a:t>
            </a:r>
          </a:p>
        </p:txBody>
      </p:sp>
      <p:sp>
        <p:nvSpPr>
          <p:cNvPr id="3" name="Slide Number Placeholder 2">
            <a:extLst>
              <a:ext uri="{FF2B5EF4-FFF2-40B4-BE49-F238E27FC236}">
                <a16:creationId xmlns:a16="http://schemas.microsoft.com/office/drawing/2014/main" id="{D507DEB9-5D07-149C-DD1A-FFD4BD8E3BDC}"/>
              </a:ext>
            </a:extLst>
          </p:cNvPr>
          <p:cNvSpPr>
            <a:spLocks noGrp="1"/>
          </p:cNvSpPr>
          <p:nvPr>
            <p:ph type="sldNum" sz="quarter" idx="4"/>
          </p:nvPr>
        </p:nvSpPr>
        <p:spPr/>
        <p:txBody>
          <a:bodyPr/>
          <a:lstStyle/>
          <a:p>
            <a:fld id="{6D22F896-40B5-4ADD-8801-0D06FADFA095}" type="slidenum">
              <a:rPr lang="en-US" smtClean="0"/>
              <a:pPr/>
              <a:t>10</a:t>
            </a:fld>
            <a:endParaRPr lang="en-US" dirty="0"/>
          </a:p>
        </p:txBody>
      </p:sp>
      <p:sp>
        <p:nvSpPr>
          <p:cNvPr id="6" name="Content Placeholder 5">
            <a:extLst>
              <a:ext uri="{FF2B5EF4-FFF2-40B4-BE49-F238E27FC236}">
                <a16:creationId xmlns:a16="http://schemas.microsoft.com/office/drawing/2014/main" id="{4F6F8262-FA85-D032-6F64-B30EC5FC9E7C}"/>
              </a:ext>
            </a:extLst>
          </p:cNvPr>
          <p:cNvSpPr>
            <a:spLocks noGrp="1"/>
          </p:cNvSpPr>
          <p:nvPr>
            <p:ph sz="quarter" idx="10"/>
          </p:nvPr>
        </p:nvSpPr>
        <p:spPr>
          <a:xfrm>
            <a:off x="566726" y="1577603"/>
            <a:ext cx="11104270" cy="4927700"/>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800" b="1" dirty="0"/>
              <a:t>Disuse of health service:</a:t>
            </a:r>
          </a:p>
          <a:p>
            <a:pPr marL="690372" lvl="1">
              <a:lnSpc>
                <a:spcPct val="170000"/>
              </a:lnSpc>
              <a:spcBef>
                <a:spcPts val="0"/>
              </a:spcBef>
              <a:spcAft>
                <a:spcPts val="0"/>
              </a:spcAft>
            </a:pPr>
            <a:r>
              <a:rPr lang="en-US" sz="1800" dirty="0"/>
              <a:t>People may not use health services due to factors such as financial concerns, lack of trust in health system, and lack of concern over symptoms</a:t>
            </a:r>
          </a:p>
          <a:p>
            <a:pPr marL="690372" lvl="1">
              <a:lnSpc>
                <a:spcPct val="170000"/>
              </a:lnSpc>
              <a:spcBef>
                <a:spcPts val="0"/>
              </a:spcBef>
              <a:spcAft>
                <a:spcPts val="0"/>
              </a:spcAft>
            </a:pPr>
            <a:r>
              <a:rPr lang="en-US" sz="1800" dirty="0"/>
              <a:t>Delay behavior can occur at multiple stages:</a:t>
            </a:r>
          </a:p>
          <a:p>
            <a:pPr marL="1056132" lvl="2">
              <a:lnSpc>
                <a:spcPct val="170000"/>
              </a:lnSpc>
              <a:spcBef>
                <a:spcPts val="0"/>
              </a:spcBef>
              <a:spcAft>
                <a:spcPts val="0"/>
              </a:spcAft>
            </a:pPr>
            <a:r>
              <a:rPr lang="en-US" sz="1800" dirty="0"/>
              <a:t>Appraisal delay – time taken to decide that a symptom is serious</a:t>
            </a:r>
          </a:p>
          <a:p>
            <a:pPr marL="1056132" lvl="2">
              <a:lnSpc>
                <a:spcPct val="170000"/>
              </a:lnSpc>
              <a:spcBef>
                <a:spcPts val="0"/>
              </a:spcBef>
              <a:spcAft>
                <a:spcPts val="0"/>
              </a:spcAft>
            </a:pPr>
            <a:r>
              <a:rPr lang="en-US" sz="1800" dirty="0"/>
              <a:t>Illness delay – time between the recognition that a symptom implies an illness and the decision to seek treatment</a:t>
            </a:r>
          </a:p>
          <a:p>
            <a:pPr marL="1056132" lvl="2">
              <a:lnSpc>
                <a:spcPct val="170000"/>
              </a:lnSpc>
              <a:spcBef>
                <a:spcPts val="0"/>
              </a:spcBef>
              <a:spcAft>
                <a:spcPts val="0"/>
              </a:spcAft>
            </a:pPr>
            <a:r>
              <a:rPr lang="en-US" sz="1800" dirty="0"/>
              <a:t>Behavioral delay – time between deciding to seek treatment and doing so</a:t>
            </a:r>
          </a:p>
          <a:p>
            <a:pPr marL="1056132" lvl="2">
              <a:lnSpc>
                <a:spcPct val="170000"/>
              </a:lnSpc>
              <a:spcBef>
                <a:spcPts val="0"/>
              </a:spcBef>
              <a:spcAft>
                <a:spcPts val="0"/>
              </a:spcAft>
            </a:pPr>
            <a:r>
              <a:rPr lang="en-US" sz="1800" dirty="0"/>
              <a:t>Medical delay – time that elapses between the person’s calling for an appointment and his or her receiving appropriate medical care</a:t>
            </a:r>
          </a:p>
          <a:p>
            <a:pPr marL="1056132" lvl="2">
              <a:lnSpc>
                <a:spcPct val="170000"/>
              </a:lnSpc>
              <a:spcBef>
                <a:spcPts val="0"/>
              </a:spcBef>
              <a:spcAft>
                <a:spcPts val="0"/>
              </a:spcAft>
            </a:pPr>
            <a:endParaRPr lang="en-US" sz="1800" dirty="0"/>
          </a:p>
          <a:p>
            <a:pPr marL="1056132" lvl="2">
              <a:lnSpc>
                <a:spcPct val="170000"/>
              </a:lnSpc>
              <a:spcBef>
                <a:spcPts val="0"/>
              </a:spcBef>
              <a:spcAft>
                <a:spcPts val="0"/>
              </a:spcAft>
            </a:pPr>
            <a:endParaRPr lang="en-US" sz="1800" dirty="0"/>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326787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4910-EF1D-6259-AF5E-189EC2BEDBD2}"/>
              </a:ext>
            </a:extLst>
          </p:cNvPr>
          <p:cNvSpPr>
            <a:spLocks noGrp="1"/>
          </p:cNvSpPr>
          <p:nvPr>
            <p:ph type="title"/>
          </p:nvPr>
        </p:nvSpPr>
        <p:spPr/>
        <p:txBody>
          <a:bodyPr/>
          <a:lstStyle/>
          <a:p>
            <a:r>
              <a:rPr lang="en-US" dirty="0"/>
              <a:t>The Tuskegee Syphilis Experiment</a:t>
            </a:r>
          </a:p>
        </p:txBody>
      </p:sp>
      <p:sp>
        <p:nvSpPr>
          <p:cNvPr id="3" name="Slide Number Placeholder 2">
            <a:extLst>
              <a:ext uri="{FF2B5EF4-FFF2-40B4-BE49-F238E27FC236}">
                <a16:creationId xmlns:a16="http://schemas.microsoft.com/office/drawing/2014/main" id="{3F0BD71F-F74B-7990-66F1-394AD9A6483D}"/>
              </a:ext>
            </a:extLst>
          </p:cNvPr>
          <p:cNvSpPr>
            <a:spLocks noGrp="1"/>
          </p:cNvSpPr>
          <p:nvPr>
            <p:ph type="sldNum" sz="quarter" idx="4"/>
          </p:nvPr>
        </p:nvSpPr>
        <p:spPr/>
        <p:txBody>
          <a:bodyPr/>
          <a:lstStyle/>
          <a:p>
            <a:fld id="{6D22F896-40B5-4ADD-8801-0D06FADFA095}" type="slidenum">
              <a:rPr lang="en-US" smtClean="0"/>
              <a:pPr/>
              <a:t>11</a:t>
            </a:fld>
            <a:endParaRPr lang="en-US" dirty="0"/>
          </a:p>
        </p:txBody>
      </p:sp>
      <p:pic>
        <p:nvPicPr>
          <p:cNvPr id="6" name="Picture 2" descr="Participants in the Tuskegee Syphilis Study being given injections">
            <a:extLst>
              <a:ext uri="{FF2B5EF4-FFF2-40B4-BE49-F238E27FC236}">
                <a16:creationId xmlns:a16="http://schemas.microsoft.com/office/drawing/2014/main" id="{67923A28-D7CC-3B82-3875-3AC044831BF6}"/>
              </a:ext>
              <a:ext uri="{C183D7F6-B498-43B3-948B-1728B52AA6E4}">
                <adec:decorative xmlns:adec="http://schemas.microsoft.com/office/drawing/2017/decorative" val="0"/>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4153989" y="2359570"/>
            <a:ext cx="7517311" cy="375865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fographic listing syphilis symptoms across three stages with labeled icons representing headache, skin ulcer, muscle pain, weakness, rash, mucosal damage, weight loss, heat, dementia, internal bleeding, organ damage, and respiratory failure. Each stage is highlighted with pink banners, and symptoms are visually depicted using simple, colorful illustrations to convey progression and severity.&#10;&#10;AI-generated content may be incorrect.">
            <a:extLst>
              <a:ext uri="{FF2B5EF4-FFF2-40B4-BE49-F238E27FC236}">
                <a16:creationId xmlns:a16="http://schemas.microsoft.com/office/drawing/2014/main" id="{7AF43E96-6B61-6F46-1405-1466BCFF5AF9}"/>
              </a:ext>
            </a:extLst>
          </p:cNvPr>
          <p:cNvPicPr>
            <a:picLocks noGrp="1" noChangeAspect="1" noChangeArrowheads="1"/>
          </p:cNvPicPr>
          <p:nvPr>
            <p:ph sz="quarter" idx="11"/>
          </p:nvPr>
        </p:nvPicPr>
        <p:blipFill>
          <a:blip r:embed="rId4">
            <a:extLst>
              <a:ext uri="{28A0092B-C50C-407E-A947-70E740481C1C}">
                <a14:useLocalDpi xmlns:a14="http://schemas.microsoft.com/office/drawing/2010/main" val="0"/>
              </a:ext>
            </a:extLst>
          </a:blip>
          <a:srcRect/>
          <a:stretch>
            <a:fillRect/>
          </a:stretch>
        </p:blipFill>
        <p:spPr bwMode="auto">
          <a:xfrm>
            <a:off x="520700" y="2196330"/>
            <a:ext cx="3271193" cy="408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23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A7FAD2-E764-A293-303C-7B859B6FF6E2}"/>
              </a:ext>
            </a:extLst>
          </p:cNvPr>
          <p:cNvSpPr>
            <a:spLocks noGrp="1"/>
          </p:cNvSpPr>
          <p:nvPr>
            <p:ph type="title"/>
          </p:nvPr>
        </p:nvSpPr>
        <p:spPr/>
        <p:txBody>
          <a:bodyPr/>
          <a:lstStyle/>
          <a:p>
            <a:r>
              <a:rPr lang="en-US" dirty="0"/>
              <a:t>Next Time on PSY 440…</a:t>
            </a:r>
          </a:p>
        </p:txBody>
      </p:sp>
      <p:sp>
        <p:nvSpPr>
          <p:cNvPr id="3" name="Slide Number Placeholder 2">
            <a:extLst>
              <a:ext uri="{FF2B5EF4-FFF2-40B4-BE49-F238E27FC236}">
                <a16:creationId xmlns:a16="http://schemas.microsoft.com/office/drawing/2014/main" id="{C8541D32-D15B-C6A2-951F-4D7E6C4BF793}"/>
              </a:ext>
            </a:extLst>
          </p:cNvPr>
          <p:cNvSpPr>
            <a:spLocks noGrp="1"/>
          </p:cNvSpPr>
          <p:nvPr>
            <p:ph type="sldNum" sz="quarter" idx="4"/>
          </p:nvPr>
        </p:nvSpPr>
        <p:spPr/>
        <p:txBody>
          <a:bodyPr/>
          <a:lstStyle/>
          <a:p>
            <a:fld id="{6D22F896-40B5-4ADD-8801-0D06FADFA095}" type="slidenum">
              <a:rPr lang="en-US" smtClean="0"/>
              <a:pPr/>
              <a:t>12</a:t>
            </a:fld>
            <a:endParaRPr lang="en-US" dirty="0"/>
          </a:p>
        </p:txBody>
      </p:sp>
      <p:sp>
        <p:nvSpPr>
          <p:cNvPr id="7" name="Content Placeholder 6">
            <a:extLst>
              <a:ext uri="{FF2B5EF4-FFF2-40B4-BE49-F238E27FC236}">
                <a16:creationId xmlns:a16="http://schemas.microsoft.com/office/drawing/2014/main" id="{CD086B64-94DE-AF4E-22A3-E76EF672740B}"/>
              </a:ext>
            </a:extLst>
          </p:cNvPr>
          <p:cNvSpPr>
            <a:spLocks noGrp="1"/>
          </p:cNvSpPr>
          <p:nvPr>
            <p:ph sz="quarter" idx="11"/>
          </p:nvPr>
        </p:nvSpPr>
        <p:spPr/>
        <p:txBody>
          <a:bodyPr/>
          <a:lstStyle/>
          <a:p>
            <a:pPr marL="0" indent="0">
              <a:buNone/>
            </a:pPr>
            <a:r>
              <a:rPr lang="en-US" sz="2400" b="1" dirty="0"/>
              <a:t>Before Next Class:</a:t>
            </a:r>
            <a:endParaRPr lang="en-US" dirty="0"/>
          </a:p>
          <a:p>
            <a:r>
              <a:rPr lang="en-US" dirty="0"/>
              <a:t>Complete Journal Prompt</a:t>
            </a:r>
          </a:p>
          <a:p>
            <a:pPr lvl="1"/>
            <a:r>
              <a:rPr lang="en-US" dirty="0"/>
              <a:t>Due Monday at 11:59 pm</a:t>
            </a:r>
          </a:p>
          <a:p>
            <a:r>
              <a:rPr lang="en-US" dirty="0"/>
              <a:t>Read Hong and Oh (2020)</a:t>
            </a:r>
          </a:p>
        </p:txBody>
      </p:sp>
      <p:sp>
        <p:nvSpPr>
          <p:cNvPr id="6" name="Content Placeholder 5">
            <a:extLst>
              <a:ext uri="{FF2B5EF4-FFF2-40B4-BE49-F238E27FC236}">
                <a16:creationId xmlns:a16="http://schemas.microsoft.com/office/drawing/2014/main" id="{55218FD0-6965-902B-EFD4-099460B3B3CB}"/>
              </a:ext>
            </a:extLst>
          </p:cNvPr>
          <p:cNvSpPr>
            <a:spLocks noGrp="1"/>
          </p:cNvSpPr>
          <p:nvPr>
            <p:ph sz="quarter" idx="10"/>
          </p:nvPr>
        </p:nvSpPr>
        <p:spPr/>
        <p:txBody>
          <a:bodyPr/>
          <a:lstStyle/>
          <a:p>
            <a:r>
              <a:rPr lang="en-US" sz="2400" b="1" dirty="0"/>
              <a:t>In Our Next Class:</a:t>
            </a:r>
          </a:p>
          <a:p>
            <a:pPr marL="342900" indent="-342900">
              <a:buFont typeface="Arial" panose="020B0604020202020204" pitchFamily="34" charset="0"/>
              <a:buChar char="•"/>
            </a:pPr>
            <a:r>
              <a:rPr lang="en-US" dirty="0"/>
              <a:t>Health Communication</a:t>
            </a:r>
          </a:p>
        </p:txBody>
      </p:sp>
    </p:spTree>
    <p:extLst>
      <p:ext uri="{BB962C8B-B14F-4D97-AF65-F5344CB8AC3E}">
        <p14:creationId xmlns:p14="http://schemas.microsoft.com/office/powerpoint/2010/main" val="3668912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2.xml><?xml version="1.0" encoding="utf-8"?>
<ds:datastoreItem xmlns:ds="http://schemas.openxmlformats.org/officeDocument/2006/customXml" ds:itemID="{C0FBC208-84B5-4BA7-8306-5BDC2F8CE1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233</TotalTime>
  <Words>892</Words>
  <Application>Microsoft Office PowerPoint</Application>
  <PresentationFormat>Widescreen</PresentationFormat>
  <Paragraphs>98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Kalinga</vt:lpstr>
      <vt:lpstr>Wingdings</vt:lpstr>
      <vt:lpstr>Madison</vt:lpstr>
      <vt:lpstr>Using Health Services</vt:lpstr>
      <vt:lpstr>Agenda</vt:lpstr>
      <vt:lpstr>Important Terminology</vt:lpstr>
      <vt:lpstr>Interpretations of Symptoms</vt:lpstr>
      <vt:lpstr>Commonsense Model of Illness</vt:lpstr>
      <vt:lpstr>Are factors like a lay referral network and the internet a “good” thing?</vt:lpstr>
      <vt:lpstr>Who Uses Health Services?</vt:lpstr>
      <vt:lpstr>Misuse of Health Services</vt:lpstr>
      <vt:lpstr>Is It Real or Misuse of Health Services?</vt:lpstr>
      <vt:lpstr>Misuse of Health Services</vt:lpstr>
      <vt:lpstr>The Tuskegee Syphilis Experiment</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9</cp:revision>
  <dcterms:created xsi:type="dcterms:W3CDTF">2025-10-03T08:09:12Z</dcterms:created>
  <dcterms:modified xsi:type="dcterms:W3CDTF">2026-02-25T22:28:52Z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