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4"/>
  </p:sldMasterIdLst>
  <p:notesMasterIdLst>
    <p:notesMasterId r:id="rId14"/>
  </p:notesMasterIdLst>
  <p:sldIdLst>
    <p:sldId id="333" r:id="rId5"/>
    <p:sldId id="334" r:id="rId6"/>
    <p:sldId id="338" r:id="rId7"/>
    <p:sldId id="341" r:id="rId8"/>
    <p:sldId id="344" r:id="rId9"/>
    <p:sldId id="340" r:id="rId10"/>
    <p:sldId id="342" r:id="rId11"/>
    <p:sldId id="339" r:id="rId12"/>
    <p:sldId id="34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8" autoAdjust="0"/>
    <p:restoredTop sz="88623" autoAdjust="0"/>
  </p:normalViewPr>
  <p:slideViewPr>
    <p:cSldViewPr snapToGrid="0">
      <p:cViewPr varScale="1">
        <p:scale>
          <a:sx n="99" d="100"/>
          <a:sy n="99" d="100"/>
        </p:scale>
        <p:origin x="5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2C6C6A-8751-4458-BDED-AFC28DEAE1D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8D7842-0EEC-41C5-8286-9ADF23616987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Congenital analgesia</a:t>
          </a:r>
        </a:p>
      </dgm:t>
    </dgm:pt>
    <dgm:pt modelId="{7D0F8A6D-1912-4731-9B22-D9A68C6268C0}" type="parTrans" cxnId="{323627F8-152D-4C9A-8174-5B4ED582E67C}">
      <dgm:prSet/>
      <dgm:spPr/>
      <dgm:t>
        <a:bodyPr/>
        <a:lstStyle/>
        <a:p>
          <a:endParaRPr lang="en-US"/>
        </a:p>
      </dgm:t>
    </dgm:pt>
    <dgm:pt modelId="{D5604892-610B-47BE-A56A-2B9BC2047AEB}" type="sibTrans" cxnId="{323627F8-152D-4C9A-8174-5B4ED582E67C}">
      <dgm:prSet/>
      <dgm:spPr/>
      <dgm:t>
        <a:bodyPr/>
        <a:lstStyle/>
        <a:p>
          <a:endParaRPr lang="en-US"/>
        </a:p>
      </dgm:t>
    </dgm:pt>
    <dgm:pt modelId="{960B3C84-793C-4DD7-ABE3-B5082F200F4F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Pain management</a:t>
          </a:r>
        </a:p>
      </dgm:t>
    </dgm:pt>
    <dgm:pt modelId="{A622F02C-C196-4FD9-86C6-0F3DBF9855DC}" type="parTrans" cxnId="{BE341195-0DDA-409A-B506-AC81272FD737}">
      <dgm:prSet/>
      <dgm:spPr/>
      <dgm:t>
        <a:bodyPr/>
        <a:lstStyle/>
        <a:p>
          <a:endParaRPr lang="en-US"/>
        </a:p>
      </dgm:t>
    </dgm:pt>
    <dgm:pt modelId="{1FBCF3E0-53BC-44C2-8596-6216C4EDDE39}" type="sibTrans" cxnId="{BE341195-0DDA-409A-B506-AC81272FD737}">
      <dgm:prSet/>
      <dgm:spPr/>
      <dgm:t>
        <a:bodyPr/>
        <a:lstStyle/>
        <a:p>
          <a:endParaRPr lang="en-US"/>
        </a:p>
      </dgm:t>
    </dgm:pt>
    <dgm:pt modelId="{9CEF1D36-1373-4D17-9F39-0925E1793A40}">
      <dgm:prSet/>
      <dgm:spPr/>
      <dgm:t>
        <a:bodyPr/>
        <a:lstStyle/>
        <a:p>
          <a:r>
            <a:rPr lang="en-US" b="0" i="0">
              <a:solidFill>
                <a:schemeClr val="bg1"/>
              </a:solidFill>
            </a:rPr>
            <a:t>The experience of pain</a:t>
          </a:r>
          <a:endParaRPr lang="en-US" dirty="0">
            <a:solidFill>
              <a:schemeClr val="bg1"/>
            </a:solidFill>
          </a:endParaRPr>
        </a:p>
      </dgm:t>
    </dgm:pt>
    <dgm:pt modelId="{2399190F-9FBF-42F2-AA4C-FA24F64AFD9B}" type="parTrans" cxnId="{1A444594-96D5-4D82-8EED-C90E5A2CD9D6}">
      <dgm:prSet/>
      <dgm:spPr/>
      <dgm:t>
        <a:bodyPr/>
        <a:lstStyle/>
        <a:p>
          <a:endParaRPr lang="en-US"/>
        </a:p>
      </dgm:t>
    </dgm:pt>
    <dgm:pt modelId="{A3BB1FF9-4767-441A-9903-DF8B739A0F34}" type="sibTrans" cxnId="{1A444594-96D5-4D82-8EED-C90E5A2CD9D6}">
      <dgm:prSet/>
      <dgm:spPr/>
      <dgm:t>
        <a:bodyPr/>
        <a:lstStyle/>
        <a:p>
          <a:endParaRPr lang="en-US"/>
        </a:p>
      </dgm:t>
    </dgm:pt>
    <dgm:pt modelId="{F11D51EB-4673-4F03-AEE1-D96B06FEFB18}">
      <dgm:prSet/>
      <dgm:spPr/>
      <dgm:t>
        <a:bodyPr/>
        <a:lstStyle/>
        <a:p>
          <a:r>
            <a:rPr lang="en-US">
              <a:solidFill>
                <a:schemeClr val="bg1"/>
              </a:solidFill>
            </a:rPr>
            <a:t>Pain assessment</a:t>
          </a:r>
          <a:endParaRPr lang="en-US" dirty="0">
            <a:solidFill>
              <a:schemeClr val="bg1"/>
            </a:solidFill>
          </a:endParaRPr>
        </a:p>
      </dgm:t>
    </dgm:pt>
    <dgm:pt modelId="{BF008C0B-DF3B-483A-A3EA-E56ECA1251A2}" type="parTrans" cxnId="{E217BB3B-DDAE-4F63-BFB9-1EDA3647F331}">
      <dgm:prSet/>
      <dgm:spPr/>
      <dgm:t>
        <a:bodyPr/>
        <a:lstStyle/>
        <a:p>
          <a:endParaRPr lang="en-US"/>
        </a:p>
      </dgm:t>
    </dgm:pt>
    <dgm:pt modelId="{1BA5FEF8-C70B-47B3-B59E-32754B334388}" type="sibTrans" cxnId="{E217BB3B-DDAE-4F63-BFB9-1EDA3647F331}">
      <dgm:prSet/>
      <dgm:spPr/>
      <dgm:t>
        <a:bodyPr/>
        <a:lstStyle/>
        <a:p>
          <a:endParaRPr lang="en-US"/>
        </a:p>
      </dgm:t>
    </dgm:pt>
    <dgm:pt modelId="{FAB1C7A4-E280-495D-8F4E-AE9693F22890}">
      <dgm:prSet/>
      <dgm:spPr/>
      <dgm:t>
        <a:bodyPr/>
        <a:lstStyle/>
        <a:p>
          <a:r>
            <a:rPr lang="en-US">
              <a:solidFill>
                <a:schemeClr val="bg1"/>
              </a:solidFill>
            </a:rPr>
            <a:t>Phantom pain</a:t>
          </a:r>
          <a:endParaRPr lang="en-US" dirty="0">
            <a:solidFill>
              <a:schemeClr val="bg1"/>
            </a:solidFill>
          </a:endParaRPr>
        </a:p>
      </dgm:t>
    </dgm:pt>
    <dgm:pt modelId="{DB341697-69A3-4760-8DD1-0751B858D54B}" type="parTrans" cxnId="{745D7FD0-54E7-4A3A-AD7C-B1A5D0D9C2D2}">
      <dgm:prSet/>
      <dgm:spPr/>
      <dgm:t>
        <a:bodyPr/>
        <a:lstStyle/>
        <a:p>
          <a:endParaRPr lang="en-US"/>
        </a:p>
      </dgm:t>
    </dgm:pt>
    <dgm:pt modelId="{364FEB0A-5D24-4367-BBD1-C143A21FEE8D}" type="sibTrans" cxnId="{745D7FD0-54E7-4A3A-AD7C-B1A5D0D9C2D2}">
      <dgm:prSet/>
      <dgm:spPr/>
      <dgm:t>
        <a:bodyPr/>
        <a:lstStyle/>
        <a:p>
          <a:endParaRPr lang="en-US"/>
        </a:p>
      </dgm:t>
    </dgm:pt>
    <dgm:pt modelId="{68B9429B-E702-4E5B-9054-B73BCBBBE9E6}" type="pres">
      <dgm:prSet presAssocID="{EE2C6C6A-8751-4458-BDED-AFC28DEAE1DA}" presName="vert0" presStyleCnt="0">
        <dgm:presLayoutVars>
          <dgm:dir/>
          <dgm:animOne val="branch"/>
          <dgm:animLvl val="lvl"/>
        </dgm:presLayoutVars>
      </dgm:prSet>
      <dgm:spPr/>
    </dgm:pt>
    <dgm:pt modelId="{1A9AA72F-5866-4163-99FA-D52D46C093E6}" type="pres">
      <dgm:prSet presAssocID="{9CEF1D36-1373-4D17-9F39-0925E1793A40}" presName="thickLine" presStyleLbl="alignNode1" presStyleIdx="0" presStyleCnt="5"/>
      <dgm:spPr/>
    </dgm:pt>
    <dgm:pt modelId="{D6225D74-EF3C-4D72-A777-FE987DB249DD}" type="pres">
      <dgm:prSet presAssocID="{9CEF1D36-1373-4D17-9F39-0925E1793A40}" presName="horz1" presStyleCnt="0"/>
      <dgm:spPr/>
    </dgm:pt>
    <dgm:pt modelId="{8152DE38-8FE1-4ECF-9751-E10C0AD32D15}" type="pres">
      <dgm:prSet presAssocID="{9CEF1D36-1373-4D17-9F39-0925E1793A40}" presName="tx1" presStyleLbl="revTx" presStyleIdx="0" presStyleCnt="5"/>
      <dgm:spPr/>
    </dgm:pt>
    <dgm:pt modelId="{A1054BF3-E5C2-4FB3-899F-51EF3CE71F54}" type="pres">
      <dgm:prSet presAssocID="{9CEF1D36-1373-4D17-9F39-0925E1793A40}" presName="vert1" presStyleCnt="0"/>
      <dgm:spPr/>
    </dgm:pt>
    <dgm:pt modelId="{70B3B2E2-F8C2-48BF-8855-4B95C80DA0C3}" type="pres">
      <dgm:prSet presAssocID="{5A8D7842-0EEC-41C5-8286-9ADF23616987}" presName="thickLine" presStyleLbl="alignNode1" presStyleIdx="1" presStyleCnt="5"/>
      <dgm:spPr/>
    </dgm:pt>
    <dgm:pt modelId="{53E87F62-FEE0-4F8B-8034-360157CBA643}" type="pres">
      <dgm:prSet presAssocID="{5A8D7842-0EEC-41C5-8286-9ADF23616987}" presName="horz1" presStyleCnt="0"/>
      <dgm:spPr/>
    </dgm:pt>
    <dgm:pt modelId="{1EA0E576-D8F2-4D76-BE13-CF7E0679B424}" type="pres">
      <dgm:prSet presAssocID="{5A8D7842-0EEC-41C5-8286-9ADF23616987}" presName="tx1" presStyleLbl="revTx" presStyleIdx="1" presStyleCnt="5"/>
      <dgm:spPr/>
    </dgm:pt>
    <dgm:pt modelId="{8542AFC7-2FBF-44BC-A7ED-817B310439C7}" type="pres">
      <dgm:prSet presAssocID="{5A8D7842-0EEC-41C5-8286-9ADF23616987}" presName="vert1" presStyleCnt="0"/>
      <dgm:spPr/>
    </dgm:pt>
    <dgm:pt modelId="{4D00EEBE-1FA8-4B36-B0AB-C34BB96777AF}" type="pres">
      <dgm:prSet presAssocID="{FAB1C7A4-E280-495D-8F4E-AE9693F22890}" presName="thickLine" presStyleLbl="alignNode1" presStyleIdx="2" presStyleCnt="5"/>
      <dgm:spPr/>
    </dgm:pt>
    <dgm:pt modelId="{1685CC54-2030-4793-BA9E-53F81544D89E}" type="pres">
      <dgm:prSet presAssocID="{FAB1C7A4-E280-495D-8F4E-AE9693F22890}" presName="horz1" presStyleCnt="0"/>
      <dgm:spPr/>
    </dgm:pt>
    <dgm:pt modelId="{FF78F869-7B38-46DE-BA38-9B85820C89E4}" type="pres">
      <dgm:prSet presAssocID="{FAB1C7A4-E280-495D-8F4E-AE9693F22890}" presName="tx1" presStyleLbl="revTx" presStyleIdx="2" presStyleCnt="5"/>
      <dgm:spPr/>
    </dgm:pt>
    <dgm:pt modelId="{80E12D38-BFAA-4C2D-A760-BD1D3332BA5F}" type="pres">
      <dgm:prSet presAssocID="{FAB1C7A4-E280-495D-8F4E-AE9693F22890}" presName="vert1" presStyleCnt="0"/>
      <dgm:spPr/>
    </dgm:pt>
    <dgm:pt modelId="{BC56C374-06AD-4850-823C-0BB2EC317926}" type="pres">
      <dgm:prSet presAssocID="{F11D51EB-4673-4F03-AEE1-D96B06FEFB18}" presName="thickLine" presStyleLbl="alignNode1" presStyleIdx="3" presStyleCnt="5"/>
      <dgm:spPr/>
    </dgm:pt>
    <dgm:pt modelId="{4AC71EB7-C530-4696-87AA-2C5014CE0AE7}" type="pres">
      <dgm:prSet presAssocID="{F11D51EB-4673-4F03-AEE1-D96B06FEFB18}" presName="horz1" presStyleCnt="0"/>
      <dgm:spPr/>
    </dgm:pt>
    <dgm:pt modelId="{918F3F63-D32A-47C0-9F9E-3ABA84506EEA}" type="pres">
      <dgm:prSet presAssocID="{F11D51EB-4673-4F03-AEE1-D96B06FEFB18}" presName="tx1" presStyleLbl="revTx" presStyleIdx="3" presStyleCnt="5"/>
      <dgm:spPr/>
    </dgm:pt>
    <dgm:pt modelId="{53490D0E-C5D0-4B16-9B49-9AEFD66A793F}" type="pres">
      <dgm:prSet presAssocID="{F11D51EB-4673-4F03-AEE1-D96B06FEFB18}" presName="vert1" presStyleCnt="0"/>
      <dgm:spPr/>
    </dgm:pt>
    <dgm:pt modelId="{D6CF63A7-F854-4433-A9A2-AD0A3A367C30}" type="pres">
      <dgm:prSet presAssocID="{960B3C84-793C-4DD7-ABE3-B5082F200F4F}" presName="thickLine" presStyleLbl="alignNode1" presStyleIdx="4" presStyleCnt="5"/>
      <dgm:spPr/>
    </dgm:pt>
    <dgm:pt modelId="{2F56B302-5474-4EE4-B99E-DFDA776F06CC}" type="pres">
      <dgm:prSet presAssocID="{960B3C84-793C-4DD7-ABE3-B5082F200F4F}" presName="horz1" presStyleCnt="0"/>
      <dgm:spPr/>
    </dgm:pt>
    <dgm:pt modelId="{BD4A02C8-B10D-43BC-9EDA-4B4922BA3657}" type="pres">
      <dgm:prSet presAssocID="{960B3C84-793C-4DD7-ABE3-B5082F200F4F}" presName="tx1" presStyleLbl="revTx" presStyleIdx="4" presStyleCnt="5"/>
      <dgm:spPr/>
    </dgm:pt>
    <dgm:pt modelId="{C4DD2F9B-A976-460D-8B31-FEA136128CE1}" type="pres">
      <dgm:prSet presAssocID="{960B3C84-793C-4DD7-ABE3-B5082F200F4F}" presName="vert1" presStyleCnt="0"/>
      <dgm:spPr/>
    </dgm:pt>
  </dgm:ptLst>
  <dgm:cxnLst>
    <dgm:cxn modelId="{F3FEF519-7429-4B7D-8911-1B7856638C0D}" type="presOf" srcId="{960B3C84-793C-4DD7-ABE3-B5082F200F4F}" destId="{BD4A02C8-B10D-43BC-9EDA-4B4922BA3657}" srcOrd="0" destOrd="0" presId="urn:microsoft.com/office/officeart/2008/layout/LinedList"/>
    <dgm:cxn modelId="{F8B22A1B-4384-4BCA-9692-9B6EE72C13C7}" type="presOf" srcId="{EE2C6C6A-8751-4458-BDED-AFC28DEAE1DA}" destId="{68B9429B-E702-4E5B-9054-B73BCBBBE9E6}" srcOrd="0" destOrd="0" presId="urn:microsoft.com/office/officeart/2008/layout/LinedList"/>
    <dgm:cxn modelId="{E217BB3B-DDAE-4F63-BFB9-1EDA3647F331}" srcId="{EE2C6C6A-8751-4458-BDED-AFC28DEAE1DA}" destId="{F11D51EB-4673-4F03-AEE1-D96B06FEFB18}" srcOrd="3" destOrd="0" parTransId="{BF008C0B-DF3B-483A-A3EA-E56ECA1251A2}" sibTransId="{1BA5FEF8-C70B-47B3-B59E-32754B334388}"/>
    <dgm:cxn modelId="{1A444594-96D5-4D82-8EED-C90E5A2CD9D6}" srcId="{EE2C6C6A-8751-4458-BDED-AFC28DEAE1DA}" destId="{9CEF1D36-1373-4D17-9F39-0925E1793A40}" srcOrd="0" destOrd="0" parTransId="{2399190F-9FBF-42F2-AA4C-FA24F64AFD9B}" sibTransId="{A3BB1FF9-4767-441A-9903-DF8B739A0F34}"/>
    <dgm:cxn modelId="{BE341195-0DDA-409A-B506-AC81272FD737}" srcId="{EE2C6C6A-8751-4458-BDED-AFC28DEAE1DA}" destId="{960B3C84-793C-4DD7-ABE3-B5082F200F4F}" srcOrd="4" destOrd="0" parTransId="{A622F02C-C196-4FD9-86C6-0F3DBF9855DC}" sibTransId="{1FBCF3E0-53BC-44C2-8596-6216C4EDDE39}"/>
    <dgm:cxn modelId="{2A95E0C0-C445-43C2-990A-AE8871727DF1}" type="presOf" srcId="{9CEF1D36-1373-4D17-9F39-0925E1793A40}" destId="{8152DE38-8FE1-4ECF-9751-E10C0AD32D15}" srcOrd="0" destOrd="0" presId="urn:microsoft.com/office/officeart/2008/layout/LinedList"/>
    <dgm:cxn modelId="{0EA021CF-A21B-42B6-9F91-DC2E60B6A390}" type="presOf" srcId="{F11D51EB-4673-4F03-AEE1-D96B06FEFB18}" destId="{918F3F63-D32A-47C0-9F9E-3ABA84506EEA}" srcOrd="0" destOrd="0" presId="urn:microsoft.com/office/officeart/2008/layout/LinedList"/>
    <dgm:cxn modelId="{745D7FD0-54E7-4A3A-AD7C-B1A5D0D9C2D2}" srcId="{EE2C6C6A-8751-4458-BDED-AFC28DEAE1DA}" destId="{FAB1C7A4-E280-495D-8F4E-AE9693F22890}" srcOrd="2" destOrd="0" parTransId="{DB341697-69A3-4760-8DD1-0751B858D54B}" sibTransId="{364FEB0A-5D24-4367-BBD1-C143A21FEE8D}"/>
    <dgm:cxn modelId="{17003CEA-A2A4-486C-9DBE-C39F45233B03}" type="presOf" srcId="{FAB1C7A4-E280-495D-8F4E-AE9693F22890}" destId="{FF78F869-7B38-46DE-BA38-9B85820C89E4}" srcOrd="0" destOrd="0" presId="urn:microsoft.com/office/officeart/2008/layout/LinedList"/>
    <dgm:cxn modelId="{323627F8-152D-4C9A-8174-5B4ED582E67C}" srcId="{EE2C6C6A-8751-4458-BDED-AFC28DEAE1DA}" destId="{5A8D7842-0EEC-41C5-8286-9ADF23616987}" srcOrd="1" destOrd="0" parTransId="{7D0F8A6D-1912-4731-9B22-D9A68C6268C0}" sibTransId="{D5604892-610B-47BE-A56A-2B9BC2047AEB}"/>
    <dgm:cxn modelId="{FA2500FE-D930-4AE3-8200-2BC8A77EE1F1}" type="presOf" srcId="{5A8D7842-0EEC-41C5-8286-9ADF23616987}" destId="{1EA0E576-D8F2-4D76-BE13-CF7E0679B424}" srcOrd="0" destOrd="0" presId="urn:microsoft.com/office/officeart/2008/layout/LinedList"/>
    <dgm:cxn modelId="{5B6DC98A-6E2B-479B-80D7-82042B8182F0}" type="presParOf" srcId="{68B9429B-E702-4E5B-9054-B73BCBBBE9E6}" destId="{1A9AA72F-5866-4163-99FA-D52D46C093E6}" srcOrd="0" destOrd="0" presId="urn:microsoft.com/office/officeart/2008/layout/LinedList"/>
    <dgm:cxn modelId="{0AE5380D-5885-442A-90EB-9F79FAD1AB34}" type="presParOf" srcId="{68B9429B-E702-4E5B-9054-B73BCBBBE9E6}" destId="{D6225D74-EF3C-4D72-A777-FE987DB249DD}" srcOrd="1" destOrd="0" presId="urn:microsoft.com/office/officeart/2008/layout/LinedList"/>
    <dgm:cxn modelId="{82C42571-A31E-4175-8FC2-B5CF7D035705}" type="presParOf" srcId="{D6225D74-EF3C-4D72-A777-FE987DB249DD}" destId="{8152DE38-8FE1-4ECF-9751-E10C0AD32D15}" srcOrd="0" destOrd="0" presId="urn:microsoft.com/office/officeart/2008/layout/LinedList"/>
    <dgm:cxn modelId="{EAD5209F-EF07-41C6-9DBA-766F5F024E9B}" type="presParOf" srcId="{D6225D74-EF3C-4D72-A777-FE987DB249DD}" destId="{A1054BF3-E5C2-4FB3-899F-51EF3CE71F54}" srcOrd="1" destOrd="0" presId="urn:microsoft.com/office/officeart/2008/layout/LinedList"/>
    <dgm:cxn modelId="{61DB2F77-3A8F-4E22-B33A-249E56D86A2C}" type="presParOf" srcId="{68B9429B-E702-4E5B-9054-B73BCBBBE9E6}" destId="{70B3B2E2-F8C2-48BF-8855-4B95C80DA0C3}" srcOrd="2" destOrd="0" presId="urn:microsoft.com/office/officeart/2008/layout/LinedList"/>
    <dgm:cxn modelId="{577FCAC7-73E6-49AB-9F4F-189CA6DE6A5E}" type="presParOf" srcId="{68B9429B-E702-4E5B-9054-B73BCBBBE9E6}" destId="{53E87F62-FEE0-4F8B-8034-360157CBA643}" srcOrd="3" destOrd="0" presId="urn:microsoft.com/office/officeart/2008/layout/LinedList"/>
    <dgm:cxn modelId="{9F5D0FB2-8068-4463-BFA9-A9EF41D2CD54}" type="presParOf" srcId="{53E87F62-FEE0-4F8B-8034-360157CBA643}" destId="{1EA0E576-D8F2-4D76-BE13-CF7E0679B424}" srcOrd="0" destOrd="0" presId="urn:microsoft.com/office/officeart/2008/layout/LinedList"/>
    <dgm:cxn modelId="{3C5F8FD7-B698-4F7E-B0A0-B23FCCBBAA14}" type="presParOf" srcId="{53E87F62-FEE0-4F8B-8034-360157CBA643}" destId="{8542AFC7-2FBF-44BC-A7ED-817B310439C7}" srcOrd="1" destOrd="0" presId="urn:microsoft.com/office/officeart/2008/layout/LinedList"/>
    <dgm:cxn modelId="{C078B363-3ED8-42F4-A64C-2B906A065660}" type="presParOf" srcId="{68B9429B-E702-4E5B-9054-B73BCBBBE9E6}" destId="{4D00EEBE-1FA8-4B36-B0AB-C34BB96777AF}" srcOrd="4" destOrd="0" presId="urn:microsoft.com/office/officeart/2008/layout/LinedList"/>
    <dgm:cxn modelId="{779439CB-BAD2-43EC-91EE-435E702D995D}" type="presParOf" srcId="{68B9429B-E702-4E5B-9054-B73BCBBBE9E6}" destId="{1685CC54-2030-4793-BA9E-53F81544D89E}" srcOrd="5" destOrd="0" presId="urn:microsoft.com/office/officeart/2008/layout/LinedList"/>
    <dgm:cxn modelId="{6AE50A18-FB27-401C-8B3C-B053C214819D}" type="presParOf" srcId="{1685CC54-2030-4793-BA9E-53F81544D89E}" destId="{FF78F869-7B38-46DE-BA38-9B85820C89E4}" srcOrd="0" destOrd="0" presId="urn:microsoft.com/office/officeart/2008/layout/LinedList"/>
    <dgm:cxn modelId="{86907BAF-0711-4C32-BD31-6D13377BC67B}" type="presParOf" srcId="{1685CC54-2030-4793-BA9E-53F81544D89E}" destId="{80E12D38-BFAA-4C2D-A760-BD1D3332BA5F}" srcOrd="1" destOrd="0" presId="urn:microsoft.com/office/officeart/2008/layout/LinedList"/>
    <dgm:cxn modelId="{4745117C-8A72-4EFA-A49E-1C8184A88BD0}" type="presParOf" srcId="{68B9429B-E702-4E5B-9054-B73BCBBBE9E6}" destId="{BC56C374-06AD-4850-823C-0BB2EC317926}" srcOrd="6" destOrd="0" presId="urn:microsoft.com/office/officeart/2008/layout/LinedList"/>
    <dgm:cxn modelId="{86427C01-5178-4EC9-A64F-E19916DD343C}" type="presParOf" srcId="{68B9429B-E702-4E5B-9054-B73BCBBBE9E6}" destId="{4AC71EB7-C530-4696-87AA-2C5014CE0AE7}" srcOrd="7" destOrd="0" presId="urn:microsoft.com/office/officeart/2008/layout/LinedList"/>
    <dgm:cxn modelId="{E56E5D24-6CAC-43A7-9C75-890066540F1D}" type="presParOf" srcId="{4AC71EB7-C530-4696-87AA-2C5014CE0AE7}" destId="{918F3F63-D32A-47C0-9F9E-3ABA84506EEA}" srcOrd="0" destOrd="0" presId="urn:microsoft.com/office/officeart/2008/layout/LinedList"/>
    <dgm:cxn modelId="{3715790B-E864-43E8-8F2C-14F623032E29}" type="presParOf" srcId="{4AC71EB7-C530-4696-87AA-2C5014CE0AE7}" destId="{53490D0E-C5D0-4B16-9B49-9AEFD66A793F}" srcOrd="1" destOrd="0" presId="urn:microsoft.com/office/officeart/2008/layout/LinedList"/>
    <dgm:cxn modelId="{0D180CFE-FB99-408E-9544-001ECD9195B8}" type="presParOf" srcId="{68B9429B-E702-4E5B-9054-B73BCBBBE9E6}" destId="{D6CF63A7-F854-4433-A9A2-AD0A3A367C30}" srcOrd="8" destOrd="0" presId="urn:microsoft.com/office/officeart/2008/layout/LinedList"/>
    <dgm:cxn modelId="{1159FBDB-12D5-47F9-826C-F13B0AEE24B9}" type="presParOf" srcId="{68B9429B-E702-4E5B-9054-B73BCBBBE9E6}" destId="{2F56B302-5474-4EE4-B99E-DFDA776F06CC}" srcOrd="9" destOrd="0" presId="urn:microsoft.com/office/officeart/2008/layout/LinedList"/>
    <dgm:cxn modelId="{FF04C283-C924-4DE4-A0A4-7248A790797A}" type="presParOf" srcId="{2F56B302-5474-4EE4-B99E-DFDA776F06CC}" destId="{BD4A02C8-B10D-43BC-9EDA-4B4922BA3657}" srcOrd="0" destOrd="0" presId="urn:microsoft.com/office/officeart/2008/layout/LinedList"/>
    <dgm:cxn modelId="{60DCAEBE-FB5C-43C2-AB32-C5BEEE775277}" type="presParOf" srcId="{2F56B302-5474-4EE4-B99E-DFDA776F06CC}" destId="{C4DD2F9B-A976-460D-8B31-FEA136128CE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9AA72F-5866-4163-99FA-D52D46C093E6}">
      <dsp:nvSpPr>
        <dsp:cNvPr id="0" name=""/>
        <dsp:cNvSpPr/>
      </dsp:nvSpPr>
      <dsp:spPr>
        <a:xfrm>
          <a:off x="0" y="608"/>
          <a:ext cx="71845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2DE38-8FE1-4ECF-9751-E10C0AD32D15}">
      <dsp:nvSpPr>
        <dsp:cNvPr id="0" name=""/>
        <dsp:cNvSpPr/>
      </dsp:nvSpPr>
      <dsp:spPr>
        <a:xfrm>
          <a:off x="0" y="608"/>
          <a:ext cx="7184570" cy="996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0" i="0" kern="1200">
              <a:solidFill>
                <a:schemeClr val="bg1"/>
              </a:solidFill>
            </a:rPr>
            <a:t>The experience of pain</a:t>
          </a:r>
          <a:endParaRPr lang="en-US" sz="3900" kern="1200" dirty="0">
            <a:solidFill>
              <a:schemeClr val="bg1"/>
            </a:solidFill>
          </a:endParaRPr>
        </a:p>
      </dsp:txBody>
      <dsp:txXfrm>
        <a:off x="0" y="608"/>
        <a:ext cx="7184570" cy="996025"/>
      </dsp:txXfrm>
    </dsp:sp>
    <dsp:sp modelId="{70B3B2E2-F8C2-48BF-8855-4B95C80DA0C3}">
      <dsp:nvSpPr>
        <dsp:cNvPr id="0" name=""/>
        <dsp:cNvSpPr/>
      </dsp:nvSpPr>
      <dsp:spPr>
        <a:xfrm>
          <a:off x="0" y="996634"/>
          <a:ext cx="71845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A0E576-D8F2-4D76-BE13-CF7E0679B424}">
      <dsp:nvSpPr>
        <dsp:cNvPr id="0" name=""/>
        <dsp:cNvSpPr/>
      </dsp:nvSpPr>
      <dsp:spPr>
        <a:xfrm>
          <a:off x="0" y="996634"/>
          <a:ext cx="7184570" cy="996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>
              <a:solidFill>
                <a:schemeClr val="bg1"/>
              </a:solidFill>
            </a:rPr>
            <a:t>Congenital analgesia</a:t>
          </a:r>
        </a:p>
      </dsp:txBody>
      <dsp:txXfrm>
        <a:off x="0" y="996634"/>
        <a:ext cx="7184570" cy="996025"/>
      </dsp:txXfrm>
    </dsp:sp>
    <dsp:sp modelId="{4D00EEBE-1FA8-4B36-B0AB-C34BB96777AF}">
      <dsp:nvSpPr>
        <dsp:cNvPr id="0" name=""/>
        <dsp:cNvSpPr/>
      </dsp:nvSpPr>
      <dsp:spPr>
        <a:xfrm>
          <a:off x="0" y="1992660"/>
          <a:ext cx="71845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78F869-7B38-46DE-BA38-9B85820C89E4}">
      <dsp:nvSpPr>
        <dsp:cNvPr id="0" name=""/>
        <dsp:cNvSpPr/>
      </dsp:nvSpPr>
      <dsp:spPr>
        <a:xfrm>
          <a:off x="0" y="1992660"/>
          <a:ext cx="7184570" cy="996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>
              <a:solidFill>
                <a:schemeClr val="bg1"/>
              </a:solidFill>
            </a:rPr>
            <a:t>Phantom pain</a:t>
          </a:r>
          <a:endParaRPr lang="en-US" sz="3900" kern="1200" dirty="0">
            <a:solidFill>
              <a:schemeClr val="bg1"/>
            </a:solidFill>
          </a:endParaRPr>
        </a:p>
      </dsp:txBody>
      <dsp:txXfrm>
        <a:off x="0" y="1992660"/>
        <a:ext cx="7184570" cy="996025"/>
      </dsp:txXfrm>
    </dsp:sp>
    <dsp:sp modelId="{BC56C374-06AD-4850-823C-0BB2EC317926}">
      <dsp:nvSpPr>
        <dsp:cNvPr id="0" name=""/>
        <dsp:cNvSpPr/>
      </dsp:nvSpPr>
      <dsp:spPr>
        <a:xfrm>
          <a:off x="0" y="2988685"/>
          <a:ext cx="71845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8F3F63-D32A-47C0-9F9E-3ABA84506EEA}">
      <dsp:nvSpPr>
        <dsp:cNvPr id="0" name=""/>
        <dsp:cNvSpPr/>
      </dsp:nvSpPr>
      <dsp:spPr>
        <a:xfrm>
          <a:off x="0" y="2988685"/>
          <a:ext cx="7184570" cy="996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>
              <a:solidFill>
                <a:schemeClr val="bg1"/>
              </a:solidFill>
            </a:rPr>
            <a:t>Pain assessment</a:t>
          </a:r>
          <a:endParaRPr lang="en-US" sz="3900" kern="1200" dirty="0">
            <a:solidFill>
              <a:schemeClr val="bg1"/>
            </a:solidFill>
          </a:endParaRPr>
        </a:p>
      </dsp:txBody>
      <dsp:txXfrm>
        <a:off x="0" y="2988685"/>
        <a:ext cx="7184570" cy="996025"/>
      </dsp:txXfrm>
    </dsp:sp>
    <dsp:sp modelId="{D6CF63A7-F854-4433-A9A2-AD0A3A367C30}">
      <dsp:nvSpPr>
        <dsp:cNvPr id="0" name=""/>
        <dsp:cNvSpPr/>
      </dsp:nvSpPr>
      <dsp:spPr>
        <a:xfrm>
          <a:off x="0" y="3984711"/>
          <a:ext cx="71845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4A02C8-B10D-43BC-9EDA-4B4922BA3657}">
      <dsp:nvSpPr>
        <dsp:cNvPr id="0" name=""/>
        <dsp:cNvSpPr/>
      </dsp:nvSpPr>
      <dsp:spPr>
        <a:xfrm>
          <a:off x="0" y="3984711"/>
          <a:ext cx="7184570" cy="996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>
              <a:solidFill>
                <a:schemeClr val="bg1"/>
              </a:solidFill>
            </a:rPr>
            <a:t>Pain management</a:t>
          </a:r>
        </a:p>
      </dsp:txBody>
      <dsp:txXfrm>
        <a:off x="0" y="3984711"/>
        <a:ext cx="7184570" cy="9960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8B987B-6643-43AA-9B56-509B80CCD0F3}" type="datetimeFigureOut">
              <a:rPr lang="en-US" smtClean="0"/>
              <a:t>8/16/2026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D42F3-CDD5-4B19-B3DB-7C5223465A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058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695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159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ED811-69DC-B200-BE01-BEC2A0143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3A94C-39EB-38FC-A319-0937E3A2A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7BCCA-319C-A70A-F72C-DA649B35C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80E9D-6D45-EB7B-C550-EE85A96BE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327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C96B7-E18E-8B46-0C29-80415D5E4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65C68-2DED-869C-4E2C-15D87E83E5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483023-1DC1-D0FB-9460-70E8EF2055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C62293-8F0D-6173-43E9-A72CFCAEA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359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758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928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0241C-C65D-E9B9-89CC-58AB5BE83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CE230A-28CA-57DE-B1C9-035E3D0DB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88B347-5F9C-B4E8-D6DF-650CEF142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ADC2F-13DC-724D-9926-7319CDDC4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8640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B4CE4-57BF-CAF7-34CF-CD83751C2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753400-E64A-2D95-45B4-FCBB47413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E10FFF-D380-9E77-4158-50334290E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F0E05-A551-35F2-B270-EAD1377BE7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748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C9138-D439-E3DA-FC4A-6A400AADB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C88178-A0C5-869D-1BD7-0B0BDD1D1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79B9E-7DCC-4D1F-66D3-46652D2DB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4DDEB-655F-9653-E951-CFBB3BA526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484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87D9900-95AD-EC4F-B7E1-959F05210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50000"/>
          <a:stretch>
            <a:fillRect/>
          </a:stretch>
        </p:blipFill>
        <p:spPr>
          <a:xfrm>
            <a:off x="999081" y="2"/>
            <a:ext cx="4389120" cy="2194559"/>
          </a:xfrm>
          <a:custGeom>
            <a:avLst/>
            <a:gdLst>
              <a:gd name="connsiteX0" fmla="*/ 0 w 4389120"/>
              <a:gd name="connsiteY0" fmla="*/ 0 h 2194559"/>
              <a:gd name="connsiteX1" fmla="*/ 4389120 w 4389120"/>
              <a:gd name="connsiteY1" fmla="*/ 0 h 2194559"/>
              <a:gd name="connsiteX2" fmla="*/ 4389120 w 4389120"/>
              <a:gd name="connsiteY2" fmla="*/ 2194559 h 2194559"/>
              <a:gd name="connsiteX3" fmla="*/ 0 w 43891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9120" h="2194559">
                <a:moveTo>
                  <a:pt x="0" y="0"/>
                </a:moveTo>
                <a:lnTo>
                  <a:pt x="4389120" y="0"/>
                </a:lnTo>
                <a:lnTo>
                  <a:pt x="4389120" y="2194559"/>
                </a:lnTo>
                <a:lnTo>
                  <a:pt x="0" y="2194559"/>
                </a:lnTo>
                <a:close/>
              </a:path>
            </a:pathLst>
          </a:cu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600C6AD-400C-F5F8-0A07-09147BFB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924"/>
          <a:stretch>
            <a:fillRect/>
          </a:stretch>
        </p:blipFill>
        <p:spPr>
          <a:xfrm>
            <a:off x="0" y="191268"/>
            <a:ext cx="2916372" cy="4389120"/>
          </a:xfrm>
          <a:custGeom>
            <a:avLst/>
            <a:gdLst>
              <a:gd name="connsiteX0" fmla="*/ 0 w 2916372"/>
              <a:gd name="connsiteY0" fmla="*/ 0 h 4389120"/>
              <a:gd name="connsiteX1" fmla="*/ 2916372 w 2916372"/>
              <a:gd name="connsiteY1" fmla="*/ 0 h 4389120"/>
              <a:gd name="connsiteX2" fmla="*/ 2916372 w 2916372"/>
              <a:gd name="connsiteY2" fmla="*/ 4389120 h 4389120"/>
              <a:gd name="connsiteX3" fmla="*/ 0 w 2916372"/>
              <a:gd name="connsiteY3" fmla="*/ 4389120 h 438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6372" h="4389120">
                <a:moveTo>
                  <a:pt x="0" y="0"/>
                </a:moveTo>
                <a:lnTo>
                  <a:pt x="2916372" y="0"/>
                </a:lnTo>
                <a:lnTo>
                  <a:pt x="2916372" y="4389120"/>
                </a:lnTo>
                <a:lnTo>
                  <a:pt x="0" y="4389120"/>
                </a:lnTo>
                <a:close/>
              </a:path>
            </a:pathLst>
          </a:cu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301EBB8-0583-30D5-D5C9-6064F992C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2529" b="23302"/>
          <a:stretch>
            <a:fillRect/>
          </a:stretch>
        </p:blipFill>
        <p:spPr>
          <a:xfrm>
            <a:off x="0" y="3632200"/>
            <a:ext cx="3839210" cy="3261166"/>
          </a:xfrm>
          <a:custGeom>
            <a:avLst/>
            <a:gdLst>
              <a:gd name="connsiteX0" fmla="*/ 0 w 3839210"/>
              <a:gd name="connsiteY0" fmla="*/ 0 h 3261166"/>
              <a:gd name="connsiteX1" fmla="*/ 3839210 w 3839210"/>
              <a:gd name="connsiteY1" fmla="*/ 0 h 3261166"/>
              <a:gd name="connsiteX2" fmla="*/ 3839210 w 3839210"/>
              <a:gd name="connsiteY2" fmla="*/ 3261166 h 3261166"/>
              <a:gd name="connsiteX3" fmla="*/ 0 w 3839210"/>
              <a:gd name="connsiteY3" fmla="*/ 3261166 h 3261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39210" h="3261166">
                <a:moveTo>
                  <a:pt x="0" y="0"/>
                </a:moveTo>
                <a:lnTo>
                  <a:pt x="3839210" y="0"/>
                </a:lnTo>
                <a:lnTo>
                  <a:pt x="3839210" y="3261166"/>
                </a:lnTo>
                <a:lnTo>
                  <a:pt x="0" y="3261166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E425898-E19E-D66B-9FE6-55FE52BAB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5783E0-630B-D6BD-1914-F6A39C5730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0801" y="1140460"/>
            <a:ext cx="8001256" cy="5166360"/>
          </a:xfrm>
        </p:spPr>
        <p:txBody>
          <a:bodyPr anchor="ctr"/>
          <a:lstStyle>
            <a:lvl1pPr>
              <a:lnSpc>
                <a:spcPct val="75000"/>
              </a:lnSpc>
              <a:spcBef>
                <a:spcPts val="600"/>
              </a:spcBef>
              <a:spcAft>
                <a:spcPts val="1200"/>
              </a:spcAft>
              <a:defRPr sz="7200" baseline="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109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5011113" cy="5048974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70317" y="1091885"/>
            <a:ext cx="5130734" cy="5048973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800" b="0"/>
            </a:lvl1pPr>
            <a:lvl2pPr marL="8001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400" b="0"/>
            </a:lvl2pPr>
            <a:lvl3pPr marL="12573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000" b="0"/>
            </a:lvl3pPr>
            <a:lvl4pPr marL="17145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1800" b="0"/>
            </a:lvl4pPr>
            <a:lvl5pPr marL="2057400" indent="-2286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31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7472374" cy="1913892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66723" y="3152220"/>
            <a:ext cx="6977077" cy="3264017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2800" b="0"/>
            </a:lvl1pPr>
            <a:lvl2pPr marL="4572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2400" b="0"/>
            </a:lvl2pPr>
            <a:lvl3pPr marL="9144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2000" b="0"/>
            </a:lvl3pPr>
            <a:lvl4pPr marL="13716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1800" b="0"/>
            </a:lvl4pPr>
            <a:lvl5pPr marL="18288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CD50F62-7F43-2FBB-55E3-23F6293970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39100" y="1096963"/>
            <a:ext cx="4152900" cy="57610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648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18A9A4E-F149-44F8-9FAE-8ABA2BD26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50000"/>
          <a:stretch>
            <a:fillRect/>
          </a:stretch>
        </p:blipFill>
        <p:spPr>
          <a:xfrm flipV="1">
            <a:off x="1881504" y="4663441"/>
            <a:ext cx="4389120" cy="2194559"/>
          </a:xfrm>
          <a:custGeom>
            <a:avLst/>
            <a:gdLst>
              <a:gd name="connsiteX0" fmla="*/ 0 w 4389120"/>
              <a:gd name="connsiteY0" fmla="*/ 0 h 2194559"/>
              <a:gd name="connsiteX1" fmla="*/ 4389120 w 4389120"/>
              <a:gd name="connsiteY1" fmla="*/ 0 h 2194559"/>
              <a:gd name="connsiteX2" fmla="*/ 4389120 w 4389120"/>
              <a:gd name="connsiteY2" fmla="*/ 2194559 h 2194559"/>
              <a:gd name="connsiteX3" fmla="*/ 0 w 43891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9120" h="2194559">
                <a:moveTo>
                  <a:pt x="0" y="0"/>
                </a:moveTo>
                <a:lnTo>
                  <a:pt x="4389120" y="0"/>
                </a:lnTo>
                <a:lnTo>
                  <a:pt x="4389120" y="2194559"/>
                </a:lnTo>
                <a:lnTo>
                  <a:pt x="0" y="2194559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44170C3-9FB6-324B-DD88-972B181F5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9956" r="-1"/>
          <a:stretch/>
        </p:blipFill>
        <p:spPr>
          <a:xfrm flipH="1">
            <a:off x="10185174" y="1234440"/>
            <a:ext cx="2024907" cy="4389120"/>
          </a:xfrm>
          <a:custGeom>
            <a:avLst/>
            <a:gdLst>
              <a:gd name="connsiteX0" fmla="*/ 0 w 2916372"/>
              <a:gd name="connsiteY0" fmla="*/ 0 h 4389120"/>
              <a:gd name="connsiteX1" fmla="*/ 2916372 w 2916372"/>
              <a:gd name="connsiteY1" fmla="*/ 0 h 4389120"/>
              <a:gd name="connsiteX2" fmla="*/ 2916372 w 2916372"/>
              <a:gd name="connsiteY2" fmla="*/ 4389120 h 4389120"/>
              <a:gd name="connsiteX3" fmla="*/ 0 w 2916372"/>
              <a:gd name="connsiteY3" fmla="*/ 4389120 h 438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6372" h="4389120">
                <a:moveTo>
                  <a:pt x="0" y="0"/>
                </a:moveTo>
                <a:lnTo>
                  <a:pt x="2916372" y="0"/>
                </a:lnTo>
                <a:lnTo>
                  <a:pt x="2916372" y="4389120"/>
                </a:lnTo>
                <a:lnTo>
                  <a:pt x="0" y="4389120"/>
                </a:lnTo>
                <a:close/>
              </a:path>
            </a:pathLst>
          </a:cu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1091CD0-1D83-5BBE-A26C-2D7EAF858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2529" t="-1" b="51667"/>
          <a:stretch/>
        </p:blipFill>
        <p:spPr>
          <a:xfrm flipV="1">
            <a:off x="0" y="-1"/>
            <a:ext cx="3839210" cy="2055127"/>
          </a:xfrm>
          <a:custGeom>
            <a:avLst/>
            <a:gdLst>
              <a:gd name="connsiteX0" fmla="*/ 0 w 3839210"/>
              <a:gd name="connsiteY0" fmla="*/ 0 h 3261166"/>
              <a:gd name="connsiteX1" fmla="*/ 3839210 w 3839210"/>
              <a:gd name="connsiteY1" fmla="*/ 0 h 3261166"/>
              <a:gd name="connsiteX2" fmla="*/ 3839210 w 3839210"/>
              <a:gd name="connsiteY2" fmla="*/ 3261166 h 3261166"/>
              <a:gd name="connsiteX3" fmla="*/ 0 w 3839210"/>
              <a:gd name="connsiteY3" fmla="*/ 3261166 h 3261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39210" h="3261166">
                <a:moveTo>
                  <a:pt x="0" y="0"/>
                </a:moveTo>
                <a:lnTo>
                  <a:pt x="3839210" y="0"/>
                </a:lnTo>
                <a:lnTo>
                  <a:pt x="3839210" y="3261166"/>
                </a:lnTo>
                <a:lnTo>
                  <a:pt x="0" y="3261166"/>
                </a:lnTo>
                <a:close/>
              </a:path>
            </a:pathLst>
          </a:cu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5" y="1097237"/>
            <a:ext cx="11076631" cy="2885630"/>
          </a:xfrm>
        </p:spPr>
        <p:txBody>
          <a:bodyPr lIns="0" rIns="0"/>
          <a:lstStyle>
            <a:lvl1pPr>
              <a:defRPr sz="72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05300" y="4059067"/>
            <a:ext cx="7338056" cy="269225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2800" b="0"/>
            </a:lvl1pPr>
            <a:lvl2pPr marL="457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2400" b="0"/>
            </a:lvl2pPr>
            <a:lvl3pPr marL="9144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2000" b="0"/>
            </a:lvl3pPr>
            <a:lvl4pPr marL="1371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1800" b="0"/>
            </a:lvl4pPr>
            <a:lvl5pPr marL="18288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56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Content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5011113" cy="5048974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70316" y="1091885"/>
            <a:ext cx="5273043" cy="5056747"/>
          </a:xfrm>
        </p:spPr>
        <p:txBody>
          <a:bodyPr>
            <a:normAutofit/>
          </a:bodyPr>
          <a:lstStyle>
            <a:lvl1pPr marL="347472" indent="-347472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/>
            </a:lvl1pPr>
            <a:lvl2pPr marL="8001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400" b="0"/>
            </a:lvl2pPr>
            <a:lvl3pPr marL="12573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7145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4pPr>
            <a:lvl5pPr marL="2114550" indent="-28575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3110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165" y="3870960"/>
            <a:ext cx="11533835" cy="2941320"/>
          </a:xfrm>
        </p:spPr>
        <p:txBody>
          <a:bodyPr lIns="0" tIns="0" rIns="0" bIns="0" anchor="ctr"/>
          <a:lstStyle>
            <a:lvl1pPr>
              <a:lnSpc>
                <a:spcPct val="75000"/>
              </a:lnSpc>
              <a:spcBef>
                <a:spcPts val="1000"/>
              </a:spcBef>
              <a:spcAft>
                <a:spcPts val="600"/>
              </a:spcAft>
              <a:defRPr sz="7200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C506222-0BCA-9701-399C-0CF92FA231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1112500" cy="37719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98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+ Cont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F0DABCC-5F7F-4B44-B780-46F5D46079D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2433638"/>
            <a:ext cx="5821363" cy="396716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57926" y="2433005"/>
            <a:ext cx="530352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114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66726" y="2392441"/>
            <a:ext cx="530352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67472" y="2392441"/>
            <a:ext cx="5303523" cy="396779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0"/>
            </a:lvl1pPr>
            <a:lvl2pPr marL="34747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71323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07899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1837944" indent="-28575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545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1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51487" y="2392441"/>
            <a:ext cx="345663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01538" y="2392441"/>
            <a:ext cx="6969458" cy="396779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0"/>
            </a:lvl1pPr>
            <a:lvl2pPr marL="34747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71323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07899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1837944" indent="-28575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2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+ Table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94358" y="2417765"/>
            <a:ext cx="6680202" cy="3967795"/>
          </a:xfrm>
        </p:spPr>
        <p:txBody>
          <a:bodyPr lIns="45720">
            <a:normAutofit/>
          </a:bodyPr>
          <a:lstStyle>
            <a:lvl1pPr marL="347472" indent="-347472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740664" indent="-283464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7145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8B30A748-E024-5BE9-6F18-C8904170762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7823200" y="2417763"/>
            <a:ext cx="3838248" cy="3967794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227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8B30A748-E024-5BE9-6F18-C8904170762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66724" y="2417763"/>
            <a:ext cx="11094724" cy="396779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987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2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51487" y="2392441"/>
            <a:ext cx="697707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05773" y="2392440"/>
            <a:ext cx="3655675" cy="396779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0"/>
            </a:lvl1pPr>
            <a:lvl2pPr marL="347472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713232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078992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1837944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3736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19982B1-35C2-DE4A-CC6C-C7EF3864F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1330D7F-AB80-0985-7B65-80D66CC84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1653" b="49194"/>
          <a:stretch>
            <a:fillRect/>
          </a:stretch>
        </p:blipFill>
        <p:spPr>
          <a:xfrm>
            <a:off x="10095411" y="4663440"/>
            <a:ext cx="2121988" cy="2229926"/>
          </a:xfrm>
          <a:custGeom>
            <a:avLst/>
            <a:gdLst>
              <a:gd name="connsiteX0" fmla="*/ 0 w 2121988"/>
              <a:gd name="connsiteY0" fmla="*/ 0 h 2229926"/>
              <a:gd name="connsiteX1" fmla="*/ 2121988 w 2121988"/>
              <a:gd name="connsiteY1" fmla="*/ 0 h 2229926"/>
              <a:gd name="connsiteX2" fmla="*/ 2121988 w 2121988"/>
              <a:gd name="connsiteY2" fmla="*/ 2229926 h 2229926"/>
              <a:gd name="connsiteX3" fmla="*/ 0 w 2121988"/>
              <a:gd name="connsiteY3" fmla="*/ 2229926 h 2229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1988" h="2229926">
                <a:moveTo>
                  <a:pt x="0" y="0"/>
                </a:moveTo>
                <a:lnTo>
                  <a:pt x="2121988" y="0"/>
                </a:lnTo>
                <a:lnTo>
                  <a:pt x="2121988" y="2229926"/>
                </a:lnTo>
                <a:lnTo>
                  <a:pt x="0" y="2229926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55AA66F-C4B1-E34A-8E6B-F893310B2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50000"/>
          <a:stretch>
            <a:fillRect/>
          </a:stretch>
        </p:blipFill>
        <p:spPr>
          <a:xfrm>
            <a:off x="6228080" y="2"/>
            <a:ext cx="4046220" cy="2194559"/>
          </a:xfrm>
          <a:custGeom>
            <a:avLst/>
            <a:gdLst>
              <a:gd name="connsiteX0" fmla="*/ 0 w 4046220"/>
              <a:gd name="connsiteY0" fmla="*/ 0 h 2194559"/>
              <a:gd name="connsiteX1" fmla="*/ 4046220 w 4046220"/>
              <a:gd name="connsiteY1" fmla="*/ 0 h 2194559"/>
              <a:gd name="connsiteX2" fmla="*/ 4046220 w 4046220"/>
              <a:gd name="connsiteY2" fmla="*/ 2194559 h 2194559"/>
              <a:gd name="connsiteX3" fmla="*/ 0 w 40462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220" h="2194559">
                <a:moveTo>
                  <a:pt x="0" y="0"/>
                </a:moveTo>
                <a:lnTo>
                  <a:pt x="4046220" y="0"/>
                </a:lnTo>
                <a:lnTo>
                  <a:pt x="4046220" y="2194559"/>
                </a:lnTo>
                <a:lnTo>
                  <a:pt x="0" y="2194559"/>
                </a:lnTo>
                <a:close/>
              </a:path>
            </a:pathLst>
          </a:cu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5700ADD-BC9D-410F-D6AC-1D0E4F104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0000" b="30164"/>
          <a:stretch>
            <a:fillRect/>
          </a:stretch>
        </p:blipFill>
        <p:spPr>
          <a:xfrm>
            <a:off x="0" y="3923964"/>
            <a:ext cx="2194560" cy="2969402"/>
          </a:xfrm>
          <a:custGeom>
            <a:avLst/>
            <a:gdLst>
              <a:gd name="connsiteX0" fmla="*/ 0 w 2194560"/>
              <a:gd name="connsiteY0" fmla="*/ 0 h 2969402"/>
              <a:gd name="connsiteX1" fmla="*/ 2194560 w 2194560"/>
              <a:gd name="connsiteY1" fmla="*/ 0 h 2969402"/>
              <a:gd name="connsiteX2" fmla="*/ 2194560 w 2194560"/>
              <a:gd name="connsiteY2" fmla="*/ 2969402 h 2969402"/>
              <a:gd name="connsiteX3" fmla="*/ 0 w 2194560"/>
              <a:gd name="connsiteY3" fmla="*/ 2969402 h 2969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4560" h="2969402">
                <a:moveTo>
                  <a:pt x="0" y="0"/>
                </a:moveTo>
                <a:lnTo>
                  <a:pt x="2194560" y="0"/>
                </a:lnTo>
                <a:lnTo>
                  <a:pt x="2194560" y="2969402"/>
                </a:lnTo>
                <a:lnTo>
                  <a:pt x="0" y="2969402"/>
                </a:lnTo>
                <a:close/>
              </a:path>
            </a:pathLst>
          </a:cu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9091067-F6AB-B1C8-2F06-423B82E6EE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807" y="1049447"/>
            <a:ext cx="5910270" cy="5094386"/>
          </a:xfrm>
        </p:spPr>
        <p:txBody>
          <a:bodyPr rIns="0" anchor="ctr"/>
          <a:lstStyle>
            <a:lvl1pPr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D4F7BB3-A204-D529-DD36-39D4311F354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55077" y="1049447"/>
            <a:ext cx="4922837" cy="5094386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1000"/>
              </a:spcBef>
              <a:defRPr sz="2800" b="0"/>
            </a:lvl1pPr>
            <a:lvl2pPr>
              <a:lnSpc>
                <a:spcPct val="100000"/>
              </a:lnSpc>
              <a:spcBef>
                <a:spcPts val="1000"/>
              </a:spcBef>
              <a:defRPr sz="2400" b="0"/>
            </a:lvl2pPr>
            <a:lvl3pPr>
              <a:lnSpc>
                <a:spcPct val="100000"/>
              </a:lnSpc>
              <a:spcBef>
                <a:spcPts val="1000"/>
              </a:spcBef>
              <a:defRPr sz="2000" b="0"/>
            </a:lvl3pPr>
            <a:lvl4pPr>
              <a:lnSpc>
                <a:spcPct val="100000"/>
              </a:lnSpc>
              <a:spcBef>
                <a:spcPts val="1000"/>
              </a:spcBef>
              <a:defRPr sz="1800" b="0"/>
            </a:lvl4pPr>
            <a:lvl5pPr>
              <a:lnSpc>
                <a:spcPct val="100000"/>
              </a:lnSpc>
              <a:spcBef>
                <a:spcPts val="1000"/>
              </a:spcBef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4331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4806" y="1432518"/>
            <a:ext cx="7958331" cy="22376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11808" y="3696004"/>
            <a:ext cx="7796540" cy="2379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88E8CDA-4B53-1285-4909-D3A5FB6B3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3671" y="459077"/>
            <a:ext cx="2267211" cy="480363"/>
          </a:xfrm>
          <a:prstGeom prst="rect">
            <a:avLst/>
          </a:prstGeom>
        </p:spPr>
        <p:txBody>
          <a:bodyPr vert="horz" lIns="0" tIns="0" rIns="91440" bIns="18288" rtlCol="0" anchor="ctr"/>
          <a:lstStyle>
            <a:lvl1pPr algn="l">
              <a:defRPr sz="1200" b="1" i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00A2341-0273-5256-69F5-7D63AFB93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59025" y="459081"/>
            <a:ext cx="789138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4000" b="1" i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0" r:id="rId1"/>
    <p:sldLayoutId id="2147483676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79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8000" b="1" i="0" kern="1200" cap="none" spc="-300">
          <a:solidFill>
            <a:schemeClr val="bg1"/>
          </a:solidFill>
          <a:effectLst/>
          <a:latin typeface="+mj-lt"/>
          <a:ea typeface="+mj-ea"/>
          <a:cs typeface="Kalinga" panose="020B05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20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8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6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4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2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video" Target="https://www.youtube.com/embed/0qDLZx1WJ8o?feature=oembed" TargetMode="Externa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9.xml"/><Relationship Id="rId1" Type="http://schemas.openxmlformats.org/officeDocument/2006/relationships/video" Target="https://www.youtube.com/embed/6Vkb2iz5Ue0?feature=oembed" TargetMode="Externa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BBDD8-0A72-E913-2448-3BA8443C3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5154" y="992777"/>
            <a:ext cx="8736903" cy="5314043"/>
          </a:xfrm>
        </p:spPr>
        <p:txBody>
          <a:bodyPr/>
          <a:lstStyle/>
          <a:p>
            <a:pPr algn="r"/>
            <a:r>
              <a:rPr lang="en-US" dirty="0"/>
              <a:t>The Management of Pain &amp; Discomfort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609250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4B515DA-B5BA-1D54-0138-5A9DBF40B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1097238"/>
            <a:ext cx="5011113" cy="5048974"/>
          </a:xfrm>
        </p:spPr>
        <p:txBody>
          <a:bodyPr anchor="t"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010E8-1DAC-D1A8-367B-24A839DD6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16" name="Content Placeholder 13">
            <a:extLst>
              <a:ext uri="{FF2B5EF4-FFF2-40B4-BE49-F238E27FC236}">
                <a16:creationId xmlns:a16="http://schemas.microsoft.com/office/drawing/2014/main" id="{92A48737-24FD-25CA-B0B3-CD766C0E55D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45249584"/>
              </p:ext>
            </p:extLst>
          </p:nvPr>
        </p:nvGraphicFramePr>
        <p:xfrm>
          <a:off x="4458790" y="1097238"/>
          <a:ext cx="7184570" cy="4981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2602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8198D-8B86-C9AD-3685-7DAE867F4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FED7F9-16B9-87C1-750B-E3588F0FE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73" y="863458"/>
            <a:ext cx="11094723" cy="480364"/>
          </a:xfrm>
        </p:spPr>
        <p:txBody>
          <a:bodyPr/>
          <a:lstStyle/>
          <a:p>
            <a:r>
              <a:rPr lang="en-US" sz="3600" dirty="0"/>
              <a:t>Important Terminology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51C60C-E12D-1BA5-A144-B9D5D6009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0EEA44-CD98-F6F5-0709-B3D7CB23E7D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6726" y="1343822"/>
            <a:ext cx="11104270" cy="5274691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u="sng" dirty="0"/>
              <a:t>Acute pain</a:t>
            </a:r>
            <a:r>
              <a:rPr lang="en-US" sz="1600" dirty="0"/>
              <a:t> – a short (or shorter) term pain, typically as a result of tissue damage. This form of pain can be managed with pain killers, and goes away when the tissue heals.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u="sng" dirty="0"/>
              <a:t>Recurrent acute pain</a:t>
            </a:r>
            <a:r>
              <a:rPr lang="en-US" sz="1600" dirty="0"/>
              <a:t> – intermittent episodes of pain that recur for more than 6 months (ex: facial muscle spasms)</a:t>
            </a:r>
            <a:endParaRPr lang="en-US" sz="1600" b="1" u="sng" dirty="0"/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u="sng" dirty="0"/>
              <a:t>Chronic pain</a:t>
            </a:r>
            <a:r>
              <a:rPr lang="en-US" sz="1600" dirty="0"/>
              <a:t> – a form of long-term pain (6 months or more), that does not go away with treatment and the passage of time.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u="sng" dirty="0"/>
              <a:t>Chronic benign pain</a:t>
            </a:r>
            <a:r>
              <a:rPr lang="en-US" sz="1600" b="1" dirty="0"/>
              <a:t> – </a:t>
            </a:r>
            <a:r>
              <a:rPr lang="en-US" sz="1600" dirty="0"/>
              <a:t>chronic, low-level pain that is resistant to treatment (ex: back pain)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u="sng" dirty="0"/>
              <a:t>Chronic progressive pain</a:t>
            </a:r>
            <a:r>
              <a:rPr lang="en-US" sz="1600" dirty="0"/>
              <a:t> – chronic pain that increases in severity, while being resistant to treatment (ex: neurodegenerative disorders) </a:t>
            </a:r>
            <a:endParaRPr lang="en-US" sz="1600" b="1" u="sng" dirty="0"/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u="sng" dirty="0"/>
              <a:t>Endogenous opioid peptides</a:t>
            </a:r>
            <a:r>
              <a:rPr lang="en-US" sz="1600" dirty="0"/>
              <a:t> – substances the body produces to modulate pain (similar to exogeneous opiates, like morphine)</a:t>
            </a:r>
            <a:endParaRPr lang="en-US" sz="1600" b="1" u="sng" dirty="0"/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34469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61E9F-2E6E-C1A4-C50B-153E80F80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E1D29E-B259-A5A8-BD42-C7314F709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73" y="863458"/>
            <a:ext cx="11094723" cy="480364"/>
          </a:xfrm>
        </p:spPr>
        <p:txBody>
          <a:bodyPr/>
          <a:lstStyle/>
          <a:p>
            <a:r>
              <a:rPr lang="en-US" sz="3600" dirty="0"/>
              <a:t>Nociception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D1F362-0C64-0C4E-0824-8864BE6A51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4F9F45-19AC-D79C-8994-86F5DB5EB3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6726" y="1343822"/>
            <a:ext cx="11104270" cy="5274691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u="sng" dirty="0"/>
              <a:t>Nociception</a:t>
            </a:r>
            <a:r>
              <a:rPr lang="en-US" sz="1600" dirty="0"/>
              <a:t> – the bodily sense of pain</a:t>
            </a: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There are three types of pain perception: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Mechanical nociception (from “mechanical” damage; ex: skin abrasion)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Thermal damage (pain from heat; ex: sunburn)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Polymodal nociception (pain from chemical damage; ex: getting battery acid on your skin)</a:t>
            </a: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u="sng" dirty="0"/>
              <a:t>Pain threshold</a:t>
            </a:r>
            <a:r>
              <a:rPr lang="en-US" sz="1600" dirty="0"/>
              <a:t> – the point where a feeling shifts from pressure to pain</a:t>
            </a: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u="sng" dirty="0"/>
              <a:t>Pain tolerance</a:t>
            </a:r>
            <a:r>
              <a:rPr lang="en-US" sz="1600" b="1" dirty="0"/>
              <a:t> </a:t>
            </a:r>
            <a:r>
              <a:rPr lang="en-US" sz="1600" dirty="0"/>
              <a:t>– the maximum amount of pain a person can tolerate</a:t>
            </a: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There is some debate about whether there is a pain ceiling or if pain can continuously get worse</a:t>
            </a: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93415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970B3BC-EB46-73C4-2FD0-D362936F7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0" y="2425336"/>
            <a:ext cx="5460274" cy="3243943"/>
          </a:xfrm>
        </p:spPr>
        <p:txBody>
          <a:bodyPr/>
          <a:lstStyle/>
          <a:p>
            <a:r>
              <a:rPr lang="en-US" dirty="0"/>
              <a:t>Why do we feel pain?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DECEF1-28BD-A1ED-A25A-B6FC944327E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79188" y="517525"/>
            <a:ext cx="912812" cy="4794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26" name="Picture 2" descr="Sad flower, illustration, vector on white background. 13521048 Vector Art  at Vecteezy">
            <a:extLst>
              <a:ext uri="{FF2B5EF4-FFF2-40B4-BE49-F238E27FC236}">
                <a16:creationId xmlns:a16="http://schemas.microsoft.com/office/drawing/2014/main" id="{6AC6CFDD-7EBE-469F-F939-72DA3DB96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166" y="870856"/>
            <a:ext cx="4504612" cy="5199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7518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ADC8E-0F29-6A1C-3649-480B50B78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8" y="766312"/>
            <a:ext cx="11094723" cy="714145"/>
          </a:xfrm>
        </p:spPr>
        <p:txBody>
          <a:bodyPr/>
          <a:lstStyle/>
          <a:p>
            <a:r>
              <a:rPr lang="en-US" dirty="0"/>
              <a:t>Congenital Analgesia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298EA0-6687-F050-DB39-A2C2B4EF3D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20B3E-6005-77D1-A619-FED88C69F46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332617" y="6437666"/>
            <a:ext cx="4615542" cy="31587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https://www.youtube.com/watch?v=0qDLZx1WJ8o</a:t>
            </a:r>
          </a:p>
        </p:txBody>
      </p:sp>
      <p:pic>
        <p:nvPicPr>
          <p:cNvPr id="6" name="Online Media 5" title="People who feel no pain but suffer enormously | 60 Minutes Australia">
            <a:hlinkClick r:id="" action="ppaction://media"/>
            <a:extLst>
              <a:ext uri="{FF2B5EF4-FFF2-40B4-BE49-F238E27FC236}">
                <a16:creationId xmlns:a16="http://schemas.microsoft.com/office/drawing/2014/main" id="{D05E99A8-A4B0-A4C5-A75E-00846CF6807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689462" y="1361277"/>
            <a:ext cx="8813074" cy="497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021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3AD98-B31F-CC5D-4861-875BF1899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E3C17-5241-708F-E214-59FE39EB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8" y="766312"/>
            <a:ext cx="11094723" cy="714145"/>
          </a:xfrm>
        </p:spPr>
        <p:txBody>
          <a:bodyPr/>
          <a:lstStyle/>
          <a:p>
            <a:r>
              <a:rPr lang="en-US" dirty="0"/>
              <a:t>Phantom Pain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29A2C7-34F8-0926-3A0C-9277F8ECB7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48EEB5-A14C-E4C0-40AA-078C7E2BC88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541623" y="6437666"/>
            <a:ext cx="4406536" cy="31587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https://www.youtube.com/watch?v=6Vkb2iz5Ue0</a:t>
            </a:r>
          </a:p>
        </p:txBody>
      </p:sp>
      <p:pic>
        <p:nvPicPr>
          <p:cNvPr id="5" name="Online Media 4" title="How using a mirror can relieve phantom pain">
            <a:hlinkClick r:id="" action="ppaction://media"/>
            <a:extLst>
              <a:ext uri="{FF2B5EF4-FFF2-40B4-BE49-F238E27FC236}">
                <a16:creationId xmlns:a16="http://schemas.microsoft.com/office/drawing/2014/main" id="{B4AB3F7E-6C53-8984-6007-9EAD4766E74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402080" y="1243674"/>
            <a:ext cx="9021219" cy="509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941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93958-BC6A-68F6-F13C-E74758889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EBCA7E-AEBF-563B-7DCC-FE2AA9D4B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73" y="863458"/>
            <a:ext cx="11094723" cy="480364"/>
          </a:xfrm>
        </p:spPr>
        <p:txBody>
          <a:bodyPr/>
          <a:lstStyle/>
          <a:p>
            <a:r>
              <a:rPr lang="en-US" sz="3600" dirty="0"/>
              <a:t>Pain Assessment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25EFE9-CD75-AE17-5FDE-A661622C1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8253BB-4DAF-2098-4DD1-C3B618B6F19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6726" y="1343822"/>
            <a:ext cx="11104270" cy="5274691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Pain is famously difficult to assess, but common methods include: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Verbal reports – large, informal vocabulary that people use for describing pain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Pain questionnaires – assessments that ask about the nature of pain and a rating of impact on life functioning</a:t>
            </a:r>
          </a:p>
          <a:p>
            <a:pPr marL="1056132" lvl="2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Nature of pain</a:t>
            </a:r>
          </a:p>
          <a:p>
            <a:pPr marL="1056132" lvl="2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Intensity of pain</a:t>
            </a:r>
          </a:p>
          <a:p>
            <a:pPr marL="1056132" lvl="2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Life impact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Pain behaviors – assessed to determine how pain is impacting a patient’s life; can help with diagnostics </a:t>
            </a:r>
          </a:p>
          <a:p>
            <a:pPr marL="1056132" lvl="2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Ex: distortions in posture or gait, facial and audible expressions of distress, and avoidance of activities</a:t>
            </a:r>
          </a:p>
          <a:p>
            <a:pPr marL="1056132" lvl="2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Benefit: directly observable</a:t>
            </a: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78042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C3312-B482-9CC1-BD99-14153C0C5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ABB83DA-9669-7F42-61F9-BE5E1D470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73" y="863458"/>
            <a:ext cx="11094723" cy="480364"/>
          </a:xfrm>
        </p:spPr>
        <p:txBody>
          <a:bodyPr/>
          <a:lstStyle/>
          <a:p>
            <a:r>
              <a:rPr lang="en-US" sz="3600" dirty="0"/>
              <a:t>Pain Management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EB0B27-2CE0-09A9-BD22-C04F0B4D5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505481-06CF-A8B9-DC1A-EAB96299AF0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6726" y="1343822"/>
            <a:ext cx="11104270" cy="5274691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Pain can be controlled through a variety of ways, including: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Pharmacological management</a:t>
            </a:r>
          </a:p>
          <a:p>
            <a:pPr marL="1056132" lvl="2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Ex: local anesthetics, spinal blocking agents, and antidepressants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Surgical control (directly disrupting the flow of pain sensations upward to the brain)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Sensory control, such as counterirritation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Biofeedback</a:t>
            </a:r>
          </a:p>
          <a:p>
            <a:pPr marL="1056132" lvl="2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Ex: phone alert when blood pressure drops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Psychological techniques</a:t>
            </a:r>
          </a:p>
          <a:p>
            <a:pPr marL="1056132" lvl="2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Ex: relaxation, distraction, and coping skills</a:t>
            </a:r>
          </a:p>
          <a:p>
            <a:pPr marL="1056132" lvl="2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Can be trained (ex: pain management programs)</a:t>
            </a: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620811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TM45439525">
      <a:dk1>
        <a:srgbClr val="000000"/>
      </a:dk1>
      <a:lt1>
        <a:srgbClr val="FFFFFF"/>
      </a:lt1>
      <a:dk2>
        <a:srgbClr val="1F2D29"/>
      </a:dk2>
      <a:lt2>
        <a:srgbClr val="E6B32E"/>
      </a:lt2>
      <a:accent1>
        <a:srgbClr val="9F9CD8"/>
      </a:accent1>
      <a:accent2>
        <a:srgbClr val="ED95A2"/>
      </a:accent2>
      <a:accent3>
        <a:srgbClr val="8BB9E1"/>
      </a:accent3>
      <a:accent4>
        <a:srgbClr val="C33F51"/>
      </a:accent4>
      <a:accent5>
        <a:srgbClr val="004048"/>
      </a:accent5>
      <a:accent6>
        <a:srgbClr val="8EC0C1"/>
      </a:accent6>
      <a:hlink>
        <a:srgbClr val="6D9D9B"/>
      </a:hlink>
      <a:folHlink>
        <a:srgbClr val="6D8583"/>
      </a:folHlink>
    </a:clrScheme>
    <a:fontScheme name="Custom 116">
      <a:majorFont>
        <a:latin typeface="Kalinga"/>
        <a:ea typeface=""/>
        <a:cs typeface=""/>
      </a:majorFont>
      <a:minorFont>
        <a:latin typeface="Kalinga"/>
        <a:ea typeface=""/>
        <a:cs typeface="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439525_Win32_SL_V9" id="{1C1685F1-2AF6-4AF8-B809-5763D0E52941}" vid="{50BDB98F-F06A-48E8-BE85-F709AAFF09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F058098-9A21-440B-BD1E-02659AABD2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0FBC208-84B5-4BA7-8306-5BDC2F8CE14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EF746E38-3E45-40EB-917C-6C82B8DF19A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Pastels Presentation</Template>
  <TotalTime>474</TotalTime>
  <Words>488</Words>
  <Application>Microsoft Office PowerPoint</Application>
  <PresentationFormat>Widescreen</PresentationFormat>
  <Paragraphs>57</Paragraphs>
  <Slides>9</Slides>
  <Notes>9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Kalinga</vt:lpstr>
      <vt:lpstr>Wingdings</vt:lpstr>
      <vt:lpstr>Madison</vt:lpstr>
      <vt:lpstr>The Management of Pain &amp; Discomfort</vt:lpstr>
      <vt:lpstr>Agenda</vt:lpstr>
      <vt:lpstr>Important Terminology</vt:lpstr>
      <vt:lpstr>Nociception </vt:lpstr>
      <vt:lpstr>Why do we feel pain?</vt:lpstr>
      <vt:lpstr>Congenital Analgesia</vt:lpstr>
      <vt:lpstr>Phantom Pain</vt:lpstr>
      <vt:lpstr>Pain Assessment</vt:lpstr>
      <vt:lpstr>Pain Management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Scheuler, Bryanna</dc:creator>
  <cp:lastModifiedBy>Bryanna Scheuler</cp:lastModifiedBy>
  <cp:revision>15</cp:revision>
  <dcterms:created xsi:type="dcterms:W3CDTF">2025-10-03T08:09:12Z</dcterms:created>
  <dcterms:modified xsi:type="dcterms:W3CDTF">2026-08-16T23:20:06Z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