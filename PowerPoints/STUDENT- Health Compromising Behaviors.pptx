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83" r:id="rId4"/>
  </p:sldMasterIdLst>
  <p:notesMasterIdLst>
    <p:notesMasterId r:id="rId18"/>
  </p:notesMasterIdLst>
  <p:handoutMasterIdLst>
    <p:handoutMasterId r:id="rId19"/>
  </p:handoutMasterIdLst>
  <p:sldIdLst>
    <p:sldId id="341" r:id="rId5"/>
    <p:sldId id="307" r:id="rId6"/>
    <p:sldId id="349" r:id="rId7"/>
    <p:sldId id="348" r:id="rId8"/>
    <p:sldId id="353" r:id="rId9"/>
    <p:sldId id="344" r:id="rId10"/>
    <p:sldId id="345" r:id="rId11"/>
    <p:sldId id="346" r:id="rId12"/>
    <p:sldId id="354" r:id="rId13"/>
    <p:sldId id="347" r:id="rId14"/>
    <p:sldId id="352" r:id="rId15"/>
    <p:sldId id="350" r:id="rId16"/>
    <p:sldId id="35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8" autoAdjust="0"/>
    <p:restoredTop sz="77659" autoAdjust="0"/>
  </p:normalViewPr>
  <p:slideViewPr>
    <p:cSldViewPr snapToGrid="0">
      <p:cViewPr varScale="1">
        <p:scale>
          <a:sx n="87" d="100"/>
          <a:sy n="87" d="100"/>
        </p:scale>
        <p:origin x="996" y="78"/>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80" d="100"/>
        <a:sy n="80" d="100"/>
      </p:scale>
      <p:origin x="0" y="-2069"/>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4B9809-3C73-CA2B-1791-620EA168CC0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C7B1C58-A1FD-D1E1-33AB-1303C48435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6AA30A-158D-435B-B1F3-6FF82BD60FDF}" type="datetimeFigureOut">
              <a:rPr lang="en-US" smtClean="0"/>
              <a:t>8/15/2026</a:t>
            </a:fld>
            <a:endParaRPr lang="en-US" dirty="0"/>
          </a:p>
        </p:txBody>
      </p:sp>
      <p:sp>
        <p:nvSpPr>
          <p:cNvPr id="4" name="Footer Placeholder 3">
            <a:extLst>
              <a:ext uri="{FF2B5EF4-FFF2-40B4-BE49-F238E27FC236}">
                <a16:creationId xmlns:a16="http://schemas.microsoft.com/office/drawing/2014/main" id="{4717A0D9-659F-DDC6-CBD8-29B61E0FF7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9E0617-6128-05F5-8F48-6A0A1D1479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0A24AC-02A6-46A1-A072-EAC8AC25DCA5}" type="slidenum">
              <a:rPr lang="en-US" smtClean="0"/>
              <a:t>‹#›</a:t>
            </a:fld>
            <a:endParaRPr lang="en-US" dirty="0"/>
          </a:p>
        </p:txBody>
      </p:sp>
    </p:spTree>
    <p:extLst>
      <p:ext uri="{BB962C8B-B14F-4D97-AF65-F5344CB8AC3E}">
        <p14:creationId xmlns:p14="http://schemas.microsoft.com/office/powerpoint/2010/main" val="40839198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A0313-F537-4ED0-973B-4729E10A826A}" type="datetimeFigureOut">
              <a:rPr lang="en-US" smtClean="0"/>
              <a:t>8/15/2026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C92804-03A6-47F6-A893-4DDB8903A808}" type="slidenum">
              <a:rPr lang="en-US" smtClean="0"/>
              <a:t>‹#›</a:t>
            </a:fld>
            <a:endParaRPr lang="en-US" dirty="0"/>
          </a:p>
        </p:txBody>
      </p:sp>
    </p:spTree>
    <p:extLst>
      <p:ext uri="{BB962C8B-B14F-4D97-AF65-F5344CB8AC3E}">
        <p14:creationId xmlns:p14="http://schemas.microsoft.com/office/powerpoint/2010/main" val="2944717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642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441182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247643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1276904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5220579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5098832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586163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7562508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5881781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7502249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484888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2473789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364683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7A07-96C3-42AF-943D-953C86C3DAAD}"/>
              </a:ext>
            </a:extLst>
          </p:cNvPr>
          <p:cNvSpPr>
            <a:spLocks noGrp="1"/>
          </p:cNvSpPr>
          <p:nvPr>
            <p:ph type="ctrTitle"/>
          </p:nvPr>
        </p:nvSpPr>
        <p:spPr>
          <a:xfrm>
            <a:off x="1490472" y="1463557"/>
            <a:ext cx="9144000" cy="2387600"/>
          </a:xfrm>
        </p:spPr>
        <p:txBody>
          <a:bodyPr anchor="b">
            <a:normAutofit/>
          </a:bodyPr>
          <a:lstStyle>
            <a:lvl1pPr algn="ctr">
              <a:lnSpc>
                <a:spcPct val="90000"/>
              </a:lnSpc>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CEE38DF-F503-4E79-B1B0-16489708A1B5}"/>
              </a:ext>
            </a:extLst>
          </p:cNvPr>
          <p:cNvSpPr>
            <a:spLocks noGrp="1"/>
          </p:cNvSpPr>
          <p:nvPr>
            <p:ph type="subTitle" idx="1"/>
          </p:nvPr>
        </p:nvSpPr>
        <p:spPr>
          <a:xfrm>
            <a:off x="1490472" y="3943232"/>
            <a:ext cx="9144000" cy="1655762"/>
          </a:xfrm>
        </p:spPr>
        <p:txBody>
          <a:bodyPr>
            <a:normAutofit/>
          </a:bodyPr>
          <a:lstStyle>
            <a:lvl1pPr marL="0" indent="0" algn="ctr">
              <a:lnSpc>
                <a:spcPct val="110000"/>
              </a:lnSpc>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Date Placeholder 13">
            <a:extLst>
              <a:ext uri="{FF2B5EF4-FFF2-40B4-BE49-F238E27FC236}">
                <a16:creationId xmlns:a16="http://schemas.microsoft.com/office/drawing/2014/main" id="{46538D75-00C2-DE73-4C65-FE94AC658370}"/>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6B601B81-68C1-B63A-105C-EC637DF56CB7}"/>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E9F3E495-0415-392A-9A07-34555BBC7F4C}"/>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27242765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p:nvPr>
        </p:nvSpPr>
        <p:spPr/>
        <p:txBody>
          <a:bodyPr>
            <a:normAutofit/>
          </a:bodyPr>
          <a:lstStyle>
            <a:lvl1pPr>
              <a:lnSpc>
                <a:spcPct val="90000"/>
              </a:lnSpc>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28F029A-192E-4A44-ACC7-6C5212C77736}"/>
              </a:ext>
            </a:extLst>
          </p:cNvPr>
          <p:cNvSpPr>
            <a:spLocks noGrp="1"/>
          </p:cNvSpPr>
          <p:nvPr>
            <p:ph idx="1"/>
          </p:nvPr>
        </p:nvSpPr>
        <p:spPr>
          <a:xfrm>
            <a:off x="420624" y="1825625"/>
            <a:ext cx="10515600" cy="4206383"/>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A25CBB87-BE9B-82CE-8A24-F21EEA0366C3}"/>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B2131628-C033-9728-C4CF-90CDBCB89F7F}"/>
              </a:ext>
            </a:extLst>
          </p:cNvPr>
          <p:cNvSpPr>
            <a:spLocks noGrp="1"/>
          </p:cNvSpPr>
          <p:nvPr>
            <p:ph type="ftr" sz="quarter" idx="11"/>
          </p:nvPr>
        </p:nvSpPr>
        <p:spPr/>
        <p:txBody>
          <a:bodyPr/>
          <a:lstStyle/>
          <a:p>
            <a:r>
              <a:rPr lang="en-US"/>
              <a:t>Sample Footer Text</a:t>
            </a:r>
            <a:endParaRPr lang="en-US" dirty="0"/>
          </a:p>
        </p:txBody>
      </p:sp>
      <p:sp>
        <p:nvSpPr>
          <p:cNvPr id="13" name="Slide Number Placeholder 12">
            <a:extLst>
              <a:ext uri="{FF2B5EF4-FFF2-40B4-BE49-F238E27FC236}">
                <a16:creationId xmlns:a16="http://schemas.microsoft.com/office/drawing/2014/main" id="{B67216CA-9A26-BBE7-68A3-9237D22CDFC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676127296"/>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p:nvPr>
        </p:nvSpPr>
        <p:spPr>
          <a:xfrm>
            <a:off x="420624" y="1081941"/>
            <a:ext cx="10515600" cy="2852737"/>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F7974A6-FAB9-47DA-8F1A-701DFC8DF327}"/>
              </a:ext>
            </a:extLst>
          </p:cNvPr>
          <p:cNvSpPr>
            <a:spLocks noGrp="1"/>
          </p:cNvSpPr>
          <p:nvPr>
            <p:ph type="body" idx="1"/>
          </p:nvPr>
        </p:nvSpPr>
        <p:spPr>
          <a:xfrm>
            <a:off x="420624" y="3961666"/>
            <a:ext cx="10515600" cy="1500187"/>
          </a:xfrm>
        </p:spPr>
        <p:txBody>
          <a:bodyPr>
            <a:normAutofit/>
          </a:bodyPr>
          <a:lstStyle>
            <a:lvl1pPr marL="0" indent="0">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Date Placeholder 9">
            <a:extLst>
              <a:ext uri="{FF2B5EF4-FFF2-40B4-BE49-F238E27FC236}">
                <a16:creationId xmlns:a16="http://schemas.microsoft.com/office/drawing/2014/main" id="{6B034DD9-4A61-318F-88CF-79721B55AC5B}"/>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D496DA99-E916-9F7C-9E88-AA06046AE94C}"/>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21CC86B5-B6B3-4633-0D90-AACB44D0D409}"/>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84924909"/>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78F7F10-35F6-E392-D41B-3CD300D5CCF8}"/>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264F76-994F-4AB5-B17B-46C0C2FA5AE5}"/>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5A69B3B-A540-4556-98C8-1F49704A794E}"/>
              </a:ext>
            </a:extLst>
          </p:cNvPr>
          <p:cNvSpPr>
            <a:spLocks noGrp="1"/>
          </p:cNvSpPr>
          <p:nvPr>
            <p:ph sz="half" idx="1"/>
          </p:nvPr>
        </p:nvSpPr>
        <p:spPr>
          <a:xfrm>
            <a:off x="420624" y="1825625"/>
            <a:ext cx="5181600" cy="4206382"/>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dirty="0"/>
            </a:lvl5pPr>
          </a:lstStyle>
          <a:p>
            <a:pPr lvl="0">
              <a:buChar char="¬"/>
            </a:pPr>
            <a:r>
              <a:rPr lang="en-US"/>
              <a:t>Click to edit Master text styles</a:t>
            </a:r>
          </a:p>
          <a:p>
            <a:pPr lvl="1">
              <a:buChar char="¬"/>
            </a:pPr>
            <a:r>
              <a:rPr lang="en-US"/>
              <a:t>Second level</a:t>
            </a:r>
          </a:p>
          <a:p>
            <a:pPr lvl="2">
              <a:buChar char="¬"/>
            </a:pPr>
            <a:r>
              <a:rPr lang="en-US"/>
              <a:t>Third level</a:t>
            </a:r>
          </a:p>
          <a:p>
            <a:pPr lvl="3">
              <a:buChar char="¬"/>
            </a:pPr>
            <a:r>
              <a:rPr lang="en-US"/>
              <a:t>Fourth level</a:t>
            </a:r>
          </a:p>
          <a:p>
            <a:pPr lvl="4">
              <a:buChar char="¬"/>
            </a:pPr>
            <a:r>
              <a:rPr lang="en-US"/>
              <a:t>Fifth level</a:t>
            </a:r>
            <a:endParaRPr lang="en-US" dirty="0"/>
          </a:p>
        </p:txBody>
      </p:sp>
      <p:sp>
        <p:nvSpPr>
          <p:cNvPr id="4" name="Content Placeholder 3">
            <a:extLst>
              <a:ext uri="{FF2B5EF4-FFF2-40B4-BE49-F238E27FC236}">
                <a16:creationId xmlns:a16="http://schemas.microsoft.com/office/drawing/2014/main" id="{DEC72438-7C63-48F2-9D6F-2461BFD6D5E5}"/>
              </a:ext>
            </a:extLst>
          </p:cNvPr>
          <p:cNvSpPr>
            <a:spLocks noGrp="1"/>
          </p:cNvSpPr>
          <p:nvPr>
            <p:ph sz="half" idx="2"/>
          </p:nvPr>
        </p:nvSpPr>
        <p:spPr>
          <a:xfrm>
            <a:off x="5756178" y="1825625"/>
            <a:ext cx="5180046" cy="4206382"/>
          </a:xfrm>
        </p:spPr>
        <p:txBody>
          <a:bodyPr/>
          <a:lstStyle>
            <a:lvl1pPr marL="228600" indent="-228600">
              <a:buFont typeface="Wingdings 2" panose="05020102010507070707" pitchFamily="18" charset="2"/>
              <a:buChar char="¬"/>
              <a:defRPr/>
            </a:lvl1pPr>
            <a:lvl2pPr marL="685800" indent="-228600">
              <a:buFont typeface="Wingdings 2" panose="05020102010507070707" pitchFamily="18" charset="2"/>
              <a:buChar char="¬"/>
              <a:defRPr/>
            </a:lvl2pPr>
            <a:lvl3pPr marL="1143000" indent="-228600">
              <a:buFont typeface="Wingdings 2" panose="05020102010507070707" pitchFamily="18" charset="2"/>
              <a:buChar char="¬"/>
              <a:defRPr/>
            </a:lvl3pPr>
            <a:lvl4pPr marL="1600200" indent="-228600">
              <a:buFont typeface="Wingdings 2" panose="05020102010507070707" pitchFamily="18" charset="2"/>
              <a:buChar char="¬"/>
              <a:defRPr/>
            </a:lvl4pPr>
            <a:lvl5pPr marL="2057400" indent="-228600">
              <a:buFont typeface="Wingdings 2" panose="05020102010507070707" pitchFamily="18"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14">
            <a:extLst>
              <a:ext uri="{FF2B5EF4-FFF2-40B4-BE49-F238E27FC236}">
                <a16:creationId xmlns:a16="http://schemas.microsoft.com/office/drawing/2014/main" id="{35274CEC-210E-BC97-9B79-A7D801E4B5F6}"/>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486B3D53-F805-C08E-2359-498218FC6898}"/>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61C4695B-D7BD-45F7-EB23-6FDAF2410BB2}"/>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12561204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A1F52B7-5271-53AA-8260-0CF50FF8DA3C}"/>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2F9955-0460-4A20-8FC6-300595560010}"/>
              </a:ext>
            </a:extLst>
          </p:cNvPr>
          <p:cNvSpPr>
            <a:spLocks noGrp="1"/>
          </p:cNvSpPr>
          <p:nvPr>
            <p:ph type="title"/>
          </p:nvPr>
        </p:nvSpPr>
        <p:spPr>
          <a:xfrm>
            <a:off x="422178" y="365125"/>
            <a:ext cx="10515600" cy="1325563"/>
          </a:xfrm>
        </p:spPr>
        <p:txBody>
          <a:bodyPr>
            <a:normAutofit/>
          </a:bodyPr>
          <a:lstStyle>
            <a:lvl1pPr>
              <a:defRPr sz="52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F95DDA7-4AAD-4EBE-880C-200E5F10A6C4}"/>
              </a:ext>
            </a:extLst>
          </p:cNvPr>
          <p:cNvSpPr>
            <a:spLocks noGrp="1"/>
          </p:cNvSpPr>
          <p:nvPr>
            <p:ph type="body" idx="1"/>
          </p:nvPr>
        </p:nvSpPr>
        <p:spPr>
          <a:xfrm>
            <a:off x="422178" y="1681163"/>
            <a:ext cx="5157787"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p:nvPr>
        </p:nvSpPr>
        <p:spPr>
          <a:xfrm>
            <a:off x="422178" y="2505075"/>
            <a:ext cx="5157787"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8C438EA-D381-4F22-A911-ECDD6D04FB33}"/>
              </a:ext>
            </a:extLst>
          </p:cNvPr>
          <p:cNvSpPr>
            <a:spLocks noGrp="1"/>
          </p:cNvSpPr>
          <p:nvPr>
            <p:ph type="body" sz="quarter" idx="3"/>
          </p:nvPr>
        </p:nvSpPr>
        <p:spPr>
          <a:xfrm>
            <a:off x="5754590" y="1681163"/>
            <a:ext cx="5183188"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p:nvPr>
        </p:nvSpPr>
        <p:spPr>
          <a:xfrm>
            <a:off x="5754590" y="2505075"/>
            <a:ext cx="5183188"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7198C3F1-4E77-7888-CDB8-CF9406E4A2E0}"/>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493561D3-90F6-AD82-BCFE-90F9427D867B}"/>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932F9B33-3FA7-526F-7B45-342EB64A1CDB}"/>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19146545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F235-FBFF-453E-B90A-5758ED47C7B0}"/>
              </a:ext>
            </a:extLst>
          </p:cNvPr>
          <p:cNvSpPr>
            <a:spLocks noGrp="1"/>
          </p:cNvSpPr>
          <p:nvPr>
            <p:ph type="title"/>
          </p:nvPr>
        </p:nvSpPr>
        <p:spPr>
          <a:xfrm>
            <a:off x="420624" y="938306"/>
            <a:ext cx="10515600" cy="1325563"/>
          </a:xfrm>
        </p:spPr>
        <p:txBody>
          <a:bodyPr>
            <a:normAutofit/>
          </a:bodyPr>
          <a:lstStyle>
            <a:lvl1pPr>
              <a:defRPr sz="5200"/>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A9328E63-E075-39E2-BAA7-30CCAE2E779E}"/>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2A5894A5-0E01-F43E-C68A-2EFAB2EB89D8}"/>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7250128C-CE40-2B40-1B89-7E9AAAAC439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43750277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281B99-C6A0-F92A-BDD3-BB362196501C}"/>
              </a:ext>
            </a:extLst>
          </p:cNvPr>
          <p:cNvSpPr/>
          <p:nvPr/>
        </p:nvSpPr>
        <p:spPr>
          <a:xfrm>
            <a:off x="0"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Rectangle 2">
            <a:extLst>
              <a:ext uri="{FF2B5EF4-FFF2-40B4-BE49-F238E27FC236}">
                <a16:creationId xmlns:a16="http://schemas.microsoft.com/office/drawing/2014/main" id="{3EB8367C-67E1-A50A-1584-F859A6FED9C9}"/>
              </a:ext>
            </a:extLst>
          </p:cNvPr>
          <p:cNvSpPr/>
          <p:nvPr/>
        </p:nvSpPr>
        <p:spPr>
          <a:xfrm>
            <a:off x="0"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Date Placeholder 4">
            <a:extLst>
              <a:ext uri="{FF2B5EF4-FFF2-40B4-BE49-F238E27FC236}">
                <a16:creationId xmlns:a16="http://schemas.microsoft.com/office/drawing/2014/main" id="{2ABB8861-51D7-741E-6B2C-25412D40E5BD}"/>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3D69A2F-0657-B33B-8334-C458A9538368}"/>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EB4FC84-48ED-0480-2497-FCD84C1276C6}"/>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012314726"/>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2261-8522-4437-B612-7C7100D18896}"/>
              </a:ext>
            </a:extLst>
          </p:cNvPr>
          <p:cNvSpPr>
            <a:spLocks noGrp="1"/>
          </p:cNvSpPr>
          <p:nvPr>
            <p:ph type="title"/>
          </p:nvPr>
        </p:nvSpPr>
        <p:spPr>
          <a:xfrm>
            <a:off x="420624" y="457200"/>
            <a:ext cx="10512425" cy="1600200"/>
          </a:xfrm>
        </p:spPr>
        <p:txBody>
          <a:bodyPr anchor="b">
            <a:normAutofit/>
          </a:bodyPr>
          <a:lstStyle>
            <a:lvl1pPr>
              <a:defRPr sz="5200">
                <a:latin typeface="Dante (Headings)2"/>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1BAA0AF-3F50-42BD-84B4-E70C3D004FB2}"/>
              </a:ext>
            </a:extLst>
          </p:cNvPr>
          <p:cNvSpPr>
            <a:spLocks noGrp="1"/>
          </p:cNvSpPr>
          <p:nvPr>
            <p:ph idx="1"/>
          </p:nvPr>
        </p:nvSpPr>
        <p:spPr>
          <a:xfrm>
            <a:off x="4782830" y="2199340"/>
            <a:ext cx="6172200" cy="3661710"/>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99C702B-2C4D-4590-8BEE-31940145C77A}"/>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23F37370-7C05-0AAE-A0C3-9EE620A84EBB}"/>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0900B8E3-39E6-A88A-BBFB-717596EB347E}"/>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348E340D-1840-D987-3EEA-963BDDE31400}"/>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8105018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334B-3019-4CA1-B658-779001922412}"/>
              </a:ext>
            </a:extLst>
          </p:cNvPr>
          <p:cNvSpPr>
            <a:spLocks noGrp="1"/>
          </p:cNvSpPr>
          <p:nvPr>
            <p:ph type="title"/>
          </p:nvPr>
        </p:nvSpPr>
        <p:spPr>
          <a:xfrm>
            <a:off x="420624" y="457200"/>
            <a:ext cx="3932237" cy="1600200"/>
          </a:xfrm>
        </p:spPr>
        <p:txBody>
          <a:bodyPr anchor="b">
            <a:norm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AFD3CC12-FD6B-41A3-BF67-D600CC4383A3}"/>
              </a:ext>
            </a:extLst>
          </p:cNvPr>
          <p:cNvSpPr>
            <a:spLocks noGrp="1"/>
          </p:cNvSpPr>
          <p:nvPr>
            <p:ph type="pic" idx="1"/>
          </p:nvPr>
        </p:nvSpPr>
        <p:spPr>
          <a:xfrm>
            <a:off x="4781276" y="987425"/>
            <a:ext cx="6172200" cy="4873625"/>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DDB2BD5-DC18-460B-BFCC-5B2447D2B094}"/>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90F28E44-58BB-553B-BBD0-F292C66CCA94}"/>
              </a:ext>
            </a:extLst>
          </p:cNvPr>
          <p:cNvSpPr>
            <a:spLocks noGrp="1"/>
          </p:cNvSpPr>
          <p:nvPr>
            <p:ph type="dt" sz="half" idx="10"/>
          </p:nvPr>
        </p:nvSpPr>
        <p:spPr/>
        <p:txBody>
          <a:bodyPr/>
          <a:lstStyle/>
          <a:p>
            <a:r>
              <a:rPr lang="en-US"/>
              <a:t>20XX</a:t>
            </a:r>
            <a:endParaRPr lang="en-US" dirty="0"/>
          </a:p>
        </p:txBody>
      </p:sp>
      <p:sp>
        <p:nvSpPr>
          <p:cNvPr id="10" name="Footer Placeholder 9">
            <a:extLst>
              <a:ext uri="{FF2B5EF4-FFF2-40B4-BE49-F238E27FC236}">
                <a16:creationId xmlns:a16="http://schemas.microsoft.com/office/drawing/2014/main" id="{8F22D156-E5FE-F118-0553-B401F19652DE}"/>
              </a:ext>
            </a:extLst>
          </p:cNvPr>
          <p:cNvSpPr>
            <a:spLocks noGrp="1"/>
          </p:cNvSpPr>
          <p:nvPr>
            <p:ph type="ftr" sz="quarter" idx="11"/>
          </p:nvPr>
        </p:nvSpPr>
        <p:spPr/>
        <p:txBody>
          <a:bodyPr/>
          <a:lstStyle/>
          <a:p>
            <a:r>
              <a:rPr lang="en-US"/>
              <a:t>Sample Footer Text</a:t>
            </a:r>
            <a:endParaRPr lang="en-US" dirty="0"/>
          </a:p>
        </p:txBody>
      </p:sp>
      <p:sp>
        <p:nvSpPr>
          <p:cNvPr id="11" name="Slide Number Placeholder 10">
            <a:extLst>
              <a:ext uri="{FF2B5EF4-FFF2-40B4-BE49-F238E27FC236}">
                <a16:creationId xmlns:a16="http://schemas.microsoft.com/office/drawing/2014/main" id="{88AEE0A6-6120-9BA2-5751-E0E2D8CF0F5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34639915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930A-6467-4C46-BA13-A0F5EC12FF67}"/>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841977A-7872-4BE8-8C5C-D2099BEDBB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B2268C47-2910-B99C-EC67-F6649ADC29A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D8019515-4A04-FBE0-E89C-86ECBB7E98A8}"/>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C3D9C272-2490-C827-9BE5-9CEE4185042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95805413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76A9FC-D582-4FC8-B641-9F77B4DD15B7}"/>
              </a:ext>
            </a:extLst>
          </p:cNvPr>
          <p:cNvSpPr>
            <a:spLocks noGrp="1"/>
          </p:cNvSpPr>
          <p:nvPr>
            <p:ph type="title" orient="vert"/>
          </p:nvPr>
        </p:nvSpPr>
        <p:spPr>
          <a:xfrm>
            <a:off x="832613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23A1683-12F6-4BA6-AD1A-F98C60951452}"/>
              </a:ext>
            </a:extLst>
          </p:cNvPr>
          <p:cNvSpPr>
            <a:spLocks noGrp="1"/>
          </p:cNvSpPr>
          <p:nvPr>
            <p:ph type="body" orient="vert" idx="1"/>
          </p:nvPr>
        </p:nvSpPr>
        <p:spPr>
          <a:xfrm>
            <a:off x="43943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DBFF68BE-C313-C839-B719-0339AC3444DF}"/>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A14F4E5F-FFF4-F934-3DD9-134F8D24262D}"/>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6CFE0F82-88EB-FAE2-FC02-99D5EE30110A}"/>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80520741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F7D84AA-0BCE-9C85-4510-34EBAE061790}"/>
              </a:ext>
              <a:ext uri="{C183D7F6-B498-43B3-948B-1728B52AA6E4}">
                <adec:decorative xmlns:adec="http://schemas.microsoft.com/office/drawing/2017/decorative" val="1"/>
              </a:ext>
            </a:extLst>
          </p:cNvPr>
          <p:cNvGrpSpPr/>
          <p:nvPr userDrawn="1"/>
        </p:nvGrpSpPr>
        <p:grpSpPr>
          <a:xfrm>
            <a:off x="-1524" y="708955"/>
            <a:ext cx="12193526" cy="5463893"/>
            <a:chOff x="-1524" y="708955"/>
            <a:chExt cx="12193526" cy="5463893"/>
          </a:xfrm>
        </p:grpSpPr>
        <p:sp>
          <p:nvSpPr>
            <p:cNvPr id="5" name="Rectangle 4">
              <a:extLst>
                <a:ext uri="{FF2B5EF4-FFF2-40B4-BE49-F238E27FC236}">
                  <a16:creationId xmlns:a16="http://schemas.microsoft.com/office/drawing/2014/main" id="{E41002A6-9DB7-26A1-2425-8C496B953CA4}"/>
                </a:ext>
              </a:extLst>
            </p:cNvPr>
            <p:cNvSpPr/>
            <p:nvPr userDrawn="1"/>
          </p:nvSpPr>
          <p:spPr>
            <a:xfrm>
              <a:off x="-1524" y="709613"/>
              <a:ext cx="12192000" cy="5463235"/>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Graphic 24">
              <a:extLst>
                <a:ext uri="{FF2B5EF4-FFF2-40B4-BE49-F238E27FC236}">
                  <a16:creationId xmlns:a16="http://schemas.microsoft.com/office/drawing/2014/main" id="{9F029623-B14D-1CDC-9D8F-47D563937B5F}"/>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3670" t="-7182" r="-9886" b="52046"/>
            <a:stretch/>
          </p:blipFill>
          <p:spPr>
            <a:xfrm>
              <a:off x="-1" y="1162050"/>
              <a:ext cx="5568949" cy="5009032"/>
            </a:xfrm>
            <a:prstGeom prst="rect">
              <a:avLst/>
            </a:prstGeom>
          </p:spPr>
        </p:pic>
        <p:pic>
          <p:nvPicPr>
            <p:cNvPr id="26" name="Graphic 25">
              <a:extLst>
                <a:ext uri="{FF2B5EF4-FFF2-40B4-BE49-F238E27FC236}">
                  <a16:creationId xmlns:a16="http://schemas.microsoft.com/office/drawing/2014/main" id="{B4D8031F-ED2A-8D7E-D369-6BF3256FE3F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256" t="-7183" r="44925" b="48899"/>
            <a:stretch/>
          </p:blipFill>
          <p:spPr>
            <a:xfrm rot="16200000">
              <a:off x="7239292" y="366674"/>
              <a:ext cx="4610430" cy="5294991"/>
            </a:xfrm>
            <a:prstGeom prst="rect">
              <a:avLst/>
            </a:prstGeom>
          </p:spPr>
        </p:pic>
      </p:grpSp>
      <p:cxnSp>
        <p:nvCxnSpPr>
          <p:cNvPr id="15" name="Straight Connector 14">
            <a:extLst>
              <a:ext uri="{FF2B5EF4-FFF2-40B4-BE49-F238E27FC236}">
                <a16:creationId xmlns:a16="http://schemas.microsoft.com/office/drawing/2014/main" id="{8A28D3FB-54EA-410D-A062-8F118E5D0CD7}"/>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93477A-1279-4BCC-8257-14CC2361F898}"/>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7F04C86-E215-DFBB-8302-70BCCDFC2DB8}"/>
              </a:ext>
              <a:ext uri="{C183D7F6-B498-43B3-948B-1728B52AA6E4}">
                <adec:decorative xmlns:adec="http://schemas.microsoft.com/office/drawing/2017/decorative" val="1"/>
              </a:ext>
            </a:extLst>
          </p:cNvPr>
          <p:cNvCxnSpPr>
            <a:cxnSpLocks/>
          </p:cNvCxnSpPr>
          <p:nvPr userDrawn="1"/>
        </p:nvCxnSpPr>
        <p:spPr>
          <a:xfrm>
            <a:off x="0" y="708956"/>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F29577F-647F-5850-5636-6ED05B99595F}"/>
              </a:ext>
              <a:ext uri="{C183D7F6-B498-43B3-948B-1728B52AA6E4}">
                <adec:decorative xmlns:adec="http://schemas.microsoft.com/office/drawing/2017/decorative" val="1"/>
              </a:ext>
            </a:extLst>
          </p:cNvPr>
          <p:cNvCxnSpPr>
            <a:cxnSpLocks/>
          </p:cNvCxnSpPr>
          <p:nvPr userDrawn="1"/>
        </p:nvCxnSpPr>
        <p:spPr>
          <a:xfrm flipV="1">
            <a:off x="69482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CBFB4F-DC16-FC59-E9E7-B92910449EB8}"/>
              </a:ext>
              <a:ext uri="{C183D7F6-B498-43B3-948B-1728B52AA6E4}">
                <adec:decorative xmlns:adec="http://schemas.microsoft.com/office/drawing/2017/decorative" val="1"/>
              </a:ext>
            </a:extLst>
          </p:cNvPr>
          <p:cNvCxnSpPr>
            <a:cxnSpLocks/>
          </p:cNvCxnSpPr>
          <p:nvPr userDrawn="1"/>
        </p:nvCxnSpPr>
        <p:spPr>
          <a:xfrm>
            <a:off x="0" y="616429"/>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3690604-E7DB-AFA3-7E13-CAFF46FF50F6}"/>
              </a:ext>
              <a:ext uri="{C183D7F6-B498-43B3-948B-1728B52AA6E4}">
                <adec:decorative xmlns:adec="http://schemas.microsoft.com/office/drawing/2017/decorative" val="1"/>
              </a:ext>
            </a:extLst>
          </p:cNvPr>
          <p:cNvCxnSpPr>
            <a:cxnSpLocks/>
          </p:cNvCxnSpPr>
          <p:nvPr userDrawn="1"/>
        </p:nvCxnSpPr>
        <p:spPr>
          <a:xfrm>
            <a:off x="0" y="627968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E2874C2-BA39-4778-DC11-487CC4FCADC3}"/>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6D6334D-FB4A-4843-F2FB-1CAC50021C4D}"/>
              </a:ext>
              <a:ext uri="{C183D7F6-B498-43B3-948B-1728B52AA6E4}">
                <adec:decorative xmlns:adec="http://schemas.microsoft.com/office/drawing/2017/decorative" val="1"/>
              </a:ext>
            </a:extLst>
          </p:cNvPr>
          <p:cNvCxnSpPr>
            <a:cxnSpLocks/>
          </p:cNvCxnSpPr>
          <p:nvPr userDrawn="1"/>
        </p:nvCxnSpPr>
        <p:spPr>
          <a:xfrm flipV="1">
            <a:off x="58695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FC043C06-5053-E291-E708-44B684DC523C}"/>
              </a:ext>
            </a:extLst>
          </p:cNvPr>
          <p:cNvSpPr>
            <a:spLocks noGrp="1"/>
          </p:cNvSpPr>
          <p:nvPr>
            <p:ph type="title" hasCustomPrompt="1"/>
          </p:nvPr>
        </p:nvSpPr>
        <p:spPr>
          <a:xfrm>
            <a:off x="1828932" y="1115167"/>
            <a:ext cx="8534136" cy="4655385"/>
          </a:xfrm>
        </p:spPr>
        <p:txBody>
          <a:bodyPr>
            <a:noAutofit/>
          </a:bodyPr>
          <a:lstStyle>
            <a:lvl1pPr algn="ctr">
              <a:defRPr sz="7200"/>
            </a:lvl1pPr>
          </a:lstStyle>
          <a:p>
            <a:r>
              <a:rPr lang="en-US" dirty="0"/>
              <a:t>Click to add title</a:t>
            </a:r>
          </a:p>
        </p:txBody>
      </p:sp>
    </p:spTree>
    <p:extLst>
      <p:ext uri="{BB962C8B-B14F-4D97-AF65-F5344CB8AC3E}">
        <p14:creationId xmlns:p14="http://schemas.microsoft.com/office/powerpoint/2010/main" val="1268248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F9E0CFE-F27B-4D50-AA2F-7146CA90E1F0}"/>
              </a:ext>
              <a:ext uri="{C183D7F6-B498-43B3-948B-1728B52AA6E4}">
                <adec:decorative xmlns:adec="http://schemas.microsoft.com/office/drawing/2017/decorative" val="1"/>
              </a:ext>
            </a:extLst>
          </p:cNvPr>
          <p:cNvSpPr/>
          <p:nvPr userDrawn="1"/>
        </p:nvSpPr>
        <p:spPr>
          <a:xfrm>
            <a:off x="3048" y="2138289"/>
            <a:ext cx="12188952" cy="4033912"/>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2C488A36-B0CB-7B46-C2A6-BA57D39EC479}"/>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27860" r="37853" b="27738"/>
          <a:stretch/>
        </p:blipFill>
        <p:spPr>
          <a:xfrm>
            <a:off x="6962087" y="2143124"/>
            <a:ext cx="5226865" cy="4033839"/>
          </a:xfrm>
          <a:prstGeom prst="rect">
            <a:avLst/>
          </a:prstGeom>
        </p:spPr>
      </p:pic>
      <p:sp>
        <p:nvSpPr>
          <p:cNvPr id="16" name="Title 1">
            <a:extLst>
              <a:ext uri="{FF2B5EF4-FFF2-40B4-BE49-F238E27FC236}">
                <a16:creationId xmlns:a16="http://schemas.microsoft.com/office/drawing/2014/main" id="{A8614BA2-9387-F1B5-B7DB-B34DAE90FEDE}"/>
              </a:ext>
            </a:extLst>
          </p:cNvPr>
          <p:cNvSpPr>
            <a:spLocks noGrp="1"/>
          </p:cNvSpPr>
          <p:nvPr>
            <p:ph type="title" hasCustomPrompt="1"/>
          </p:nvPr>
        </p:nvSpPr>
        <p:spPr>
          <a:xfrm>
            <a:off x="422177" y="365125"/>
            <a:ext cx="10778937" cy="1325563"/>
          </a:xfrm>
        </p:spPr>
        <p:txBody>
          <a:bodyPr>
            <a:normAutofit/>
          </a:bodyPr>
          <a:lstStyle>
            <a:lvl1pPr>
              <a:defRPr sz="4400"/>
            </a:lvl1pPr>
          </a:lstStyle>
          <a:p>
            <a:r>
              <a:rPr lang="en-US" dirty="0"/>
              <a:t>Click to add title</a:t>
            </a:r>
          </a:p>
        </p:txBody>
      </p:sp>
      <p:sp>
        <p:nvSpPr>
          <p:cNvPr id="12" name="Content Placeholder 2">
            <a:extLst>
              <a:ext uri="{FF2B5EF4-FFF2-40B4-BE49-F238E27FC236}">
                <a16:creationId xmlns:a16="http://schemas.microsoft.com/office/drawing/2014/main" id="{6994EC89-4FAE-445C-A6E8-D55E4A34DE4E}"/>
              </a:ext>
            </a:extLst>
          </p:cNvPr>
          <p:cNvSpPr>
            <a:spLocks noGrp="1"/>
          </p:cNvSpPr>
          <p:nvPr>
            <p:ph idx="1" hasCustomPrompt="1"/>
          </p:nvPr>
        </p:nvSpPr>
        <p:spPr>
          <a:xfrm>
            <a:off x="422899" y="2350108"/>
            <a:ext cx="10778221" cy="3609461"/>
          </a:xfrm>
        </p:spPr>
        <p:txBody>
          <a:bodyPr anchor="ctr" anchorCtr="0">
            <a:normAutofit/>
          </a:bodyPr>
          <a:lstStyle>
            <a:lvl1pPr>
              <a:buNone/>
              <a:defRPr sz="2400"/>
            </a:lvl1pPr>
            <a:lvl2pPr>
              <a:defRPr sz="2400"/>
            </a:lvl2pPr>
            <a:lvl3pPr>
              <a:defRPr sz="2400"/>
            </a:lvl3pPr>
            <a:lvl4pPr>
              <a:defRPr sz="24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solidFill>
                <a:schemeClr val="tx1"/>
              </a:solidFill>
            </a:endParaRPr>
          </a:p>
        </p:txBody>
      </p:sp>
      <p:cxnSp>
        <p:nvCxnSpPr>
          <p:cNvPr id="14" name="Straight Connector 13">
            <a:extLst>
              <a:ext uri="{FF2B5EF4-FFF2-40B4-BE49-F238E27FC236}">
                <a16:creationId xmlns:a16="http://schemas.microsoft.com/office/drawing/2014/main" id="{09ECF93F-3E86-4C44-BAF1-ADE160CADF49}"/>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7A80DA6A-71F3-6286-F60A-EEEC9188718C}"/>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cxnSp>
        <p:nvCxnSpPr>
          <p:cNvPr id="3" name="Straight Connector 2">
            <a:extLst>
              <a:ext uri="{FF2B5EF4-FFF2-40B4-BE49-F238E27FC236}">
                <a16:creationId xmlns:a16="http://schemas.microsoft.com/office/drawing/2014/main" id="{75F98B46-5DFC-3487-EB05-148905CA6507}"/>
              </a:ext>
              <a:ext uri="{C183D7F6-B498-43B3-948B-1728B52AA6E4}">
                <adec:decorative xmlns:adec="http://schemas.microsoft.com/office/drawing/2017/decorative" val="1"/>
              </a:ext>
            </a:extLst>
          </p:cNvPr>
          <p:cNvCxnSpPr>
            <a:cxnSpLocks/>
          </p:cNvCxnSpPr>
          <p:nvPr userDrawn="1"/>
        </p:nvCxnSpPr>
        <p:spPr>
          <a:xfrm>
            <a:off x="0" y="2138288"/>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D768F8E-3DFF-8D92-E3CF-5AE5F6DA5422}"/>
              </a:ext>
              <a:ext uri="{C183D7F6-B498-43B3-948B-1728B52AA6E4}">
                <adec:decorative xmlns:adec="http://schemas.microsoft.com/office/drawing/2017/decorative" val="1"/>
              </a:ext>
            </a:extLst>
          </p:cNvPr>
          <p:cNvCxnSpPr>
            <a:cxnSpLocks/>
          </p:cNvCxnSpPr>
          <p:nvPr userDrawn="1"/>
        </p:nvCxnSpPr>
        <p:spPr>
          <a:xfrm>
            <a:off x="0" y="2045761"/>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E83A1EA-5EE3-D81A-D135-860F481F6740}"/>
              </a:ext>
              <a:ext uri="{C183D7F6-B498-43B3-948B-1728B52AA6E4}">
                <adec:decorative xmlns:adec="http://schemas.microsoft.com/office/drawing/2017/decorative" val="1"/>
              </a:ext>
            </a:extLst>
          </p:cNvPr>
          <p:cNvCxnSpPr>
            <a:cxnSpLocks/>
          </p:cNvCxnSpPr>
          <p:nvPr userDrawn="1"/>
        </p:nvCxnSpPr>
        <p:spPr>
          <a:xfrm>
            <a:off x="0" y="6264727"/>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EA58FF-2FB1-3B78-FDCF-E5DC2EFE5D57}"/>
              </a:ext>
              <a:ext uri="{C183D7F6-B498-43B3-948B-1728B52AA6E4}">
                <adec:decorative xmlns:adec="http://schemas.microsoft.com/office/drawing/2017/decorative" val="1"/>
              </a:ext>
            </a:extLst>
          </p:cNvPr>
          <p:cNvCxnSpPr>
            <a:cxnSpLocks/>
          </p:cNvCxnSpPr>
          <p:nvPr userDrawn="1"/>
        </p:nvCxnSpPr>
        <p:spPr>
          <a:xfrm>
            <a:off x="0"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4326723"/>
      </p:ext>
    </p:extLst>
  </p:cSld>
  <p:clrMapOvr>
    <a:masterClrMapping/>
  </p:clrMapOvr>
  <p:extLst>
    <p:ext uri="{DCECCB84-F9BA-43D5-87BE-67443E8EF086}">
      <p15:sldGuideLst xmlns:p15="http://schemas.microsoft.com/office/powerpoint/2012/main">
        <p15:guide id="1" orient="horz" pos="160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4B53B4F-080C-8523-03AD-871CC3B8D168}"/>
              </a:ext>
            </a:extLst>
          </p:cNvPr>
          <p:cNvSpPr/>
          <p:nvPr/>
        </p:nvSpPr>
        <p:spPr>
          <a:xfrm>
            <a:off x="1524"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Rectangle 9">
            <a:extLst>
              <a:ext uri="{FF2B5EF4-FFF2-40B4-BE49-F238E27FC236}">
                <a16:creationId xmlns:a16="http://schemas.microsoft.com/office/drawing/2014/main" id="{D53B790B-70BD-FD52-2540-F1DA4882170E}"/>
              </a:ext>
            </a:extLst>
          </p:cNvPr>
          <p:cNvSpPr/>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descr="Tag=AccentColor&#10;Flavor=Light&#10;Target=Line">
            <a:extLst>
              <a:ext uri="{FF2B5EF4-FFF2-40B4-BE49-F238E27FC236}">
                <a16:creationId xmlns:a16="http://schemas.microsoft.com/office/drawing/2014/main" id="{7D4FC5F0-CBD6-AEEB-4902-28D624068890}"/>
              </a:ext>
            </a:extLst>
          </p:cNvPr>
          <p:cNvCxnSpPr>
            <a:cxnSpLocks/>
          </p:cNvCxnSpPr>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descr="Tag=AccentColor&#10;Flavor=Light&#10;Target=Line">
            <a:extLst>
              <a:ext uri="{FF2B5EF4-FFF2-40B4-BE49-F238E27FC236}">
                <a16:creationId xmlns:a16="http://schemas.microsoft.com/office/drawing/2014/main" id="{FA9EB4DB-DDA5-1A45-7D87-B2BF67D2D1C3}"/>
              </a:ext>
            </a:extLst>
          </p:cNvPr>
          <p:cNvCxnSpPr>
            <a:cxnSpLocks/>
          </p:cNvCxnSpPr>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200">
                <a:solidFill>
                  <a:schemeClr val="tx2"/>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200">
                <a:solidFill>
                  <a:schemeClr val="tx2"/>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18288"/>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64628939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 id="2147483895" r:id="rId12"/>
    <p:sldLayoutId id="2147483896" r:id="rId13"/>
  </p:sldLayoutIdLst>
  <p:hf hdr="0" ftr="0" dt="0"/>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2"/>
        </a:buClr>
        <a:buFont typeface="Wingdings 2" panose="05020102010507070707" pitchFamily="18" charset="2"/>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ideo" Target="https://www.youtube.com/embed/7VZNGgDjsMo?feature=oembed" TargetMode="Externa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ideo" Target="https://www.youtube.com/embed/hBC7i-vHWsU?feature=oembed" TargetMode="External"/><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s://twloha.com/find-help/help-by-topic/self-injury/" TargetMode="External"/><Relationship Id="rId7" Type="http://schemas.openxmlformats.org/officeDocument/2006/relationships/hyperlink" Target="https://betteraddictioncare.com/meetings/nebraska/kearney/"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studentreportinglabs.org/mentalhealthresources/" TargetMode="External"/><Relationship Id="rId5" Type="http://schemas.openxmlformats.org/officeDocument/2006/relationships/hyperlink" Target="https://www.nationaleatingdisorders.org/" TargetMode="External"/><Relationship Id="rId4" Type="http://schemas.openxmlformats.org/officeDocument/2006/relationships/hyperlink" Target="https://www.samhsa.go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p:txBody>
          <a:bodyPr/>
          <a:lstStyle/>
          <a:p>
            <a:r>
              <a:rPr lang="en-US"/>
              <a:t>Health-Compromising </a:t>
            </a:r>
            <a:r>
              <a:rPr lang="en-US" dirty="0"/>
              <a:t>Behaviors</a:t>
            </a:r>
          </a:p>
        </p:txBody>
      </p:sp>
    </p:spTree>
    <p:extLst>
      <p:ext uri="{BB962C8B-B14F-4D97-AF65-F5344CB8AC3E}">
        <p14:creationId xmlns:p14="http://schemas.microsoft.com/office/powerpoint/2010/main" val="3074248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689D8-CDAC-4215-96CD-8548432CE4D6}"/>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110502F-36D4-4E60-B6E9-08628B2C5D5E}"/>
              </a:ext>
            </a:extLst>
          </p:cNvPr>
          <p:cNvSpPr>
            <a:spLocks noGrp="1"/>
          </p:cNvSpPr>
          <p:nvPr>
            <p:ph idx="1"/>
          </p:nvPr>
        </p:nvSpPr>
        <p:spPr/>
        <p:txBody>
          <a:bodyPr/>
          <a:lstStyle/>
          <a:p>
            <a:r>
              <a:rPr lang="en-US" dirty="0"/>
              <a:t>Aspects of Health-Compromising Behaviors</a:t>
            </a:r>
          </a:p>
          <a:p>
            <a:r>
              <a:rPr lang="en-US" dirty="0"/>
              <a:t>Obesity</a:t>
            </a:r>
          </a:p>
          <a:p>
            <a:r>
              <a:rPr lang="en-US" dirty="0"/>
              <a:t>Eating Disorders</a:t>
            </a:r>
          </a:p>
          <a:p>
            <a:r>
              <a:rPr lang="en-US" dirty="0"/>
              <a:t>Addiction and Substance Use</a:t>
            </a:r>
          </a:p>
          <a:p>
            <a:r>
              <a:rPr lang="en-US" dirty="0"/>
              <a:t>Self-Harm </a:t>
            </a:r>
          </a:p>
          <a:p>
            <a:r>
              <a:rPr lang="en-US"/>
              <a:t>Resources</a:t>
            </a:r>
          </a:p>
        </p:txBody>
      </p:sp>
      <p:sp>
        <p:nvSpPr>
          <p:cNvPr id="39" name="Slide Number Placeholder 38">
            <a:extLst>
              <a:ext uri="{FF2B5EF4-FFF2-40B4-BE49-F238E27FC236}">
                <a16:creationId xmlns:a16="http://schemas.microsoft.com/office/drawing/2014/main" id="{86A23B90-D6E2-D980-7780-B6FC54FD8DE3}"/>
              </a:ext>
            </a:extLst>
          </p:cNvPr>
          <p:cNvSpPr>
            <a:spLocks noGrp="1"/>
          </p:cNvSpPr>
          <p:nvPr>
            <p:ph type="sldNum" sz="quarter" idx="4"/>
          </p:nvPr>
        </p:nvSpPr>
        <p:spPr/>
        <p:txBody>
          <a:bodyPr/>
          <a:lstStyle/>
          <a:p>
            <a:fld id="{3A4F6043-7A67-491B-98BC-F933DED7226D}" type="slidenum">
              <a:rPr lang="en-US" smtClean="0"/>
              <a:pPr/>
              <a:t>2</a:t>
            </a:fld>
            <a:endParaRPr lang="en-US" dirty="0"/>
          </a:p>
        </p:txBody>
      </p:sp>
      <p:sp>
        <p:nvSpPr>
          <p:cNvPr id="4" name="Slide Number Placeholder 5">
            <a:extLst>
              <a:ext uri="{FF2B5EF4-FFF2-40B4-BE49-F238E27FC236}">
                <a16:creationId xmlns:a16="http://schemas.microsoft.com/office/drawing/2014/main" id="{6E0FD4B5-4088-0CC7-E6CC-DEA779045EB0}"/>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2</a:t>
            </a:fld>
            <a:endParaRPr lang="en-US" dirty="0"/>
          </a:p>
        </p:txBody>
      </p:sp>
    </p:spTree>
    <p:extLst>
      <p:ext uri="{BB962C8B-B14F-4D97-AF65-F5344CB8AC3E}">
        <p14:creationId xmlns:p14="http://schemas.microsoft.com/office/powerpoint/2010/main" val="1476309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90C5A-387B-FEC9-A612-9DBD241EE156}"/>
              </a:ext>
            </a:extLst>
          </p:cNvPr>
          <p:cNvSpPr>
            <a:spLocks noGrp="1"/>
          </p:cNvSpPr>
          <p:nvPr>
            <p:ph type="title"/>
          </p:nvPr>
        </p:nvSpPr>
        <p:spPr/>
        <p:txBody>
          <a:bodyPr/>
          <a:lstStyle/>
          <a:p>
            <a:r>
              <a:rPr lang="en-US" dirty="0"/>
              <a:t>Public Service Announcement </a:t>
            </a:r>
          </a:p>
        </p:txBody>
      </p:sp>
      <p:sp>
        <p:nvSpPr>
          <p:cNvPr id="3" name="Content Placeholder 2">
            <a:extLst>
              <a:ext uri="{FF2B5EF4-FFF2-40B4-BE49-F238E27FC236}">
                <a16:creationId xmlns:a16="http://schemas.microsoft.com/office/drawing/2014/main" id="{9258BF6F-2BF4-A2D8-B506-B71F2F0991D8}"/>
              </a:ext>
            </a:extLst>
          </p:cNvPr>
          <p:cNvSpPr>
            <a:spLocks noGrp="1"/>
          </p:cNvSpPr>
          <p:nvPr>
            <p:ph idx="1"/>
          </p:nvPr>
        </p:nvSpPr>
        <p:spPr>
          <a:xfrm>
            <a:off x="422900" y="2350108"/>
            <a:ext cx="7423524" cy="3609461"/>
          </a:xfrm>
        </p:spPr>
        <p:txBody>
          <a:bodyPr/>
          <a:lstStyle/>
          <a:p>
            <a:r>
              <a:rPr lang="en-US" dirty="0"/>
              <a:t>Please be considerate during the conversations we have today. Many of the health behaviors we will discuss masquerade as invisible. You never know what the people around you have experienced (first, second, or third hand), so please operate with kindness and compassion. This class is meant to facilitate tough conversations about health, but that is only possible as long as we all act with respect, openness, and a willingness to listen.</a:t>
            </a:r>
          </a:p>
        </p:txBody>
      </p:sp>
      <p:sp>
        <p:nvSpPr>
          <p:cNvPr id="4" name="Slide Number Placeholder 3">
            <a:extLst>
              <a:ext uri="{FF2B5EF4-FFF2-40B4-BE49-F238E27FC236}">
                <a16:creationId xmlns:a16="http://schemas.microsoft.com/office/drawing/2014/main" id="{BEE1E6DE-495A-0D64-9971-FFAB6E80251F}"/>
              </a:ext>
            </a:extLst>
          </p:cNvPr>
          <p:cNvSpPr>
            <a:spLocks noGrp="1"/>
          </p:cNvSpPr>
          <p:nvPr>
            <p:ph type="sldNum" sz="quarter" idx="4"/>
          </p:nvPr>
        </p:nvSpPr>
        <p:spPr/>
        <p:txBody>
          <a:bodyPr/>
          <a:lstStyle/>
          <a:p>
            <a:fld id="{3A4F6043-7A67-491B-98BC-F933DED7226D}" type="slidenum">
              <a:rPr lang="en-US" smtClean="0"/>
              <a:pPr/>
              <a:t>3</a:t>
            </a:fld>
            <a:endParaRPr lang="en-US" dirty="0"/>
          </a:p>
        </p:txBody>
      </p:sp>
    </p:spTree>
    <p:extLst>
      <p:ext uri="{BB962C8B-B14F-4D97-AF65-F5344CB8AC3E}">
        <p14:creationId xmlns:p14="http://schemas.microsoft.com/office/powerpoint/2010/main" val="3914171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8E5B628-D92E-D6BB-78D1-26F4A8762DFE}"/>
              </a:ext>
            </a:extLst>
          </p:cNvPr>
          <p:cNvSpPr>
            <a:spLocks noGrp="1"/>
          </p:cNvSpPr>
          <p:nvPr>
            <p:ph type="title"/>
          </p:nvPr>
        </p:nvSpPr>
        <p:spPr/>
        <p:txBody>
          <a:bodyPr/>
          <a:lstStyle/>
          <a:p>
            <a:r>
              <a:rPr lang="en-US" dirty="0"/>
              <a:t>Health-Compromising Behaviors</a:t>
            </a:r>
          </a:p>
        </p:txBody>
      </p:sp>
      <p:sp>
        <p:nvSpPr>
          <p:cNvPr id="6" name="Content Placeholder 5">
            <a:extLst>
              <a:ext uri="{FF2B5EF4-FFF2-40B4-BE49-F238E27FC236}">
                <a16:creationId xmlns:a16="http://schemas.microsoft.com/office/drawing/2014/main" id="{85AF3F9A-B5AC-19EA-CBC0-080757BBBC91}"/>
              </a:ext>
            </a:extLst>
          </p:cNvPr>
          <p:cNvSpPr>
            <a:spLocks noGrp="1"/>
          </p:cNvSpPr>
          <p:nvPr>
            <p:ph idx="1"/>
          </p:nvPr>
        </p:nvSpPr>
        <p:spPr/>
        <p:txBody>
          <a:bodyPr>
            <a:normAutofit fontScale="92500" lnSpcReduction="10000"/>
          </a:bodyPr>
          <a:lstStyle/>
          <a:p>
            <a:r>
              <a:rPr lang="en-US" dirty="0"/>
              <a:t>Most risky behaviors feel “good” or are in some way rewarding</a:t>
            </a:r>
          </a:p>
          <a:p>
            <a:r>
              <a:rPr lang="en-US" dirty="0"/>
              <a:t>Multiple behaviors can be considered health-compromising</a:t>
            </a:r>
          </a:p>
          <a:p>
            <a:pPr lvl="1"/>
            <a:r>
              <a:rPr lang="en-US" dirty="0"/>
              <a:t>Substance use</a:t>
            </a:r>
          </a:p>
          <a:p>
            <a:pPr lvl="1"/>
            <a:r>
              <a:rPr lang="en-US" dirty="0"/>
              <a:t>Obesity and eating disorders</a:t>
            </a:r>
          </a:p>
          <a:p>
            <a:pPr lvl="1"/>
            <a:r>
              <a:rPr lang="en-US" dirty="0"/>
              <a:t>Unprotected sex</a:t>
            </a:r>
          </a:p>
          <a:p>
            <a:pPr lvl="1"/>
            <a:r>
              <a:rPr lang="en-US" dirty="0"/>
              <a:t>Self harm</a:t>
            </a:r>
          </a:p>
          <a:p>
            <a:r>
              <a:rPr lang="en-US" dirty="0"/>
              <a:t>Many of these behaviors share underlying characteristics</a:t>
            </a:r>
          </a:p>
          <a:p>
            <a:pPr lvl="1"/>
            <a:r>
              <a:rPr lang="en-US" dirty="0"/>
              <a:t>Behaviors are habitual and addictive, but develop gradually</a:t>
            </a:r>
          </a:p>
          <a:p>
            <a:pPr lvl="1"/>
            <a:r>
              <a:rPr lang="en-US" dirty="0"/>
              <a:t>Adolescence is (usually) the window of vulnerability</a:t>
            </a:r>
          </a:p>
          <a:p>
            <a:pPr lvl="1"/>
            <a:r>
              <a:rPr lang="en-US" dirty="0"/>
              <a:t>Can be caused by stress and/or peer pressure</a:t>
            </a:r>
          </a:p>
          <a:p>
            <a:endParaRPr lang="en-US" dirty="0"/>
          </a:p>
        </p:txBody>
      </p:sp>
      <p:sp>
        <p:nvSpPr>
          <p:cNvPr id="4" name="Slide Number Placeholder 3">
            <a:extLst>
              <a:ext uri="{FF2B5EF4-FFF2-40B4-BE49-F238E27FC236}">
                <a16:creationId xmlns:a16="http://schemas.microsoft.com/office/drawing/2014/main" id="{3011D378-5BD0-6912-EA0A-62687AA80CE1}"/>
              </a:ext>
            </a:extLst>
          </p:cNvPr>
          <p:cNvSpPr>
            <a:spLocks noGrp="1"/>
          </p:cNvSpPr>
          <p:nvPr>
            <p:ph type="sldNum" sz="quarter" idx="12"/>
          </p:nvPr>
        </p:nvSpPr>
        <p:spPr/>
        <p:txBody>
          <a:bodyPr/>
          <a:lstStyle/>
          <a:p>
            <a:fld id="{3A4F6043-7A67-491B-98BC-F933DED7226D}" type="slidenum">
              <a:rPr lang="en-US" smtClean="0"/>
              <a:pPr/>
              <a:t>4</a:t>
            </a:fld>
            <a:endParaRPr lang="en-US" dirty="0"/>
          </a:p>
        </p:txBody>
      </p:sp>
    </p:spTree>
    <p:extLst>
      <p:ext uri="{BB962C8B-B14F-4D97-AF65-F5344CB8AC3E}">
        <p14:creationId xmlns:p14="http://schemas.microsoft.com/office/powerpoint/2010/main" val="3841929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C7181-EE5D-F839-897B-35A82A390432}"/>
              </a:ext>
            </a:extLst>
          </p:cNvPr>
          <p:cNvSpPr>
            <a:spLocks noGrp="1"/>
          </p:cNvSpPr>
          <p:nvPr>
            <p:ph type="title"/>
          </p:nvPr>
        </p:nvSpPr>
        <p:spPr/>
        <p:txBody>
          <a:bodyPr/>
          <a:lstStyle/>
          <a:p>
            <a:r>
              <a:rPr lang="en-US" dirty="0"/>
              <a:t>Obesity</a:t>
            </a:r>
          </a:p>
        </p:txBody>
      </p:sp>
      <p:sp>
        <p:nvSpPr>
          <p:cNvPr id="3" name="Content Placeholder 2">
            <a:extLst>
              <a:ext uri="{FF2B5EF4-FFF2-40B4-BE49-F238E27FC236}">
                <a16:creationId xmlns:a16="http://schemas.microsoft.com/office/drawing/2014/main" id="{05742740-CE17-4A56-FB5A-18FDFB4C95E3}"/>
              </a:ext>
            </a:extLst>
          </p:cNvPr>
          <p:cNvSpPr>
            <a:spLocks noGrp="1"/>
          </p:cNvSpPr>
          <p:nvPr>
            <p:ph idx="1"/>
          </p:nvPr>
        </p:nvSpPr>
        <p:spPr/>
        <p:txBody>
          <a:bodyPr>
            <a:normAutofit fontScale="92500"/>
          </a:bodyPr>
          <a:lstStyle/>
          <a:p>
            <a:r>
              <a:rPr lang="en-US" b="1" u="sng" dirty="0"/>
              <a:t>Obesity </a:t>
            </a:r>
            <a:r>
              <a:rPr lang="en-US" dirty="0"/>
              <a:t>– an excessive accumulation of body fat</a:t>
            </a:r>
          </a:p>
          <a:p>
            <a:r>
              <a:rPr lang="en-US" dirty="0"/>
              <a:t>U.S. has the largest proportion of individuals struggling with obesity</a:t>
            </a:r>
          </a:p>
          <a:p>
            <a:pPr lvl="1"/>
            <a:r>
              <a:rPr lang="en-US" dirty="0"/>
              <a:t>68% of the population is overweight, 40% classify as obese</a:t>
            </a:r>
          </a:p>
          <a:p>
            <a:r>
              <a:rPr lang="en-US" dirty="0"/>
              <a:t>Potential Ramifications:</a:t>
            </a:r>
          </a:p>
          <a:p>
            <a:pPr lvl="1"/>
            <a:r>
              <a:rPr lang="en-US" dirty="0"/>
              <a:t>Reduces cancer survivability </a:t>
            </a:r>
          </a:p>
          <a:p>
            <a:pPr lvl="1"/>
            <a:r>
              <a:rPr lang="en-US" dirty="0"/>
              <a:t>Cardiovascular disease</a:t>
            </a:r>
          </a:p>
          <a:p>
            <a:pPr lvl="1"/>
            <a:r>
              <a:rPr lang="en-US" dirty="0"/>
              <a:t>Shortened life-spans</a:t>
            </a:r>
          </a:p>
          <a:p>
            <a:r>
              <a:rPr lang="en-US" dirty="0"/>
              <a:t>Weight stigma can undermine weight loss efforts by increasing stress</a:t>
            </a:r>
          </a:p>
          <a:p>
            <a:r>
              <a:rPr lang="en-US" dirty="0"/>
              <a:t>Cycles of weight gain and yo-yo dieting lower metabolic rate and increase chances of obesity</a:t>
            </a:r>
          </a:p>
        </p:txBody>
      </p:sp>
      <p:sp>
        <p:nvSpPr>
          <p:cNvPr id="4" name="Slide Number Placeholder 3">
            <a:extLst>
              <a:ext uri="{FF2B5EF4-FFF2-40B4-BE49-F238E27FC236}">
                <a16:creationId xmlns:a16="http://schemas.microsoft.com/office/drawing/2014/main" id="{5B0E2A0A-344E-4057-B0FB-0CC352EF8429}"/>
              </a:ext>
            </a:extLst>
          </p:cNvPr>
          <p:cNvSpPr>
            <a:spLocks noGrp="1"/>
          </p:cNvSpPr>
          <p:nvPr>
            <p:ph type="sldNum" sz="quarter" idx="12"/>
          </p:nvPr>
        </p:nvSpPr>
        <p:spPr/>
        <p:txBody>
          <a:bodyPr/>
          <a:lstStyle/>
          <a:p>
            <a:fld id="{3A4F6043-7A67-491B-98BC-F933DED7226D}" type="slidenum">
              <a:rPr lang="en-US" smtClean="0"/>
              <a:pPr/>
              <a:t>5</a:t>
            </a:fld>
            <a:endParaRPr lang="en-US" dirty="0"/>
          </a:p>
        </p:txBody>
      </p:sp>
    </p:spTree>
    <p:extLst>
      <p:ext uri="{BB962C8B-B14F-4D97-AF65-F5344CB8AC3E}">
        <p14:creationId xmlns:p14="http://schemas.microsoft.com/office/powerpoint/2010/main" val="2540628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6F1DCD2-844B-1F4B-BB70-7B737F1CA705}"/>
              </a:ext>
            </a:extLst>
          </p:cNvPr>
          <p:cNvSpPr>
            <a:spLocks noGrp="1"/>
          </p:cNvSpPr>
          <p:nvPr>
            <p:ph type="title"/>
          </p:nvPr>
        </p:nvSpPr>
        <p:spPr/>
        <p:txBody>
          <a:bodyPr/>
          <a:lstStyle/>
          <a:p>
            <a:r>
              <a:rPr lang="en-US" dirty="0"/>
              <a:t>Eating &amp; Image Disorders</a:t>
            </a:r>
          </a:p>
        </p:txBody>
      </p:sp>
      <p:sp>
        <p:nvSpPr>
          <p:cNvPr id="6" name="Content Placeholder 5">
            <a:extLst>
              <a:ext uri="{FF2B5EF4-FFF2-40B4-BE49-F238E27FC236}">
                <a16:creationId xmlns:a16="http://schemas.microsoft.com/office/drawing/2014/main" id="{3F5B6FBD-5E7E-EF3D-DF6C-0326B6499031}"/>
              </a:ext>
            </a:extLst>
          </p:cNvPr>
          <p:cNvSpPr>
            <a:spLocks noGrp="1"/>
          </p:cNvSpPr>
          <p:nvPr>
            <p:ph idx="1"/>
          </p:nvPr>
        </p:nvSpPr>
        <p:spPr/>
        <p:txBody>
          <a:bodyPr>
            <a:normAutofit fontScale="92500"/>
          </a:bodyPr>
          <a:lstStyle/>
          <a:p>
            <a:r>
              <a:rPr lang="en-US" b="1" u="sng" dirty="0"/>
              <a:t>Anorexia nervosa </a:t>
            </a:r>
            <a:r>
              <a:rPr lang="en-US" dirty="0"/>
              <a:t>– an obsessive disorder where an individual will severely restrict their food intake </a:t>
            </a:r>
          </a:p>
          <a:p>
            <a:r>
              <a:rPr lang="en-US" b="1" u="sng" dirty="0"/>
              <a:t>Bulimia</a:t>
            </a:r>
            <a:r>
              <a:rPr lang="en-US" dirty="0"/>
              <a:t> – a disorder characterized by cycles of binge eating and purging </a:t>
            </a:r>
          </a:p>
          <a:p>
            <a:pPr lvl="1"/>
            <a:r>
              <a:rPr lang="en-US" dirty="0"/>
              <a:t>Purging can include vomiting, laxative abuse, extreme dieting/ fasting, and substance abuse</a:t>
            </a:r>
          </a:p>
          <a:p>
            <a:r>
              <a:rPr lang="en-US" b="1" u="sng" dirty="0"/>
              <a:t>Binge-eating</a:t>
            </a:r>
            <a:r>
              <a:rPr lang="en-US" dirty="0"/>
              <a:t> – a disorder characterized by excessive eating, often to the point of feeling sick</a:t>
            </a:r>
          </a:p>
          <a:p>
            <a:r>
              <a:rPr lang="en-US" b="1" u="sng" dirty="0"/>
              <a:t>Body dysmorphic disorder </a:t>
            </a:r>
            <a:r>
              <a:rPr lang="en-US" dirty="0"/>
              <a:t>– a preoccupation with a perceived defect in one’s physical appearance</a:t>
            </a:r>
          </a:p>
          <a:p>
            <a:r>
              <a:rPr lang="en-US" b="1" u="sng" dirty="0"/>
              <a:t>Excessive exercise </a:t>
            </a:r>
            <a:r>
              <a:rPr lang="en-US" dirty="0"/>
              <a:t>– a health-compromising behavior where an individual feels the compulsory need to exercise, to the point of damaging one’s self</a:t>
            </a:r>
          </a:p>
        </p:txBody>
      </p:sp>
      <p:sp>
        <p:nvSpPr>
          <p:cNvPr id="4" name="Slide Number Placeholder 3">
            <a:extLst>
              <a:ext uri="{FF2B5EF4-FFF2-40B4-BE49-F238E27FC236}">
                <a16:creationId xmlns:a16="http://schemas.microsoft.com/office/drawing/2014/main" id="{1ED8CF10-8367-3C40-43F5-967F2520CA17}"/>
              </a:ext>
            </a:extLst>
          </p:cNvPr>
          <p:cNvSpPr>
            <a:spLocks noGrp="1"/>
          </p:cNvSpPr>
          <p:nvPr>
            <p:ph type="sldNum" sz="quarter" idx="12"/>
          </p:nvPr>
        </p:nvSpPr>
        <p:spPr/>
        <p:txBody>
          <a:bodyPr/>
          <a:lstStyle/>
          <a:p>
            <a:fld id="{3A4F6043-7A67-491B-98BC-F933DED7226D}" type="slidenum">
              <a:rPr lang="en-US" smtClean="0"/>
              <a:pPr/>
              <a:t>6</a:t>
            </a:fld>
            <a:endParaRPr lang="en-US" dirty="0"/>
          </a:p>
        </p:txBody>
      </p:sp>
    </p:spTree>
    <p:extLst>
      <p:ext uri="{BB962C8B-B14F-4D97-AF65-F5344CB8AC3E}">
        <p14:creationId xmlns:p14="http://schemas.microsoft.com/office/powerpoint/2010/main" val="2302048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nline Media 4" title="An Eating Disorder Specialist Explains How Trauma Creates Food Disorders">
            <a:hlinkClick r:id="" action="ppaction://media"/>
            <a:extLst>
              <a:ext uri="{FF2B5EF4-FFF2-40B4-BE49-F238E27FC236}">
                <a16:creationId xmlns:a16="http://schemas.microsoft.com/office/drawing/2014/main" id="{3DF86053-EFDD-9F04-B7D2-6FF236D8885E}"/>
              </a:ext>
            </a:extLst>
          </p:cNvPr>
          <p:cNvPicPr>
            <a:picLocks noGrp="1" noRot="1" noChangeAspect="1"/>
          </p:cNvPicPr>
          <p:nvPr>
            <p:ph idx="1"/>
            <a:videoFile r:link="rId1"/>
          </p:nvPr>
        </p:nvPicPr>
        <p:blipFill>
          <a:blip r:embed="rId4"/>
          <a:stretch>
            <a:fillRect/>
          </a:stretch>
        </p:blipFill>
        <p:spPr>
          <a:xfrm>
            <a:off x="1084217" y="597182"/>
            <a:ext cx="10023566" cy="5663635"/>
          </a:xfrm>
          <a:prstGeom prst="rect">
            <a:avLst/>
          </a:prstGeom>
        </p:spPr>
      </p:pic>
      <p:sp>
        <p:nvSpPr>
          <p:cNvPr id="4" name="Slide Number Placeholder 3">
            <a:extLst>
              <a:ext uri="{FF2B5EF4-FFF2-40B4-BE49-F238E27FC236}">
                <a16:creationId xmlns:a16="http://schemas.microsoft.com/office/drawing/2014/main" id="{C47A278F-B7C8-7C01-06A4-EF08006D7BEB}"/>
              </a:ext>
            </a:extLst>
          </p:cNvPr>
          <p:cNvSpPr>
            <a:spLocks noGrp="1"/>
          </p:cNvSpPr>
          <p:nvPr>
            <p:ph type="sldNum" sz="quarter" idx="12"/>
          </p:nvPr>
        </p:nvSpPr>
        <p:spPr/>
        <p:txBody>
          <a:bodyPr/>
          <a:lstStyle/>
          <a:p>
            <a:fld id="{3A4F6043-7A67-491B-98BC-F933DED7226D}" type="slidenum">
              <a:rPr lang="en-US" smtClean="0"/>
              <a:pPr/>
              <a:t>7</a:t>
            </a:fld>
            <a:endParaRPr lang="en-US" dirty="0"/>
          </a:p>
        </p:txBody>
      </p:sp>
      <p:sp>
        <p:nvSpPr>
          <p:cNvPr id="6" name="TextBox 5">
            <a:extLst>
              <a:ext uri="{FF2B5EF4-FFF2-40B4-BE49-F238E27FC236}">
                <a16:creationId xmlns:a16="http://schemas.microsoft.com/office/drawing/2014/main" id="{4ECBF85D-235D-98F4-1F5F-EA1079738D30}"/>
              </a:ext>
            </a:extLst>
          </p:cNvPr>
          <p:cNvSpPr txBox="1"/>
          <p:nvPr/>
        </p:nvSpPr>
        <p:spPr>
          <a:xfrm>
            <a:off x="6923314" y="6357258"/>
            <a:ext cx="5087418" cy="369332"/>
          </a:xfrm>
          <a:prstGeom prst="rect">
            <a:avLst/>
          </a:prstGeom>
          <a:noFill/>
        </p:spPr>
        <p:txBody>
          <a:bodyPr wrap="none" rtlCol="0">
            <a:spAutoFit/>
          </a:bodyPr>
          <a:lstStyle/>
          <a:p>
            <a:r>
              <a:rPr lang="en-US" dirty="0"/>
              <a:t>https://www.youtube.com/watch?v=7VZNGgDjsMo</a:t>
            </a:r>
          </a:p>
        </p:txBody>
      </p:sp>
    </p:spTree>
    <p:extLst>
      <p:ext uri="{BB962C8B-B14F-4D97-AF65-F5344CB8AC3E}">
        <p14:creationId xmlns:p14="http://schemas.microsoft.com/office/powerpoint/2010/main" val="1314419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0756-1EBE-7247-B606-1CF0A1334BDA}"/>
              </a:ext>
            </a:extLst>
          </p:cNvPr>
          <p:cNvSpPr>
            <a:spLocks noGrp="1"/>
          </p:cNvSpPr>
          <p:nvPr>
            <p:ph type="title"/>
          </p:nvPr>
        </p:nvSpPr>
        <p:spPr/>
        <p:txBody>
          <a:bodyPr/>
          <a:lstStyle/>
          <a:p>
            <a:r>
              <a:rPr lang="en-US" dirty="0"/>
              <a:t>Addiction</a:t>
            </a:r>
          </a:p>
        </p:txBody>
      </p:sp>
      <p:sp>
        <p:nvSpPr>
          <p:cNvPr id="3" name="Content Placeholder 2">
            <a:extLst>
              <a:ext uri="{FF2B5EF4-FFF2-40B4-BE49-F238E27FC236}">
                <a16:creationId xmlns:a16="http://schemas.microsoft.com/office/drawing/2014/main" id="{23266147-BA9F-F45A-608C-B8346862A42F}"/>
              </a:ext>
            </a:extLst>
          </p:cNvPr>
          <p:cNvSpPr>
            <a:spLocks noGrp="1"/>
          </p:cNvSpPr>
          <p:nvPr>
            <p:ph idx="1"/>
          </p:nvPr>
        </p:nvSpPr>
        <p:spPr/>
        <p:txBody>
          <a:bodyPr>
            <a:normAutofit fontScale="85000" lnSpcReduction="10000"/>
          </a:bodyPr>
          <a:lstStyle/>
          <a:p>
            <a:r>
              <a:rPr lang="en-US" dirty="0"/>
              <a:t>Addiction – when a person has become physically or psychologically reliant on a substance</a:t>
            </a:r>
          </a:p>
          <a:p>
            <a:pPr lvl="1"/>
            <a:r>
              <a:rPr lang="en-US" dirty="0"/>
              <a:t>lasts a person’s lifetime</a:t>
            </a:r>
          </a:p>
          <a:p>
            <a:r>
              <a:rPr lang="en-US" b="1" u="sng" dirty="0"/>
              <a:t>Physical dependence </a:t>
            </a:r>
            <a:r>
              <a:rPr lang="en-US" dirty="0"/>
              <a:t>– changes in bodily functions that can cause withdrawal symptoms upon cessation of use</a:t>
            </a:r>
          </a:p>
          <a:p>
            <a:r>
              <a:rPr lang="en-US" b="1" u="sng" dirty="0"/>
              <a:t>Psychological dependence</a:t>
            </a:r>
            <a:r>
              <a:rPr lang="en-US" dirty="0"/>
              <a:t> – user is emotionally reliant on drug, and stopping may cause severe psychological distress</a:t>
            </a:r>
          </a:p>
          <a:p>
            <a:r>
              <a:rPr lang="en-US" b="1" u="sng" dirty="0"/>
              <a:t>Withdrawal</a:t>
            </a:r>
            <a:r>
              <a:rPr lang="en-US" dirty="0"/>
              <a:t> – experiencing a variety of symptoms (ranging from agitation to possible death) when a person stops using a drug</a:t>
            </a:r>
          </a:p>
          <a:p>
            <a:r>
              <a:rPr lang="en-US" b="1" u="sng" dirty="0"/>
              <a:t>Tolerance</a:t>
            </a:r>
            <a:r>
              <a:rPr lang="en-US" dirty="0"/>
              <a:t> – when a person needs more of a drug to receive the desired effect due to extended use</a:t>
            </a:r>
          </a:p>
          <a:p>
            <a:r>
              <a:rPr lang="en-US" b="1" u="sng" dirty="0"/>
              <a:t>Detoxification</a:t>
            </a:r>
            <a:r>
              <a:rPr lang="en-US" dirty="0"/>
              <a:t> – the process of slowly reducing substance use, to prevent severe withdrawal symptoms </a:t>
            </a:r>
          </a:p>
          <a:p>
            <a:endParaRPr lang="en-US" dirty="0"/>
          </a:p>
        </p:txBody>
      </p:sp>
      <p:sp>
        <p:nvSpPr>
          <p:cNvPr id="4" name="Slide Number Placeholder 3">
            <a:extLst>
              <a:ext uri="{FF2B5EF4-FFF2-40B4-BE49-F238E27FC236}">
                <a16:creationId xmlns:a16="http://schemas.microsoft.com/office/drawing/2014/main" id="{542890D4-5D08-4135-B8D7-0C2C7B58D520}"/>
              </a:ext>
            </a:extLst>
          </p:cNvPr>
          <p:cNvSpPr>
            <a:spLocks noGrp="1"/>
          </p:cNvSpPr>
          <p:nvPr>
            <p:ph type="sldNum" sz="quarter" idx="12"/>
          </p:nvPr>
        </p:nvSpPr>
        <p:spPr/>
        <p:txBody>
          <a:bodyPr/>
          <a:lstStyle/>
          <a:p>
            <a:fld id="{3A4F6043-7A67-491B-98BC-F933DED7226D}" type="slidenum">
              <a:rPr lang="en-US" smtClean="0"/>
              <a:pPr/>
              <a:t>8</a:t>
            </a:fld>
            <a:endParaRPr lang="en-US" dirty="0"/>
          </a:p>
        </p:txBody>
      </p:sp>
    </p:spTree>
    <p:extLst>
      <p:ext uri="{BB962C8B-B14F-4D97-AF65-F5344CB8AC3E}">
        <p14:creationId xmlns:p14="http://schemas.microsoft.com/office/powerpoint/2010/main" val="786606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E4DCA-C13B-16B1-265C-E9E3E879EB32}"/>
              </a:ext>
            </a:extLst>
          </p:cNvPr>
          <p:cNvSpPr>
            <a:spLocks noGrp="1"/>
          </p:cNvSpPr>
          <p:nvPr>
            <p:ph type="title"/>
          </p:nvPr>
        </p:nvSpPr>
        <p:spPr/>
        <p:txBody>
          <a:bodyPr/>
          <a:lstStyle/>
          <a:p>
            <a:r>
              <a:rPr lang="en-US" dirty="0"/>
              <a:t>Classifications of Drugs</a:t>
            </a:r>
          </a:p>
        </p:txBody>
      </p:sp>
      <p:pic>
        <p:nvPicPr>
          <p:cNvPr id="6" name="Content Placeholder 5" descr="Table categorizing four drug classes by effects on body, effects when used, and examples. Stimulants increase heart rate and cause alertness; depressants lower heart rate and induce relaxation; opiates relieve pain and cause sleepiness; hallucinogens alter perception and mental experiences.">
            <a:extLst>
              <a:ext uri="{FF2B5EF4-FFF2-40B4-BE49-F238E27FC236}">
                <a16:creationId xmlns:a16="http://schemas.microsoft.com/office/drawing/2014/main" id="{832192E6-9144-BB34-11FB-61F98C9DE62E}"/>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359136" y="1541844"/>
            <a:ext cx="11144016" cy="4639843"/>
          </a:xfrm>
          <a:prstGeom prst="rect">
            <a:avLst/>
          </a:prstGeom>
        </p:spPr>
      </p:pic>
      <p:sp>
        <p:nvSpPr>
          <p:cNvPr id="4" name="Slide Number Placeholder 3">
            <a:extLst>
              <a:ext uri="{FF2B5EF4-FFF2-40B4-BE49-F238E27FC236}">
                <a16:creationId xmlns:a16="http://schemas.microsoft.com/office/drawing/2014/main" id="{D400F022-1CCA-6D36-769E-FC84F6DB7792}"/>
              </a:ext>
            </a:extLst>
          </p:cNvPr>
          <p:cNvSpPr>
            <a:spLocks noGrp="1"/>
          </p:cNvSpPr>
          <p:nvPr>
            <p:ph type="sldNum" sz="quarter" idx="12"/>
          </p:nvPr>
        </p:nvSpPr>
        <p:spPr/>
        <p:txBody>
          <a:bodyPr/>
          <a:lstStyle/>
          <a:p>
            <a:fld id="{3A4F6043-7A67-491B-98BC-F933DED7226D}" type="slidenum">
              <a:rPr lang="en-US" smtClean="0"/>
              <a:pPr/>
              <a:t>9</a:t>
            </a:fld>
            <a:endParaRPr lang="en-US" dirty="0"/>
          </a:p>
        </p:txBody>
      </p:sp>
    </p:spTree>
    <p:extLst>
      <p:ext uri="{BB962C8B-B14F-4D97-AF65-F5344CB8AC3E}">
        <p14:creationId xmlns:p14="http://schemas.microsoft.com/office/powerpoint/2010/main" val="4266981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nline Media 4" title="What causes addiction, and why is it so hard to treat? - Judy Grisel">
            <a:hlinkClick r:id="" action="ppaction://media"/>
            <a:extLst>
              <a:ext uri="{FF2B5EF4-FFF2-40B4-BE49-F238E27FC236}">
                <a16:creationId xmlns:a16="http://schemas.microsoft.com/office/drawing/2014/main" id="{1BAB65B0-DAE5-B361-9E89-132C3EA3DA78}"/>
              </a:ext>
            </a:extLst>
          </p:cNvPr>
          <p:cNvPicPr>
            <a:picLocks noGrp="1" noRot="1" noChangeAspect="1"/>
          </p:cNvPicPr>
          <p:nvPr>
            <p:ph idx="1"/>
            <a:videoFile r:link="rId1"/>
          </p:nvPr>
        </p:nvPicPr>
        <p:blipFill>
          <a:blip r:embed="rId4"/>
          <a:stretch>
            <a:fillRect/>
          </a:stretch>
        </p:blipFill>
        <p:spPr>
          <a:xfrm>
            <a:off x="1378494" y="763458"/>
            <a:ext cx="9435011" cy="5331083"/>
          </a:xfrm>
          <a:prstGeom prst="rect">
            <a:avLst/>
          </a:prstGeom>
        </p:spPr>
      </p:pic>
      <p:sp>
        <p:nvSpPr>
          <p:cNvPr id="4" name="Slide Number Placeholder 3">
            <a:extLst>
              <a:ext uri="{FF2B5EF4-FFF2-40B4-BE49-F238E27FC236}">
                <a16:creationId xmlns:a16="http://schemas.microsoft.com/office/drawing/2014/main" id="{91CE3D7E-1AA7-8CCB-9DC1-94688A6D2F3E}"/>
              </a:ext>
            </a:extLst>
          </p:cNvPr>
          <p:cNvSpPr>
            <a:spLocks noGrp="1"/>
          </p:cNvSpPr>
          <p:nvPr>
            <p:ph type="sldNum" sz="quarter" idx="12"/>
          </p:nvPr>
        </p:nvSpPr>
        <p:spPr/>
        <p:txBody>
          <a:bodyPr/>
          <a:lstStyle/>
          <a:p>
            <a:fld id="{3A4F6043-7A67-491B-98BC-F933DED7226D}" type="slidenum">
              <a:rPr lang="en-US" smtClean="0"/>
              <a:pPr/>
              <a:t>10</a:t>
            </a:fld>
            <a:endParaRPr lang="en-US" dirty="0"/>
          </a:p>
        </p:txBody>
      </p:sp>
      <p:sp>
        <p:nvSpPr>
          <p:cNvPr id="6" name="TextBox 5">
            <a:extLst>
              <a:ext uri="{FF2B5EF4-FFF2-40B4-BE49-F238E27FC236}">
                <a16:creationId xmlns:a16="http://schemas.microsoft.com/office/drawing/2014/main" id="{47EC0910-01F4-305A-D896-1F671226C9DB}"/>
              </a:ext>
            </a:extLst>
          </p:cNvPr>
          <p:cNvSpPr txBox="1"/>
          <p:nvPr/>
        </p:nvSpPr>
        <p:spPr>
          <a:xfrm>
            <a:off x="6507104" y="6308209"/>
            <a:ext cx="4996048" cy="369332"/>
          </a:xfrm>
          <a:prstGeom prst="rect">
            <a:avLst/>
          </a:prstGeom>
          <a:noFill/>
        </p:spPr>
        <p:txBody>
          <a:bodyPr wrap="none" rtlCol="0">
            <a:spAutoFit/>
          </a:bodyPr>
          <a:lstStyle/>
          <a:p>
            <a:r>
              <a:rPr lang="en-US" dirty="0"/>
              <a:t>https://www.youtube.com/watch?v=hBC7i-vHWsU</a:t>
            </a:r>
          </a:p>
        </p:txBody>
      </p:sp>
    </p:spTree>
    <p:extLst>
      <p:ext uri="{BB962C8B-B14F-4D97-AF65-F5344CB8AC3E}">
        <p14:creationId xmlns:p14="http://schemas.microsoft.com/office/powerpoint/2010/main" val="684105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F59BA42-42EE-B746-B1AD-70D65FC048A9}"/>
              </a:ext>
            </a:extLst>
          </p:cNvPr>
          <p:cNvSpPr>
            <a:spLocks noGrp="1"/>
          </p:cNvSpPr>
          <p:nvPr>
            <p:ph type="title"/>
          </p:nvPr>
        </p:nvSpPr>
        <p:spPr/>
        <p:txBody>
          <a:bodyPr/>
          <a:lstStyle/>
          <a:p>
            <a:r>
              <a:rPr lang="en-US" dirty="0"/>
              <a:t>Common Addictions</a:t>
            </a:r>
          </a:p>
        </p:txBody>
      </p:sp>
      <p:sp>
        <p:nvSpPr>
          <p:cNvPr id="6" name="Text Placeholder 5">
            <a:extLst>
              <a:ext uri="{FF2B5EF4-FFF2-40B4-BE49-F238E27FC236}">
                <a16:creationId xmlns:a16="http://schemas.microsoft.com/office/drawing/2014/main" id="{CD86C4E4-2DC6-4BCF-B3F1-4F7290AB8BB6}"/>
              </a:ext>
            </a:extLst>
          </p:cNvPr>
          <p:cNvSpPr>
            <a:spLocks noGrp="1"/>
          </p:cNvSpPr>
          <p:nvPr>
            <p:ph type="body" idx="1"/>
          </p:nvPr>
        </p:nvSpPr>
        <p:spPr/>
        <p:txBody>
          <a:bodyPr>
            <a:normAutofit fontScale="85000" lnSpcReduction="10000"/>
          </a:bodyPr>
          <a:lstStyle/>
          <a:p>
            <a:r>
              <a:rPr lang="en-US" dirty="0"/>
              <a:t>Alcoholism</a:t>
            </a:r>
          </a:p>
        </p:txBody>
      </p:sp>
      <p:sp>
        <p:nvSpPr>
          <p:cNvPr id="7" name="Content Placeholder 6">
            <a:extLst>
              <a:ext uri="{FF2B5EF4-FFF2-40B4-BE49-F238E27FC236}">
                <a16:creationId xmlns:a16="http://schemas.microsoft.com/office/drawing/2014/main" id="{7EA07EFF-6D5D-2A67-5073-D8508719820D}"/>
              </a:ext>
            </a:extLst>
          </p:cNvPr>
          <p:cNvSpPr>
            <a:spLocks noGrp="1"/>
          </p:cNvSpPr>
          <p:nvPr>
            <p:ph sz="half" idx="2"/>
          </p:nvPr>
        </p:nvSpPr>
        <p:spPr/>
        <p:txBody>
          <a:bodyPr>
            <a:normAutofit lnSpcReduction="10000"/>
          </a:bodyPr>
          <a:lstStyle/>
          <a:p>
            <a:r>
              <a:rPr lang="en-US" dirty="0"/>
              <a:t>A reliance on alcohol, which often includes a high tolerance, difficulty stopping, and withdrawal symptoms</a:t>
            </a:r>
          </a:p>
          <a:p>
            <a:r>
              <a:rPr lang="en-US" dirty="0"/>
              <a:t>Treatments include CBT and  support programs like Alcoholics Anonymous</a:t>
            </a:r>
          </a:p>
          <a:p>
            <a:r>
              <a:rPr lang="en-US" dirty="0"/>
              <a:t>Often linked to stress &amp; coping</a:t>
            </a:r>
          </a:p>
        </p:txBody>
      </p:sp>
      <p:sp>
        <p:nvSpPr>
          <p:cNvPr id="8" name="Text Placeholder 7">
            <a:extLst>
              <a:ext uri="{FF2B5EF4-FFF2-40B4-BE49-F238E27FC236}">
                <a16:creationId xmlns:a16="http://schemas.microsoft.com/office/drawing/2014/main" id="{86D71D31-9DD2-7A3D-9030-B2EA1C93D409}"/>
              </a:ext>
            </a:extLst>
          </p:cNvPr>
          <p:cNvSpPr>
            <a:spLocks noGrp="1"/>
          </p:cNvSpPr>
          <p:nvPr>
            <p:ph type="body" sz="quarter" idx="3"/>
          </p:nvPr>
        </p:nvSpPr>
        <p:spPr/>
        <p:txBody>
          <a:bodyPr>
            <a:normAutofit fontScale="85000" lnSpcReduction="10000"/>
          </a:bodyPr>
          <a:lstStyle/>
          <a:p>
            <a:r>
              <a:rPr lang="en-US" dirty="0"/>
              <a:t>Smoking – Nicotine and Marijuana</a:t>
            </a:r>
          </a:p>
        </p:txBody>
      </p:sp>
      <p:sp>
        <p:nvSpPr>
          <p:cNvPr id="9" name="Content Placeholder 8">
            <a:extLst>
              <a:ext uri="{FF2B5EF4-FFF2-40B4-BE49-F238E27FC236}">
                <a16:creationId xmlns:a16="http://schemas.microsoft.com/office/drawing/2014/main" id="{A6AD85EF-9A08-B7E2-2937-43EBD042A95B}"/>
              </a:ext>
            </a:extLst>
          </p:cNvPr>
          <p:cNvSpPr>
            <a:spLocks noGrp="1"/>
          </p:cNvSpPr>
          <p:nvPr>
            <p:ph sz="quarter" idx="4"/>
          </p:nvPr>
        </p:nvSpPr>
        <p:spPr/>
        <p:txBody>
          <a:bodyPr>
            <a:normAutofit lnSpcReduction="10000"/>
          </a:bodyPr>
          <a:lstStyle/>
          <a:p>
            <a:r>
              <a:rPr lang="en-US" dirty="0"/>
              <a:t>Smoking causes 9 out of 10 lung cancer deaths</a:t>
            </a:r>
          </a:p>
          <a:p>
            <a:r>
              <a:rPr lang="en-US" dirty="0"/>
              <a:t>Transition from cigarettes to vapes</a:t>
            </a:r>
          </a:p>
          <a:p>
            <a:r>
              <a:rPr lang="en-US" dirty="0"/>
              <a:t>Myth = marijuana is not addictive</a:t>
            </a:r>
          </a:p>
          <a:p>
            <a:r>
              <a:rPr lang="en-US" dirty="0"/>
              <a:t>Marijuana has been linked with depression, anxiety, lung damage, cognitive decline, and compromised heart health</a:t>
            </a:r>
          </a:p>
        </p:txBody>
      </p:sp>
      <p:sp>
        <p:nvSpPr>
          <p:cNvPr id="4" name="Slide Number Placeholder 3">
            <a:extLst>
              <a:ext uri="{FF2B5EF4-FFF2-40B4-BE49-F238E27FC236}">
                <a16:creationId xmlns:a16="http://schemas.microsoft.com/office/drawing/2014/main" id="{C33443CB-BE12-18AF-F4EC-6FC15C599A82}"/>
              </a:ext>
            </a:extLst>
          </p:cNvPr>
          <p:cNvSpPr>
            <a:spLocks noGrp="1"/>
          </p:cNvSpPr>
          <p:nvPr>
            <p:ph type="sldNum" sz="quarter" idx="12"/>
          </p:nvPr>
        </p:nvSpPr>
        <p:spPr/>
        <p:txBody>
          <a:bodyPr/>
          <a:lstStyle/>
          <a:p>
            <a:fld id="{3A4F6043-7A67-491B-98BC-F933DED7226D}" type="slidenum">
              <a:rPr lang="en-US" smtClean="0"/>
              <a:pPr/>
              <a:t>11</a:t>
            </a:fld>
            <a:endParaRPr lang="en-US" dirty="0"/>
          </a:p>
        </p:txBody>
      </p:sp>
    </p:spTree>
    <p:extLst>
      <p:ext uri="{BB962C8B-B14F-4D97-AF65-F5344CB8AC3E}">
        <p14:creationId xmlns:p14="http://schemas.microsoft.com/office/powerpoint/2010/main" val="252516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A16FA-56F4-D67D-74D1-13AC745ACFF3}"/>
              </a:ext>
            </a:extLst>
          </p:cNvPr>
          <p:cNvSpPr>
            <a:spLocks noGrp="1"/>
          </p:cNvSpPr>
          <p:nvPr>
            <p:ph type="title"/>
          </p:nvPr>
        </p:nvSpPr>
        <p:spPr/>
        <p:txBody>
          <a:bodyPr/>
          <a:lstStyle/>
          <a:p>
            <a:r>
              <a:rPr lang="en-US" dirty="0"/>
              <a:t>Self Harm</a:t>
            </a:r>
          </a:p>
        </p:txBody>
      </p:sp>
      <p:pic>
        <p:nvPicPr>
          <p:cNvPr id="1026" name="Picture 2" descr="Fig 1">
            <a:extLst>
              <a:ext uri="{FF2B5EF4-FFF2-40B4-BE49-F238E27FC236}">
                <a16:creationId xmlns:a16="http://schemas.microsoft.com/office/drawing/2014/main" id="{A16C1145-5C8C-1523-1416-C0A073DEEC0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4783138" y="1943460"/>
            <a:ext cx="6795178" cy="3822383"/>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4">
            <a:extLst>
              <a:ext uri="{FF2B5EF4-FFF2-40B4-BE49-F238E27FC236}">
                <a16:creationId xmlns:a16="http://schemas.microsoft.com/office/drawing/2014/main" id="{3FE78428-D71D-02C9-9399-FA4B4B5D228F}"/>
              </a:ext>
            </a:extLst>
          </p:cNvPr>
          <p:cNvSpPr>
            <a:spLocks noGrp="1"/>
          </p:cNvSpPr>
          <p:nvPr>
            <p:ph type="body" sz="half" idx="2"/>
          </p:nvPr>
        </p:nvSpPr>
        <p:spPr>
          <a:xfrm>
            <a:off x="420624" y="2199340"/>
            <a:ext cx="4192473" cy="4114374"/>
          </a:xfrm>
        </p:spPr>
        <p:txBody>
          <a:bodyPr>
            <a:normAutofit/>
          </a:bodyPr>
          <a:lstStyle/>
          <a:p>
            <a:pPr marL="342900" indent="-342900">
              <a:buFont typeface="Arial" panose="020B0604020202020204" pitchFamily="34" charset="0"/>
              <a:buChar char="•"/>
            </a:pPr>
            <a:r>
              <a:rPr lang="en-US" sz="2400" dirty="0"/>
              <a:t>Multiple driving factors, including relieving mental pain and gaining control</a:t>
            </a:r>
          </a:p>
          <a:p>
            <a:pPr marL="342900" indent="-342900">
              <a:buFont typeface="Arial" panose="020B0604020202020204" pitchFamily="34" charset="0"/>
              <a:buChar char="•"/>
            </a:pPr>
            <a:r>
              <a:rPr lang="en-US" sz="2400" dirty="0"/>
              <a:t>Self-harm myths:</a:t>
            </a:r>
          </a:p>
          <a:p>
            <a:pPr marL="800100" lvl="1" indent="-342900">
              <a:buFont typeface="Arial" panose="020B0604020202020204" pitchFamily="34" charset="0"/>
              <a:buChar char="•"/>
            </a:pPr>
            <a:r>
              <a:rPr lang="en-US" sz="2000" dirty="0"/>
              <a:t>Attention seeking</a:t>
            </a:r>
          </a:p>
          <a:p>
            <a:pPr marL="800100" lvl="1" indent="-342900">
              <a:buFont typeface="Arial" panose="020B0604020202020204" pitchFamily="34" charset="0"/>
              <a:buChar char="•"/>
            </a:pPr>
            <a:r>
              <a:rPr lang="en-US" sz="2000" dirty="0"/>
              <a:t>Self-harm = suicidal ideation </a:t>
            </a:r>
          </a:p>
          <a:p>
            <a:pPr marL="800100" lvl="1" indent="-342900">
              <a:buFont typeface="Arial" panose="020B0604020202020204" pitchFamily="34" charset="0"/>
              <a:buChar char="•"/>
            </a:pPr>
            <a:r>
              <a:rPr lang="en-US" sz="2000" dirty="0"/>
              <a:t>Self-harm is limited to cutting</a:t>
            </a:r>
          </a:p>
          <a:p>
            <a:pPr marL="800100" lvl="1" indent="-342900">
              <a:buFont typeface="Arial" panose="020B0604020202020204" pitchFamily="34" charset="0"/>
              <a:buChar char="•"/>
            </a:pPr>
            <a:r>
              <a:rPr lang="en-US" sz="2000" dirty="0"/>
              <a:t>Self-harm = manipulation attempt</a:t>
            </a:r>
          </a:p>
        </p:txBody>
      </p:sp>
      <p:sp>
        <p:nvSpPr>
          <p:cNvPr id="4" name="Slide Number Placeholder 3">
            <a:extLst>
              <a:ext uri="{FF2B5EF4-FFF2-40B4-BE49-F238E27FC236}">
                <a16:creationId xmlns:a16="http://schemas.microsoft.com/office/drawing/2014/main" id="{A2E74399-05E1-430C-FA5E-C19A44D5D162}"/>
              </a:ext>
            </a:extLst>
          </p:cNvPr>
          <p:cNvSpPr>
            <a:spLocks noGrp="1"/>
          </p:cNvSpPr>
          <p:nvPr>
            <p:ph type="sldNum" sz="quarter" idx="12"/>
          </p:nvPr>
        </p:nvSpPr>
        <p:spPr/>
        <p:txBody>
          <a:bodyPr/>
          <a:lstStyle/>
          <a:p>
            <a:fld id="{3A4F6043-7A67-491B-98BC-F933DED7226D}" type="slidenum">
              <a:rPr lang="en-US" smtClean="0"/>
              <a:pPr/>
              <a:t>12</a:t>
            </a:fld>
            <a:endParaRPr lang="en-US" dirty="0"/>
          </a:p>
        </p:txBody>
      </p:sp>
      <p:sp>
        <p:nvSpPr>
          <p:cNvPr id="6" name="TextBox 5">
            <a:extLst>
              <a:ext uri="{FF2B5EF4-FFF2-40B4-BE49-F238E27FC236}">
                <a16:creationId xmlns:a16="http://schemas.microsoft.com/office/drawing/2014/main" id="{A923F5C9-0FA0-9996-6F54-9ADA78B36867}"/>
              </a:ext>
            </a:extLst>
          </p:cNvPr>
          <p:cNvSpPr txBox="1"/>
          <p:nvPr/>
        </p:nvSpPr>
        <p:spPr>
          <a:xfrm>
            <a:off x="6679474" y="6313714"/>
            <a:ext cx="4898842" cy="369332"/>
          </a:xfrm>
          <a:prstGeom prst="rect">
            <a:avLst/>
          </a:prstGeom>
          <a:noFill/>
        </p:spPr>
        <p:txBody>
          <a:bodyPr wrap="none" rtlCol="0">
            <a:spAutoFit/>
          </a:bodyPr>
          <a:lstStyle/>
          <a:p>
            <a:r>
              <a:rPr lang="en-US" dirty="0"/>
              <a:t>https://doi.org/10.1371/journal.pone.0328914.g001</a:t>
            </a:r>
          </a:p>
        </p:txBody>
      </p:sp>
    </p:spTree>
    <p:extLst>
      <p:ext uri="{BB962C8B-B14F-4D97-AF65-F5344CB8AC3E}">
        <p14:creationId xmlns:p14="http://schemas.microsoft.com/office/powerpoint/2010/main" val="1110935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58458A-BBEC-3186-BD8F-26C9305C9B59}"/>
              </a:ext>
            </a:extLst>
          </p:cNvPr>
          <p:cNvSpPr>
            <a:spLocks noGrp="1"/>
          </p:cNvSpPr>
          <p:nvPr>
            <p:ph type="title"/>
          </p:nvPr>
        </p:nvSpPr>
        <p:spPr/>
        <p:txBody>
          <a:bodyPr/>
          <a:lstStyle/>
          <a:p>
            <a:r>
              <a:rPr lang="en-US" dirty="0"/>
              <a:t>Resources</a:t>
            </a:r>
          </a:p>
        </p:txBody>
      </p:sp>
      <p:sp>
        <p:nvSpPr>
          <p:cNvPr id="6" name="Content Placeholder 5">
            <a:extLst>
              <a:ext uri="{FF2B5EF4-FFF2-40B4-BE49-F238E27FC236}">
                <a16:creationId xmlns:a16="http://schemas.microsoft.com/office/drawing/2014/main" id="{9E7F486F-2B36-AD17-2E5E-C34AB30700F8}"/>
              </a:ext>
            </a:extLst>
          </p:cNvPr>
          <p:cNvSpPr>
            <a:spLocks noGrp="1"/>
          </p:cNvSpPr>
          <p:nvPr>
            <p:ph idx="1"/>
          </p:nvPr>
        </p:nvSpPr>
        <p:spPr/>
        <p:txBody>
          <a:bodyPr>
            <a:normAutofit fontScale="92500" lnSpcReduction="10000"/>
          </a:bodyPr>
          <a:lstStyle/>
          <a:p>
            <a:r>
              <a:rPr lang="en-US" dirty="0"/>
              <a:t>To Write Love on Her Arms</a:t>
            </a:r>
          </a:p>
          <a:p>
            <a:pPr lvl="1"/>
            <a:r>
              <a:rPr lang="en-US" dirty="0">
                <a:hlinkClick r:id="rId3"/>
              </a:rPr>
              <a:t>https://twloha.com/find-help/help-by-topic/self-injury/</a:t>
            </a:r>
            <a:r>
              <a:rPr lang="en-US" dirty="0"/>
              <a:t> </a:t>
            </a:r>
          </a:p>
          <a:p>
            <a:r>
              <a:rPr lang="en-US" dirty="0"/>
              <a:t>Substance Abuse and Mental Health Services Administration</a:t>
            </a:r>
          </a:p>
          <a:p>
            <a:pPr lvl="1"/>
            <a:r>
              <a:rPr lang="en-US" dirty="0">
                <a:hlinkClick r:id="rId4"/>
              </a:rPr>
              <a:t>https://www.samhsa.gov/</a:t>
            </a:r>
            <a:r>
              <a:rPr lang="en-US" dirty="0"/>
              <a:t> </a:t>
            </a:r>
          </a:p>
          <a:p>
            <a:r>
              <a:rPr lang="en-US" dirty="0"/>
              <a:t>National Alliance for Eating Disorders</a:t>
            </a:r>
          </a:p>
          <a:p>
            <a:pPr lvl="1"/>
            <a:r>
              <a:rPr lang="en-US" dirty="0">
                <a:hlinkClick r:id="rId5"/>
              </a:rPr>
              <a:t>https://www.nationaleatingdisorders.org/</a:t>
            </a:r>
            <a:r>
              <a:rPr lang="en-US" dirty="0"/>
              <a:t> </a:t>
            </a:r>
          </a:p>
          <a:p>
            <a:r>
              <a:rPr lang="en-US" dirty="0"/>
              <a:t>Student Reporting Labs (provides lists on resources and info)</a:t>
            </a:r>
          </a:p>
          <a:p>
            <a:pPr lvl="1"/>
            <a:r>
              <a:rPr lang="en-US" dirty="0">
                <a:hlinkClick r:id="rId6"/>
              </a:rPr>
              <a:t>https://studentreportinglabs.org/mentalhealthresources/</a:t>
            </a:r>
            <a:r>
              <a:rPr lang="en-US" dirty="0"/>
              <a:t> </a:t>
            </a:r>
          </a:p>
          <a:p>
            <a:r>
              <a:rPr lang="en-US" dirty="0"/>
              <a:t>Alcoholics Anonymous (AA) and Narcotics Anonymous (NA) meetings in Kearney</a:t>
            </a:r>
          </a:p>
          <a:p>
            <a:pPr lvl="1"/>
            <a:r>
              <a:rPr lang="en-US" dirty="0">
                <a:hlinkClick r:id="rId7"/>
              </a:rPr>
              <a:t>https://betteraddictioncare.com/meetings/nebraska/kearney/</a:t>
            </a:r>
            <a:r>
              <a:rPr lang="en-US" dirty="0"/>
              <a:t> </a:t>
            </a:r>
          </a:p>
        </p:txBody>
      </p:sp>
      <p:sp>
        <p:nvSpPr>
          <p:cNvPr id="4" name="Slide Number Placeholder 3">
            <a:extLst>
              <a:ext uri="{FF2B5EF4-FFF2-40B4-BE49-F238E27FC236}">
                <a16:creationId xmlns:a16="http://schemas.microsoft.com/office/drawing/2014/main" id="{B3CFF63F-0616-862D-2BC2-64CE93C7A9C1}"/>
              </a:ext>
            </a:extLst>
          </p:cNvPr>
          <p:cNvSpPr>
            <a:spLocks noGrp="1"/>
          </p:cNvSpPr>
          <p:nvPr>
            <p:ph type="sldNum" sz="quarter" idx="12"/>
          </p:nvPr>
        </p:nvSpPr>
        <p:spPr/>
        <p:txBody>
          <a:bodyPr/>
          <a:lstStyle/>
          <a:p>
            <a:fld id="{3A4F6043-7A67-491B-98BC-F933DED7226D}" type="slidenum">
              <a:rPr lang="en-US" smtClean="0"/>
              <a:pPr/>
              <a:t>13</a:t>
            </a:fld>
            <a:endParaRPr lang="en-US" dirty="0"/>
          </a:p>
        </p:txBody>
      </p:sp>
    </p:spTree>
    <p:extLst>
      <p:ext uri="{BB962C8B-B14F-4D97-AF65-F5344CB8AC3E}">
        <p14:creationId xmlns:p14="http://schemas.microsoft.com/office/powerpoint/2010/main" val="2816993599"/>
      </p:ext>
    </p:extLst>
  </p:cSld>
  <p:clrMapOvr>
    <a:masterClrMapping/>
  </p:clrMapOvr>
</p:sld>
</file>

<file path=ppt/theme/theme1.xml><?xml version="1.0" encoding="utf-8"?>
<a:theme xmlns:a="http://schemas.openxmlformats.org/drawingml/2006/main" name="OffsetVTI">
  <a:themeElements>
    <a:clrScheme name="Custom 20">
      <a:dk1>
        <a:srgbClr val="000000"/>
      </a:dk1>
      <a:lt1>
        <a:sysClr val="window" lastClr="FFFFFF"/>
      </a:lt1>
      <a:dk2>
        <a:srgbClr val="2C3948"/>
      </a:dk2>
      <a:lt2>
        <a:srgbClr val="F4F4F4"/>
      </a:lt2>
      <a:accent1>
        <a:srgbClr val="F49D90"/>
      </a:accent1>
      <a:accent2>
        <a:srgbClr val="D6947C"/>
      </a:accent2>
      <a:accent3>
        <a:srgbClr val="BF8484"/>
      </a:accent3>
      <a:accent4>
        <a:srgbClr val="96A9AA"/>
      </a:accent4>
      <a:accent5>
        <a:srgbClr val="DD796C"/>
      </a:accent5>
      <a:accent6>
        <a:srgbClr val="D09145"/>
      </a:accent6>
      <a:hlink>
        <a:srgbClr val="DF686A"/>
      </a:hlink>
      <a:folHlink>
        <a:srgbClr val="F93F1C"/>
      </a:folHlink>
    </a:clrScheme>
    <a:fontScheme name="Dante">
      <a:majorFont>
        <a:latin typeface="Dante"/>
        <a:ea typeface=""/>
        <a:cs typeface=""/>
      </a:majorFont>
      <a:minorFont>
        <a:latin typeface="Dan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setVTI" id="{17A3166B-76FF-4669-8F6D-D4251AE158D8}" vid="{4532814A-B5F8-4CFD-BC69-A007D492DA4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665E41-66EB-401D-940D-8E7024721BE5}">
  <ds:schemaRefs>
    <ds:schemaRef ds:uri="http://schemas.microsoft.com/sharepoint/v3/contenttype/forms"/>
  </ds:schemaRefs>
</ds:datastoreItem>
</file>

<file path=customXml/itemProps2.xml><?xml version="1.0" encoding="utf-8"?>
<ds:datastoreItem xmlns:ds="http://schemas.openxmlformats.org/officeDocument/2006/customXml" ds:itemID="{E3B37DAF-AFAF-4561-A80B-C76198EBD31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A29436BC-77AE-4AEE-A282-4E162A1CAA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Offset design</Template>
  <TotalTime>146</TotalTime>
  <Words>705</Words>
  <Application>Microsoft Office PowerPoint</Application>
  <PresentationFormat>Widescreen</PresentationFormat>
  <Paragraphs>91</Paragraphs>
  <Slides>13</Slides>
  <Notes>13</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Dante</vt:lpstr>
      <vt:lpstr>Dante (Headings)2</vt:lpstr>
      <vt:lpstr>Wingdings 2</vt:lpstr>
      <vt:lpstr>OffsetVTI</vt:lpstr>
      <vt:lpstr>Health-Compromising Behaviors</vt:lpstr>
      <vt:lpstr>Agenda</vt:lpstr>
      <vt:lpstr>Public Service Announcement </vt:lpstr>
      <vt:lpstr>Health-Compromising Behaviors</vt:lpstr>
      <vt:lpstr>Obesity</vt:lpstr>
      <vt:lpstr>Eating &amp; Image Disorders</vt:lpstr>
      <vt:lpstr>PowerPoint Presentation</vt:lpstr>
      <vt:lpstr>Addiction</vt:lpstr>
      <vt:lpstr>Classifications of Drugs</vt:lpstr>
      <vt:lpstr>PowerPoint Presentation</vt:lpstr>
      <vt:lpstr>Common Addictions</vt:lpstr>
      <vt:lpstr>Self Harm</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9</cp:revision>
  <dcterms:created xsi:type="dcterms:W3CDTF">2025-09-19T03:58:23Z</dcterms:created>
  <dcterms:modified xsi:type="dcterms:W3CDTF">2026-08-15T22:10:21Z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