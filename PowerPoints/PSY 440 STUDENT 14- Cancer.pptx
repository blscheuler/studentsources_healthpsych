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317" r:id="rId5"/>
    <p:sldId id="307" r:id="rId6"/>
    <p:sldId id="331" r:id="rId7"/>
    <p:sldId id="334" r:id="rId8"/>
    <p:sldId id="332" r:id="rId9"/>
    <p:sldId id="333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3" r:id="rId18"/>
    <p:sldId id="345" r:id="rId19"/>
    <p:sldId id="33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4" autoAdjust="0"/>
    <p:restoredTop sz="74361" autoAdjust="0"/>
  </p:normalViewPr>
  <p:slideViewPr>
    <p:cSldViewPr snapToGrid="0">
      <p:cViewPr varScale="1">
        <p:scale>
          <a:sx n="118" d="100"/>
          <a:sy n="118" d="100"/>
        </p:scale>
        <p:origin x="4074" y="10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4/6/2026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61091-67E7-5292-E38D-2D24FC82C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C9901-B664-9C45-69BC-652497568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05093-CD52-8349-3D98-1850900B8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1951B-00D3-7D7A-4231-8A3F45BF1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9736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D33F3-9F51-CC1E-23A9-4FDF963FF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B9765-3DA9-AEF7-1CA4-1BDDFC505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DD0FD7-5889-7943-E78E-FB9E165C8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29CE8-7957-81AA-84E2-F39E0D46B4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8382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A3545-869E-C7ED-E66B-485CA624A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CA615E-5ED9-D8A6-C098-D36801F16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103E24-78A6-A712-503A-EF20ED97A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40994-542A-93DD-1CD8-F3DF652F8F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53742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0EE4A-A743-2AEA-04C6-944E02EF5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1DA683-A4BC-B0AB-8467-60A38B62F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BD4D2C-2DDA-43EB-A9B2-7A544F705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BEDDA-B272-17FA-5718-A08D94F63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7486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85B31-E38A-928F-93E0-EAB5CC062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B63D68-0CEA-1F73-E27B-EE9F9E568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83AF26-1E1E-815C-1267-D06289C25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387DD-76A9-016A-B128-AE72BAF82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9440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78B78-DF3E-A81F-7EBF-0B20C2052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71AEB1-51A4-A126-C110-B9DB1B2D8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2F5AFF-997E-7AB5-1D4E-3A62193B02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1DAB7-8BCF-302D-ADC2-B7CF4AB7A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575378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0E5F5-4CEA-D784-9629-A58FDAAD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06A281-C6AB-3132-98B3-020A812BA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EE0C0-2844-5D6A-5A47-A5F05B8BE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68A11-FCC2-FBA8-C571-122ACD843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6764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BC9AB-453B-A9A7-3355-247B6C82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AFD78D-97E9-EB61-7132-E17001A52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EBE789-25E6-FE81-4547-1FD992C1E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5A922-4B36-AC93-9E31-1E9D32F383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36673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70651-D085-1D83-B27D-A7011D469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88D93C-B63D-9B66-3AB6-A038362BC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9279A-4FD1-CA51-6AAD-64B000F62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AC988-D068-4B0E-09FC-BBD01FD4A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53458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D78E6-254B-A20E-9A70-CAF64652C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F6C668-C224-35FD-8B46-55C3444883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C15B2-4DF9-1621-D4C9-5EFD624A86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9C9BF-C9C3-9343-5781-240DCE04C9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667476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577D4-79F1-0056-68E7-D74AF3E61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FE2E54-5CEC-FE99-3386-50308B2AF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B38D13-4942-AD5B-F216-C189076D6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7C96F-2275-6FE9-AB82-F9CFA2F6E6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976217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BFFCB-A397-A294-0832-8F1621A9C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84051-0060-0E74-ACE8-ADA6DCAFF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16115C-76B6-8A05-5280-3D806FDCF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40BFE-AFB3-4126-D653-663D7E289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814467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81583-9BA0-8299-A082-D9B4B713A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020EB2-A184-4F2B-40D3-E0D225B6D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D57359-175A-E620-5D51-293375068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510AE-6974-7D21-FFFA-76E59F851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28527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5797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sz="6000" b="1" dirty="0"/>
              <a:t>Cancer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812" y="914400"/>
            <a:ext cx="5828503" cy="5029200"/>
          </a:xfrm>
        </p:spPr>
        <p:txBody>
          <a:bodyPr/>
          <a:lstStyle/>
          <a:p>
            <a:r>
              <a:rPr lang="en-US" sz="11500" b="1" dirty="0">
                <a:solidFill>
                  <a:srgbClr val="002060"/>
                </a:solidFill>
              </a:rPr>
              <a:t>Agenda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617673"/>
              </p:ext>
            </p:extLst>
          </p:nvPr>
        </p:nvGraphicFramePr>
        <p:xfrm>
          <a:off x="6643315" y="1143000"/>
          <a:ext cx="4954174" cy="3983198"/>
        </p:xfrm>
        <a:graphic>
          <a:graphicData uri="http://schemas.openxmlformats.org/drawingml/2006/table">
            <a:tbl>
              <a:tblPr firstRow="1" bandRow="1"/>
              <a:tblGrid>
                <a:gridCol w="4954174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8279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>
                          <a:latin typeface="+mn-lt"/>
                          <a:cs typeface="Gill Sans Light" panose="020B0302020104020203" pitchFamily="34" charset="-79"/>
                        </a:rPr>
                        <a:t>Types of Cancer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7900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/>
                        <a:t>Screening &amp; Assessments</a:t>
                      </a:r>
                    </a:p>
                    <a:p>
                      <a:pPr algn="r"/>
                      <a:endParaRPr lang="en-US" sz="3200" b="0" dirty="0"/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998987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/>
                        <a:t>Treatments &amp; Side Effects</a:t>
                      </a:r>
                    </a:p>
                    <a:p>
                      <a:pPr algn="r"/>
                      <a:endParaRPr lang="en-US" sz="3200" b="0" dirty="0"/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5902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dirty="0"/>
                        <a:t>Patient Experience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79A6E-0488-35E0-8EDB-C331DB910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165F55-BC2B-6473-1B63-F42AC28B9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Important Terminology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79521C-E0F0-4EBD-ECBD-1E34FF1FB6B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Neoplasm</a:t>
            </a:r>
            <a:r>
              <a:rPr lang="en-US" sz="2400" dirty="0"/>
              <a:t> – (aka: a tumor) a mass that develops when tissue cells begin to divide and multiply uncontrollably 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Neoplasms can be </a:t>
            </a:r>
            <a:r>
              <a:rPr lang="en-US" sz="2400" b="1" dirty="0"/>
              <a:t>benign</a:t>
            </a:r>
            <a:r>
              <a:rPr lang="en-US" sz="2400" dirty="0"/>
              <a:t> (slow and localized growths) or </a:t>
            </a:r>
            <a:r>
              <a:rPr lang="en-US" sz="2400" b="1" dirty="0"/>
              <a:t>malignant</a:t>
            </a:r>
            <a:r>
              <a:rPr lang="en-US" sz="2400" dirty="0"/>
              <a:t> (growths that develop quickly and can metastasize)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Metastatic</a:t>
            </a:r>
            <a:r>
              <a:rPr lang="en-US" sz="2400" dirty="0"/>
              <a:t> – the capability to spread from one location to another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Five-year survival rate</a:t>
            </a:r>
            <a:r>
              <a:rPr lang="en-US" sz="2400" dirty="0"/>
              <a:t> – the estimated proportion of patients expected to be alive five years after diagnosis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Biopsy</a:t>
            </a:r>
            <a:r>
              <a:rPr lang="en-US" sz="2400" dirty="0"/>
              <a:t> – a procedure to remove a small sample of cells or tissue to test for diseases, infection, or cancer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Adjuvant therapy</a:t>
            </a:r>
            <a:r>
              <a:rPr lang="en-US" sz="2400" dirty="0"/>
              <a:t> – when more than one therapy is used to treat a disease, typically administered after the primary treatment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Neoadjuvant therapy</a:t>
            </a:r>
            <a:r>
              <a:rPr lang="en-US" sz="2400" dirty="0"/>
              <a:t> – when more than one therapy is used to treat a disease, where the additional treatment is given before the primary treatment</a:t>
            </a:r>
            <a:endParaRPr lang="en-US" sz="2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B598D-76DF-E05B-DEDE-0DF3DBC0E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586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1F1F5-3860-5202-502C-D9BA9AD81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8C338A-A6EA-DF1D-F1C5-564E92986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Types of Cancer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0234AA-FF12-FD39-0FD5-FFA77AED27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There are over 200 types of cancer, but most can be classified based on their primary site (e.g., breast or lung) or by their histological type.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histological type refers to the type of tissue where cancer originates, and includes: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Carcinoma</a:t>
            </a:r>
            <a:r>
              <a:rPr lang="en-US" sz="2400" dirty="0"/>
              <a:t> – cancer that forms from epithelial tissues (which form the internal and external lining of the body)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Carcinomas make up 80-90% of all cancers; ex: breast, lung, pancreatic, and colon cancer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Sarcoma</a:t>
            </a:r>
            <a:r>
              <a:rPr lang="en-US" sz="2400" dirty="0"/>
              <a:t> – cancer that forms in connective tissue (such as bones, tendons, cartilage, muscles, and fat)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Leukemia</a:t>
            </a:r>
            <a:r>
              <a:rPr lang="en-US" sz="2400" dirty="0"/>
              <a:t> – cancer that originates in the bone marrow; “liquid” blood cancer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Lymphoma</a:t>
            </a:r>
            <a:r>
              <a:rPr lang="en-US" sz="2400" dirty="0"/>
              <a:t> – cancer of the lymphatic system, through lymphocytes; “solid” blood cancer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Myeloma</a:t>
            </a:r>
            <a:r>
              <a:rPr lang="en-US" sz="2400" dirty="0"/>
              <a:t> – cancer that originates in the plasma cells of bone marrow, impacting lymphatic system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Brain &amp; spinal cord cancers</a:t>
            </a:r>
            <a:r>
              <a:rPr lang="en-US" sz="2400" dirty="0"/>
              <a:t> – cancer that start in the cells of the brain or spinal cord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As a note, some cancers could be considered a combination of these categories (ex: endometrial carcinosarcoma)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91C12-529E-3EDC-D5CA-CE3AA6C1B7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69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EFCC7-C222-38B2-375F-08D509DF6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BFF41D-9EC3-C3D4-11DF-8DFDEF5B0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Most Common Types of Cancer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DE7A9-F6CE-7068-3416-65C4BFE57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33E3B1-AEB1-252E-F1CE-CA9465CF8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30" y="1371599"/>
            <a:ext cx="8630671" cy="540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372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BC65D-88DB-4524-8B3C-D9E43FDA9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695C77-7EF3-D84C-F6EB-7767372A8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Why Do Most Types of Cancer Develop?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540F80-644B-B82A-7CCC-9D38DA2FF6D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Genetics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Epigenetics</a:t>
            </a:r>
            <a:r>
              <a:rPr lang="en-US" sz="2400" dirty="0"/>
              <a:t> – the process by which environmental factors (stress, health behaviors, etc.) have the ability to turn genes “on” or “off,” often through methylation/ demethylation 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Germs from certain infections can force epigenetic changes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Individuals who smoke often have less DNA methylation than nonsmokers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Health behaviors (diet, substance use, exercise,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Chemical and radiation exposure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A5342-DDA3-EC38-95C5-9D03C0181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68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5113C-5ADD-8C2B-17F6-1D3E686B2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67096C-45B1-506C-083A-D8D4FF47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Cancer Screening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8BBA57-02E7-F7BD-4A25-0A0E92E54DA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is recommended people regularly scan for the following types of cancer, especially after reaching 40 years old.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Breast Cancer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Mammograms, or potentially an ultrasound or MRI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Colon Cancer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Colonoscopy or stool-based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Cervical Cancer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Pap smear and HPV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Prostate Cancer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Digital rectal exam and prostate-specific antigen blood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Lung Cancer (if patient has smoking history)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CT scan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0949E-54A0-549F-3438-0DE4FFAD2A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557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81976-B667-A8D7-E425-53765F292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F3487E-6147-825D-6571-AA6F1088E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Cancer Staging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4848B4-A219-EB05-C04E-77BD0344F53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91150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If cancer is detected, there are a variety of ways it can be staged, depending on cancer type.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most common type is the </a:t>
            </a:r>
            <a:r>
              <a:rPr lang="en-US" sz="2400" b="1" dirty="0"/>
              <a:t>TNM Staging System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</a:t>
            </a:r>
            <a:r>
              <a:rPr lang="en-US" sz="2400" dirty="0"/>
              <a:t> – tumor size/ extent 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dirty="0"/>
              <a:t>TX (can’t be measured), T0 (can’t be found), T1, T2, T3, T4 (higher = larger)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N</a:t>
            </a:r>
            <a:r>
              <a:rPr lang="en-US" sz="2400" dirty="0"/>
              <a:t> – nearby lymph nodes  that have cancer</a:t>
            </a:r>
          </a:p>
          <a:p>
            <a:pPr marL="1028700" marR="0" lvl="2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Nova Light"/>
                <a:ea typeface="+mn-ea"/>
                <a:cs typeface="+mn-cs"/>
              </a:rPr>
              <a:t>NX (can’t be measured), N0 (no nearby cancer), N1, N2, N3 (higher = more)</a:t>
            </a:r>
            <a:endParaRPr lang="en-US" sz="2400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</a:t>
            </a:r>
            <a:r>
              <a:rPr lang="en-US" sz="2400" dirty="0"/>
              <a:t> – metastasis </a:t>
            </a:r>
          </a:p>
          <a:p>
            <a:pPr marL="1028700" marR="0" lvl="2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Nova Light"/>
                <a:ea typeface="+mn-ea"/>
                <a:cs typeface="+mn-cs"/>
              </a:rPr>
              <a:t>MX (can’t be measured), M0 (has not spread), M1 (has spread)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These can be condensed into broader categories of Stage 1 (small, localized), Stage 2 (larger, potential spread to lymph nodes), Stage 3 (larger and deeper, likely involves lymph nodes), and Stage 4 (metastasized)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B5A5B-B103-6CD6-F0E5-0987DBD838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104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419F0-3587-F681-A6FD-0EC1BAA37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590255-F5B8-AACA-0112-1C9F1E4CB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Cancer Staging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ED8F9F-2FE8-9C75-4A62-37612630685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Other forms of cancer have staging systems specific to that type of cancer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 example, lymphomas use the </a:t>
            </a:r>
            <a:r>
              <a:rPr lang="en-US" sz="2400" b="1" dirty="0"/>
              <a:t>Lugano classification system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Number System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dirty="0"/>
              <a:t>Stage 1 – Single/ adjacent lymph nodes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dirty="0"/>
              <a:t>Stage 2 – Multiple lymph nodes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dirty="0"/>
              <a:t>Stage 3 – Lymph nodes above and below diaphragm OR lymph nodes + spleen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dirty="0"/>
              <a:t>Stage 4 – Wide spread, including organ or bone marrow involvement  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Can include alphabetic identification for symptoms</a:t>
            </a:r>
          </a:p>
          <a:p>
            <a:pPr marL="1028700" marR="0" lvl="2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Nova Light"/>
                <a:ea typeface="+mn-ea"/>
                <a:cs typeface="+mn-cs"/>
              </a:rPr>
              <a:t>A – largely asymptomatic </a:t>
            </a:r>
          </a:p>
          <a:p>
            <a:pPr marL="1028700" marR="0" lvl="2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Gill Sans Nova Light"/>
              </a:rPr>
              <a:t>B – experiencing multiple negative symptoms (weight loss, night sweats, etc.)</a:t>
            </a:r>
          </a:p>
          <a:p>
            <a:pPr marL="1028700" marR="0" lvl="2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Gill Sans Nova Light"/>
              </a:rPr>
              <a:t>X – bulky disease (mass is multiple centimeters in diameter)</a:t>
            </a:r>
          </a:p>
          <a:p>
            <a:pPr marR="0" lvl="2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50A51-F05D-8B4B-3E5C-7A5CF00FA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320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17371-93F6-B8AE-71BF-E3760AD40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D982DA-3EEF-E545-8AD7-EB1E393E2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4355" y="1475713"/>
            <a:ext cx="7843289" cy="3675708"/>
          </a:xfrm>
        </p:spPr>
        <p:txBody>
          <a:bodyPr/>
          <a:lstStyle/>
          <a:p>
            <a:r>
              <a:rPr lang="en-US" dirty="0"/>
              <a:t>Why might the TNM system not be a good choice for staging blood cancers?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041BF-0663-73B2-267B-23B0A7E4030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30013" y="5880100"/>
            <a:ext cx="661987" cy="895350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015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E126F-1624-CE5A-211F-63C318745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17CC34-15BE-D12E-2AB6-036D07F05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Cancer Treatments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9331F1-93E4-908C-89C6-B67D0751C40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Surgery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Chemotherapy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Nova Light"/>
                <a:ea typeface="+mn-ea"/>
                <a:cs typeface="+mn-cs"/>
              </a:rPr>
              <a:t>Can be oral, intravenous, intramuscular, subcutaneous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Gill Sans Nova Light"/>
              </a:rPr>
              <a:t>Widespread treatment to shrink/ kill cells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Radiation therapy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Nova Light"/>
                <a:ea typeface="+mn-ea"/>
                <a:cs typeface="+mn-cs"/>
              </a:rPr>
              <a:t>Localized treatment to shrink/ kill cells with powerful rays</a:t>
            </a:r>
            <a:endParaRPr lang="en-US" sz="2400" dirty="0">
              <a:solidFill>
                <a:prstClr val="black"/>
              </a:solidFill>
              <a:latin typeface="Gill Sans Nova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Immunotherapy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Gill Sans Nova Light"/>
              </a:rPr>
              <a:t>Boost the body’s ability to fight the cancer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Hormone therapy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Blood or bone marrow transplant</a:t>
            </a:r>
            <a:endParaRPr lang="en-US" dirty="0">
              <a:solidFill>
                <a:prstClr val="black"/>
              </a:solidFill>
              <a:latin typeface="Gill Sans Nova Light"/>
            </a:endParaRPr>
          </a:p>
          <a:p>
            <a:pPr marR="0" lvl="2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1CB02-B656-684E-CFE9-75B0EF7AE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026" name="Picture 2" descr="Illustration of a patient receiving external radiation therapy">
            <a:extLst>
              <a:ext uri="{FF2B5EF4-FFF2-40B4-BE49-F238E27FC236}">
                <a16:creationId xmlns:a16="http://schemas.microsoft.com/office/drawing/2014/main" id="{8BF548B9-D602-6930-D8C0-FC2D99958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0756" y="879129"/>
            <a:ext cx="4741234" cy="4079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0320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2672C-BF2D-12A0-CCC4-5C152082B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0BEEA8-53DA-F9DA-5207-12A7109BC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Common Side Effects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34ACA6-FA4A-316E-8F7C-1D562734343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While symptoms can be different between treatments, common side effects include: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Organ damage (especially heart, lungs, kidneys, and liver)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Loss of or damage to areas that reproduce quickly, including hair, skin, nails, and reproductive organs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Can lead to additional symptoms, such as mouth and throat sores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Nausea/ vomiting, and other digestive issues 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Fatigue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Immunocompromised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Cognitive impairment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Neuropathy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Infertility/ fertility issues 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Stress, depression, and anxiety</a:t>
            </a:r>
          </a:p>
          <a:p>
            <a:pPr marR="0" lvl="2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B4DFD-7B89-60BE-6BDA-E901258D7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478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EAA14-EBCD-C4BF-25CE-184DEA5E9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0970E6-D947-747F-CD77-EDA5293AC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The (Most Common) Cancer Treatment Process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03083E-4A1C-E24F-EF08-908DC1CF4CE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Step 1 – Screening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Step 2 – Further diagnostics (typically, biopsies)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Step 3 – Health and severity assessment (ex: pulmonary function test, echocardiograms, blood tests, ultrasounds, etc.)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prstClr val="black"/>
                </a:solidFill>
                <a:latin typeface="Gill Sans Nova Light"/>
              </a:rPr>
              <a:t>Positron emission tomography (PET) scan</a:t>
            </a: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 – a form of CT scan that combines radioactive material with a sugar molecule, then scans the body to see which areas show the sugar being “eaten”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Step 4 – Preparation (ex: surgery for a PIC line or porta catheter for chemo)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Step 5 – Treatment(s)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Step 6 – Scanning (periodical and at end of treatment)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Step 7 – Follow-up scans</a:t>
            </a:r>
            <a:endParaRPr lang="en-US" dirty="0">
              <a:solidFill>
                <a:prstClr val="black"/>
              </a:solidFill>
              <a:latin typeface="Gill Sans Nova Light"/>
            </a:endParaRPr>
          </a:p>
          <a:p>
            <a:pPr marR="0" lvl="2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52D90-ED18-FD5F-C8BC-9ED0DE4BCE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711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CA3DB-AB9D-8FA1-CAB3-7AEE60028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03D4B9-C51A-B1C7-7CFC-E18D20F8A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4355" y="1475713"/>
            <a:ext cx="7843289" cy="3675708"/>
          </a:xfrm>
        </p:spPr>
        <p:txBody>
          <a:bodyPr/>
          <a:lstStyle/>
          <a:p>
            <a:r>
              <a:rPr lang="en-US" dirty="0"/>
              <a:t>What are factors that could improve or hinder patient experience?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F19CA-CEBE-EB84-B37C-311103A5D9B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30013" y="5880100"/>
            <a:ext cx="661987" cy="895350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585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CC535-8A57-97E5-E24D-9DBC78987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792669-D335-721E-F2E7-3BF2B83A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Common Examples of The Patient Experience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EFDDD2-F9CE-B182-9DC7-B4193323AEC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Sense of relief when diagnosed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Shame/ embarrassment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Challenges to self-efficacy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Struggles with conflicting advice/ opinions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Struggle more with the side effects than the disease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Difficulty in finding their “cancer center home” (quality of service versus resources available)</a:t>
            </a:r>
          </a:p>
          <a:p>
            <a:endParaRPr lang="en-US" sz="2400" dirty="0">
              <a:solidFill>
                <a:prstClr val="black"/>
              </a:solidFill>
              <a:latin typeface="Gill Sans Nova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Gill Sans Nova Light"/>
            </a:endParaRPr>
          </a:p>
          <a:p>
            <a:pPr marR="0" lvl="2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923A2-BFD2-5754-1A48-7A34FE23B9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615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BBBD74A-9A7D-E58C-3F51-E02DC7626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 on PSY 440…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DA13C1D-EA80-4B25-3243-78FB54D7F47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Before Next Class: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Complete today’s journal prompt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Due Wednesday at 11:59 pm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Work on HIP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F48A430-B8AF-1DC0-DA44-029337EE894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In Our Next Class: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Class Activity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3CE4A-7631-B354-9299-9CA7821E9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9161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{5D393DFC-1BBF-40D3-AD94-4284BE9CF5C4}TF1ed9553b-00c4-4092-846a-c8f7f2908f3beecd942f_win32-8e33096c3cfc</Template>
  <TotalTime>1218</TotalTime>
  <Words>1135</Words>
  <Application>Microsoft Office PowerPoint</Application>
  <PresentationFormat>Widescreen</PresentationFormat>
  <Paragraphs>132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Courier New</vt:lpstr>
      <vt:lpstr>Gill Sans Nova Light</vt:lpstr>
      <vt:lpstr>Sagona Book</vt:lpstr>
      <vt:lpstr>Custom</vt:lpstr>
      <vt:lpstr>Cancer</vt:lpstr>
      <vt:lpstr>Agenda</vt:lpstr>
      <vt:lpstr>Important Terminology</vt:lpstr>
      <vt:lpstr>Types of Cancer</vt:lpstr>
      <vt:lpstr>Most Common Types of Cancer</vt:lpstr>
      <vt:lpstr>Why Do Most Types of Cancer Develop?</vt:lpstr>
      <vt:lpstr>Cancer Screening</vt:lpstr>
      <vt:lpstr>Cancer Staging</vt:lpstr>
      <vt:lpstr>Cancer Staging</vt:lpstr>
      <vt:lpstr>Why might the TNM system not be a good choice for staging blood cancers?</vt:lpstr>
      <vt:lpstr>Cancer Treatments</vt:lpstr>
      <vt:lpstr>Common Side Effects</vt:lpstr>
      <vt:lpstr>The (Most Common) Cancer Treatment Process</vt:lpstr>
      <vt:lpstr>What are factors that could improve or hinder patient experience?</vt:lpstr>
      <vt:lpstr>Common Examples of The Patient Experience</vt:lpstr>
      <vt:lpstr>Next Time on PSY 440…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Scheuler, Bryanna</dc:creator>
  <cp:lastModifiedBy>Bryanna Scheuler</cp:lastModifiedBy>
  <cp:revision>17</cp:revision>
  <dcterms:created xsi:type="dcterms:W3CDTF">2025-10-29T06:28:47Z</dcterms:created>
  <dcterms:modified xsi:type="dcterms:W3CDTF">2026-04-06T16:42:59Z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