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16"/>
  </p:notesMasterIdLst>
  <p:sldIdLst>
    <p:sldId id="320" r:id="rId5"/>
    <p:sldId id="334" r:id="rId6"/>
    <p:sldId id="355" r:id="rId7"/>
    <p:sldId id="356" r:id="rId8"/>
    <p:sldId id="338" r:id="rId9"/>
    <p:sldId id="345" r:id="rId10"/>
    <p:sldId id="347" r:id="rId11"/>
    <p:sldId id="348" r:id="rId12"/>
    <p:sldId id="344" r:id="rId13"/>
    <p:sldId id="349" r:id="rId14"/>
    <p:sldId id="35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78967" autoAdjust="0"/>
  </p:normalViewPr>
  <p:slideViewPr>
    <p:cSldViewPr snapToGrid="0">
      <p:cViewPr varScale="1">
        <p:scale>
          <a:sx n="88" d="100"/>
          <a:sy n="88" d="100"/>
        </p:scale>
        <p:origin x="90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C6C6A-8751-4458-BDED-AFC28DEAE1D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8D7842-0EEC-41C5-8286-9ADF23616987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Quality of life</a:t>
          </a:r>
        </a:p>
      </dgm:t>
    </dgm:pt>
    <dgm:pt modelId="{7D0F8A6D-1912-4731-9B22-D9A68C6268C0}" type="parTrans" cxnId="{323627F8-152D-4C9A-8174-5B4ED582E67C}">
      <dgm:prSet/>
      <dgm:spPr/>
      <dgm:t>
        <a:bodyPr/>
        <a:lstStyle/>
        <a:p>
          <a:endParaRPr lang="en-US"/>
        </a:p>
      </dgm:t>
    </dgm:pt>
    <dgm:pt modelId="{D5604892-610B-47BE-A56A-2B9BC2047AEB}" type="sibTrans" cxnId="{323627F8-152D-4C9A-8174-5B4ED582E67C}">
      <dgm:prSet/>
      <dgm:spPr/>
      <dgm:t>
        <a:bodyPr/>
        <a:lstStyle/>
        <a:p>
          <a:endParaRPr lang="en-US"/>
        </a:p>
      </dgm:t>
    </dgm:pt>
    <dgm:pt modelId="{960B3C84-793C-4DD7-ABE3-B5082F200F4F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Finding balance</a:t>
          </a:r>
        </a:p>
      </dgm:t>
    </dgm:pt>
    <dgm:pt modelId="{A622F02C-C196-4FD9-86C6-0F3DBF9855DC}" type="parTrans" cxnId="{BE341195-0DDA-409A-B506-AC81272FD737}">
      <dgm:prSet/>
      <dgm:spPr/>
      <dgm:t>
        <a:bodyPr/>
        <a:lstStyle/>
        <a:p>
          <a:endParaRPr lang="en-US"/>
        </a:p>
      </dgm:t>
    </dgm:pt>
    <dgm:pt modelId="{1FBCF3E0-53BC-44C2-8596-6216C4EDDE39}" type="sibTrans" cxnId="{BE341195-0DDA-409A-B506-AC81272FD737}">
      <dgm:prSet/>
      <dgm:spPr/>
      <dgm:t>
        <a:bodyPr/>
        <a:lstStyle/>
        <a:p>
          <a:endParaRPr lang="en-US"/>
        </a:p>
      </dgm:t>
    </dgm:pt>
    <dgm:pt modelId="{9CEF1D36-1373-4D17-9F39-0925E1793A40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Important terminology</a:t>
          </a:r>
          <a:endParaRPr lang="en-US" dirty="0">
            <a:solidFill>
              <a:schemeClr val="bg1"/>
            </a:solidFill>
          </a:endParaRPr>
        </a:p>
      </dgm:t>
    </dgm:pt>
    <dgm:pt modelId="{2399190F-9FBF-42F2-AA4C-FA24F64AFD9B}" type="parTrans" cxnId="{1A444594-96D5-4D82-8EED-C90E5A2CD9D6}">
      <dgm:prSet/>
      <dgm:spPr/>
      <dgm:t>
        <a:bodyPr/>
        <a:lstStyle/>
        <a:p>
          <a:endParaRPr lang="en-US"/>
        </a:p>
      </dgm:t>
    </dgm:pt>
    <dgm:pt modelId="{A3BB1FF9-4767-441A-9903-DF8B739A0F34}" type="sibTrans" cxnId="{1A444594-96D5-4D82-8EED-C90E5A2CD9D6}">
      <dgm:prSet/>
      <dgm:spPr/>
      <dgm:t>
        <a:bodyPr/>
        <a:lstStyle/>
        <a:p>
          <a:endParaRPr lang="en-US"/>
        </a:p>
      </dgm:t>
    </dgm:pt>
    <dgm:pt modelId="{F11D51EB-4673-4F03-AEE1-D96B06FEFB18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Comanagement</a:t>
          </a:r>
        </a:p>
      </dgm:t>
    </dgm:pt>
    <dgm:pt modelId="{BF008C0B-DF3B-483A-A3EA-E56ECA1251A2}" type="parTrans" cxnId="{E217BB3B-DDAE-4F63-BFB9-1EDA3647F331}">
      <dgm:prSet/>
      <dgm:spPr/>
      <dgm:t>
        <a:bodyPr/>
        <a:lstStyle/>
        <a:p>
          <a:endParaRPr lang="en-US"/>
        </a:p>
      </dgm:t>
    </dgm:pt>
    <dgm:pt modelId="{1BA5FEF8-C70B-47B3-B59E-32754B334388}" type="sibTrans" cxnId="{E217BB3B-DDAE-4F63-BFB9-1EDA3647F331}">
      <dgm:prSet/>
      <dgm:spPr/>
      <dgm:t>
        <a:bodyPr/>
        <a:lstStyle/>
        <a:p>
          <a:endParaRPr lang="en-US"/>
        </a:p>
      </dgm:t>
    </dgm:pt>
    <dgm:pt modelId="{FAB1C7A4-E280-495D-8F4E-AE9693F22890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Responding to diagnoses</a:t>
          </a:r>
          <a:endParaRPr lang="en-US" dirty="0">
            <a:solidFill>
              <a:schemeClr val="bg1"/>
            </a:solidFill>
          </a:endParaRPr>
        </a:p>
      </dgm:t>
    </dgm:pt>
    <dgm:pt modelId="{DB341697-69A3-4760-8DD1-0751B858D54B}" type="parTrans" cxnId="{745D7FD0-54E7-4A3A-AD7C-B1A5D0D9C2D2}">
      <dgm:prSet/>
      <dgm:spPr/>
      <dgm:t>
        <a:bodyPr/>
        <a:lstStyle/>
        <a:p>
          <a:endParaRPr lang="en-US"/>
        </a:p>
      </dgm:t>
    </dgm:pt>
    <dgm:pt modelId="{364FEB0A-5D24-4367-BBD1-C143A21FEE8D}" type="sibTrans" cxnId="{745D7FD0-54E7-4A3A-AD7C-B1A5D0D9C2D2}">
      <dgm:prSet/>
      <dgm:spPr/>
      <dgm:t>
        <a:bodyPr/>
        <a:lstStyle/>
        <a:p>
          <a:endParaRPr lang="en-US"/>
        </a:p>
      </dgm:t>
    </dgm:pt>
    <dgm:pt modelId="{68B9429B-E702-4E5B-9054-B73BCBBBE9E6}" type="pres">
      <dgm:prSet presAssocID="{EE2C6C6A-8751-4458-BDED-AFC28DEAE1DA}" presName="vert0" presStyleCnt="0">
        <dgm:presLayoutVars>
          <dgm:dir/>
          <dgm:animOne val="branch"/>
          <dgm:animLvl val="lvl"/>
        </dgm:presLayoutVars>
      </dgm:prSet>
      <dgm:spPr/>
    </dgm:pt>
    <dgm:pt modelId="{1A9AA72F-5866-4163-99FA-D52D46C093E6}" type="pres">
      <dgm:prSet presAssocID="{9CEF1D36-1373-4D17-9F39-0925E1793A40}" presName="thickLine" presStyleLbl="alignNode1" presStyleIdx="0" presStyleCnt="5"/>
      <dgm:spPr/>
    </dgm:pt>
    <dgm:pt modelId="{D6225D74-EF3C-4D72-A777-FE987DB249DD}" type="pres">
      <dgm:prSet presAssocID="{9CEF1D36-1373-4D17-9F39-0925E1793A40}" presName="horz1" presStyleCnt="0"/>
      <dgm:spPr/>
    </dgm:pt>
    <dgm:pt modelId="{8152DE38-8FE1-4ECF-9751-E10C0AD32D15}" type="pres">
      <dgm:prSet presAssocID="{9CEF1D36-1373-4D17-9F39-0925E1793A40}" presName="tx1" presStyleLbl="revTx" presStyleIdx="0" presStyleCnt="5"/>
      <dgm:spPr/>
    </dgm:pt>
    <dgm:pt modelId="{A1054BF3-E5C2-4FB3-899F-51EF3CE71F54}" type="pres">
      <dgm:prSet presAssocID="{9CEF1D36-1373-4D17-9F39-0925E1793A40}" presName="vert1" presStyleCnt="0"/>
      <dgm:spPr/>
    </dgm:pt>
    <dgm:pt modelId="{70B3B2E2-F8C2-48BF-8855-4B95C80DA0C3}" type="pres">
      <dgm:prSet presAssocID="{5A8D7842-0EEC-41C5-8286-9ADF23616987}" presName="thickLine" presStyleLbl="alignNode1" presStyleIdx="1" presStyleCnt="5"/>
      <dgm:spPr/>
    </dgm:pt>
    <dgm:pt modelId="{53E87F62-FEE0-4F8B-8034-360157CBA643}" type="pres">
      <dgm:prSet presAssocID="{5A8D7842-0EEC-41C5-8286-9ADF23616987}" presName="horz1" presStyleCnt="0"/>
      <dgm:spPr/>
    </dgm:pt>
    <dgm:pt modelId="{1EA0E576-D8F2-4D76-BE13-CF7E0679B424}" type="pres">
      <dgm:prSet presAssocID="{5A8D7842-0EEC-41C5-8286-9ADF23616987}" presName="tx1" presStyleLbl="revTx" presStyleIdx="1" presStyleCnt="5"/>
      <dgm:spPr/>
    </dgm:pt>
    <dgm:pt modelId="{8542AFC7-2FBF-44BC-A7ED-817B310439C7}" type="pres">
      <dgm:prSet presAssocID="{5A8D7842-0EEC-41C5-8286-9ADF23616987}" presName="vert1" presStyleCnt="0"/>
      <dgm:spPr/>
    </dgm:pt>
    <dgm:pt modelId="{4D00EEBE-1FA8-4B36-B0AB-C34BB96777AF}" type="pres">
      <dgm:prSet presAssocID="{FAB1C7A4-E280-495D-8F4E-AE9693F22890}" presName="thickLine" presStyleLbl="alignNode1" presStyleIdx="2" presStyleCnt="5"/>
      <dgm:spPr/>
    </dgm:pt>
    <dgm:pt modelId="{1685CC54-2030-4793-BA9E-53F81544D89E}" type="pres">
      <dgm:prSet presAssocID="{FAB1C7A4-E280-495D-8F4E-AE9693F22890}" presName="horz1" presStyleCnt="0"/>
      <dgm:spPr/>
    </dgm:pt>
    <dgm:pt modelId="{FF78F869-7B38-46DE-BA38-9B85820C89E4}" type="pres">
      <dgm:prSet presAssocID="{FAB1C7A4-E280-495D-8F4E-AE9693F22890}" presName="tx1" presStyleLbl="revTx" presStyleIdx="2" presStyleCnt="5"/>
      <dgm:spPr/>
    </dgm:pt>
    <dgm:pt modelId="{80E12D38-BFAA-4C2D-A760-BD1D3332BA5F}" type="pres">
      <dgm:prSet presAssocID="{FAB1C7A4-E280-495D-8F4E-AE9693F22890}" presName="vert1" presStyleCnt="0"/>
      <dgm:spPr/>
    </dgm:pt>
    <dgm:pt modelId="{BC56C374-06AD-4850-823C-0BB2EC317926}" type="pres">
      <dgm:prSet presAssocID="{F11D51EB-4673-4F03-AEE1-D96B06FEFB18}" presName="thickLine" presStyleLbl="alignNode1" presStyleIdx="3" presStyleCnt="5"/>
      <dgm:spPr/>
    </dgm:pt>
    <dgm:pt modelId="{4AC71EB7-C530-4696-87AA-2C5014CE0AE7}" type="pres">
      <dgm:prSet presAssocID="{F11D51EB-4673-4F03-AEE1-D96B06FEFB18}" presName="horz1" presStyleCnt="0"/>
      <dgm:spPr/>
    </dgm:pt>
    <dgm:pt modelId="{918F3F63-D32A-47C0-9F9E-3ABA84506EEA}" type="pres">
      <dgm:prSet presAssocID="{F11D51EB-4673-4F03-AEE1-D96B06FEFB18}" presName="tx1" presStyleLbl="revTx" presStyleIdx="3" presStyleCnt="5"/>
      <dgm:spPr/>
    </dgm:pt>
    <dgm:pt modelId="{53490D0E-C5D0-4B16-9B49-9AEFD66A793F}" type="pres">
      <dgm:prSet presAssocID="{F11D51EB-4673-4F03-AEE1-D96B06FEFB18}" presName="vert1" presStyleCnt="0"/>
      <dgm:spPr/>
    </dgm:pt>
    <dgm:pt modelId="{D6CF63A7-F854-4433-A9A2-AD0A3A367C30}" type="pres">
      <dgm:prSet presAssocID="{960B3C84-793C-4DD7-ABE3-B5082F200F4F}" presName="thickLine" presStyleLbl="alignNode1" presStyleIdx="4" presStyleCnt="5"/>
      <dgm:spPr/>
    </dgm:pt>
    <dgm:pt modelId="{2F56B302-5474-4EE4-B99E-DFDA776F06CC}" type="pres">
      <dgm:prSet presAssocID="{960B3C84-793C-4DD7-ABE3-B5082F200F4F}" presName="horz1" presStyleCnt="0"/>
      <dgm:spPr/>
    </dgm:pt>
    <dgm:pt modelId="{BD4A02C8-B10D-43BC-9EDA-4B4922BA3657}" type="pres">
      <dgm:prSet presAssocID="{960B3C84-793C-4DD7-ABE3-B5082F200F4F}" presName="tx1" presStyleLbl="revTx" presStyleIdx="4" presStyleCnt="5"/>
      <dgm:spPr/>
    </dgm:pt>
    <dgm:pt modelId="{C4DD2F9B-A976-460D-8B31-FEA136128CE1}" type="pres">
      <dgm:prSet presAssocID="{960B3C84-793C-4DD7-ABE3-B5082F200F4F}" presName="vert1" presStyleCnt="0"/>
      <dgm:spPr/>
    </dgm:pt>
  </dgm:ptLst>
  <dgm:cxnLst>
    <dgm:cxn modelId="{F3FEF519-7429-4B7D-8911-1B7856638C0D}" type="presOf" srcId="{960B3C84-793C-4DD7-ABE3-B5082F200F4F}" destId="{BD4A02C8-B10D-43BC-9EDA-4B4922BA3657}" srcOrd="0" destOrd="0" presId="urn:microsoft.com/office/officeart/2008/layout/LinedList"/>
    <dgm:cxn modelId="{F8B22A1B-4384-4BCA-9692-9B6EE72C13C7}" type="presOf" srcId="{EE2C6C6A-8751-4458-BDED-AFC28DEAE1DA}" destId="{68B9429B-E702-4E5B-9054-B73BCBBBE9E6}" srcOrd="0" destOrd="0" presId="urn:microsoft.com/office/officeart/2008/layout/LinedList"/>
    <dgm:cxn modelId="{E217BB3B-DDAE-4F63-BFB9-1EDA3647F331}" srcId="{EE2C6C6A-8751-4458-BDED-AFC28DEAE1DA}" destId="{F11D51EB-4673-4F03-AEE1-D96B06FEFB18}" srcOrd="3" destOrd="0" parTransId="{BF008C0B-DF3B-483A-A3EA-E56ECA1251A2}" sibTransId="{1BA5FEF8-C70B-47B3-B59E-32754B334388}"/>
    <dgm:cxn modelId="{1A444594-96D5-4D82-8EED-C90E5A2CD9D6}" srcId="{EE2C6C6A-8751-4458-BDED-AFC28DEAE1DA}" destId="{9CEF1D36-1373-4D17-9F39-0925E1793A40}" srcOrd="0" destOrd="0" parTransId="{2399190F-9FBF-42F2-AA4C-FA24F64AFD9B}" sibTransId="{A3BB1FF9-4767-441A-9903-DF8B739A0F34}"/>
    <dgm:cxn modelId="{BE341195-0DDA-409A-B506-AC81272FD737}" srcId="{EE2C6C6A-8751-4458-BDED-AFC28DEAE1DA}" destId="{960B3C84-793C-4DD7-ABE3-B5082F200F4F}" srcOrd="4" destOrd="0" parTransId="{A622F02C-C196-4FD9-86C6-0F3DBF9855DC}" sibTransId="{1FBCF3E0-53BC-44C2-8596-6216C4EDDE39}"/>
    <dgm:cxn modelId="{2A95E0C0-C445-43C2-990A-AE8871727DF1}" type="presOf" srcId="{9CEF1D36-1373-4D17-9F39-0925E1793A40}" destId="{8152DE38-8FE1-4ECF-9751-E10C0AD32D15}" srcOrd="0" destOrd="0" presId="urn:microsoft.com/office/officeart/2008/layout/LinedList"/>
    <dgm:cxn modelId="{0EA021CF-A21B-42B6-9F91-DC2E60B6A390}" type="presOf" srcId="{F11D51EB-4673-4F03-AEE1-D96B06FEFB18}" destId="{918F3F63-D32A-47C0-9F9E-3ABA84506EEA}" srcOrd="0" destOrd="0" presId="urn:microsoft.com/office/officeart/2008/layout/LinedList"/>
    <dgm:cxn modelId="{745D7FD0-54E7-4A3A-AD7C-B1A5D0D9C2D2}" srcId="{EE2C6C6A-8751-4458-BDED-AFC28DEAE1DA}" destId="{FAB1C7A4-E280-495D-8F4E-AE9693F22890}" srcOrd="2" destOrd="0" parTransId="{DB341697-69A3-4760-8DD1-0751B858D54B}" sibTransId="{364FEB0A-5D24-4367-BBD1-C143A21FEE8D}"/>
    <dgm:cxn modelId="{17003CEA-A2A4-486C-9DBE-C39F45233B03}" type="presOf" srcId="{FAB1C7A4-E280-495D-8F4E-AE9693F22890}" destId="{FF78F869-7B38-46DE-BA38-9B85820C89E4}" srcOrd="0" destOrd="0" presId="urn:microsoft.com/office/officeart/2008/layout/LinedList"/>
    <dgm:cxn modelId="{323627F8-152D-4C9A-8174-5B4ED582E67C}" srcId="{EE2C6C6A-8751-4458-BDED-AFC28DEAE1DA}" destId="{5A8D7842-0EEC-41C5-8286-9ADF23616987}" srcOrd="1" destOrd="0" parTransId="{7D0F8A6D-1912-4731-9B22-D9A68C6268C0}" sibTransId="{D5604892-610B-47BE-A56A-2B9BC2047AEB}"/>
    <dgm:cxn modelId="{FA2500FE-D930-4AE3-8200-2BC8A77EE1F1}" type="presOf" srcId="{5A8D7842-0EEC-41C5-8286-9ADF23616987}" destId="{1EA0E576-D8F2-4D76-BE13-CF7E0679B424}" srcOrd="0" destOrd="0" presId="urn:microsoft.com/office/officeart/2008/layout/LinedList"/>
    <dgm:cxn modelId="{5B6DC98A-6E2B-479B-80D7-82042B8182F0}" type="presParOf" srcId="{68B9429B-E702-4E5B-9054-B73BCBBBE9E6}" destId="{1A9AA72F-5866-4163-99FA-D52D46C093E6}" srcOrd="0" destOrd="0" presId="urn:microsoft.com/office/officeart/2008/layout/LinedList"/>
    <dgm:cxn modelId="{0AE5380D-5885-442A-90EB-9F79FAD1AB34}" type="presParOf" srcId="{68B9429B-E702-4E5B-9054-B73BCBBBE9E6}" destId="{D6225D74-EF3C-4D72-A777-FE987DB249DD}" srcOrd="1" destOrd="0" presId="urn:microsoft.com/office/officeart/2008/layout/LinedList"/>
    <dgm:cxn modelId="{82C42571-A31E-4175-8FC2-B5CF7D035705}" type="presParOf" srcId="{D6225D74-EF3C-4D72-A777-FE987DB249DD}" destId="{8152DE38-8FE1-4ECF-9751-E10C0AD32D15}" srcOrd="0" destOrd="0" presId="urn:microsoft.com/office/officeart/2008/layout/LinedList"/>
    <dgm:cxn modelId="{EAD5209F-EF07-41C6-9DBA-766F5F024E9B}" type="presParOf" srcId="{D6225D74-EF3C-4D72-A777-FE987DB249DD}" destId="{A1054BF3-E5C2-4FB3-899F-51EF3CE71F54}" srcOrd="1" destOrd="0" presId="urn:microsoft.com/office/officeart/2008/layout/LinedList"/>
    <dgm:cxn modelId="{61DB2F77-3A8F-4E22-B33A-249E56D86A2C}" type="presParOf" srcId="{68B9429B-E702-4E5B-9054-B73BCBBBE9E6}" destId="{70B3B2E2-F8C2-48BF-8855-4B95C80DA0C3}" srcOrd="2" destOrd="0" presId="urn:microsoft.com/office/officeart/2008/layout/LinedList"/>
    <dgm:cxn modelId="{577FCAC7-73E6-49AB-9F4F-189CA6DE6A5E}" type="presParOf" srcId="{68B9429B-E702-4E5B-9054-B73BCBBBE9E6}" destId="{53E87F62-FEE0-4F8B-8034-360157CBA643}" srcOrd="3" destOrd="0" presId="urn:microsoft.com/office/officeart/2008/layout/LinedList"/>
    <dgm:cxn modelId="{9F5D0FB2-8068-4463-BFA9-A9EF41D2CD54}" type="presParOf" srcId="{53E87F62-FEE0-4F8B-8034-360157CBA643}" destId="{1EA0E576-D8F2-4D76-BE13-CF7E0679B424}" srcOrd="0" destOrd="0" presId="urn:microsoft.com/office/officeart/2008/layout/LinedList"/>
    <dgm:cxn modelId="{3C5F8FD7-B698-4F7E-B0A0-B23FCCBBAA14}" type="presParOf" srcId="{53E87F62-FEE0-4F8B-8034-360157CBA643}" destId="{8542AFC7-2FBF-44BC-A7ED-817B310439C7}" srcOrd="1" destOrd="0" presId="urn:microsoft.com/office/officeart/2008/layout/LinedList"/>
    <dgm:cxn modelId="{C078B363-3ED8-42F4-A64C-2B906A065660}" type="presParOf" srcId="{68B9429B-E702-4E5B-9054-B73BCBBBE9E6}" destId="{4D00EEBE-1FA8-4B36-B0AB-C34BB96777AF}" srcOrd="4" destOrd="0" presId="urn:microsoft.com/office/officeart/2008/layout/LinedList"/>
    <dgm:cxn modelId="{779439CB-BAD2-43EC-91EE-435E702D995D}" type="presParOf" srcId="{68B9429B-E702-4E5B-9054-B73BCBBBE9E6}" destId="{1685CC54-2030-4793-BA9E-53F81544D89E}" srcOrd="5" destOrd="0" presId="urn:microsoft.com/office/officeart/2008/layout/LinedList"/>
    <dgm:cxn modelId="{6AE50A18-FB27-401C-8B3C-B053C214819D}" type="presParOf" srcId="{1685CC54-2030-4793-BA9E-53F81544D89E}" destId="{FF78F869-7B38-46DE-BA38-9B85820C89E4}" srcOrd="0" destOrd="0" presId="urn:microsoft.com/office/officeart/2008/layout/LinedList"/>
    <dgm:cxn modelId="{86907BAF-0711-4C32-BD31-6D13377BC67B}" type="presParOf" srcId="{1685CC54-2030-4793-BA9E-53F81544D89E}" destId="{80E12D38-BFAA-4C2D-A760-BD1D3332BA5F}" srcOrd="1" destOrd="0" presId="urn:microsoft.com/office/officeart/2008/layout/LinedList"/>
    <dgm:cxn modelId="{4745117C-8A72-4EFA-A49E-1C8184A88BD0}" type="presParOf" srcId="{68B9429B-E702-4E5B-9054-B73BCBBBE9E6}" destId="{BC56C374-06AD-4850-823C-0BB2EC317926}" srcOrd="6" destOrd="0" presId="urn:microsoft.com/office/officeart/2008/layout/LinedList"/>
    <dgm:cxn modelId="{86427C01-5178-4EC9-A64F-E19916DD343C}" type="presParOf" srcId="{68B9429B-E702-4E5B-9054-B73BCBBBE9E6}" destId="{4AC71EB7-C530-4696-87AA-2C5014CE0AE7}" srcOrd="7" destOrd="0" presId="urn:microsoft.com/office/officeart/2008/layout/LinedList"/>
    <dgm:cxn modelId="{E56E5D24-6CAC-43A7-9C75-890066540F1D}" type="presParOf" srcId="{4AC71EB7-C530-4696-87AA-2C5014CE0AE7}" destId="{918F3F63-D32A-47C0-9F9E-3ABA84506EEA}" srcOrd="0" destOrd="0" presId="urn:microsoft.com/office/officeart/2008/layout/LinedList"/>
    <dgm:cxn modelId="{3715790B-E864-43E8-8F2C-14F623032E29}" type="presParOf" srcId="{4AC71EB7-C530-4696-87AA-2C5014CE0AE7}" destId="{53490D0E-C5D0-4B16-9B49-9AEFD66A793F}" srcOrd="1" destOrd="0" presId="urn:microsoft.com/office/officeart/2008/layout/LinedList"/>
    <dgm:cxn modelId="{0D180CFE-FB99-408E-9544-001ECD9195B8}" type="presParOf" srcId="{68B9429B-E702-4E5B-9054-B73BCBBBE9E6}" destId="{D6CF63A7-F854-4433-A9A2-AD0A3A367C30}" srcOrd="8" destOrd="0" presId="urn:microsoft.com/office/officeart/2008/layout/LinedList"/>
    <dgm:cxn modelId="{1159FBDB-12D5-47F9-826C-F13B0AEE24B9}" type="presParOf" srcId="{68B9429B-E702-4E5B-9054-B73BCBBBE9E6}" destId="{2F56B302-5474-4EE4-B99E-DFDA776F06CC}" srcOrd="9" destOrd="0" presId="urn:microsoft.com/office/officeart/2008/layout/LinedList"/>
    <dgm:cxn modelId="{FF04C283-C924-4DE4-A0A4-7248A790797A}" type="presParOf" srcId="{2F56B302-5474-4EE4-B99E-DFDA776F06CC}" destId="{BD4A02C8-B10D-43BC-9EDA-4B4922BA3657}" srcOrd="0" destOrd="0" presId="urn:microsoft.com/office/officeart/2008/layout/LinedList"/>
    <dgm:cxn modelId="{60DCAEBE-FB5C-43C2-AB32-C5BEEE775277}" type="presParOf" srcId="{2F56B302-5474-4EE4-B99E-DFDA776F06CC}" destId="{C4DD2F9B-A976-460D-8B31-FEA136128C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AA72F-5866-4163-99FA-D52D46C093E6}">
      <dsp:nvSpPr>
        <dsp:cNvPr id="0" name=""/>
        <dsp:cNvSpPr/>
      </dsp:nvSpPr>
      <dsp:spPr>
        <a:xfrm>
          <a:off x="0" y="608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2DE38-8FE1-4ECF-9751-E10C0AD32D15}">
      <dsp:nvSpPr>
        <dsp:cNvPr id="0" name=""/>
        <dsp:cNvSpPr/>
      </dsp:nvSpPr>
      <dsp:spPr>
        <a:xfrm>
          <a:off x="0" y="608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 dirty="0">
              <a:solidFill>
                <a:schemeClr val="bg1"/>
              </a:solidFill>
            </a:rPr>
            <a:t>Important terminology</a:t>
          </a:r>
          <a:endParaRPr lang="en-US" sz="3900" kern="1200" dirty="0">
            <a:solidFill>
              <a:schemeClr val="bg1"/>
            </a:solidFill>
          </a:endParaRPr>
        </a:p>
      </dsp:txBody>
      <dsp:txXfrm>
        <a:off x="0" y="608"/>
        <a:ext cx="7184570" cy="996025"/>
      </dsp:txXfrm>
    </dsp:sp>
    <dsp:sp modelId="{70B3B2E2-F8C2-48BF-8855-4B95C80DA0C3}">
      <dsp:nvSpPr>
        <dsp:cNvPr id="0" name=""/>
        <dsp:cNvSpPr/>
      </dsp:nvSpPr>
      <dsp:spPr>
        <a:xfrm>
          <a:off x="0" y="996634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A0E576-D8F2-4D76-BE13-CF7E0679B424}">
      <dsp:nvSpPr>
        <dsp:cNvPr id="0" name=""/>
        <dsp:cNvSpPr/>
      </dsp:nvSpPr>
      <dsp:spPr>
        <a:xfrm>
          <a:off x="0" y="996634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Quality of life</a:t>
          </a:r>
        </a:p>
      </dsp:txBody>
      <dsp:txXfrm>
        <a:off x="0" y="996634"/>
        <a:ext cx="7184570" cy="996025"/>
      </dsp:txXfrm>
    </dsp:sp>
    <dsp:sp modelId="{4D00EEBE-1FA8-4B36-B0AB-C34BB96777AF}">
      <dsp:nvSpPr>
        <dsp:cNvPr id="0" name=""/>
        <dsp:cNvSpPr/>
      </dsp:nvSpPr>
      <dsp:spPr>
        <a:xfrm>
          <a:off x="0" y="1992660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8F869-7B38-46DE-BA38-9B85820C89E4}">
      <dsp:nvSpPr>
        <dsp:cNvPr id="0" name=""/>
        <dsp:cNvSpPr/>
      </dsp:nvSpPr>
      <dsp:spPr>
        <a:xfrm>
          <a:off x="0" y="1992660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solidFill>
                <a:schemeClr val="bg1"/>
              </a:solidFill>
            </a:rPr>
            <a:t>Responding to diagnoses</a:t>
          </a:r>
          <a:endParaRPr lang="en-US" sz="3900" kern="1200" dirty="0">
            <a:solidFill>
              <a:schemeClr val="bg1"/>
            </a:solidFill>
          </a:endParaRPr>
        </a:p>
      </dsp:txBody>
      <dsp:txXfrm>
        <a:off x="0" y="1992660"/>
        <a:ext cx="7184570" cy="996025"/>
      </dsp:txXfrm>
    </dsp:sp>
    <dsp:sp modelId="{BC56C374-06AD-4850-823C-0BB2EC317926}">
      <dsp:nvSpPr>
        <dsp:cNvPr id="0" name=""/>
        <dsp:cNvSpPr/>
      </dsp:nvSpPr>
      <dsp:spPr>
        <a:xfrm>
          <a:off x="0" y="2988685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F3F63-D32A-47C0-9F9E-3ABA84506EEA}">
      <dsp:nvSpPr>
        <dsp:cNvPr id="0" name=""/>
        <dsp:cNvSpPr/>
      </dsp:nvSpPr>
      <dsp:spPr>
        <a:xfrm>
          <a:off x="0" y="2988685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Comanagement</a:t>
          </a:r>
        </a:p>
      </dsp:txBody>
      <dsp:txXfrm>
        <a:off x="0" y="2988685"/>
        <a:ext cx="7184570" cy="996025"/>
      </dsp:txXfrm>
    </dsp:sp>
    <dsp:sp modelId="{D6CF63A7-F854-4433-A9A2-AD0A3A367C30}">
      <dsp:nvSpPr>
        <dsp:cNvPr id="0" name=""/>
        <dsp:cNvSpPr/>
      </dsp:nvSpPr>
      <dsp:spPr>
        <a:xfrm>
          <a:off x="0" y="3984711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A02C8-B10D-43BC-9EDA-4B4922BA3657}">
      <dsp:nvSpPr>
        <dsp:cNvPr id="0" name=""/>
        <dsp:cNvSpPr/>
      </dsp:nvSpPr>
      <dsp:spPr>
        <a:xfrm>
          <a:off x="0" y="3984711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Finding balance</a:t>
          </a:r>
        </a:p>
      </dsp:txBody>
      <dsp:txXfrm>
        <a:off x="0" y="3984711"/>
        <a:ext cx="7184570" cy="9960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B987B-6643-43AA-9B56-509B80CCD0F3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42F3-CDD5-4B19-B3DB-7C5223465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43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055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FD26C-C82A-581E-C7E8-C6CB05D6E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CFF92-4513-3CC8-8D87-205145660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61EDF-E697-19B3-44F1-67FA21FE8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55C6E-F0E9-6FA7-C1DF-2FD38478F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3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529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ED811-69DC-B200-BE01-BEC2A014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3A94C-39EB-38FC-A319-0937E3A2A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7BCCA-319C-A70A-F72C-DA649B35C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80E9D-6D45-EB7B-C550-EE85A96BE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327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EE932-F499-0715-79E3-DA3A367E0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40A69-E835-3F0E-824A-A4566E630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47E998-9F7B-7446-F858-1402ACB85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158DF-7D3E-EDA8-254D-689AA0C68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489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7B604-1536-63E4-4D87-D56777A7E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392A7D-D88F-91E5-876F-0AA06AF0E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C4E62-F3BE-CB63-1364-671DB0A09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A6AD8-80B6-4D96-EDCA-9D2EDEB59E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696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80BCD-D9D2-4EE3-E0B6-2A3963DB4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D812CF-A7D1-5088-72C9-4B1F90F96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B7669-8E79-D72D-FDBC-80452E375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414E-FED5-CD26-A01E-595EE26E4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487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032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A3E42-6144-78D8-E94E-CD0906534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F19E0-5B61-A2B0-EEFB-93AEF5BA1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B2637-9CBB-A69E-9DDF-EFBFC7D6B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47F8E-68DB-51F6-F48F-5F4B8E83B8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015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A59E0-45AB-3278-3BB8-D53BA2D8E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2429B-9E6A-6EE5-9E97-4CE869582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525FC-D226-383E-5688-80928E5CF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E3C56-7603-B3D8-C555-BAB5B83A2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23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87D9900-95AD-EC4F-B7E1-959F05210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0000"/>
          <a:stretch>
            <a:fillRect/>
          </a:stretch>
        </p:blipFill>
        <p:spPr>
          <a:xfrm>
            <a:off x="999081" y="2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600C6AD-400C-F5F8-0A07-09147BFB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924"/>
          <a:stretch>
            <a:fillRect/>
          </a:stretch>
        </p:blipFill>
        <p:spPr>
          <a:xfrm>
            <a:off x="0" y="191268"/>
            <a:ext cx="2916372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301EBB8-0583-30D5-D5C9-6064F992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529" b="23302"/>
          <a:stretch>
            <a:fillRect/>
          </a:stretch>
        </p:blipFill>
        <p:spPr>
          <a:xfrm>
            <a:off x="0" y="3632200"/>
            <a:ext cx="3839210" cy="3261166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E425898-E19E-D66B-9FE6-55FE52BAB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783E0-630B-D6BD-1914-F6A39C573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0801" y="1140460"/>
            <a:ext cx="8001256" cy="5166360"/>
          </a:xfrm>
        </p:spPr>
        <p:txBody>
          <a:bodyPr anchor="ctr"/>
          <a:lstStyle>
            <a:lvl1pPr>
              <a:lnSpc>
                <a:spcPct val="75000"/>
              </a:lnSpc>
              <a:spcBef>
                <a:spcPts val="600"/>
              </a:spcBef>
              <a:spcAft>
                <a:spcPts val="1200"/>
              </a:spcAft>
              <a:defRPr sz="7200" baseline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109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7" y="1091885"/>
            <a:ext cx="5130734" cy="5048973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8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4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0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800" b="0"/>
            </a:lvl4pPr>
            <a:lvl5pPr marL="2057400" indent="-2286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1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7472374" cy="1913892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6723" y="3152220"/>
            <a:ext cx="6977077" cy="326401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D50F62-7F43-2FBB-55E3-23F6293970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9100" y="1096963"/>
            <a:ext cx="4152900" cy="57610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4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18A9A4E-F149-44F8-9FAE-8ABA2BD26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0000"/>
          <a:stretch>
            <a:fillRect/>
          </a:stretch>
        </p:blipFill>
        <p:spPr>
          <a:xfrm flipV="1">
            <a:off x="1881504" y="4663441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44170C3-9FB6-324B-DD88-972B181F5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9956" r="-1"/>
          <a:stretch/>
        </p:blipFill>
        <p:spPr>
          <a:xfrm flipH="1">
            <a:off x="10185174" y="1234440"/>
            <a:ext cx="2024907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091CD0-1D83-5BBE-A26C-2D7EAF858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529" t="-1" b="51667"/>
          <a:stretch/>
        </p:blipFill>
        <p:spPr>
          <a:xfrm flipV="1">
            <a:off x="0" y="-1"/>
            <a:ext cx="3839210" cy="2055127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5" y="1097237"/>
            <a:ext cx="11076631" cy="2885630"/>
          </a:xfrm>
        </p:spPr>
        <p:txBody>
          <a:bodyPr lIns="0" rIns="0"/>
          <a:lstStyle>
            <a:lvl1pPr>
              <a:defRPr sz="72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05300" y="4059067"/>
            <a:ext cx="7338056" cy="26922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5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6" y="1091885"/>
            <a:ext cx="5273043" cy="5056747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11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65" y="3870960"/>
            <a:ext cx="11533835" cy="2941320"/>
          </a:xfrm>
        </p:spPr>
        <p:txBody>
          <a:bodyPr lIns="0" tIns="0" rIns="0" bIns="0" anchor="ctr"/>
          <a:lstStyle>
            <a:lvl1pPr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defRPr sz="720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506222-0BCA-9701-399C-0CF92FA231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112500" cy="37719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9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+ Cont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F0DABCC-5F7F-4B44-B780-46F5D46079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433638"/>
            <a:ext cx="5821363" cy="396716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7926" y="2433005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1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6726" y="2392441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67472" y="2392441"/>
            <a:ext cx="5303523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4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345663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01538" y="2392441"/>
            <a:ext cx="6969458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2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94358" y="2417765"/>
            <a:ext cx="6680202" cy="3967795"/>
          </a:xfrm>
        </p:spPr>
        <p:txBody>
          <a:bodyPr lIns="45720"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740664" indent="-283464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7823200" y="2417763"/>
            <a:ext cx="3838248" cy="3967794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2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66724" y="2417763"/>
            <a:ext cx="11094724" cy="39677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8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697707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05773" y="2392440"/>
            <a:ext cx="3655675" cy="396779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7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19982B1-35C2-DE4A-CC6C-C7EF3864F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1330D7F-AB80-0985-7B65-80D66CC84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1653" b="49194"/>
          <a:stretch>
            <a:fillRect/>
          </a:stretch>
        </p:blipFill>
        <p:spPr>
          <a:xfrm>
            <a:off x="10095411" y="4663440"/>
            <a:ext cx="2121988" cy="2229926"/>
          </a:xfrm>
          <a:custGeom>
            <a:avLst/>
            <a:gdLst>
              <a:gd name="connsiteX0" fmla="*/ 0 w 2121988"/>
              <a:gd name="connsiteY0" fmla="*/ 0 h 2229926"/>
              <a:gd name="connsiteX1" fmla="*/ 2121988 w 2121988"/>
              <a:gd name="connsiteY1" fmla="*/ 0 h 2229926"/>
              <a:gd name="connsiteX2" fmla="*/ 2121988 w 2121988"/>
              <a:gd name="connsiteY2" fmla="*/ 2229926 h 2229926"/>
              <a:gd name="connsiteX3" fmla="*/ 0 w 2121988"/>
              <a:gd name="connsiteY3" fmla="*/ 2229926 h 222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1988" h="2229926">
                <a:moveTo>
                  <a:pt x="0" y="0"/>
                </a:moveTo>
                <a:lnTo>
                  <a:pt x="2121988" y="0"/>
                </a:lnTo>
                <a:lnTo>
                  <a:pt x="2121988" y="2229926"/>
                </a:lnTo>
                <a:lnTo>
                  <a:pt x="0" y="2229926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55AA66F-C4B1-E34A-8E6B-F893310B2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50000"/>
          <a:stretch>
            <a:fillRect/>
          </a:stretch>
        </p:blipFill>
        <p:spPr>
          <a:xfrm>
            <a:off x="6228080" y="2"/>
            <a:ext cx="4046220" cy="2194559"/>
          </a:xfrm>
          <a:custGeom>
            <a:avLst/>
            <a:gdLst>
              <a:gd name="connsiteX0" fmla="*/ 0 w 4046220"/>
              <a:gd name="connsiteY0" fmla="*/ 0 h 2194559"/>
              <a:gd name="connsiteX1" fmla="*/ 4046220 w 4046220"/>
              <a:gd name="connsiteY1" fmla="*/ 0 h 2194559"/>
              <a:gd name="connsiteX2" fmla="*/ 4046220 w 4046220"/>
              <a:gd name="connsiteY2" fmla="*/ 2194559 h 2194559"/>
              <a:gd name="connsiteX3" fmla="*/ 0 w 40462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220" h="2194559">
                <a:moveTo>
                  <a:pt x="0" y="0"/>
                </a:moveTo>
                <a:lnTo>
                  <a:pt x="4046220" y="0"/>
                </a:lnTo>
                <a:lnTo>
                  <a:pt x="40462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5700ADD-BC9D-410F-D6AC-1D0E4F104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0000" b="30164"/>
          <a:stretch>
            <a:fillRect/>
          </a:stretch>
        </p:blipFill>
        <p:spPr>
          <a:xfrm>
            <a:off x="0" y="3923964"/>
            <a:ext cx="2194560" cy="2969402"/>
          </a:xfrm>
          <a:custGeom>
            <a:avLst/>
            <a:gdLst>
              <a:gd name="connsiteX0" fmla="*/ 0 w 2194560"/>
              <a:gd name="connsiteY0" fmla="*/ 0 h 2969402"/>
              <a:gd name="connsiteX1" fmla="*/ 2194560 w 2194560"/>
              <a:gd name="connsiteY1" fmla="*/ 0 h 2969402"/>
              <a:gd name="connsiteX2" fmla="*/ 2194560 w 2194560"/>
              <a:gd name="connsiteY2" fmla="*/ 2969402 h 2969402"/>
              <a:gd name="connsiteX3" fmla="*/ 0 w 2194560"/>
              <a:gd name="connsiteY3" fmla="*/ 2969402 h 2969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2969402">
                <a:moveTo>
                  <a:pt x="0" y="0"/>
                </a:moveTo>
                <a:lnTo>
                  <a:pt x="2194560" y="0"/>
                </a:lnTo>
                <a:lnTo>
                  <a:pt x="2194560" y="2969402"/>
                </a:lnTo>
                <a:lnTo>
                  <a:pt x="0" y="2969402"/>
                </a:ln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091067-F6AB-B1C8-2F06-423B82E6E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807" y="1049447"/>
            <a:ext cx="5910270" cy="5094386"/>
          </a:xfrm>
        </p:spPr>
        <p:txBody>
          <a:bodyPr rIns="0" anchor="ctr"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4F7BB3-A204-D529-DD36-39D4311F354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5077" y="1049447"/>
            <a:ext cx="4922837" cy="5094386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2800" b="0"/>
            </a:lvl1pPr>
            <a:lvl2pPr>
              <a:lnSpc>
                <a:spcPct val="100000"/>
              </a:lnSpc>
              <a:spcBef>
                <a:spcPts val="1000"/>
              </a:spcBef>
              <a:defRPr sz="2400" b="0"/>
            </a:lvl2pPr>
            <a:lvl3pPr>
              <a:lnSpc>
                <a:spcPct val="100000"/>
              </a:lnSpc>
              <a:spcBef>
                <a:spcPts val="1000"/>
              </a:spcBef>
              <a:defRPr sz="2000" b="0"/>
            </a:lvl3pPr>
            <a:lvl4pPr>
              <a:lnSpc>
                <a:spcPct val="100000"/>
              </a:lnSpc>
              <a:spcBef>
                <a:spcPts val="1000"/>
              </a:spcBef>
              <a:defRPr sz="1800" b="0"/>
            </a:lvl4pPr>
            <a:lvl5pPr>
              <a:lnSpc>
                <a:spcPct val="100000"/>
              </a:lnSpc>
              <a:spcBef>
                <a:spcPts val="1000"/>
              </a:spcBef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433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806" y="1432518"/>
            <a:ext cx="7958331" cy="22376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1808" y="3696004"/>
            <a:ext cx="7796540" cy="2379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88E8CDA-4B53-1285-4909-D3A5FB6B3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3671" y="459077"/>
            <a:ext cx="2267211" cy="480363"/>
          </a:xfrm>
          <a:prstGeom prst="rect">
            <a:avLst/>
          </a:prstGeom>
        </p:spPr>
        <p:txBody>
          <a:bodyPr vert="horz" lIns="0" tIns="0" rIns="91440" bIns="18288" rtlCol="0" anchor="ctr"/>
          <a:lstStyle>
            <a:lvl1pPr algn="l">
              <a:defRPr sz="12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00A2341-0273-5256-69F5-7D63AFB93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9025" y="459081"/>
            <a:ext cx="789138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40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7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000" b="1" i="0" kern="1200" cap="none" spc="-300">
          <a:solidFill>
            <a:schemeClr val="bg1"/>
          </a:solidFill>
          <a:effectLst/>
          <a:latin typeface="+mj-lt"/>
          <a:ea typeface="+mj-ea"/>
          <a:cs typeface="Kalinga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20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8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6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4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2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istockphoto.com/vector/happy-family-cartoon-boy-standing-together-with-mother-and-grandma-relatives-group-gm1434116990-475836258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openclipart.org/detail/544/gerald-g-balance-scale-by-gerald_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BDD8-0A72-E913-2448-3BA8443C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801" y="1140460"/>
            <a:ext cx="8001256" cy="5166360"/>
          </a:xfrm>
        </p:spPr>
        <p:txBody>
          <a:bodyPr/>
          <a:lstStyle/>
          <a:p>
            <a:r>
              <a:rPr lang="en-US" dirty="0"/>
              <a:t>Management of Chronic Health Disorders</a:t>
            </a:r>
          </a:p>
        </p:txBody>
      </p:sp>
    </p:spTree>
    <p:extLst>
      <p:ext uri="{BB962C8B-B14F-4D97-AF65-F5344CB8AC3E}">
        <p14:creationId xmlns:p14="http://schemas.microsoft.com/office/powerpoint/2010/main" val="181794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4B515DA-B5BA-1D54-0138-5A9DBF40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5011113" cy="5048974"/>
          </a:xfrm>
        </p:spPr>
        <p:txBody>
          <a:bodyPr anchor="t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010E8-1DAC-D1A8-367B-24A839DD6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6" name="Content Placeholder 13">
            <a:extLst>
              <a:ext uri="{FF2B5EF4-FFF2-40B4-BE49-F238E27FC236}">
                <a16:creationId xmlns:a16="http://schemas.microsoft.com/office/drawing/2014/main" id="{92A48737-24FD-25CA-B0B3-CD766C0E55D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16708234"/>
              </p:ext>
            </p:extLst>
          </p:nvPr>
        </p:nvGraphicFramePr>
        <p:xfrm>
          <a:off x="4458790" y="1097238"/>
          <a:ext cx="7184570" cy="4981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60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B2A8-20E9-967B-051F-855A21884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4C94D2-BFE1-6390-0BC0-95EA0A1AE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737564"/>
            <a:ext cx="11094723" cy="480364"/>
          </a:xfrm>
        </p:spPr>
        <p:txBody>
          <a:bodyPr/>
          <a:lstStyle/>
          <a:p>
            <a:r>
              <a:rPr lang="en-US" sz="3600" dirty="0"/>
              <a:t>Important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2F9BCE-0C10-0F75-2E2F-2D0045D72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39725-6574-1917-609C-CEEA549C71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/>
              <a:t>Chronic health disorder</a:t>
            </a:r>
            <a:r>
              <a:rPr lang="en-US" sz="2400" b="1" dirty="0"/>
              <a:t> </a:t>
            </a:r>
            <a:r>
              <a:rPr lang="en-US" sz="2400" dirty="0"/>
              <a:t>– a disease that a person experiences over an extended period of time</a:t>
            </a:r>
          </a:p>
          <a:p>
            <a:pPr lvl="2"/>
            <a:r>
              <a:rPr lang="en-US" dirty="0"/>
              <a:t>Ex: partial hearing loss, hypertension, Alzheimer’s disease, cancer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/>
              <a:t>Quality-of-life</a:t>
            </a:r>
            <a:r>
              <a:rPr lang="en-US" sz="2400" dirty="0"/>
              <a:t> – a multidimensional rating of a person’s wellbeing, that accounts for physical, mental, cognitive, social, and spiritual health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/>
              <a:t>Comorbidity</a:t>
            </a:r>
            <a:r>
              <a:rPr lang="en-US" sz="2400" dirty="0"/>
              <a:t> – the addition of a disease (or diseases) during the assessment or treatment of a pre-existing condition</a:t>
            </a:r>
          </a:p>
          <a:p>
            <a:pPr lvl="2"/>
            <a:r>
              <a:rPr lang="en-US" sz="2200" dirty="0"/>
              <a:t>Ex: cancer and depression</a:t>
            </a:r>
          </a:p>
          <a:p>
            <a:pPr lvl="2"/>
            <a:r>
              <a:rPr lang="en-US" sz="2200" dirty="0"/>
              <a:t>Typically considered disease-focused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/>
              <a:t>Multimorbidity</a:t>
            </a:r>
            <a:r>
              <a:rPr lang="en-US" sz="2400" dirty="0"/>
              <a:t> – the co-existence of multiple diseases, where one disease is not more prominent than the other(s)</a:t>
            </a:r>
          </a:p>
          <a:p>
            <a:pPr lvl="2"/>
            <a:r>
              <a:rPr lang="en-US" sz="2200" dirty="0"/>
              <a:t>Ex: anxiety and depression</a:t>
            </a:r>
          </a:p>
          <a:p>
            <a:pPr lvl="2"/>
            <a:r>
              <a:rPr lang="en-US" sz="2200" dirty="0"/>
              <a:t>Typically considered patient-focused</a:t>
            </a:r>
          </a:p>
        </p:txBody>
      </p:sp>
    </p:spTree>
    <p:extLst>
      <p:ext uri="{BB962C8B-B14F-4D97-AF65-F5344CB8AC3E}">
        <p14:creationId xmlns:p14="http://schemas.microsoft.com/office/powerpoint/2010/main" val="1550072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DC294-9257-7832-A346-A3EEB7F7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22C45-FE8A-7235-5E9E-030A9D017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888" y="2604240"/>
            <a:ext cx="8928614" cy="3243943"/>
          </a:xfrm>
        </p:spPr>
        <p:txBody>
          <a:bodyPr/>
          <a:lstStyle/>
          <a:p>
            <a:r>
              <a:rPr lang="en-US" sz="4800" b="0" dirty="0">
                <a:latin typeface="Cambria" panose="02040503050406030204" pitchFamily="18" charset="0"/>
                <a:ea typeface="Cambria" panose="02040503050406030204" pitchFamily="18" charset="0"/>
              </a:rPr>
              <a:t>What are the similarities &amp; differences between a chronic illness and a terminal illness?</a:t>
            </a:r>
            <a:endParaRPr lang="en-US" sz="48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17EEC0-40C5-D5AC-0ADB-C4E7EC30C3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9188" y="517525"/>
            <a:ext cx="912812" cy="4794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DA6BA66-B993-94D7-ED36-7DEFAA6755BA}"/>
              </a:ext>
            </a:extLst>
          </p:cNvPr>
          <p:cNvSpPr/>
          <p:nvPr/>
        </p:nvSpPr>
        <p:spPr>
          <a:xfrm>
            <a:off x="1146313" y="828261"/>
            <a:ext cx="2332383" cy="1948069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6A78C5-5EA2-06B2-1494-32974318C21C}"/>
              </a:ext>
            </a:extLst>
          </p:cNvPr>
          <p:cNvSpPr/>
          <p:nvPr/>
        </p:nvSpPr>
        <p:spPr>
          <a:xfrm>
            <a:off x="2551044" y="828261"/>
            <a:ext cx="2332383" cy="1948069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62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198D-8B86-C9AD-3685-7DAE867F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FED7F9-16B9-87C1-750B-E3588F0FE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737564"/>
            <a:ext cx="11094723" cy="480364"/>
          </a:xfrm>
        </p:spPr>
        <p:txBody>
          <a:bodyPr/>
          <a:lstStyle/>
          <a:p>
            <a:r>
              <a:rPr lang="en-US" sz="3600" dirty="0"/>
              <a:t>Quality-of-Life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51C60C-E12D-1BA5-A144-B9D5D6009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EEA44-CD98-F6F5-0709-B3D7CB23E7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429960"/>
            <a:ext cx="11104270" cy="527469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Assessments measure the extent to which a patient’s normal life activities have been compromised by disease and treatment.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Components: ability to maintain normal life functioning, as well as physical, mental, cognitive, social, and spiritual health (though inclusion in assessments may vary)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 survivability of chronic illnesses have increased, Q-o-L has become a larger concern</a:t>
            </a:r>
          </a:p>
          <a:p>
            <a:pPr lvl="2"/>
            <a:r>
              <a:rPr lang="en-US" sz="2200" dirty="0"/>
              <a:t>Can be a determining factor in treatment selection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Q-o-L can impact success of treatments and severity symptoms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4469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8805-90FC-608E-2D8B-23026CE72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F4D781-D27A-31E9-9543-4ABDB7C9D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730938"/>
            <a:ext cx="11094723" cy="480364"/>
          </a:xfrm>
        </p:spPr>
        <p:txBody>
          <a:bodyPr/>
          <a:lstStyle/>
          <a:p>
            <a:r>
              <a:rPr lang="en-US" sz="3600" dirty="0"/>
              <a:t>Responses to Diagnosis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D542FD-37E5-701B-1B82-2C7838088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C658A-18BB-C785-54DD-004A1DB4E46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Being diagnosed with a chronic illness can massively impact a patient’s life, and can lead to denial, anxiety, and depression</a:t>
            </a:r>
          </a:p>
          <a:p>
            <a:pPr lvl="2"/>
            <a:r>
              <a:rPr lang="en-US" sz="2200" dirty="0"/>
              <a:t>Consider: What are common symptoms of anxiety and depression? What are common symptoms of being immunocompromised? </a:t>
            </a:r>
          </a:p>
          <a:p>
            <a:pPr lvl="2"/>
            <a:r>
              <a:rPr lang="en-US" sz="2200" dirty="0"/>
              <a:t>These can impact treatment adherence and symptom severity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Diagnosis can impact a person’s </a:t>
            </a:r>
            <a:r>
              <a:rPr lang="en-US" sz="2400" b="1" u="sng" dirty="0"/>
              <a:t>self-concept</a:t>
            </a:r>
            <a:r>
              <a:rPr lang="en-US" sz="2400" dirty="0"/>
              <a:t> (the set of beliefs about one’s personal qualities). Domains impacted include </a:t>
            </a:r>
          </a:p>
          <a:p>
            <a:pPr lvl="2"/>
            <a:r>
              <a:rPr lang="en-US" dirty="0"/>
              <a:t>Body image</a:t>
            </a:r>
          </a:p>
          <a:p>
            <a:pPr lvl="2"/>
            <a:r>
              <a:rPr lang="en-US" sz="2200" dirty="0"/>
              <a:t>Physical health &amp; capability</a:t>
            </a:r>
          </a:p>
          <a:p>
            <a:pPr lvl="2"/>
            <a:r>
              <a:rPr lang="en-US" sz="2200" dirty="0"/>
              <a:t>Sense of achievement/ cognitive ability</a:t>
            </a:r>
          </a:p>
          <a:p>
            <a:pPr lvl="2"/>
            <a:r>
              <a:rPr lang="en-US" sz="2200" dirty="0"/>
              <a:t>Social-ness</a:t>
            </a:r>
          </a:p>
          <a:p>
            <a:pPr lvl="2"/>
            <a:r>
              <a:rPr lang="en-US" sz="2200" dirty="0"/>
              <a:t>Personal beliefs</a:t>
            </a:r>
          </a:p>
        </p:txBody>
      </p:sp>
    </p:spTree>
    <p:extLst>
      <p:ext uri="{BB962C8B-B14F-4D97-AF65-F5344CB8AC3E}">
        <p14:creationId xmlns:p14="http://schemas.microsoft.com/office/powerpoint/2010/main" val="424156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520C8-A4BE-DD04-D7D4-728262B85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06FEDC-72BB-1E42-3EFE-15A728061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737564"/>
            <a:ext cx="11094723" cy="480364"/>
          </a:xfrm>
        </p:spPr>
        <p:txBody>
          <a:bodyPr/>
          <a:lstStyle/>
          <a:p>
            <a:r>
              <a:rPr lang="en-US" sz="3600" dirty="0"/>
              <a:t>Coping with Chronic Health Disorders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B34ABA-E60E-F95C-0809-747A0CDC1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BFF79A-D346-9F22-7D2E-B40E7507FD4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People use a variety of strategies, including:</a:t>
            </a:r>
          </a:p>
          <a:p>
            <a:pPr lvl="2"/>
            <a:r>
              <a:rPr lang="en-US" sz="2200" dirty="0"/>
              <a:t>Social support or direct problem solving.</a:t>
            </a:r>
          </a:p>
          <a:p>
            <a:pPr lvl="2"/>
            <a:r>
              <a:rPr lang="en-US" sz="2200" dirty="0"/>
              <a:t>Positive focus.</a:t>
            </a:r>
          </a:p>
          <a:p>
            <a:pPr lvl="2"/>
            <a:r>
              <a:rPr lang="en-US" sz="2200" dirty="0"/>
              <a:t>Distancing.</a:t>
            </a:r>
          </a:p>
          <a:p>
            <a:pPr lvl="2"/>
            <a:r>
              <a:rPr lang="en-US" sz="2200" dirty="0"/>
              <a:t>Cognitive escape or avoidance.</a:t>
            </a:r>
          </a:p>
          <a:p>
            <a:pPr lvl="2"/>
            <a:r>
              <a:rPr lang="en-US" sz="2200" dirty="0"/>
              <a:t>Behavioral escape or avoidance.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Goal: maintain </a:t>
            </a:r>
            <a:r>
              <a:rPr lang="en-US" sz="2400" b="1" u="sng" dirty="0"/>
              <a:t>self-efficacy</a:t>
            </a:r>
            <a:r>
              <a:rPr lang="en-US" sz="2400" dirty="0"/>
              <a:t> (the belief that one can control one’s practice of a behavior)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Strategies that work: Active (approach-oriented) coping, maintaining a positive focus that emphasizes self-efficacy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Potential concern: during the coping process, a patient may develop unhealthy or inaccurate beliefs about their disorder and what caused its development</a:t>
            </a:r>
          </a:p>
        </p:txBody>
      </p:sp>
    </p:spTree>
    <p:extLst>
      <p:ext uri="{BB962C8B-B14F-4D97-AF65-F5344CB8AC3E}">
        <p14:creationId xmlns:p14="http://schemas.microsoft.com/office/powerpoint/2010/main" val="2649817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9A2D-FA6F-3D84-3312-E45230EE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529E768-17A0-2B75-BF0E-ACB99413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744190"/>
            <a:ext cx="11094723" cy="480364"/>
          </a:xfrm>
        </p:spPr>
        <p:txBody>
          <a:bodyPr/>
          <a:lstStyle/>
          <a:p>
            <a:r>
              <a:rPr lang="en-US" sz="3600" dirty="0"/>
              <a:t>Chronic Health Disorder Comanagement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3C7BAF-A62C-A0FA-DB41-4CEEED30E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8FC2FB-85AA-8253-97D5-8A9E1CDCC5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u="sng" dirty="0"/>
              <a:t>Comanagement</a:t>
            </a:r>
            <a:r>
              <a:rPr lang="en-US" sz="2200" b="1" dirty="0"/>
              <a:t> </a:t>
            </a:r>
            <a:r>
              <a:rPr lang="en-US" sz="2200" dirty="0"/>
              <a:t>– the process of managing a disorder from multiple domains simultaneously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In addition to the more straightforward physical and mental outcomes, a chronic health disorder can impact accessibility, workplace performance, family dynamics, sexual health, dietary restrictions, and spiritual/ emotional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 treatment team can include: illness-specific physicians, physical therapists, occupational therapists, dietitians, social workers, and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Often, a heavy reliance is placed on caregivers</a:t>
            </a:r>
          </a:p>
        </p:txBody>
      </p:sp>
    </p:spTree>
    <p:extLst>
      <p:ext uri="{BB962C8B-B14F-4D97-AF65-F5344CB8AC3E}">
        <p14:creationId xmlns:p14="http://schemas.microsoft.com/office/powerpoint/2010/main" val="3263864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70B3BC-EB46-73C4-2FD0-D362936F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140" y="2669884"/>
            <a:ext cx="6239185" cy="3146125"/>
          </a:xfrm>
        </p:spPr>
        <p:txBody>
          <a:bodyPr/>
          <a:lstStyle/>
          <a:p>
            <a:r>
              <a:rPr lang="en-US" sz="3600" b="0" dirty="0"/>
              <a:t>How might having a chronic illness be different for…</a:t>
            </a:r>
            <a:br>
              <a:rPr lang="en-US" sz="3600" b="0" dirty="0"/>
            </a:br>
            <a:r>
              <a:rPr lang="en-US" sz="3600" b="0" dirty="0"/>
              <a:t>an 8-year-old?</a:t>
            </a:r>
            <a:br>
              <a:rPr lang="en-US" sz="3600" b="0" dirty="0"/>
            </a:br>
            <a:r>
              <a:rPr lang="en-US" sz="3600" b="0" dirty="0"/>
              <a:t>a 30-year old?</a:t>
            </a:r>
            <a:br>
              <a:rPr lang="en-US" sz="3600" b="0" dirty="0"/>
            </a:br>
            <a:r>
              <a:rPr lang="en-US" sz="3600" b="0" dirty="0"/>
              <a:t>an 80-year old?</a:t>
            </a:r>
            <a:br>
              <a:rPr lang="en-US" sz="3600" b="0" dirty="0"/>
            </a:br>
            <a:r>
              <a:rPr lang="en-US" sz="3600" b="0" dirty="0"/>
              <a:t>How might caregiving look different for these ages?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DECEF1-28BD-A1ED-A25A-B6FC944327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9188" y="517525"/>
            <a:ext cx="912812" cy="4794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" name="Picture Placeholder 6">
            <a:extLst>
              <a:ext uri="{FF2B5EF4-FFF2-40B4-BE49-F238E27FC236}">
                <a16:creationId xmlns:a16="http://schemas.microsoft.com/office/drawing/2014/main" id="{A75A54E0-519A-E18E-B909-D12D2F230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6015" b="6015"/>
          <a:stretch>
            <a:fillRect/>
          </a:stretch>
        </p:blipFill>
        <p:spPr>
          <a:xfrm>
            <a:off x="7402513" y="0"/>
            <a:ext cx="4789487" cy="6586538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3751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FD93B-833A-0009-501C-2CC994E9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9128A2-0CE4-F361-3BB1-AA5BA0415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744190"/>
            <a:ext cx="11094723" cy="480364"/>
          </a:xfrm>
        </p:spPr>
        <p:txBody>
          <a:bodyPr/>
          <a:lstStyle/>
          <a:p>
            <a:r>
              <a:rPr lang="en-US" sz="3600" dirty="0"/>
              <a:t>Interventions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2A407B-F53E-96AF-3895-B506FBAEC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F1797-B128-5EA4-D7B0-C1CCEA8947B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Pharmacological interventions</a:t>
            </a:r>
          </a:p>
          <a:p>
            <a:pPr lvl="1"/>
            <a:r>
              <a:rPr lang="en-US" sz="2200" dirty="0"/>
              <a:t>May including additions like antidepressants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Individual therapy</a:t>
            </a:r>
          </a:p>
          <a:p>
            <a:pPr lvl="2"/>
            <a:r>
              <a:rPr lang="en-US" sz="2200" dirty="0"/>
              <a:t>More episodic/ as-needed than traditional therapy sessions</a:t>
            </a:r>
          </a:p>
          <a:p>
            <a:pPr lvl="2"/>
            <a:r>
              <a:rPr lang="en-US" sz="2200" dirty="0"/>
              <a:t>Requires a therapist knowledgeable about that chronic health disorder</a:t>
            </a:r>
          </a:p>
          <a:p>
            <a:pPr lvl="2"/>
            <a:r>
              <a:rPr lang="en-US" sz="2200" dirty="0"/>
              <a:t>Typically focuses on building coping skills and reducing anxiety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Mindfulness-based therapies (relaxation training, expressive writing, Acceptance and Commitment Therapy, etc.)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Physical rehabilitation and exercise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Social support (including friends/family and support groups)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004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6859-839F-099B-2EA4-607E55CDC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107BA3-3BFA-D2C5-BB18-36C79FD79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8"/>
            <a:ext cx="11094723" cy="480364"/>
          </a:xfrm>
        </p:spPr>
        <p:txBody>
          <a:bodyPr/>
          <a:lstStyle/>
          <a:p>
            <a:r>
              <a:rPr lang="en-US" sz="3600" dirty="0"/>
              <a:t>Treatment Priorities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AE4419-AB00-C6BE-4E03-68DF2C59D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8B21E3AB-4BDA-0948-7CAC-568F6D07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378607" y="2218037"/>
            <a:ext cx="3750075" cy="2421923"/>
          </a:xfrm>
          <a:prstGeom prst="rect">
            <a:avLst/>
          </a:prstGeom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1682DF95-10D9-1EBC-7E4E-3AC2564A7F39}"/>
              </a:ext>
            </a:extLst>
          </p:cNvPr>
          <p:cNvSpPr txBox="1">
            <a:spLocks/>
          </p:cNvSpPr>
          <p:nvPr/>
        </p:nvSpPr>
        <p:spPr>
          <a:xfrm>
            <a:off x="474562" y="1778291"/>
            <a:ext cx="3309161" cy="40832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None/>
              <a:defRPr sz="2000" b="0" i="0" kern="1200" spc="0">
                <a:solidFill>
                  <a:schemeClr val="bg1"/>
                </a:solidFill>
                <a:effectLst/>
                <a:latin typeface="+mn-lt"/>
                <a:ea typeface="+mn-ea"/>
                <a:cs typeface="Kalinga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2000" b="0" i="0" kern="1200" spc="0">
                <a:solidFill>
                  <a:schemeClr val="bg1"/>
                </a:solidFill>
                <a:effectLst/>
                <a:latin typeface="+mn-lt"/>
                <a:ea typeface="+mn-ea"/>
                <a:cs typeface="Kalinga" panose="020B0502040204020203" pitchFamily="34" charset="0"/>
              </a:defRPr>
            </a:lvl2pPr>
            <a:lvl3pPr marL="713232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2000" b="0" i="0" kern="1200" spc="0">
                <a:solidFill>
                  <a:schemeClr val="bg1"/>
                </a:solidFill>
                <a:effectLst/>
                <a:latin typeface="+mn-lt"/>
                <a:ea typeface="+mn-ea"/>
                <a:cs typeface="Kalinga" panose="020B0502040204020203" pitchFamily="34" charset="0"/>
              </a:defRPr>
            </a:lvl3pPr>
            <a:lvl4pPr marL="1078992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2000" b="0" i="0" kern="1200" spc="0">
                <a:solidFill>
                  <a:schemeClr val="bg1"/>
                </a:solidFill>
                <a:effectLst/>
                <a:latin typeface="+mn-lt"/>
                <a:ea typeface="+mn-ea"/>
                <a:cs typeface="Kalinga" panose="020B0502040204020203" pitchFamily="34" charset="0"/>
              </a:defRPr>
            </a:lvl4pPr>
            <a:lvl5pPr marL="1837944" indent="-28575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SzPct val="90000"/>
              <a:buFont typeface="Arial" panose="020B0604020202020204" pitchFamily="34" charset="0"/>
              <a:buChar char="•"/>
              <a:defRPr sz="2000" b="0" i="0" kern="1200" spc="0">
                <a:solidFill>
                  <a:schemeClr val="bg1"/>
                </a:solidFill>
                <a:effectLst/>
                <a:latin typeface="+mn-lt"/>
                <a:ea typeface="+mn-ea"/>
                <a:cs typeface="Kalinga" panose="020B0502040204020203" pitchFamily="34" charset="0"/>
              </a:defRPr>
            </a:lvl5pPr>
            <a:lvl6pPr marL="2642616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3108960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575304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4041648" indent="-338328" algn="l" defTabSz="914400" rtl="0" eaLnBrk="1" latinLnBrk="0" hangingPunct="1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accent6"/>
              </a:buClr>
              <a:buSzPct val="90000"/>
              <a:buFont typeface="Wingdings" panose="05000000000000000000" pitchFamily="2" charset="2"/>
              <a:buChar char="§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/>
              <a:t>Treatment Adherence</a:t>
            </a:r>
          </a:p>
          <a:p>
            <a:r>
              <a:rPr lang="en-US" sz="2400" dirty="0"/>
              <a:t>-better at preventing illness progression</a:t>
            </a:r>
          </a:p>
          <a:p>
            <a:r>
              <a:rPr lang="en-US" sz="2400" dirty="0"/>
              <a:t>-reduce hospitalizations</a:t>
            </a:r>
          </a:p>
          <a:p>
            <a:r>
              <a:rPr lang="en-US" sz="2400" dirty="0"/>
              <a:t>-increase survival rates</a:t>
            </a:r>
          </a:p>
          <a:p>
            <a:r>
              <a:rPr lang="en-US" sz="2400" dirty="0"/>
              <a:t>-provides sense of structure</a:t>
            </a:r>
          </a:p>
          <a:p>
            <a:r>
              <a:rPr lang="en-US" sz="2400" dirty="0"/>
              <a:t>-risk of fatigue and burnout</a:t>
            </a:r>
          </a:p>
          <a:p>
            <a:endParaRPr lang="en-US" sz="280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AD5D3184-40CD-899E-0191-EAD46BB6EE1A}"/>
              </a:ext>
            </a:extLst>
          </p:cNvPr>
          <p:cNvSpPr txBox="1">
            <a:spLocks/>
          </p:cNvSpPr>
          <p:nvPr/>
        </p:nvSpPr>
        <p:spPr>
          <a:xfrm>
            <a:off x="7390140" y="1778291"/>
            <a:ext cx="3408721" cy="40832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800" b="1" u="sng" dirty="0">
                <a:solidFill>
                  <a:schemeClr val="bg2"/>
                </a:solidFill>
              </a:rPr>
              <a:t>Quality-of-Life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2"/>
                </a:solidFill>
              </a:rPr>
              <a:t>-provides sense of autonomy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2"/>
                </a:solidFill>
              </a:rPr>
              <a:t>-can reduce anxiety/ depression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2"/>
                </a:solidFill>
              </a:rPr>
              <a:t>-helps sustain long-term adherence to key aspects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2"/>
                </a:solidFill>
              </a:rPr>
              <a:t>-can facilitate compassion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bg2"/>
                </a:solidFill>
              </a:rPr>
              <a:t>-decreases long-term health/ survivability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5859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D29"/>
      </a:dk2>
      <a:lt2>
        <a:srgbClr val="E6B32E"/>
      </a:lt2>
      <a:accent1>
        <a:srgbClr val="9F9CD8"/>
      </a:accent1>
      <a:accent2>
        <a:srgbClr val="ED95A2"/>
      </a:accent2>
      <a:accent3>
        <a:srgbClr val="8BB9E1"/>
      </a:accent3>
      <a:accent4>
        <a:srgbClr val="C33F51"/>
      </a:accent4>
      <a:accent5>
        <a:srgbClr val="004048"/>
      </a:accent5>
      <a:accent6>
        <a:srgbClr val="8EC0C1"/>
      </a:accent6>
      <a:hlink>
        <a:srgbClr val="6D9D9B"/>
      </a:hlink>
      <a:folHlink>
        <a:srgbClr val="6D8583"/>
      </a:folHlink>
    </a:clrScheme>
    <a:fontScheme name="Custom 116">
      <a:majorFont>
        <a:latin typeface="Kalinga"/>
        <a:ea typeface=""/>
        <a:cs typeface=""/>
      </a:majorFont>
      <a:minorFont>
        <a:latin typeface="Kalinga"/>
        <a:ea typeface=""/>
        <a:cs typeface="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9" id="{1C1685F1-2AF6-4AF8-B809-5763D0E52941}" vid="{50BDB98F-F06A-48E8-BE85-F709AAFF09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FBC208-84B5-4BA7-8306-5BDC2F8CE1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F746E38-3E45-40EB-917C-6C82B8DF19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058098-9A21-440B-BD1E-02659AABD2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Pastels Presentation</Template>
  <TotalTime>27</TotalTime>
  <Words>658</Words>
  <Application>Microsoft Office PowerPoint</Application>
  <PresentationFormat>Widescreen</PresentationFormat>
  <Paragraphs>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Kalinga</vt:lpstr>
      <vt:lpstr>Wingdings</vt:lpstr>
      <vt:lpstr>Madison</vt:lpstr>
      <vt:lpstr>Management of Chronic Health Disorders</vt:lpstr>
      <vt:lpstr>Agenda</vt:lpstr>
      <vt:lpstr>Important Terminology</vt:lpstr>
      <vt:lpstr>What are the similarities &amp; differences between a chronic illness and a terminal illness?</vt:lpstr>
      <vt:lpstr>Quality-of-Life</vt:lpstr>
      <vt:lpstr>Responses to Diagnosis</vt:lpstr>
      <vt:lpstr>Coping with Chronic Health Disorders</vt:lpstr>
      <vt:lpstr>Chronic Health Disorder Comanagement</vt:lpstr>
      <vt:lpstr>How might having a chronic illness be different for… an 8-year-old? a 30-year old? an 80-year old? How might caregiving look different for these ages?</vt:lpstr>
      <vt:lpstr>Interventions</vt:lpstr>
      <vt:lpstr>Treatment Priorities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GARY NIXON</dc:creator>
  <cp:lastModifiedBy>Bryanna Scheuler</cp:lastModifiedBy>
  <cp:revision>3</cp:revision>
  <dcterms:created xsi:type="dcterms:W3CDTF">2026-08-15T23:01:16Z</dcterms:created>
  <dcterms:modified xsi:type="dcterms:W3CDTF">2026-08-16T23:23:48Z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