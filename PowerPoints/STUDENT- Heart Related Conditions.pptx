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3" d="100"/>
          <a:sy n="83" d="100"/>
        </p:scale>
        <p:origin x="1002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9F65-C3BD-466B-9CA9-B155A73D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66DED-2374-7522-76A3-088C12FC4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346B0-B15E-B52B-CB84-B6C9DC59D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B6FB7-C36E-F11C-6C58-03CE59F6A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0975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3A7E-B930-6F86-98C1-CCCA1D83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943C7-5F95-0D98-3529-02F6584A9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37111-4527-06F0-7CF8-1D7B68AB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D34EF-5DDB-7C22-0254-5E7C1C57A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415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7898-6228-331C-93E0-F146ADEE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5737-C992-9FAF-A09B-1733275B4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55261-55F5-3E0D-FCCA-CC9F3D34C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89E2A-4CD1-CFF9-D741-0F84F06C0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917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1A4A-14ED-A152-211A-BFB57209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20BA1-64E1-1B15-67C7-F5F6DA1BE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09FFB-DD79-E8B3-16D5-059E60C20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D7A01-D0F1-A210-C2D0-CBB495F0B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0448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D8ED-AECF-5516-6A64-6E3AC047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2DED8-2AA7-46B9-6BF2-6F6A0054A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A6C79-D0B5-3BC3-8F7A-F34080A0A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EC316-93D2-5904-D25E-514355AB9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7019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0D3A-FAD9-22E6-2C6A-7DD21DEA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40DE0-DB90-9902-D360-AF04857CB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CDA85-6EE1-8CF4-E896-26E61D44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BDF0-648D-087E-F0B0-4CDF41F16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75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A0B5-15E0-5E02-298C-E7BC49F5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7D1B9-F58C-130D-12A2-7818B028F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E16BE-1222-7706-3046-435007A0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9622F-B09C-75A4-B629-44C82E9C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485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Heart Disease, Hypertension, Stroke, and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67"/>
    </mc:Choice>
    <mc:Fallback xmlns="">
      <p:transition spd="slow" advTm="1336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Cardiovascular disease</a:t>
            </a:r>
            <a:r>
              <a:rPr lang="en-US" sz="2400" dirty="0"/>
              <a:t> – an umbrella term for diseases that impact the heart or blood vessels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Heart disease</a:t>
            </a:r>
            <a:r>
              <a:rPr lang="en-US" sz="2400" dirty="0"/>
              <a:t> – a category of cardiovascular disease, specifically referring to illnesses related to the heart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Coronary heart disease</a:t>
            </a:r>
            <a:r>
              <a:rPr lang="en-US" sz="2400" dirty="0"/>
              <a:t> – a subset of heart diseases, that are caused by </a:t>
            </a:r>
            <a:r>
              <a:rPr lang="en-US" sz="2400" b="1" dirty="0"/>
              <a:t>atherosclerosis </a:t>
            </a:r>
            <a:r>
              <a:rPr lang="en-US" sz="2400" dirty="0"/>
              <a:t>(the narrowing of the coronary arteries)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consequences: chest pain, heart attack, heart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high cholesterol, high blood pressure, elevated levels of inflammation, diabetes, smoking, obesity, and minimal exercise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Metabolic syndrome</a:t>
            </a:r>
            <a:r>
              <a:rPr lang="en-US" sz="2400" dirty="0"/>
              <a:t> – a diagnosis applied when a person has at least three of the following:</a:t>
            </a:r>
          </a:p>
          <a:p>
            <a:pPr lvl="2"/>
            <a:r>
              <a:rPr lang="en-US" sz="2200" dirty="0"/>
              <a:t>Obesity around the waist</a:t>
            </a:r>
          </a:p>
          <a:p>
            <a:pPr lvl="2"/>
            <a:r>
              <a:rPr lang="en-US" sz="2200" dirty="0"/>
              <a:t>High blood pressure</a:t>
            </a:r>
          </a:p>
          <a:p>
            <a:pPr lvl="2"/>
            <a:r>
              <a:rPr lang="en-US" sz="2200" dirty="0"/>
              <a:t>Low levels of HDL (the “good” cholesterol)</a:t>
            </a:r>
          </a:p>
          <a:p>
            <a:pPr lvl="2"/>
            <a:r>
              <a:rPr lang="en-US" sz="2200" dirty="0"/>
              <a:t>Difficulty metabolizing blood sugar</a:t>
            </a:r>
          </a:p>
          <a:p>
            <a:pPr lvl="2"/>
            <a:r>
              <a:rPr lang="en-US" sz="2200" dirty="0"/>
              <a:t>High levels of triglycerides </a:t>
            </a:r>
          </a:p>
          <a:p>
            <a:endParaRPr lang="en-US" sz="2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908"/>
    </mc:Choice>
    <mc:Fallback xmlns="">
      <p:transition spd="slow" advTm="1489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0249-DF26-12DD-3721-A439F423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3AAFD6-6270-27A5-596C-508C4839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Factors Related to 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DB557E-E182-9413-9D86-9933885DE4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Biological reactivity </a:t>
            </a:r>
            <a:r>
              <a:rPr lang="en-US" sz="2400" dirty="0"/>
              <a:t>– the potential for a substance or stimulus to cause a biological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&gt; Limited physiological activity &gt; plaque build up &gt; lesion development in blood vessels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Chronic stress, acute stress, and trauma exposure have all been linked to CHD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can compound with other risk factors, such as low SES, low social support, discrimination in medical care, and high work demands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a large jump in CHD risk for women after they leave menopause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Women are more likely to die of CHD than men, but limited research on why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Anger, hostility, and depression all have overlap with CHD development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6C8BB-DB25-411D-0F25-44408267E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43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030"/>
    </mc:Choice>
    <mc:Fallback xmlns="">
      <p:transition spd="slow" advTm="1950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70DB-E615-6644-0EB3-2783DBC7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E0D4E-DE27-9BB3-0CBA-1C263DF3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Treatment for 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7DD8F-3739-5514-86CE-EDEC0B9EEC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599"/>
            <a:ext cx="10622192" cy="4742122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Acute Phase: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Coronary artery bypass graft (CABG) </a:t>
            </a:r>
            <a:r>
              <a:rPr lang="en-US" sz="2400" dirty="0"/>
              <a:t>– surgery to treat blockage of major arteries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Uses blood vessel from another part of the body to create a new route to the heart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Close monitoring following any myocardial infarction (MI; aka, heart attack)</a:t>
            </a:r>
          </a:p>
          <a:p>
            <a:r>
              <a:rPr lang="en-US" sz="2400" b="1" dirty="0"/>
              <a:t>Long-term: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Cardiac rehabilitation </a:t>
            </a:r>
            <a:r>
              <a:rPr lang="en-US" sz="2400" dirty="0"/>
              <a:t>– the active and progressive process of helping people attain good health in every area of their life (ex: increase exercise, reduce stress, improve eating habits, increase medication adherence)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Cardiac invalidism</a:t>
            </a:r>
            <a:r>
              <a:rPr lang="en-US" sz="2400" dirty="0"/>
              <a:t> – when a patient is incorrectly seen as less-capable than before the MI (either by themselves or by their families)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Education and communication is needed to combat invalidism, or patients will be less likely to follow good health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79D9-7019-67C5-9538-9511DC21B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7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462"/>
    </mc:Choice>
    <mc:Fallback xmlns="">
      <p:transition spd="slow" advTm="16546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B764-C603-2E98-E0ED-99C8A0C5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EAF47B-0641-1A4A-01EC-A544965D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Hypertension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FBF2C2-D5F8-D0C8-6CC5-04D2C30BF6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Hypertension </a:t>
            </a:r>
            <a:r>
              <a:rPr lang="en-US" sz="2400" dirty="0"/>
              <a:t>– high blood pressure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Occurs when the cardiac output is too high or when there is resistance in peripheral arteries, putting pressure and strain on blood vessel walls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Two types of blood pressure: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Systolic</a:t>
            </a:r>
            <a:r>
              <a:rPr lang="en-US" sz="2400" dirty="0"/>
              <a:t> – pressure when blood is being pumped out of heart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Diastolic</a:t>
            </a:r>
            <a:r>
              <a:rPr lang="en-US" sz="2400" dirty="0"/>
              <a:t> – pressure when heart is filling with blood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Mild hypertension: systolic pressure between140-159; Moderate: 160-179; Severe: 180+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Hypertension is asymptomatic (when a disease shows no symptoms) so can go undiagnosed for extended periods of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cause of hypertension is unknown in 90% of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genetic predisposition, age, stress, race/ ethnicity, unhealthy diet (high in salt and cholesterol), smoking, and alcohol 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7C75-F4E3-6E8D-9432-5F2FCB966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798"/>
    </mc:Choice>
    <mc:Fallback xmlns="">
      <p:transition spd="slow" advTm="12279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2520-D649-E34C-2922-DD408538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6641A-05C6-90FE-0A4C-671A8114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Treatment for Hypertension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0C3126-BA12-99C1-03DE-63C6D75037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Early Stages: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Weight loss, diet improvement (less salt), exercise, caffeine reduction</a:t>
            </a:r>
          </a:p>
          <a:p>
            <a:r>
              <a:rPr lang="en-US" sz="2400" b="1" dirty="0"/>
              <a:t>Later Stages: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CBT methods, including muscle relaxation and meditation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CBT adherence rates are very low</a:t>
            </a:r>
          </a:p>
          <a:p>
            <a:r>
              <a:rPr lang="en-US" sz="2400" b="1" dirty="0"/>
              <a:t>Large Scale: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Increase awareness and need for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2825-23F0-001A-1826-BF28F42F6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7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788"/>
    </mc:Choice>
    <mc:Fallback xmlns="">
      <p:transition spd="slow" advTm="7578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5582-D501-35CC-4A17-4ADFBFDA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00B95-25DA-E5EF-46D3-273ED213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Stroke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C4313A-0B49-C48D-700F-5BB7A2ACA5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Stroke</a:t>
            </a:r>
            <a:r>
              <a:rPr lang="en-US" sz="2400" dirty="0"/>
              <a:t> – when blood flow to the brain is interrupted, causing cell death in the brain (cell death can occur in minutes)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Ischemic stroke</a:t>
            </a:r>
            <a:r>
              <a:rPr lang="en-US" sz="2400" dirty="0"/>
              <a:t> – when blood flow is stopped due to a blockage or narrowed blood vessels (can be caused by blood clots or plaque buildup)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Thrombi – trapped blood clots; emboli – circulating blood clots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Hemorrhagic stroke</a:t>
            </a:r>
            <a:r>
              <a:rPr lang="en-US" sz="2400" dirty="0"/>
              <a:t> – when a blood vessel in the brain leaks or ruptures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Warning signs: sudden numbness, confusion, trouble seeing or walking, dizziness, or severe headache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high blood pressure, heart disease, smoking, transient ischemic attacks (small strokes), anger, stress, and depression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0D929-F0D9-4A05-D133-16767A752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243"/>
    </mc:Choice>
    <mc:Fallback xmlns="">
      <p:transition spd="slow" advTm="1412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840A-0938-C4E6-D6D4-316BF670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4632FB-5A84-E9C4-3D70-82AADB2F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Post-Stroke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898D5F-AA90-696E-9994-19A1EE1FB0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The after effects of a stroke: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Motor problems (typically centralized to one side of the body), where a person may no longer be able to perform regular activities like walking or eating without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Cognitive problems, including amnesia, difficulty processing stimuli, reduced language comprehension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Emotional problems, including increased anger and frustration</a:t>
            </a:r>
          </a:p>
          <a:p>
            <a:r>
              <a:rPr lang="en-US" sz="2400" b="1" dirty="0"/>
              <a:t>Treatment: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Rehabilitation aimed towards increasing movement and re-training the brain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Progress can be slow, with some patients experiencing minimal improvement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C32D-E26A-520C-FD42-79EAA19EB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5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296"/>
    </mc:Choice>
    <mc:Fallback xmlns="">
      <p:transition spd="slow" advTm="1642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DD30-C50B-086E-A932-8C8D0257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E4BAEC-8D72-E420-89B3-D0F7D04A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2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86B5CB-047B-A92F-A337-E1F721BE45F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Insulin</a:t>
            </a:r>
            <a:r>
              <a:rPr lang="en-US" sz="2400" dirty="0"/>
              <a:t> – a hormone that regulates blood sugar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 2 diabetes</a:t>
            </a:r>
            <a:r>
              <a:rPr lang="en-US" sz="2400" dirty="0"/>
              <a:t> – a disease where the balance between blood sugar and insulin production becomes unbalanced, leading to insulin resistance and blood sugar buildup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Symptoms: frequent urination, fatigue, dry mouth, blurred vision, numbness/ pain in hands or feet, frequent/ slow healing infections, and dark spots from damaged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excess weight, sedentary lifestyle, job strain, depression, genetics, race/ ethnicity, age, and pregnancy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impact: blindness, kidney failure, heart disease, stroke, circulation problems, neuropathy, and strained social relations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 cure, but is managed with diet, exercise, education,  and lifestyle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7B6D5-A8EB-E631-ADAF-60C440C83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94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671"/>
    </mc:Choice>
    <mc:Fallback xmlns="">
      <p:transition spd="slow" advTm="196671"/>
    </mc:Fallback>
  </mc:AlternateContent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686</TotalTime>
  <Words>922</Words>
  <Application>Microsoft Office PowerPoint</Application>
  <PresentationFormat>Widescreen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Gill Sans Nova Light</vt:lpstr>
      <vt:lpstr>Sagona Book</vt:lpstr>
      <vt:lpstr>Custom</vt:lpstr>
      <vt:lpstr>Heart Disease, Hypertension, Stroke, and Type 2 Diabetes</vt:lpstr>
      <vt:lpstr>Coronary Heart Disease</vt:lpstr>
      <vt:lpstr>Factors Related to Coronary Heart Disease</vt:lpstr>
      <vt:lpstr>Treatment for Coronary Heart Disease</vt:lpstr>
      <vt:lpstr>Hypertension</vt:lpstr>
      <vt:lpstr>Treatment for Hypertension</vt:lpstr>
      <vt:lpstr>Stroke</vt:lpstr>
      <vt:lpstr>Post-Stroke</vt:lpstr>
      <vt:lpstr>Type 2 Diabetes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17</cp:revision>
  <dcterms:created xsi:type="dcterms:W3CDTF">2025-10-29T06:28:47Z</dcterms:created>
  <dcterms:modified xsi:type="dcterms:W3CDTF">2026-08-16T23:21:55Z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