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27"/>
  </p:notesMasterIdLst>
  <p:sldIdLst>
    <p:sldId id="320" r:id="rId5"/>
    <p:sldId id="322" r:id="rId6"/>
    <p:sldId id="331" r:id="rId7"/>
    <p:sldId id="330" r:id="rId8"/>
    <p:sldId id="332" r:id="rId9"/>
    <p:sldId id="338" r:id="rId10"/>
    <p:sldId id="323" r:id="rId11"/>
    <p:sldId id="324" r:id="rId12"/>
    <p:sldId id="325" r:id="rId13"/>
    <p:sldId id="326" r:id="rId14"/>
    <p:sldId id="327" r:id="rId15"/>
    <p:sldId id="328" r:id="rId16"/>
    <p:sldId id="329" r:id="rId17"/>
    <p:sldId id="339" r:id="rId18"/>
    <p:sldId id="335" r:id="rId19"/>
    <p:sldId id="333" r:id="rId20"/>
    <p:sldId id="334" r:id="rId21"/>
    <p:sldId id="340" r:id="rId22"/>
    <p:sldId id="342" r:id="rId23"/>
    <p:sldId id="343" r:id="rId24"/>
    <p:sldId id="344" r:id="rId25"/>
    <p:sldId id="34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8" autoAdjust="0"/>
    <p:restoredTop sz="75768" autoAdjust="0"/>
  </p:normalViewPr>
  <p:slideViewPr>
    <p:cSldViewPr snapToGrid="0">
      <p:cViewPr varScale="1">
        <p:scale>
          <a:sx n="84" d="100"/>
          <a:sy n="84" d="100"/>
        </p:scale>
        <p:origin x="1116" y="9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8/15/2026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Homeostasis on one end and allostasis on the other</a:t>
            </a:r>
          </a:p>
        </p:txBody>
      </p:sp>
      <p:sp>
        <p:nvSpPr>
          <p:cNvPr id="4" name="Slide Number Placeholder 3"/>
          <p:cNvSpPr>
            <a:spLocks noGrp="1"/>
          </p:cNvSpPr>
          <p:nvPr>
            <p:ph type="sldNum" sz="quarter" idx="5"/>
          </p:nvPr>
        </p:nvSpPr>
        <p:spPr/>
        <p:txBody>
          <a:bodyPr/>
          <a:lstStyle/>
          <a:p>
            <a:fld id="{DC0D42F3-CDD5-4B19-B3DB-7C5223465AF0}" type="slidenum">
              <a:rPr lang="en-US" smtClean="0"/>
              <a:t>2</a:t>
            </a:fld>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This would be a good topic to make into a </a:t>
            </a:r>
            <a:r>
              <a:rPr lang="en-US" dirty="0" err="1"/>
              <a:t>venn</a:t>
            </a:r>
            <a:r>
              <a:rPr lang="en-US" dirty="0"/>
              <a:t> diagram or t-chart for study material</a:t>
            </a:r>
          </a:p>
          <a:p>
            <a:r>
              <a:rPr lang="en-US" dirty="0"/>
              <a:t>-acute can actually be a good thing</a:t>
            </a:r>
          </a:p>
        </p:txBody>
      </p:sp>
      <p:sp>
        <p:nvSpPr>
          <p:cNvPr id="4" name="Slide Number Placeholder 3"/>
          <p:cNvSpPr>
            <a:spLocks noGrp="1"/>
          </p:cNvSpPr>
          <p:nvPr>
            <p:ph type="sldNum" sz="quarter" idx="5"/>
          </p:nvPr>
        </p:nvSpPr>
        <p:spPr/>
        <p:txBody>
          <a:bodyPr/>
          <a:lstStyle/>
          <a:p>
            <a:fld id="{DC0D42F3-CDD5-4B19-B3DB-7C5223465AF0}" type="slidenum">
              <a:rPr lang="en-US" smtClean="0"/>
              <a:t>3</a:t>
            </a:fld>
            <a:endParaRPr lang="en-US" dirty="0"/>
          </a:p>
        </p:txBody>
      </p:sp>
    </p:spTree>
    <p:extLst>
      <p:ext uri="{BB962C8B-B14F-4D97-AF65-F5344CB8AC3E}">
        <p14:creationId xmlns:p14="http://schemas.microsoft.com/office/powerpoint/2010/main" val="1305739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Doesn’t address accumulating damage aspect well: is it the exhaustion of physiological resources or their chronic activation that is causing stress?</a:t>
            </a:r>
          </a:p>
        </p:txBody>
      </p:sp>
      <p:sp>
        <p:nvSpPr>
          <p:cNvPr id="4" name="Slide Number Placeholder 3"/>
          <p:cNvSpPr>
            <a:spLocks noGrp="1"/>
          </p:cNvSpPr>
          <p:nvPr>
            <p:ph type="sldNum" sz="quarter" idx="5"/>
          </p:nvPr>
        </p:nvSpPr>
        <p:spPr/>
        <p:txBody>
          <a:bodyPr/>
          <a:lstStyle/>
          <a:p>
            <a:fld id="{DC0D42F3-CDD5-4B19-B3DB-7C5223465AF0}" type="slidenum">
              <a:rPr lang="en-US" smtClean="0"/>
              <a:t>5</a:t>
            </a:fld>
            <a:endParaRPr lang="en-US" dirty="0"/>
          </a:p>
        </p:txBody>
      </p:sp>
    </p:spTree>
    <p:extLst>
      <p:ext uri="{BB962C8B-B14F-4D97-AF65-F5344CB8AC3E}">
        <p14:creationId xmlns:p14="http://schemas.microsoft.com/office/powerpoint/2010/main" val="3230450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p:cNvSpPr>
            <a:spLocks noGrp="1"/>
          </p:cNvSpPr>
          <p:nvPr>
            <p:ph type="sldNum" sz="quarter" idx="5"/>
          </p:nvPr>
        </p:nvSpPr>
        <p:spPr/>
        <p:txBody>
          <a:bodyPr/>
          <a:lstStyle/>
          <a:p>
            <a:fld id="{DC0D42F3-CDD5-4B19-B3DB-7C5223465AF0}" type="slidenum">
              <a:rPr lang="en-US" smtClean="0"/>
              <a:t>7</a:t>
            </a:fld>
            <a:endParaRPr lang="en-US" dirty="0"/>
          </a:p>
        </p:txBody>
      </p:sp>
    </p:spTree>
    <p:extLst>
      <p:ext uri="{BB962C8B-B14F-4D97-AF65-F5344CB8AC3E}">
        <p14:creationId xmlns:p14="http://schemas.microsoft.com/office/powerpoint/2010/main" val="1585648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D4C-066A-1BD0-79D1-DBF450118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B4C7C-5C23-CA3B-4764-9655439E4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B5326-DAE5-D807-2A0C-1AF651C0097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C4202E7-78F7-B2C2-6E5F-D72BF8009F99}"/>
              </a:ext>
            </a:extLst>
          </p:cNvPr>
          <p:cNvSpPr>
            <a:spLocks noGrp="1"/>
          </p:cNvSpPr>
          <p:nvPr>
            <p:ph type="sldNum" sz="quarter" idx="5"/>
          </p:nvPr>
        </p:nvSpPr>
        <p:spPr/>
        <p:txBody>
          <a:bodyPr/>
          <a:lstStyle/>
          <a:p>
            <a:fld id="{DC0D42F3-CDD5-4B19-B3DB-7C5223465AF0}" type="slidenum">
              <a:rPr lang="en-US" smtClean="0"/>
              <a:t>8</a:t>
            </a:fld>
            <a:endParaRPr lang="en-US" dirty="0"/>
          </a:p>
        </p:txBody>
      </p:sp>
    </p:spTree>
    <p:extLst>
      <p:ext uri="{BB962C8B-B14F-4D97-AF65-F5344CB8AC3E}">
        <p14:creationId xmlns:p14="http://schemas.microsoft.com/office/powerpoint/2010/main" val="1602158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208F-4DAC-99C8-B09A-0AACB783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A277-E6E2-F2E2-0147-116E58961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D530A-0927-679A-8C70-63799CC3F6E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8D86E835-FF2A-4449-802B-7B6F6ACE2736}"/>
              </a:ext>
            </a:extLst>
          </p:cNvPr>
          <p:cNvSpPr>
            <a:spLocks noGrp="1"/>
          </p:cNvSpPr>
          <p:nvPr>
            <p:ph type="sldNum" sz="quarter" idx="5"/>
          </p:nvPr>
        </p:nvSpPr>
        <p:spPr/>
        <p:txBody>
          <a:bodyPr/>
          <a:lstStyle/>
          <a:p>
            <a:fld id="{DC0D42F3-CDD5-4B19-B3DB-7C5223465AF0}" type="slidenum">
              <a:rPr lang="en-US" smtClean="0"/>
              <a:t>9</a:t>
            </a:fld>
            <a:endParaRPr lang="en-US" dirty="0"/>
          </a:p>
        </p:txBody>
      </p:sp>
    </p:spTree>
    <p:extLst>
      <p:ext uri="{BB962C8B-B14F-4D97-AF65-F5344CB8AC3E}">
        <p14:creationId xmlns:p14="http://schemas.microsoft.com/office/powerpoint/2010/main" val="1583834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1854-4D45-B202-FDD8-DEB27470A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12F21-591F-96D9-BCA9-56242AB76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414D2-D763-AFE7-1B96-69B1C9F9D75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23557B1-DF58-1BD1-5375-45A87DC43674}"/>
              </a:ext>
            </a:extLst>
          </p:cNvPr>
          <p:cNvSpPr>
            <a:spLocks noGrp="1"/>
          </p:cNvSpPr>
          <p:nvPr>
            <p:ph type="sldNum" sz="quarter" idx="5"/>
          </p:nvPr>
        </p:nvSpPr>
        <p:spPr/>
        <p:txBody>
          <a:bodyPr/>
          <a:lstStyle/>
          <a:p>
            <a:fld id="{DC0D42F3-CDD5-4B19-B3DB-7C5223465AF0}" type="slidenum">
              <a:rPr lang="en-US" smtClean="0"/>
              <a:t>10</a:t>
            </a:fld>
            <a:endParaRPr lang="en-US" dirty="0"/>
          </a:p>
        </p:txBody>
      </p:sp>
    </p:spTree>
    <p:extLst>
      <p:ext uri="{BB962C8B-B14F-4D97-AF65-F5344CB8AC3E}">
        <p14:creationId xmlns:p14="http://schemas.microsoft.com/office/powerpoint/2010/main" val="350193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D30-4A50-15AF-D0E4-3383DD0C3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01EA9-F943-C773-FA61-AFB3CDD39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95C7-09C5-6DF7-1433-0376A9029E8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4EDCC3D8-FD10-FDE6-53F8-72B57896801A}"/>
              </a:ext>
            </a:extLst>
          </p:cNvPr>
          <p:cNvSpPr>
            <a:spLocks noGrp="1"/>
          </p:cNvSpPr>
          <p:nvPr>
            <p:ph type="sldNum" sz="quarter" idx="5"/>
          </p:nvPr>
        </p:nvSpPr>
        <p:spPr/>
        <p:txBody>
          <a:bodyPr/>
          <a:lstStyle/>
          <a:p>
            <a:fld id="{DC0D42F3-CDD5-4B19-B3DB-7C5223465AF0}" type="slidenum">
              <a:rPr lang="en-US" smtClean="0"/>
              <a:t>11</a:t>
            </a:fld>
            <a:endParaRPr lang="en-US" dirty="0"/>
          </a:p>
        </p:txBody>
      </p:sp>
    </p:spTree>
    <p:extLst>
      <p:ext uri="{BB962C8B-B14F-4D97-AF65-F5344CB8AC3E}">
        <p14:creationId xmlns:p14="http://schemas.microsoft.com/office/powerpoint/2010/main" val="3449709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844E-8391-8EF3-3093-3F0B1EED9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BB590-8D19-9BB2-46A0-DFCF7CE9F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0CBC4-9C4E-2C3B-FA85-78CD4F64FFF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EC007307-888E-C21C-B6A9-79EF6015FA4B}"/>
              </a:ext>
            </a:extLst>
          </p:cNvPr>
          <p:cNvSpPr>
            <a:spLocks noGrp="1"/>
          </p:cNvSpPr>
          <p:nvPr>
            <p:ph type="sldNum" sz="quarter" idx="5"/>
          </p:nvPr>
        </p:nvSpPr>
        <p:spPr/>
        <p:txBody>
          <a:bodyPr/>
          <a:lstStyle/>
          <a:p>
            <a:fld id="{DC0D42F3-CDD5-4B19-B3DB-7C5223465AF0}" type="slidenum">
              <a:rPr lang="en-US" smtClean="0"/>
              <a:t>12</a:t>
            </a:fld>
            <a:endParaRPr lang="en-US" dirty="0"/>
          </a:p>
        </p:txBody>
      </p:sp>
    </p:spTree>
    <p:extLst>
      <p:ext uri="{BB962C8B-B14F-4D97-AF65-F5344CB8AC3E}">
        <p14:creationId xmlns:p14="http://schemas.microsoft.com/office/powerpoint/2010/main" val="1885201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7537-E8B5-93A3-9DE4-87F6F33B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69941-CD0E-59E7-FAF9-305A09044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1E4F7-71D6-FD65-F242-40176C700C0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A7F49F25-58E0-A059-4110-6EB11B2530E5}"/>
              </a:ext>
            </a:extLst>
          </p:cNvPr>
          <p:cNvSpPr>
            <a:spLocks noGrp="1"/>
          </p:cNvSpPr>
          <p:nvPr>
            <p:ph type="sldNum" sz="quarter" idx="5"/>
          </p:nvPr>
        </p:nvSpPr>
        <p:spPr/>
        <p:txBody>
          <a:bodyPr/>
          <a:lstStyle/>
          <a:p>
            <a:fld id="{DC0D42F3-CDD5-4B19-B3DB-7C5223465AF0}" type="slidenum">
              <a:rPr lang="en-US" smtClean="0"/>
              <a:t>13</a:t>
            </a:fld>
            <a:endParaRPr lang="en-US" dirty="0"/>
          </a:p>
        </p:txBody>
      </p:sp>
    </p:spTree>
    <p:extLst>
      <p:ext uri="{BB962C8B-B14F-4D97-AF65-F5344CB8AC3E}">
        <p14:creationId xmlns:p14="http://schemas.microsoft.com/office/powerpoint/2010/main" val="143736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0D42F3-CDD5-4B19-B3DB-7C5223465AF0}" type="slidenum">
              <a:rPr lang="en-US" smtClean="0"/>
              <a:t>18</a:t>
            </a:fld>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68069-36E8-DA49-FFDD-67E6852B5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C9441-1DE8-B712-FE94-E8DC0578E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3A6BC-FA38-86F4-7052-7394473AA6B0}"/>
              </a:ext>
            </a:extLst>
          </p:cNvPr>
          <p:cNvSpPr>
            <a:spLocks noGrp="1"/>
          </p:cNvSpPr>
          <p:nvPr>
            <p:ph type="body" idx="1"/>
          </p:nvPr>
        </p:nvSpPr>
        <p:spPr/>
        <p:txBody>
          <a:bodyPr/>
          <a:lstStyle/>
          <a:p>
            <a:pPr marL="342900" indent="-342900">
              <a:buFont typeface="Arial" panose="020B0604020202020204" pitchFamily="34" charset="0"/>
              <a:buChar char="•"/>
            </a:pPr>
            <a:r>
              <a:rPr lang="en-US" dirty="0"/>
              <a:t>Some items on the life event list are vague.</a:t>
            </a:r>
          </a:p>
          <a:p>
            <a:pPr marL="342900" indent="-342900">
              <a:buFont typeface="Arial" panose="020B0604020202020204" pitchFamily="34" charset="0"/>
              <a:buChar char="•"/>
            </a:pPr>
            <a:r>
              <a:rPr lang="en-US" dirty="0"/>
              <a:t>Individual differences are not considered.</a:t>
            </a:r>
          </a:p>
          <a:p>
            <a:pPr marL="342900" indent="-342900">
              <a:buFont typeface="Arial" panose="020B0604020202020204" pitchFamily="34" charset="0"/>
              <a:buChar char="•"/>
            </a:pPr>
            <a:r>
              <a:rPr lang="en-US" dirty="0"/>
              <a:t>Does not assess whether stressful events have been successfully resolved.</a:t>
            </a:r>
          </a:p>
          <a:p>
            <a:pPr marL="342900" indent="-342900">
              <a:buFont typeface="Arial" panose="020B0604020202020204" pitchFamily="34" charset="0"/>
              <a:buChar char="•"/>
            </a:pPr>
            <a:r>
              <a:rPr lang="en-US" dirty="0"/>
              <a:t>Time between stress and illness does not correlate.</a:t>
            </a:r>
          </a:p>
          <a:p>
            <a:endParaRPr lang="en-US" dirty="0"/>
          </a:p>
        </p:txBody>
      </p:sp>
      <p:sp>
        <p:nvSpPr>
          <p:cNvPr id="4" name="Slide Number Placeholder 3">
            <a:extLst>
              <a:ext uri="{FF2B5EF4-FFF2-40B4-BE49-F238E27FC236}">
                <a16:creationId xmlns:a16="http://schemas.microsoft.com/office/drawing/2014/main" id="{52251232-A4B4-29C9-C57F-0197ADE1A084}"/>
              </a:ext>
            </a:extLst>
          </p:cNvPr>
          <p:cNvSpPr>
            <a:spLocks noGrp="1"/>
          </p:cNvSpPr>
          <p:nvPr>
            <p:ph type="sldNum" sz="quarter" idx="5"/>
          </p:nvPr>
        </p:nvSpPr>
        <p:spPr/>
        <p:txBody>
          <a:bodyPr/>
          <a:lstStyle/>
          <a:p>
            <a:fld id="{DC0D42F3-CDD5-4B19-B3DB-7C5223465AF0}" type="slidenum">
              <a:rPr lang="en-US" smtClean="0"/>
              <a:t>19</a:t>
            </a:fld>
            <a:endParaRPr lang="en-US" dirty="0"/>
          </a:p>
        </p:txBody>
      </p:sp>
    </p:spTree>
    <p:extLst>
      <p:ext uri="{BB962C8B-B14F-4D97-AF65-F5344CB8AC3E}">
        <p14:creationId xmlns:p14="http://schemas.microsoft.com/office/powerpoint/2010/main" val="2758129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E3249-C3BB-C1C8-07A6-1AB451ECA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905E2-C420-774F-3C87-7B87BC802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EF59E-E32B-2C9B-545F-4EBC87056D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6A1246-745F-F073-9341-5571461A7E3E}"/>
              </a:ext>
            </a:extLst>
          </p:cNvPr>
          <p:cNvSpPr>
            <a:spLocks noGrp="1"/>
          </p:cNvSpPr>
          <p:nvPr>
            <p:ph type="sldNum" sz="quarter" idx="5"/>
          </p:nvPr>
        </p:nvSpPr>
        <p:spPr/>
        <p:txBody>
          <a:bodyPr/>
          <a:lstStyle/>
          <a:p>
            <a:fld id="{DC0D42F3-CDD5-4B19-B3DB-7C5223465AF0}" type="slidenum">
              <a:rPr lang="en-US" smtClean="0"/>
              <a:t>20</a:t>
            </a:fld>
            <a:endParaRPr lang="en-US" dirty="0"/>
          </a:p>
        </p:txBody>
      </p:sp>
    </p:spTree>
    <p:extLst>
      <p:ext uri="{BB962C8B-B14F-4D97-AF65-F5344CB8AC3E}">
        <p14:creationId xmlns:p14="http://schemas.microsoft.com/office/powerpoint/2010/main" val="2822828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4888-5FB3-3D44-E557-4F74AC58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075FD-6C1C-BF56-463D-021F6B354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16112-03D4-C781-79BF-56027557BE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7729AF-633D-1725-0A96-CFCEE505975F}"/>
              </a:ext>
            </a:extLst>
          </p:cNvPr>
          <p:cNvSpPr>
            <a:spLocks noGrp="1"/>
          </p:cNvSpPr>
          <p:nvPr>
            <p:ph type="sldNum" sz="quarter" idx="5"/>
          </p:nvPr>
        </p:nvSpPr>
        <p:spPr/>
        <p:txBody>
          <a:bodyPr/>
          <a:lstStyle/>
          <a:p>
            <a:fld id="{DC0D42F3-CDD5-4B19-B3DB-7C5223465AF0}" type="slidenum">
              <a:rPr lang="en-US" smtClean="0"/>
              <a:t>21</a:t>
            </a:fld>
            <a:endParaRPr lang="en-US" dirty="0"/>
          </a:p>
        </p:txBody>
      </p:sp>
    </p:spTree>
    <p:extLst>
      <p:ext uri="{BB962C8B-B14F-4D97-AF65-F5344CB8AC3E}">
        <p14:creationId xmlns:p14="http://schemas.microsoft.com/office/powerpoint/2010/main" val="2173541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E051-CE10-E6FD-B310-A6F4465F7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6B379-7C7E-3AC0-0E30-6A54F8039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9301C-321B-E09B-45AA-1B1DE555DB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17F04-8C62-A118-279F-52B067C5B16C}"/>
              </a:ext>
            </a:extLst>
          </p:cNvPr>
          <p:cNvSpPr>
            <a:spLocks noGrp="1"/>
          </p:cNvSpPr>
          <p:nvPr>
            <p:ph type="sldNum" sz="quarter" idx="5"/>
          </p:nvPr>
        </p:nvSpPr>
        <p:spPr/>
        <p:txBody>
          <a:bodyPr/>
          <a:lstStyle/>
          <a:p>
            <a:fld id="{DC0D42F3-CDD5-4B19-B3DB-7C5223465AF0}" type="slidenum">
              <a:rPr lang="en-US" smtClean="0"/>
              <a:t>22</a:t>
            </a:fld>
            <a:endParaRPr lang="en-US" dirty="0"/>
          </a:p>
        </p:txBody>
      </p:sp>
    </p:spTree>
    <p:extLst>
      <p:ext uri="{BB962C8B-B14F-4D97-AF65-F5344CB8AC3E}">
        <p14:creationId xmlns:p14="http://schemas.microsoft.com/office/powerpoint/2010/main" val="10994621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4"/>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leadership-matters.org/unveiling-job-stress-empower-well-being/"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3330801" y="2123268"/>
            <a:ext cx="8001256" cy="4183552"/>
          </a:xfrm>
        </p:spPr>
        <p:txBody>
          <a:bodyPr/>
          <a:lstStyle/>
          <a:p>
            <a:pPr algn="r"/>
            <a:r>
              <a:rPr lang="en-US" sz="13800" dirty="0"/>
              <a:t>Stress</a:t>
            </a:r>
            <a:br>
              <a:rPr lang="en-US" sz="13800" dirty="0"/>
            </a:br>
            <a:endParaRPr lang="en-US" dirty="0"/>
          </a:p>
        </p:txBody>
      </p:sp>
    </p:spTree>
    <p:extLst>
      <p:ext uri="{BB962C8B-B14F-4D97-AF65-F5344CB8AC3E}">
        <p14:creationId xmlns:p14="http://schemas.microsoft.com/office/powerpoint/2010/main" val="1817945490"/>
      </p:ext>
    </p:extLst>
  </p:cSld>
  <p:clrMapOvr>
    <a:masterClrMapping/>
  </p:clrMapOvr>
  <mc:AlternateContent xmlns:mc="http://schemas.openxmlformats.org/markup-compatibility/2006" xmlns:p14="http://schemas.microsoft.com/office/powerpoint/2010/main">
    <mc:Choice Requires="p14">
      <p:transition spd="slow" p14:dur="2000" advTm="6788"/>
    </mc:Choice>
    <mc:Fallback xmlns="">
      <p:transition spd="slow" advTm="678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p:txBody>
          <a:bodyPr/>
          <a:lstStyle/>
          <a:p>
            <a:r>
              <a:rPr lang="en-US" dirty="0"/>
              <a:t>Important Terminology</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2</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2392441"/>
            <a:ext cx="11104270" cy="3967795"/>
          </a:xfrm>
        </p:spPr>
        <p:txBody>
          <a:bodyPr>
            <a:normAutofit fontScale="92500" lnSpcReduction="20000"/>
          </a:bodyPr>
          <a:lstStyle/>
          <a:p>
            <a:pPr marL="342900" indent="-342900">
              <a:buFont typeface="Arial" panose="020B0604020202020204" pitchFamily="34" charset="0"/>
              <a:buChar char="•"/>
            </a:pPr>
            <a:r>
              <a:rPr lang="en-US" b="1" u="sng" dirty="0"/>
              <a:t>Acute stress</a:t>
            </a:r>
            <a:r>
              <a:rPr lang="en-US" b="1" dirty="0"/>
              <a:t> </a:t>
            </a:r>
            <a:r>
              <a:rPr lang="en-US" dirty="0"/>
              <a:t>– a short-term exposure to stress that can be intense</a:t>
            </a:r>
          </a:p>
          <a:p>
            <a:pPr marL="342900" indent="-342900">
              <a:buFont typeface="Arial" panose="020B0604020202020204" pitchFamily="34" charset="0"/>
              <a:buChar char="•"/>
            </a:pPr>
            <a:r>
              <a:rPr lang="en-US" b="1" u="sng" dirty="0"/>
              <a:t>Chronic stress</a:t>
            </a:r>
            <a:r>
              <a:rPr lang="en-US" dirty="0"/>
              <a:t> – a long-term form of stress characterized by substantial physical and psychological strain</a:t>
            </a:r>
          </a:p>
          <a:p>
            <a:pPr marL="342900" indent="-342900">
              <a:buFont typeface="Arial" panose="020B0604020202020204" pitchFamily="34" charset="0"/>
              <a:buChar char="•"/>
            </a:pPr>
            <a:r>
              <a:rPr lang="en-US" b="1" u="sng" dirty="0"/>
              <a:t>Fight-or-flight response </a:t>
            </a:r>
            <a:r>
              <a:rPr lang="en-US" dirty="0"/>
              <a:t>– the instinctual and instantaneous response to escape a stressor</a:t>
            </a:r>
          </a:p>
          <a:p>
            <a:pPr marL="342900" indent="-342900">
              <a:buFont typeface="Arial" panose="020B0604020202020204" pitchFamily="34" charset="0"/>
              <a:buChar char="•"/>
            </a:pPr>
            <a:r>
              <a:rPr lang="en-US" b="1" u="sng" dirty="0"/>
              <a:t>Reactivity</a:t>
            </a:r>
            <a:r>
              <a:rPr lang="en-US" dirty="0"/>
              <a:t> – the degree of change that occurs in autonomic, endocrine, and/or immune responses as a result of stress</a:t>
            </a:r>
            <a:endParaRPr lang="en-US" b="1" u="sng" dirty="0"/>
          </a:p>
          <a:p>
            <a:pPr marL="342900" indent="-342900">
              <a:buFont typeface="Arial" panose="020B0604020202020204" pitchFamily="34" charset="0"/>
              <a:buChar char="•"/>
            </a:pPr>
            <a:r>
              <a:rPr lang="en-US" b="1" u="sng" dirty="0"/>
              <a:t>Allostatic load</a:t>
            </a:r>
            <a:r>
              <a:rPr lang="en-US" dirty="0"/>
              <a:t> – the cumulative physiological and psychological cost of long-term chronic stress exposure</a:t>
            </a:r>
            <a:endParaRPr lang="en-US" b="1" u="sng" dirty="0"/>
          </a:p>
          <a:p>
            <a:pPr marL="342900" indent="-342900">
              <a:buFont typeface="Arial" panose="020B0604020202020204" pitchFamily="34" charset="0"/>
              <a:buChar char="•"/>
            </a:pPr>
            <a:r>
              <a:rPr lang="en-US" b="1" u="sng" dirty="0"/>
              <a:t>Hypothalamic-Pituitary-Adrenal (HPA) axis </a:t>
            </a:r>
            <a:r>
              <a:rPr lang="en-US" dirty="0"/>
              <a:t>– endocrine system that regulates stress response</a:t>
            </a:r>
          </a:p>
          <a:p>
            <a:pPr marL="342900" indent="-342900">
              <a:buFont typeface="Arial" panose="020B0604020202020204" pitchFamily="34" charset="0"/>
              <a:buChar char="•"/>
            </a:pPr>
            <a:r>
              <a:rPr lang="en-US" b="1" u="sng" dirty="0"/>
              <a:t>Cortisol</a:t>
            </a:r>
            <a:r>
              <a:rPr lang="en-US" dirty="0"/>
              <a:t> – the “stress hormone”</a:t>
            </a:r>
          </a:p>
        </p:txBody>
      </p:sp>
    </p:spTree>
    <p:extLst>
      <p:ext uri="{BB962C8B-B14F-4D97-AF65-F5344CB8AC3E}">
        <p14:creationId xmlns:p14="http://schemas.microsoft.com/office/powerpoint/2010/main" val="1721716398"/>
      </p:ext>
    </p:extLst>
  </p:cSld>
  <p:clrMapOvr>
    <a:masterClrMapping/>
  </p:clrMapOvr>
  <mc:AlternateContent xmlns:mc="http://schemas.openxmlformats.org/markup-compatibility/2006" xmlns:p14="http://schemas.microsoft.com/office/powerpoint/2010/main">
    <mc:Choice Requires="p14">
      <p:transition spd="slow" p14:dur="2000" advTm="121798"/>
    </mc:Choice>
    <mc:Fallback xmlns="">
      <p:transition spd="slow" advTm="12179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AD16FF-BF69-76C7-6A77-5183B7AA5AAA}"/>
              </a:ext>
            </a:extLst>
          </p:cNvPr>
          <p:cNvSpPr>
            <a:spLocks noGrp="1"/>
          </p:cNvSpPr>
          <p:nvPr>
            <p:ph type="title"/>
          </p:nvPr>
        </p:nvSpPr>
        <p:spPr/>
        <p:txBody>
          <a:bodyPr/>
          <a:lstStyle/>
          <a:p>
            <a:r>
              <a:rPr lang="en-US" dirty="0"/>
              <a:t>Acute Stress vs. </a:t>
            </a:r>
            <a:br>
              <a:rPr lang="en-US" dirty="0"/>
            </a:br>
            <a:r>
              <a:rPr lang="en-US" dirty="0"/>
              <a:t>Chronic Stress</a:t>
            </a:r>
          </a:p>
        </p:txBody>
      </p:sp>
      <p:sp>
        <p:nvSpPr>
          <p:cNvPr id="3" name="Slide Number Placeholder 2">
            <a:extLst>
              <a:ext uri="{FF2B5EF4-FFF2-40B4-BE49-F238E27FC236}">
                <a16:creationId xmlns:a16="http://schemas.microsoft.com/office/drawing/2014/main" id="{6DC3650A-4E45-AC18-3852-631FFB67D346}"/>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9" name="Content Placeholder 8">
            <a:extLst>
              <a:ext uri="{FF2B5EF4-FFF2-40B4-BE49-F238E27FC236}">
                <a16:creationId xmlns:a16="http://schemas.microsoft.com/office/drawing/2014/main" id="{3D1CEDE8-6E72-6543-C9AB-D10DC2336D74}"/>
              </a:ext>
            </a:extLst>
          </p:cNvPr>
          <p:cNvSpPr>
            <a:spLocks noGrp="1"/>
          </p:cNvSpPr>
          <p:nvPr>
            <p:ph sz="quarter" idx="10"/>
          </p:nvPr>
        </p:nvSpPr>
        <p:spPr/>
        <p:txBody>
          <a:bodyPr/>
          <a:lstStyle/>
          <a:p>
            <a:pPr marL="457200" indent="-457200">
              <a:buFont typeface="Arial" panose="020B0604020202020204" pitchFamily="34" charset="0"/>
              <a:buChar char="•"/>
            </a:pPr>
            <a:r>
              <a:rPr lang="en-US" dirty="0"/>
              <a:t>How are they similar?</a:t>
            </a:r>
          </a:p>
          <a:p>
            <a:pPr marL="457200" indent="-457200">
              <a:buFont typeface="Arial" panose="020B0604020202020204" pitchFamily="34" charset="0"/>
              <a:buChar char="•"/>
            </a:pPr>
            <a:r>
              <a:rPr lang="en-US" dirty="0"/>
              <a:t>How are they different? </a:t>
            </a:r>
          </a:p>
          <a:p>
            <a:pPr marL="457200" indent="-457200">
              <a:buFont typeface="Arial" panose="020B0604020202020204" pitchFamily="34" charset="0"/>
              <a:buChar char="•"/>
            </a:pPr>
            <a:r>
              <a:rPr lang="en-US" dirty="0"/>
              <a:t>How do they effect the body differently?</a:t>
            </a:r>
          </a:p>
          <a:p>
            <a:pPr marL="457200" indent="-457200">
              <a:buFont typeface="Arial" panose="020B0604020202020204" pitchFamily="34" charset="0"/>
              <a:buChar char="•"/>
            </a:pPr>
            <a:r>
              <a:rPr lang="en-US" dirty="0"/>
              <a:t>How do we study them?</a:t>
            </a:r>
          </a:p>
        </p:txBody>
      </p:sp>
      <p:pic>
        <p:nvPicPr>
          <p:cNvPr id="14" name="Picture Placeholder 13">
            <a:extLst>
              <a:ext uri="{FF2B5EF4-FFF2-40B4-BE49-F238E27FC236}">
                <a16:creationId xmlns:a16="http://schemas.microsoft.com/office/drawing/2014/main" id="{ED5A00E9-A51E-67E0-F0EB-6549A9371F31}"/>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6976" r="25984"/>
          <a:stretch>
            <a:fillRect/>
          </a:stretch>
        </p:blipFill>
        <p:spPr>
          <a:xfrm>
            <a:off x="7271340" y="997689"/>
            <a:ext cx="4607151" cy="5761037"/>
          </a:xfrm>
        </p:spPr>
      </p:pic>
    </p:spTree>
    <p:extLst>
      <p:ext uri="{BB962C8B-B14F-4D97-AF65-F5344CB8AC3E}">
        <p14:creationId xmlns:p14="http://schemas.microsoft.com/office/powerpoint/2010/main" val="2375841747"/>
      </p:ext>
    </p:extLst>
  </p:cSld>
  <p:clrMapOvr>
    <a:masterClrMapping/>
  </p:clrMapOvr>
  <mc:AlternateContent xmlns:mc="http://schemas.openxmlformats.org/markup-compatibility/2006" xmlns:p14="http://schemas.microsoft.com/office/powerpoint/2010/main">
    <mc:Choice Requires="p14">
      <p:transition spd="slow" p14:dur="2000" advTm="137634"/>
    </mc:Choice>
    <mc:Fallback xmlns="">
      <p:transition spd="slow" advTm="13763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430E-DC38-3E30-FC7F-2F6AE28988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6A7674-AB04-7463-68A1-87073DB30220}"/>
              </a:ext>
            </a:extLst>
          </p:cNvPr>
          <p:cNvSpPr>
            <a:spLocks noGrp="1"/>
          </p:cNvSpPr>
          <p:nvPr>
            <p:ph type="title"/>
          </p:nvPr>
        </p:nvSpPr>
        <p:spPr/>
        <p:txBody>
          <a:bodyPr/>
          <a:lstStyle/>
          <a:p>
            <a:r>
              <a:rPr lang="en-US" dirty="0"/>
              <a:t>Responding to Stress</a:t>
            </a:r>
          </a:p>
        </p:txBody>
      </p:sp>
      <p:sp>
        <p:nvSpPr>
          <p:cNvPr id="3" name="Slide Number Placeholder 2">
            <a:extLst>
              <a:ext uri="{FF2B5EF4-FFF2-40B4-BE49-F238E27FC236}">
                <a16:creationId xmlns:a16="http://schemas.microsoft.com/office/drawing/2014/main" id="{9C2A82EC-8084-3868-577E-BC9D06C5C93E}"/>
              </a:ext>
            </a:extLst>
          </p:cNvPr>
          <p:cNvSpPr>
            <a:spLocks noGrp="1"/>
          </p:cNvSpPr>
          <p:nvPr>
            <p:ph type="sldNum" sz="quarter" idx="4"/>
          </p:nvPr>
        </p:nvSpPr>
        <p:spPr/>
        <p:txBody>
          <a:bodyPr/>
          <a:lstStyle/>
          <a:p>
            <a:fld id="{6D22F896-40B5-4ADD-8801-0D06FADFA095}" type="slidenum">
              <a:rPr lang="en-US" smtClean="0"/>
              <a:pPr/>
              <a:t>4</a:t>
            </a:fld>
            <a:endParaRPr lang="en-US" dirty="0"/>
          </a:p>
        </p:txBody>
      </p:sp>
      <p:pic>
        <p:nvPicPr>
          <p:cNvPr id="1026" name="Picture 2" descr="Understanding the 5 Trauma Responses: Fight, Flight, Freeze, Fawn, and Flop">
            <a:extLst>
              <a:ext uri="{FF2B5EF4-FFF2-40B4-BE49-F238E27FC236}">
                <a16:creationId xmlns:a16="http://schemas.microsoft.com/office/drawing/2014/main" id="{70D33BE6-05A5-5660-A397-3F7875CA49BE}"/>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5168536" y="854440"/>
            <a:ext cx="5534569" cy="553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665813"/>
      </p:ext>
    </p:extLst>
  </p:cSld>
  <p:clrMapOvr>
    <a:masterClrMapping/>
  </p:clrMapOvr>
  <mc:AlternateContent xmlns:mc="http://schemas.openxmlformats.org/markup-compatibility/2006" xmlns:p14="http://schemas.microsoft.com/office/powerpoint/2010/main">
    <mc:Choice Requires="p14">
      <p:transition spd="slow" p14:dur="2000" advTm="156120"/>
    </mc:Choice>
    <mc:Fallback xmlns="">
      <p:transition spd="slow" advTm="15612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CF11-BA09-C452-32A4-389019D11B9D}"/>
              </a:ext>
            </a:extLst>
          </p:cNvPr>
          <p:cNvSpPr>
            <a:spLocks noGrp="1"/>
          </p:cNvSpPr>
          <p:nvPr>
            <p:ph type="title"/>
          </p:nvPr>
        </p:nvSpPr>
        <p:spPr/>
        <p:txBody>
          <a:bodyPr/>
          <a:lstStyle/>
          <a:p>
            <a:r>
              <a:rPr lang="en-US" dirty="0"/>
              <a:t>Selye’s General Adaptation Syndrome</a:t>
            </a:r>
          </a:p>
        </p:txBody>
      </p:sp>
      <p:sp>
        <p:nvSpPr>
          <p:cNvPr id="3" name="Slide Number Placeholder 2">
            <a:extLst>
              <a:ext uri="{FF2B5EF4-FFF2-40B4-BE49-F238E27FC236}">
                <a16:creationId xmlns:a16="http://schemas.microsoft.com/office/drawing/2014/main" id="{D5C38AA7-8341-F9B2-866E-D1571FD222AE}"/>
              </a:ext>
            </a:extLst>
          </p:cNvPr>
          <p:cNvSpPr>
            <a:spLocks noGrp="1"/>
          </p:cNvSpPr>
          <p:nvPr>
            <p:ph type="sldNum" sz="quarter" idx="4"/>
          </p:nvPr>
        </p:nvSpPr>
        <p:spPr/>
        <p:txBody>
          <a:bodyPr/>
          <a:lstStyle/>
          <a:p>
            <a:fld id="{6D22F896-40B5-4ADD-8801-0D06FADFA095}" type="slidenum">
              <a:rPr lang="en-US" smtClean="0"/>
              <a:pPr/>
              <a:t>5</a:t>
            </a:fld>
            <a:endParaRPr lang="en-US" dirty="0"/>
          </a:p>
        </p:txBody>
      </p:sp>
      <p:sp>
        <p:nvSpPr>
          <p:cNvPr id="4" name="Content Placeholder 3">
            <a:extLst>
              <a:ext uri="{FF2B5EF4-FFF2-40B4-BE49-F238E27FC236}">
                <a16:creationId xmlns:a16="http://schemas.microsoft.com/office/drawing/2014/main" id="{6CAE9FF9-CDA5-2A14-BF20-C69C6B7C7CB8}"/>
              </a:ext>
            </a:extLst>
          </p:cNvPr>
          <p:cNvSpPr>
            <a:spLocks noGrp="1"/>
          </p:cNvSpPr>
          <p:nvPr>
            <p:ph sz="quarter" idx="11"/>
          </p:nvPr>
        </p:nvSpPr>
        <p:spPr>
          <a:xfrm>
            <a:off x="551486" y="2392441"/>
            <a:ext cx="4786867" cy="3967795"/>
          </a:xfrm>
        </p:spPr>
        <p:txBody>
          <a:bodyPr>
            <a:normAutofit fontScale="92500" lnSpcReduction="20000"/>
          </a:bodyPr>
          <a:lstStyle/>
          <a:p>
            <a:pPr>
              <a:spcBef>
                <a:spcPts val="600"/>
              </a:spcBef>
              <a:spcAft>
                <a:spcPts val="0"/>
              </a:spcAft>
            </a:pPr>
            <a:r>
              <a:rPr lang="en-US" dirty="0"/>
              <a:t>Believed that all stress responses followed same pattern of alarm, resistance, exhaustion</a:t>
            </a:r>
          </a:p>
          <a:p>
            <a:pPr>
              <a:spcBef>
                <a:spcPts val="600"/>
              </a:spcBef>
              <a:spcAft>
                <a:spcPts val="0"/>
              </a:spcAft>
            </a:pPr>
            <a:r>
              <a:rPr lang="en-US" dirty="0"/>
              <a:t>Critiques:</a:t>
            </a:r>
          </a:p>
          <a:p>
            <a:pPr lvl="1">
              <a:spcBef>
                <a:spcPts val="600"/>
              </a:spcBef>
              <a:spcAft>
                <a:spcPts val="0"/>
              </a:spcAft>
            </a:pPr>
            <a:r>
              <a:rPr lang="en-US" dirty="0"/>
              <a:t>Minimal psychological role</a:t>
            </a:r>
          </a:p>
          <a:p>
            <a:pPr lvl="1">
              <a:spcBef>
                <a:spcPts val="600"/>
              </a:spcBef>
              <a:spcAft>
                <a:spcPts val="0"/>
              </a:spcAft>
            </a:pPr>
            <a:r>
              <a:rPr lang="en-US" dirty="0"/>
              <a:t>Not all stressors produce the same response, nor do all people</a:t>
            </a:r>
          </a:p>
          <a:p>
            <a:pPr lvl="1">
              <a:spcBef>
                <a:spcPts val="600"/>
              </a:spcBef>
              <a:spcAft>
                <a:spcPts val="0"/>
              </a:spcAft>
            </a:pPr>
            <a:r>
              <a:rPr lang="en-US" dirty="0"/>
              <a:t>Doesn’t address accumulating damage aspect well</a:t>
            </a:r>
          </a:p>
          <a:p>
            <a:pPr lvl="1">
              <a:spcBef>
                <a:spcPts val="600"/>
              </a:spcBef>
              <a:spcAft>
                <a:spcPts val="0"/>
              </a:spcAft>
            </a:pPr>
            <a:r>
              <a:rPr lang="en-US" dirty="0"/>
              <a:t>Focuses on stress as an outcome, ignoring pre-event stress, or post-event deliberations </a:t>
            </a:r>
          </a:p>
        </p:txBody>
      </p:sp>
      <p:pic>
        <p:nvPicPr>
          <p:cNvPr id="6" name="Picture Placeholder 12" descr="The three phases of Selye’s general adaptation syndrome are depicted.">
            <a:extLst>
              <a:ext uri="{FF2B5EF4-FFF2-40B4-BE49-F238E27FC236}">
                <a16:creationId xmlns:a16="http://schemas.microsoft.com/office/drawing/2014/main" id="{7EBA22DD-4C3E-FCCF-7A3A-D51C6CEFC9E3}"/>
              </a:ext>
            </a:extLst>
          </p:cNvPr>
          <p:cNvPicPr>
            <a:picLocks noGrp="1" noChangeAspect="1"/>
          </p:cNvPicPr>
          <p:nvPr>
            <p:ph sz="quarter" idx="10"/>
          </p:nvPr>
        </p:nvPicPr>
        <p:blipFill rotWithShape="1">
          <a:blip r:embed="rId3">
            <a:extLst>
              <a:ext uri="{28A0092B-C50C-407E-A947-70E740481C1C}">
                <a14:useLocalDpi xmlns:a14="http://schemas.microsoft.com/office/drawing/2010/main" val="0"/>
              </a:ext>
            </a:extLst>
          </a:blip>
          <a:srcRect t="-93" b="211"/>
          <a:stretch/>
        </p:blipFill>
        <p:spPr>
          <a:xfrm>
            <a:off x="5676733" y="2392363"/>
            <a:ext cx="5020009" cy="3967162"/>
          </a:xfrm>
        </p:spPr>
      </p:pic>
    </p:spTree>
    <p:extLst>
      <p:ext uri="{BB962C8B-B14F-4D97-AF65-F5344CB8AC3E}">
        <p14:creationId xmlns:p14="http://schemas.microsoft.com/office/powerpoint/2010/main" val="2106586993"/>
      </p:ext>
    </p:extLst>
  </p:cSld>
  <p:clrMapOvr>
    <a:masterClrMapping/>
  </p:clrMapOvr>
  <mc:AlternateContent xmlns:mc="http://schemas.openxmlformats.org/markup-compatibility/2006" xmlns:p14="http://schemas.microsoft.com/office/powerpoint/2010/main">
    <mc:Choice Requires="p14">
      <p:transition spd="slow" p14:dur="2000" advTm="172841"/>
    </mc:Choice>
    <mc:Fallback xmlns="">
      <p:transition spd="slow" advTm="17284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2704D71-970A-73DB-E581-4A717873B3A6}"/>
              </a:ext>
            </a:extLst>
          </p:cNvPr>
          <p:cNvSpPr>
            <a:spLocks noGrp="1"/>
          </p:cNvSpPr>
          <p:nvPr>
            <p:ph type="title"/>
          </p:nvPr>
        </p:nvSpPr>
        <p:spPr/>
        <p:txBody>
          <a:bodyPr/>
          <a:lstStyle/>
          <a:p>
            <a:r>
              <a:rPr lang="en-US" dirty="0"/>
              <a:t>So, what is happening during a stress response?</a:t>
            </a:r>
          </a:p>
        </p:txBody>
      </p:sp>
      <p:sp>
        <p:nvSpPr>
          <p:cNvPr id="3" name="Slide Number Placeholder 2">
            <a:extLst>
              <a:ext uri="{FF2B5EF4-FFF2-40B4-BE49-F238E27FC236}">
                <a16:creationId xmlns:a16="http://schemas.microsoft.com/office/drawing/2014/main" id="{50BDF340-7588-D5AB-CDE8-A000F9EC0EC7}"/>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6</a:t>
            </a:fld>
            <a:endParaRPr lang="en-US" dirty="0"/>
          </a:p>
        </p:txBody>
      </p:sp>
    </p:spTree>
    <p:extLst>
      <p:ext uri="{BB962C8B-B14F-4D97-AF65-F5344CB8AC3E}">
        <p14:creationId xmlns:p14="http://schemas.microsoft.com/office/powerpoint/2010/main" val="2849121690"/>
      </p:ext>
    </p:extLst>
  </p:cSld>
  <p:clrMapOvr>
    <a:masterClrMapping/>
  </p:clrMapOvr>
  <mc:AlternateContent xmlns:mc="http://schemas.openxmlformats.org/markup-compatibility/2006" xmlns:p14="http://schemas.microsoft.com/office/powerpoint/2010/main">
    <mc:Choice Requires="p14">
      <p:transition spd="slow" p14:dur="2000" advTm="10265"/>
    </mc:Choice>
    <mc:Fallback xmlns="">
      <p:transition spd="slow" advTm="1026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0BD5-FB6E-8858-B9B2-D7AAAB2C7F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A0A5A0-2F4F-24CE-4CAC-C077F961957A}"/>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F6A7BCC9-F138-C9B2-631F-AB4C537EA3CA}"/>
              </a:ext>
            </a:extLst>
          </p:cNvPr>
          <p:cNvSpPr>
            <a:spLocks noGrp="1"/>
          </p:cNvSpPr>
          <p:nvPr>
            <p:ph type="sldNum" sz="quarter" idx="4"/>
          </p:nvPr>
        </p:nvSpPr>
        <p:spPr/>
        <p:txBody>
          <a:bodyPr/>
          <a:lstStyle/>
          <a:p>
            <a:fld id="{6D22F896-40B5-4ADD-8801-0D06FADFA095}" type="slidenum">
              <a:rPr lang="en-US" smtClean="0"/>
              <a:pPr/>
              <a:t>7</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32ECA44D-12D7-29F0-F593-7813083657CB}"/>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ABA97AB6-A466-F999-6B07-3FA208A2F904}"/>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r>
              <a:rPr lang="en-US" sz="2000" b="1" dirty="0">
                <a:solidFill>
                  <a:schemeClr val="bg1"/>
                </a:solidFill>
              </a:rPr>
              <a:t>Step 1: </a:t>
            </a:r>
            <a:r>
              <a:rPr lang="en-US" sz="2000" dirty="0">
                <a:solidFill>
                  <a:schemeClr val="bg1"/>
                </a:solidFill>
              </a:rPr>
              <a:t>Hypothalamus releases CRF at a higher-than-usual rate</a:t>
            </a:r>
          </a:p>
        </p:txBody>
      </p:sp>
      <p:sp>
        <p:nvSpPr>
          <p:cNvPr id="7" name="TextBox 6">
            <a:extLst>
              <a:ext uri="{FF2B5EF4-FFF2-40B4-BE49-F238E27FC236}">
                <a16:creationId xmlns:a16="http://schemas.microsoft.com/office/drawing/2014/main" id="{F71B6051-B6D8-3C02-294E-97932ACD88DA}"/>
              </a:ext>
            </a:extLst>
          </p:cNvPr>
          <p:cNvSpPr txBox="1"/>
          <p:nvPr/>
        </p:nvSpPr>
        <p:spPr>
          <a:xfrm>
            <a:off x="7034645" y="6360294"/>
            <a:ext cx="5044240" cy="369332"/>
          </a:xfrm>
          <a:prstGeom prst="rect">
            <a:avLst/>
          </a:prstGeom>
          <a:noFill/>
        </p:spPr>
        <p:txBody>
          <a:bodyPr wrap="square" rtlCol="0">
            <a:spAutoFit/>
          </a:bodyPr>
          <a:lstStyle/>
          <a:p>
            <a:r>
              <a:rPr lang="en-US" dirty="0">
                <a:solidFill>
                  <a:schemeClr val="bg1"/>
                </a:solidFill>
              </a:rPr>
              <a:t>Note: CRF = corticotropin-releasing factor</a:t>
            </a:r>
          </a:p>
        </p:txBody>
      </p:sp>
      <p:sp>
        <p:nvSpPr>
          <p:cNvPr id="8" name="Oval 7">
            <a:extLst>
              <a:ext uri="{FF2B5EF4-FFF2-40B4-BE49-F238E27FC236}">
                <a16:creationId xmlns:a16="http://schemas.microsoft.com/office/drawing/2014/main" id="{A1546DBB-2947-D120-90A4-967BC29B6CE2}"/>
              </a:ext>
            </a:extLst>
          </p:cNvPr>
          <p:cNvSpPr/>
          <p:nvPr/>
        </p:nvSpPr>
        <p:spPr>
          <a:xfrm>
            <a:off x="3896590" y="2013351"/>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6059472"/>
      </p:ext>
    </p:extLst>
  </p:cSld>
  <p:clrMapOvr>
    <a:masterClrMapping/>
  </p:clrMapOvr>
  <mc:AlternateContent xmlns:mc="http://schemas.openxmlformats.org/markup-compatibility/2006" xmlns:p14="http://schemas.microsoft.com/office/powerpoint/2010/main">
    <mc:Choice Requires="p14">
      <p:transition spd="slow" p14:dur="2000" advTm="54454"/>
    </mc:Choice>
    <mc:Fallback xmlns="">
      <p:transition spd="slow" advTm="5445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AD16-A9B2-DD7C-16D3-C9F5E41586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109295-A8F9-37FD-8888-0F03A51389F0}"/>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65194D99-A53A-3D01-975B-881F2728D0AA}"/>
              </a:ext>
            </a:extLst>
          </p:cNvPr>
          <p:cNvSpPr>
            <a:spLocks noGrp="1"/>
          </p:cNvSpPr>
          <p:nvPr>
            <p:ph type="sldNum" sz="quarter" idx="4"/>
          </p:nvPr>
        </p:nvSpPr>
        <p:spPr/>
        <p:txBody>
          <a:bodyPr/>
          <a:lstStyle/>
          <a:p>
            <a:fld id="{6D22F896-40B5-4ADD-8801-0D06FADFA095}" type="slidenum">
              <a:rPr lang="en-US" smtClean="0"/>
              <a:pPr/>
              <a:t>8</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BC6C2D3B-E834-6A20-B105-EFEF759B14E5}"/>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A055BF40-7072-61F0-DE00-478DC3323DE5}"/>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r>
              <a:rPr lang="en-US" sz="2000" b="1" dirty="0">
                <a:solidFill>
                  <a:schemeClr val="bg1"/>
                </a:solidFill>
              </a:rPr>
              <a:t>Step 2: </a:t>
            </a:r>
            <a:r>
              <a:rPr lang="en-US" sz="2000" dirty="0">
                <a:solidFill>
                  <a:schemeClr val="bg1"/>
                </a:solidFill>
              </a:rPr>
              <a:t>Pituitary gland is hit with CRF, triggering it to release ACTH</a:t>
            </a:r>
          </a:p>
        </p:txBody>
      </p:sp>
      <p:sp>
        <p:nvSpPr>
          <p:cNvPr id="7" name="TextBox 6">
            <a:extLst>
              <a:ext uri="{FF2B5EF4-FFF2-40B4-BE49-F238E27FC236}">
                <a16:creationId xmlns:a16="http://schemas.microsoft.com/office/drawing/2014/main" id="{D06E8000-1084-A9E0-59BC-9F5F2229099C}"/>
              </a:ext>
            </a:extLst>
          </p:cNvPr>
          <p:cNvSpPr txBox="1"/>
          <p:nvPr/>
        </p:nvSpPr>
        <p:spPr>
          <a:xfrm>
            <a:off x="7034645" y="6360294"/>
            <a:ext cx="5044240" cy="369332"/>
          </a:xfrm>
          <a:prstGeom prst="rect">
            <a:avLst/>
          </a:prstGeom>
          <a:noFill/>
        </p:spPr>
        <p:txBody>
          <a:bodyPr wrap="square" rtlCol="0">
            <a:spAutoFit/>
          </a:bodyPr>
          <a:lstStyle/>
          <a:p>
            <a:r>
              <a:rPr lang="en-US" dirty="0">
                <a:solidFill>
                  <a:schemeClr val="bg1"/>
                </a:solidFill>
              </a:rPr>
              <a:t>Note: ACTH = adrenocorticotropic hormone</a:t>
            </a:r>
          </a:p>
        </p:txBody>
      </p:sp>
      <p:sp>
        <p:nvSpPr>
          <p:cNvPr id="8" name="Oval 7">
            <a:extLst>
              <a:ext uri="{FF2B5EF4-FFF2-40B4-BE49-F238E27FC236}">
                <a16:creationId xmlns:a16="http://schemas.microsoft.com/office/drawing/2014/main" id="{14A44C4E-A970-6B47-7E4E-5E0CBF560DA4}"/>
              </a:ext>
            </a:extLst>
          </p:cNvPr>
          <p:cNvSpPr/>
          <p:nvPr/>
        </p:nvSpPr>
        <p:spPr>
          <a:xfrm>
            <a:off x="2670462" y="3209563"/>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1471825"/>
      </p:ext>
    </p:extLst>
  </p:cSld>
  <p:clrMapOvr>
    <a:masterClrMapping/>
  </p:clrMapOvr>
  <mc:AlternateContent xmlns:mc="http://schemas.openxmlformats.org/markup-compatibility/2006" xmlns:p14="http://schemas.microsoft.com/office/powerpoint/2010/main">
    <mc:Choice Requires="p14">
      <p:transition spd="slow" p14:dur="2000" advTm="33243"/>
    </mc:Choice>
    <mc:Fallback xmlns="">
      <p:transition spd="slow" advTm="3324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28EFE-1D86-A50C-D694-A01EDE578F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E0E540-7BDA-B533-476F-5154D0E19138}"/>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969D913C-DB19-C640-C60A-9A9A135948F3}"/>
              </a:ext>
            </a:extLst>
          </p:cNvPr>
          <p:cNvSpPr>
            <a:spLocks noGrp="1"/>
          </p:cNvSpPr>
          <p:nvPr>
            <p:ph type="sldNum" sz="quarter" idx="4"/>
          </p:nvPr>
        </p:nvSpPr>
        <p:spPr/>
        <p:txBody>
          <a:bodyPr/>
          <a:lstStyle/>
          <a:p>
            <a:fld id="{6D22F896-40B5-4ADD-8801-0D06FADFA095}" type="slidenum">
              <a:rPr lang="en-US" smtClean="0"/>
              <a:pPr/>
              <a:t>9</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E1AC6667-3B06-E882-7F43-8CE478ADF75E}"/>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39C9616D-2964-D42D-EF5C-D6D1EC1E4663}"/>
              </a:ext>
            </a:extLst>
          </p:cNvPr>
          <p:cNvSpPr txBox="1"/>
          <p:nvPr/>
        </p:nvSpPr>
        <p:spPr>
          <a:xfrm>
            <a:off x="7616536" y="997688"/>
            <a:ext cx="4044913" cy="1015663"/>
          </a:xfrm>
          <a:prstGeom prst="rect">
            <a:avLst/>
          </a:prstGeom>
          <a:noFill/>
          <a:ln w="38100">
            <a:solidFill>
              <a:srgbClr val="00B0F0"/>
            </a:solidFill>
          </a:ln>
        </p:spPr>
        <p:txBody>
          <a:bodyPr wrap="square" rtlCol="0">
            <a:spAutoFit/>
          </a:bodyPr>
          <a:lstStyle/>
          <a:p>
            <a:r>
              <a:rPr lang="en-US" sz="2000" b="1" dirty="0">
                <a:solidFill>
                  <a:schemeClr val="bg1"/>
                </a:solidFill>
              </a:rPr>
              <a:t>Step 3: </a:t>
            </a:r>
            <a:r>
              <a:rPr lang="en-US" sz="2000" dirty="0">
                <a:solidFill>
                  <a:schemeClr val="bg1"/>
                </a:solidFill>
              </a:rPr>
              <a:t>Adrenal gland is triggered by both the HPA axis and the SNS, at the same time</a:t>
            </a:r>
          </a:p>
        </p:txBody>
      </p:sp>
      <p:sp>
        <p:nvSpPr>
          <p:cNvPr id="7" name="TextBox 6">
            <a:extLst>
              <a:ext uri="{FF2B5EF4-FFF2-40B4-BE49-F238E27FC236}">
                <a16:creationId xmlns:a16="http://schemas.microsoft.com/office/drawing/2014/main" id="{00EBF94F-3C6E-8798-EB97-D3F1A2F25550}"/>
              </a:ext>
            </a:extLst>
          </p:cNvPr>
          <p:cNvSpPr txBox="1"/>
          <p:nvPr/>
        </p:nvSpPr>
        <p:spPr>
          <a:xfrm>
            <a:off x="1808017" y="6360294"/>
            <a:ext cx="10270867" cy="369332"/>
          </a:xfrm>
          <a:prstGeom prst="rect">
            <a:avLst/>
          </a:prstGeom>
          <a:noFill/>
        </p:spPr>
        <p:txBody>
          <a:bodyPr wrap="square" rtlCol="0">
            <a:spAutoFit/>
          </a:bodyPr>
          <a:lstStyle/>
          <a:p>
            <a:r>
              <a:rPr lang="en-US" dirty="0">
                <a:solidFill>
                  <a:schemeClr val="bg1"/>
                </a:solidFill>
              </a:rPr>
              <a:t>Note: HPA axis = hypothalamic-pituitary-adrenal axis; SNS = sympathetic nervous system</a:t>
            </a:r>
          </a:p>
        </p:txBody>
      </p:sp>
      <p:sp>
        <p:nvSpPr>
          <p:cNvPr id="8" name="Oval 7">
            <a:extLst>
              <a:ext uri="{FF2B5EF4-FFF2-40B4-BE49-F238E27FC236}">
                <a16:creationId xmlns:a16="http://schemas.microsoft.com/office/drawing/2014/main" id="{1A7A957F-B346-CC21-4FA6-D82BE7EC03E0}"/>
              </a:ext>
            </a:extLst>
          </p:cNvPr>
          <p:cNvSpPr/>
          <p:nvPr/>
        </p:nvSpPr>
        <p:spPr>
          <a:xfrm>
            <a:off x="2556164" y="4208318"/>
            <a:ext cx="4946071" cy="2006702"/>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59829816"/>
      </p:ext>
    </p:extLst>
  </p:cSld>
  <p:clrMapOvr>
    <a:masterClrMapping/>
  </p:clrMapOvr>
  <mc:AlternateContent xmlns:mc="http://schemas.openxmlformats.org/markup-compatibility/2006" xmlns:p14="http://schemas.microsoft.com/office/powerpoint/2010/main">
    <mc:Choice Requires="p14">
      <p:transition spd="slow" p14:dur="2000" advTm="71338"/>
    </mc:Choice>
    <mc:Fallback xmlns="">
      <p:transition spd="slow" advTm="71338"/>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E1804-CF6D-B054-36D7-FF521AD9F3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79E2D5-966C-4218-339B-0FCC4CCCDEA6}"/>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96267045-6643-68A1-0052-BFA27CF36680}"/>
              </a:ext>
            </a:extLst>
          </p:cNvPr>
          <p:cNvSpPr>
            <a:spLocks noGrp="1"/>
          </p:cNvSpPr>
          <p:nvPr>
            <p:ph type="sldNum" sz="quarter" idx="4"/>
          </p:nvPr>
        </p:nvSpPr>
        <p:spPr/>
        <p:txBody>
          <a:bodyPr/>
          <a:lstStyle/>
          <a:p>
            <a:fld id="{6D22F896-40B5-4ADD-8801-0D06FADFA095}" type="slidenum">
              <a:rPr lang="en-US" smtClean="0"/>
              <a:pPr/>
              <a:t>10</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E8355714-53BE-455C-FA9C-AE1693D5923A}"/>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818C8D6D-47A1-8258-84FF-782F4DC310E3}"/>
              </a:ext>
            </a:extLst>
          </p:cNvPr>
          <p:cNvSpPr txBox="1"/>
          <p:nvPr/>
        </p:nvSpPr>
        <p:spPr>
          <a:xfrm>
            <a:off x="7678882" y="997688"/>
            <a:ext cx="3982567" cy="707886"/>
          </a:xfrm>
          <a:prstGeom prst="rect">
            <a:avLst/>
          </a:prstGeom>
          <a:noFill/>
          <a:ln w="38100">
            <a:solidFill>
              <a:srgbClr val="00B0F0"/>
            </a:solidFill>
          </a:ln>
        </p:spPr>
        <p:txBody>
          <a:bodyPr wrap="square" rtlCol="0">
            <a:spAutoFit/>
          </a:bodyPr>
          <a:lstStyle/>
          <a:p>
            <a:r>
              <a:rPr lang="en-US" sz="2000" b="1" dirty="0">
                <a:solidFill>
                  <a:schemeClr val="bg1"/>
                </a:solidFill>
              </a:rPr>
              <a:t>Step 4: </a:t>
            </a:r>
            <a:r>
              <a:rPr lang="en-US" sz="2000" dirty="0">
                <a:solidFill>
                  <a:schemeClr val="bg1"/>
                </a:solidFill>
              </a:rPr>
              <a:t>Adrenal gland releases a bunch of hormones</a:t>
            </a:r>
          </a:p>
        </p:txBody>
      </p:sp>
      <p:sp>
        <p:nvSpPr>
          <p:cNvPr id="8" name="Oval 7">
            <a:extLst>
              <a:ext uri="{FF2B5EF4-FFF2-40B4-BE49-F238E27FC236}">
                <a16:creationId xmlns:a16="http://schemas.microsoft.com/office/drawing/2014/main" id="{25C5CC0F-1C29-E131-8F17-60A703E6EA21}"/>
              </a:ext>
            </a:extLst>
          </p:cNvPr>
          <p:cNvSpPr/>
          <p:nvPr/>
        </p:nvSpPr>
        <p:spPr>
          <a:xfrm>
            <a:off x="5091546" y="4278514"/>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300448"/>
      </p:ext>
    </p:extLst>
  </p:cSld>
  <p:clrMapOvr>
    <a:masterClrMapping/>
  </p:clrMapOvr>
  <mc:AlternateContent xmlns:mc="http://schemas.openxmlformats.org/markup-compatibility/2006" xmlns:p14="http://schemas.microsoft.com/office/powerpoint/2010/main">
    <mc:Choice Requires="p14">
      <p:transition spd="slow" p14:dur="2000" advTm="3766"/>
    </mc:Choice>
    <mc:Fallback xmlns="">
      <p:transition spd="slow" advTm="376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38E3-7469-9991-049C-F221C37723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0B2DD7-412D-C90D-9E64-0B3E614BE0CC}"/>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C4B47257-A89F-B114-CBB7-F76074129EA4}"/>
              </a:ext>
            </a:extLst>
          </p:cNvPr>
          <p:cNvSpPr>
            <a:spLocks noGrp="1"/>
          </p:cNvSpPr>
          <p:nvPr>
            <p:ph type="sldNum" sz="quarter" idx="4"/>
          </p:nvPr>
        </p:nvSpPr>
        <p:spPr/>
        <p:txBody>
          <a:bodyPr/>
          <a:lstStyle/>
          <a:p>
            <a:fld id="{6D22F896-40B5-4ADD-8801-0D06FADFA095}" type="slidenum">
              <a:rPr lang="en-US" smtClean="0"/>
              <a:pPr/>
              <a:t>11</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C0FFD6E4-1895-E93B-BB26-0A36BB9E3CC7}"/>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8EF1910A-8DD0-13FA-A001-4A751A38E919}"/>
              </a:ext>
            </a:extLst>
          </p:cNvPr>
          <p:cNvSpPr txBox="1"/>
          <p:nvPr/>
        </p:nvSpPr>
        <p:spPr>
          <a:xfrm>
            <a:off x="7024256" y="997688"/>
            <a:ext cx="4810990" cy="1015663"/>
          </a:xfrm>
          <a:prstGeom prst="rect">
            <a:avLst/>
          </a:prstGeom>
          <a:noFill/>
          <a:ln w="38100">
            <a:solidFill>
              <a:srgbClr val="00B0F0"/>
            </a:solidFill>
          </a:ln>
        </p:spPr>
        <p:txBody>
          <a:bodyPr wrap="square" rtlCol="0">
            <a:spAutoFit/>
          </a:bodyPr>
          <a:lstStyle/>
          <a:p>
            <a:r>
              <a:rPr lang="en-US" sz="2000" b="1" dirty="0">
                <a:solidFill>
                  <a:schemeClr val="bg1"/>
                </a:solidFill>
              </a:rPr>
              <a:t>Step 5: </a:t>
            </a:r>
            <a:r>
              <a:rPr lang="en-US" sz="2000" dirty="0">
                <a:solidFill>
                  <a:schemeClr val="bg1"/>
                </a:solidFill>
              </a:rPr>
              <a:t>In a </a:t>
            </a:r>
            <a:r>
              <a:rPr lang="en-US" sz="2000" b="1" dirty="0">
                <a:solidFill>
                  <a:schemeClr val="bg1"/>
                </a:solidFill>
              </a:rPr>
              <a:t>healthy</a:t>
            </a:r>
            <a:r>
              <a:rPr lang="en-US" sz="2000" dirty="0">
                <a:solidFill>
                  <a:schemeClr val="bg1"/>
                </a:solidFill>
              </a:rPr>
              <a:t> system, hormones like cortisol tell the hypothalamus to stop CRF production</a:t>
            </a:r>
          </a:p>
        </p:txBody>
      </p:sp>
      <p:sp>
        <p:nvSpPr>
          <p:cNvPr id="8" name="Oval 7">
            <a:extLst>
              <a:ext uri="{FF2B5EF4-FFF2-40B4-BE49-F238E27FC236}">
                <a16:creationId xmlns:a16="http://schemas.microsoft.com/office/drawing/2014/main" id="{9326DD9D-B920-13BA-AF93-C2E3BD22D22B}"/>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5656020"/>
      </p:ext>
    </p:extLst>
  </p:cSld>
  <p:clrMapOvr>
    <a:masterClrMapping/>
  </p:clrMapOvr>
  <mc:AlternateContent xmlns:mc="http://schemas.openxmlformats.org/markup-compatibility/2006" xmlns:p14="http://schemas.microsoft.com/office/powerpoint/2010/main">
    <mc:Choice Requires="p14">
      <p:transition spd="slow" p14:dur="2000" advTm="35554"/>
    </mc:Choice>
    <mc:Fallback xmlns="">
      <p:transition spd="slow" advTm="3555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FFF-7F4F-10BD-080A-1AF28E9989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DCE2A7-3E49-9344-8DAF-531B4F38F502}"/>
              </a:ext>
            </a:extLst>
          </p:cNvPr>
          <p:cNvSpPr>
            <a:spLocks noGrp="1"/>
          </p:cNvSpPr>
          <p:nvPr>
            <p:ph type="title"/>
          </p:nvPr>
        </p:nvSpPr>
        <p:spPr>
          <a:xfrm>
            <a:off x="381178" y="1125495"/>
            <a:ext cx="10873665" cy="1207457"/>
          </a:xfrm>
        </p:spPr>
        <p:txBody>
          <a:bodyPr/>
          <a:lstStyle/>
          <a:p>
            <a:r>
              <a:rPr lang="en-US" dirty="0"/>
              <a:t>The Physiology of Stress</a:t>
            </a:r>
          </a:p>
        </p:txBody>
      </p:sp>
      <p:sp>
        <p:nvSpPr>
          <p:cNvPr id="3" name="Slide Number Placeholder 2">
            <a:extLst>
              <a:ext uri="{FF2B5EF4-FFF2-40B4-BE49-F238E27FC236}">
                <a16:creationId xmlns:a16="http://schemas.microsoft.com/office/drawing/2014/main" id="{48394B97-30C7-1B10-1CA3-78B8E214542A}"/>
              </a:ext>
            </a:extLst>
          </p:cNvPr>
          <p:cNvSpPr>
            <a:spLocks noGrp="1"/>
          </p:cNvSpPr>
          <p:nvPr>
            <p:ph type="sldNum" sz="quarter" idx="4"/>
          </p:nvPr>
        </p:nvSpPr>
        <p:spPr/>
        <p:txBody>
          <a:bodyPr/>
          <a:lstStyle/>
          <a:p>
            <a:fld id="{6D22F896-40B5-4ADD-8801-0D06FADFA095}" type="slidenum">
              <a:rPr lang="en-US" smtClean="0"/>
              <a:pPr/>
              <a:t>12</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26F09D01-512A-9861-F494-09B8C11AD19F}"/>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CB1BD972-B381-1ED8-9C21-193E9DF48B75}"/>
              </a:ext>
            </a:extLst>
          </p:cNvPr>
          <p:cNvSpPr txBox="1"/>
          <p:nvPr/>
        </p:nvSpPr>
        <p:spPr>
          <a:xfrm>
            <a:off x="6702137" y="913615"/>
            <a:ext cx="5216237" cy="1631216"/>
          </a:xfrm>
          <a:prstGeom prst="rect">
            <a:avLst/>
          </a:prstGeom>
          <a:noFill/>
          <a:ln w="38100">
            <a:solidFill>
              <a:srgbClr val="00B0F0"/>
            </a:solidFill>
          </a:ln>
        </p:spPr>
        <p:txBody>
          <a:bodyPr wrap="square" rtlCol="0">
            <a:spAutoFit/>
          </a:bodyPr>
          <a:lstStyle/>
          <a:p>
            <a:r>
              <a:rPr lang="en-US" sz="2000" b="1" dirty="0">
                <a:solidFill>
                  <a:schemeClr val="bg1"/>
                </a:solidFill>
              </a:rPr>
              <a:t>Step 5b:</a:t>
            </a:r>
            <a:r>
              <a:rPr lang="en-US" sz="2000" dirty="0">
                <a:solidFill>
                  <a:schemeClr val="bg1"/>
                </a:solidFill>
              </a:rPr>
              <a:t> In a</a:t>
            </a:r>
            <a:r>
              <a:rPr lang="en-US" sz="2000" b="1" dirty="0">
                <a:solidFill>
                  <a:schemeClr val="bg1"/>
                </a:solidFill>
              </a:rPr>
              <a:t> chronically stressed </a:t>
            </a:r>
            <a:r>
              <a:rPr lang="en-US" sz="2000" dirty="0">
                <a:solidFill>
                  <a:schemeClr val="bg1"/>
                </a:solidFill>
              </a:rPr>
              <a:t>system, hypothalamus desensitizes to cortisol, while corticosteroids mass produce pro-inflammatory cytokines (which can also activate hypothalamus)</a:t>
            </a:r>
          </a:p>
        </p:txBody>
      </p:sp>
      <p:sp>
        <p:nvSpPr>
          <p:cNvPr id="8" name="Oval 7">
            <a:extLst>
              <a:ext uri="{FF2B5EF4-FFF2-40B4-BE49-F238E27FC236}">
                <a16:creationId xmlns:a16="http://schemas.microsoft.com/office/drawing/2014/main" id="{88427A66-E8FC-6CE0-10F9-2B2CE47CF2D6}"/>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8A72E7-DB42-729E-45EA-C0542AA4EBAD}"/>
              </a:ext>
            </a:extLst>
          </p:cNvPr>
          <p:cNvSpPr txBox="1"/>
          <p:nvPr/>
        </p:nvSpPr>
        <p:spPr>
          <a:xfrm>
            <a:off x="1808017" y="6360294"/>
            <a:ext cx="10270867" cy="369332"/>
          </a:xfrm>
          <a:prstGeom prst="rect">
            <a:avLst/>
          </a:prstGeom>
          <a:noFill/>
        </p:spPr>
        <p:txBody>
          <a:bodyPr wrap="square" rtlCol="0">
            <a:spAutoFit/>
          </a:bodyPr>
          <a:lstStyle/>
          <a:p>
            <a:r>
              <a:rPr lang="en-US" dirty="0">
                <a:solidFill>
                  <a:schemeClr val="bg1"/>
                </a:solidFill>
              </a:rPr>
              <a:t>Note: cytokines = potent signaling molecules; the immune system’s version of a hormone</a:t>
            </a:r>
          </a:p>
        </p:txBody>
      </p:sp>
    </p:spTree>
    <p:extLst>
      <p:ext uri="{BB962C8B-B14F-4D97-AF65-F5344CB8AC3E}">
        <p14:creationId xmlns:p14="http://schemas.microsoft.com/office/powerpoint/2010/main" val="780011042"/>
      </p:ext>
    </p:extLst>
  </p:cSld>
  <p:clrMapOvr>
    <a:masterClrMapping/>
  </p:clrMapOvr>
  <mc:AlternateContent xmlns:mc="http://schemas.openxmlformats.org/markup-compatibility/2006" xmlns:p14="http://schemas.microsoft.com/office/powerpoint/2010/main">
    <mc:Choice Requires="p14">
      <p:transition spd="slow" p14:dur="2000" advTm="124919"/>
    </mc:Choice>
    <mc:Fallback xmlns="">
      <p:transition spd="slow" advTm="124919"/>
    </mc:Fallback>
  </mc:AlternateContent>
  <p:extLst>
    <p:ext uri="{3A86A75C-4F4B-4683-9AE1-C65F6400EC91}">
      <p14:laserTraceLst xmlns:p14="http://schemas.microsoft.com/office/powerpoint/2010/main">
        <p14:tracePtLst>
          <p14:tracePt t="18475" x="4633913" y="6562725"/>
          <p14:tracePt t="18626" x="4479925" y="6829425"/>
          <p14:tracePt t="18632" x="4519613" y="6734175"/>
          <p14:tracePt t="18642" x="4632325" y="6532563"/>
          <p14:tracePt t="18652" x="4756150" y="6324600"/>
          <p14:tracePt t="18662" x="4895850" y="6099175"/>
          <p14:tracePt t="18672" x="5037138" y="5895975"/>
          <p14:tracePt t="18682" x="5172075" y="5705475"/>
          <p14:tracePt t="18692" x="5283200" y="5514975"/>
          <p14:tracePt t="18702" x="5362575" y="5357813"/>
          <p14:tracePt t="18712" x="5424488" y="5205413"/>
          <p14:tracePt t="18722" x="5457825" y="5076825"/>
          <p14:tracePt t="18732" x="5491163" y="4929188"/>
          <p14:tracePt t="18742" x="5530850" y="4778375"/>
          <p14:tracePt t="18752" x="5570538" y="4632325"/>
          <p14:tracePt t="18762" x="5610225" y="4502150"/>
          <p14:tracePt t="18772" x="5637213" y="4391025"/>
          <p14:tracePt t="18782" x="5661025" y="4305300"/>
          <p14:tracePt t="18792" x="5672138" y="4249738"/>
          <p14:tracePt t="18802" x="5683250" y="4205288"/>
          <p14:tracePt t="18812" x="5688013" y="4176713"/>
          <p14:tracePt t="18822" x="5688013" y="4148138"/>
          <p14:tracePt t="18832" x="5688013" y="4114800"/>
          <p14:tracePt t="18842" x="5688013" y="4081463"/>
          <p14:tracePt t="18852" x="5688013" y="4048125"/>
          <p14:tracePt t="18862" x="5688013" y="4013200"/>
          <p14:tracePt t="18872" x="5688013" y="3986213"/>
          <p14:tracePt t="18882" x="5688013" y="3973513"/>
          <p14:tracePt t="18892" x="5688013" y="3962400"/>
          <p14:tracePt t="18902" x="5688013" y="3951288"/>
          <p14:tracePt t="18912" x="5683250" y="3929063"/>
          <p14:tracePt t="18922" x="5683250" y="3878263"/>
          <p14:tracePt t="18932" x="5683250" y="3794125"/>
          <p14:tracePt t="18942" x="5694363" y="3692525"/>
          <p14:tracePt t="18952" x="5710238" y="3586163"/>
          <p14:tracePt t="18962" x="5745163" y="3462338"/>
          <p14:tracePt t="18972" x="5789613" y="3338513"/>
          <p14:tracePt t="18982" x="5822950" y="3227388"/>
          <p14:tracePt t="18992" x="5845175" y="3148013"/>
          <p14:tracePt t="19002" x="5880100" y="3063875"/>
          <p14:tracePt t="19012" x="5907088" y="2995613"/>
          <p14:tracePt t="19022" x="5930900" y="2940050"/>
          <p14:tracePt t="19032" x="5957888" y="2871788"/>
          <p14:tracePt t="19042" x="5991225" y="2822575"/>
          <p14:tracePt t="19052" x="6019800" y="2776538"/>
          <p14:tracePt t="19062" x="6042025" y="2743200"/>
          <p14:tracePt t="19072" x="6059488" y="2725738"/>
          <p14:tracePt t="19082" x="6065838" y="2698750"/>
          <p14:tracePt t="19092" x="6070600" y="2681288"/>
          <p14:tracePt t="19102" x="6076950" y="2659063"/>
          <p14:tracePt t="19112" x="6076950" y="2636838"/>
          <p14:tracePt t="19122" x="6076950" y="2619375"/>
          <p14:tracePt t="19132" x="6076950" y="2601913"/>
          <p14:tracePt t="19142" x="6076950" y="2586038"/>
          <p14:tracePt t="19152" x="6076950" y="2574925"/>
          <p14:tracePt t="19162" x="6076950" y="2563813"/>
          <p14:tracePt t="19174" x="6076950" y="2557463"/>
          <p14:tracePt t="19202" x="6076950" y="2552700"/>
          <p14:tracePt t="19578" x="6070600" y="2552700"/>
          <p14:tracePt t="20170" x="6065838" y="2552700"/>
          <p14:tracePt t="20186" x="6059488" y="2552700"/>
          <p14:tracePt t="20191" x="6053138" y="2552700"/>
          <p14:tracePt t="20194" x="6048375" y="2552700"/>
          <p14:tracePt t="20202" x="6030913" y="2552700"/>
          <p14:tracePt t="20212" x="6008688" y="2552700"/>
          <p14:tracePt t="20222" x="5980113" y="2552700"/>
          <p14:tracePt t="20232" x="5935663" y="2552700"/>
          <p14:tracePt t="20242" x="5891213" y="2552700"/>
          <p14:tracePt t="20252" x="5851525" y="2552700"/>
          <p14:tracePt t="20262" x="5818188" y="2557463"/>
          <p14:tracePt t="20272" x="5789613" y="2557463"/>
          <p14:tracePt t="20282" x="5772150" y="2557463"/>
          <p14:tracePt t="20292" x="5749925" y="2563813"/>
          <p14:tracePt t="20302" x="5734050" y="2568575"/>
          <p14:tracePt t="20312" x="5699125" y="2568575"/>
          <p14:tracePt t="20322" x="5661025" y="2579688"/>
          <p14:tracePt t="20332" x="5614988" y="2586038"/>
          <p14:tracePt t="20342" x="5564188" y="2597150"/>
          <p14:tracePt t="20352" x="5508625" y="2608263"/>
          <p14:tracePt t="20362" x="5457825" y="2614613"/>
          <p14:tracePt t="20372" x="5395913" y="2630488"/>
          <p14:tracePt t="20382" x="5334000" y="2641600"/>
          <p14:tracePt t="20392" x="5278438" y="2652713"/>
          <p14:tracePt t="20402" x="5221288" y="2670175"/>
          <p14:tracePt t="20412" x="5165725" y="2687638"/>
          <p14:tracePt t="20422" x="5132388" y="2703513"/>
          <p14:tracePt t="20432" x="5092700" y="2720975"/>
          <p14:tracePt t="20442" x="5053013" y="2732088"/>
          <p14:tracePt t="20452" x="5013325" y="2754313"/>
          <p14:tracePt t="20462" x="4979988" y="2771775"/>
          <p14:tracePt t="20472" x="4946650" y="2787650"/>
          <p14:tracePt t="20482" x="4913313" y="2809875"/>
          <p14:tracePt t="20492" x="4878388" y="2827338"/>
          <p14:tracePt t="20502" x="4845050" y="2849563"/>
          <p14:tracePt t="20512" x="4811713" y="2860675"/>
          <p14:tracePt t="20522" x="4778375" y="2871788"/>
          <p14:tracePt t="20532" x="4749800" y="2884488"/>
          <p14:tracePt t="20542" x="4721225" y="2900363"/>
          <p14:tracePt t="20552" x="4705350" y="2906713"/>
          <p14:tracePt t="20562" x="4681538" y="2917825"/>
          <p14:tracePt t="20572" x="4665663" y="2928938"/>
          <p14:tracePt t="20582" x="4648200" y="2940050"/>
          <p14:tracePt t="20592" x="4625975" y="2944813"/>
          <p14:tracePt t="20602" x="4603750" y="2957513"/>
          <p14:tracePt t="20612" x="4586288" y="2968625"/>
          <p14:tracePt t="20622" x="4570413" y="2979738"/>
          <p14:tracePt t="20632" x="4552950" y="2990850"/>
          <p14:tracePt t="20642" x="4548188" y="2990850"/>
          <p14:tracePt t="20652" x="4541838" y="2995613"/>
          <p14:tracePt t="20662" x="4530725" y="3006725"/>
          <p14:tracePt t="20672" x="4524375" y="3019425"/>
          <p14:tracePt t="20682" x="4508500" y="3030538"/>
          <p14:tracePt t="20692" x="4497388" y="3041650"/>
          <p14:tracePt t="20702" x="4479925" y="3063875"/>
          <p14:tracePt t="20712" x="4462463" y="3079750"/>
          <p14:tracePt t="20722" x="4446588" y="3097213"/>
          <p14:tracePt t="20732" x="4435475" y="3108325"/>
          <p14:tracePt t="20742" x="4429125" y="3119438"/>
          <p14:tracePt t="20760" x="4424363" y="3125788"/>
          <p14:tracePt t="20771" x="4418013" y="3125788"/>
          <p14:tracePt t="20776" x="4418013" y="3130550"/>
          <p14:tracePt t="20783" x="4418013" y="3136900"/>
          <p14:tracePt t="20793" x="4413250" y="3136900"/>
          <p14:tracePt t="20802" x="4413250" y="3141663"/>
          <p14:tracePt t="20816" x="4406900" y="3141663"/>
          <p14:tracePt t="20822" x="4406900" y="3148013"/>
          <p14:tracePt t="20832" x="4400550" y="3152775"/>
          <p14:tracePt t="20842" x="4395788" y="3159125"/>
          <p14:tracePt t="20852" x="4384675" y="3170238"/>
          <p14:tracePt t="20862" x="4373563" y="3181350"/>
          <p14:tracePt t="20872" x="4362450" y="3192463"/>
          <p14:tracePt t="20882" x="4351338" y="3203575"/>
          <p14:tracePt t="20892" x="4333875" y="3221038"/>
          <p14:tracePt t="20902" x="4316413" y="3238500"/>
          <p14:tracePt t="20912" x="4300538" y="3254375"/>
          <p14:tracePt t="20922" x="4289425" y="3265488"/>
          <p14:tracePt t="20932" x="4271963" y="3282950"/>
          <p14:tracePt t="20942" x="4260850" y="3300413"/>
          <p14:tracePt t="20952" x="4249738" y="3322638"/>
          <p14:tracePt t="20962" x="4232275" y="3333750"/>
          <p14:tracePt t="20972" x="4227513" y="3344863"/>
          <p14:tracePt t="20982" x="4227513" y="3349625"/>
          <p14:tracePt t="21000" x="4221163" y="3349625"/>
          <p14:tracePt t="21042" x="4221163" y="3355975"/>
          <p14:tracePt t="21656" x="4216400" y="3355975"/>
          <p14:tracePt t="21670" x="4216400" y="3362325"/>
          <p14:tracePt t="21673" x="4210050" y="3362325"/>
          <p14:tracePt t="21678" x="4210050" y="3367088"/>
          <p14:tracePt t="21686" x="4210050" y="3373438"/>
          <p14:tracePt t="21692" x="4198938" y="3378200"/>
          <p14:tracePt t="21702" x="4192588" y="3389313"/>
          <p14:tracePt t="21712" x="4187825" y="3400425"/>
          <p14:tracePt t="21722" x="4181475" y="3417888"/>
          <p14:tracePt t="21732" x="4176713" y="3422650"/>
          <p14:tracePt t="21742" x="4170363" y="3435350"/>
          <p14:tracePt t="21752" x="4170363" y="3440113"/>
          <p14:tracePt t="21762" x="4170363" y="3446463"/>
          <p14:tracePt t="21772" x="4165600" y="3457575"/>
          <p14:tracePt t="21782" x="4165600" y="3462338"/>
          <p14:tracePt t="21792" x="4165600" y="3468688"/>
          <p14:tracePt t="21802" x="4165600" y="3473450"/>
          <p14:tracePt t="21812" x="4165600" y="3479800"/>
          <p14:tracePt t="21822" x="4165600" y="3484563"/>
          <p14:tracePt t="21832" x="4159250" y="3495675"/>
          <p14:tracePt t="21842" x="4159250" y="3508375"/>
          <p14:tracePt t="21852" x="4159250" y="3519488"/>
          <p14:tracePt t="21862" x="4159250" y="3530600"/>
          <p14:tracePt t="21872" x="4154488" y="3546475"/>
          <p14:tracePt t="21882" x="4148138" y="3570288"/>
          <p14:tracePt t="21892" x="4148138" y="3586163"/>
          <p14:tracePt t="21902" x="4143375" y="3608388"/>
          <p14:tracePt t="21912" x="4143375" y="3630613"/>
          <p14:tracePt t="21922" x="4137025" y="3681413"/>
          <p14:tracePt t="21932" x="4130675" y="3727450"/>
          <p14:tracePt t="21942" x="4125913" y="3783013"/>
          <p14:tracePt t="21952" x="4114800" y="3833813"/>
          <p14:tracePt t="21962" x="4103688" y="3889375"/>
          <p14:tracePt t="21972" x="4097338" y="3940175"/>
          <p14:tracePt t="21982" x="4086225" y="3979863"/>
          <p14:tracePt t="21992" x="4086225" y="4019550"/>
          <p14:tracePt t="22002" x="4081463" y="4041775"/>
          <p14:tracePt t="22012" x="4081463" y="4052888"/>
          <p14:tracePt t="22022" x="4081463" y="4064000"/>
          <p14:tracePt t="22032" x="4075113" y="4064000"/>
          <p14:tracePt t="22042" x="4075113" y="4070350"/>
          <p14:tracePt t="22822" x="4075113" y="4075113"/>
          <p14:tracePt t="22826" x="4075113" y="4081463"/>
          <p14:tracePt t="22832" x="4081463" y="4092575"/>
          <p14:tracePt t="22842" x="4103688" y="4125913"/>
          <p14:tracePt t="22852" x="4119563" y="4148138"/>
          <p14:tracePt t="22862" x="4130675" y="4170363"/>
          <p14:tracePt t="22872" x="4143375" y="4194175"/>
          <p14:tracePt t="22882" x="4159250" y="4216400"/>
          <p14:tracePt t="22892" x="4181475" y="4243388"/>
          <p14:tracePt t="22902" x="4192588" y="4260850"/>
          <p14:tracePt t="22912" x="4205288" y="4283075"/>
          <p14:tracePt t="22922" x="4216400" y="4300538"/>
          <p14:tracePt t="22932" x="4227513" y="4305300"/>
          <p14:tracePt t="22942" x="4238625" y="4322763"/>
          <p14:tracePt t="22952" x="4249738" y="4340225"/>
          <p14:tracePt t="22962" x="4260850" y="4351338"/>
          <p14:tracePt t="22972" x="4265613" y="4362450"/>
          <p14:tracePt t="22982" x="4283075" y="4367213"/>
          <p14:tracePt t="22992" x="4305300" y="4384675"/>
          <p14:tracePt t="23002" x="4333875" y="4402138"/>
          <p14:tracePt t="23012" x="4356100" y="4418013"/>
          <p14:tracePt t="23022" x="4384675" y="4435475"/>
          <p14:tracePt t="23032" x="4406900" y="4446588"/>
          <p14:tracePt t="23042" x="4440238" y="4464050"/>
          <p14:tracePt t="23052" x="4468813" y="4475163"/>
          <p14:tracePt t="23062" x="4497388" y="4486275"/>
          <p14:tracePt t="23072" x="4524375" y="4497388"/>
          <p14:tracePt t="23082" x="4552950" y="4508500"/>
          <p14:tracePt t="23092" x="4570413" y="4513263"/>
          <p14:tracePt t="23102" x="4581525" y="4513263"/>
          <p14:tracePt t="23112" x="4581525" y="4519613"/>
          <p14:tracePt t="23122" x="4586288" y="4519613"/>
          <p14:tracePt t="23136" x="4592638" y="4519613"/>
          <p14:tracePt t="26058" x="4592638" y="4524375"/>
          <p14:tracePt t="26059" x="4597400" y="4530725"/>
          <p14:tracePt t="26062" x="4603750" y="4537075"/>
          <p14:tracePt t="26072" x="4687888" y="4614863"/>
          <p14:tracePt t="26082" x="4833938" y="4727575"/>
          <p14:tracePt t="26092" x="5019675" y="4840288"/>
          <p14:tracePt t="26102" x="5205413" y="4924425"/>
          <p14:tracePt t="26112" x="5367338" y="4997450"/>
          <p14:tracePt t="26122" x="5508625" y="5059363"/>
          <p14:tracePt t="26132" x="5614988" y="5092700"/>
          <p14:tracePt t="26142" x="5683250" y="5126038"/>
          <p14:tracePt t="26152" x="5727700" y="5149850"/>
          <p14:tracePt t="26162" x="5745163" y="5154613"/>
          <p14:tracePt t="26172" x="5749925" y="5154613"/>
          <p14:tracePt t="26182" x="5756275" y="5154613"/>
          <p14:tracePt t="26212" x="5761038" y="5154613"/>
          <p14:tracePt t="26217" x="5767388" y="5154613"/>
          <p14:tracePt t="26222" x="5772150" y="5154613"/>
          <p14:tracePt t="26232" x="5795963" y="5160963"/>
          <p14:tracePt t="26242" x="5822950" y="5160963"/>
          <p14:tracePt t="26252" x="5868988" y="5160963"/>
          <p14:tracePt t="26262" x="5913438" y="5160963"/>
          <p14:tracePt t="26272" x="5953125" y="5160963"/>
          <p14:tracePt t="26282" x="5975350" y="5160963"/>
          <p14:tracePt t="26292" x="5986463" y="5160963"/>
          <p14:tracePt t="26302" x="5997575" y="5160963"/>
          <p14:tracePt t="26312" x="6003925" y="5160963"/>
          <p14:tracePt t="26348" x="6008688" y="5160963"/>
          <p14:tracePt t="26762" x="6008688" y="5165725"/>
          <p14:tracePt t="26766" x="6008688" y="5172075"/>
          <p14:tracePt t="26773" x="6008688" y="5176838"/>
          <p14:tracePt t="26782" x="6015038" y="5183188"/>
          <p14:tracePt t="26792" x="6019800" y="5194300"/>
          <p14:tracePt t="26802" x="6037263" y="5216525"/>
          <p14:tracePt t="26812" x="6053138" y="5245100"/>
          <p14:tracePt t="26822" x="6070600" y="5272088"/>
          <p14:tracePt t="26832" x="6092825" y="5307013"/>
          <p14:tracePt t="26842" x="6121400" y="5340350"/>
          <p14:tracePt t="26852" x="6149975" y="5384800"/>
          <p14:tracePt t="26862" x="6183313" y="5430838"/>
          <p14:tracePt t="26872" x="6234113" y="5480050"/>
          <p14:tracePt t="26882" x="6278563" y="5530850"/>
          <p14:tracePt t="26892" x="6323013" y="5581650"/>
          <p14:tracePt t="26902" x="6373813" y="5632450"/>
          <p14:tracePt t="26912" x="6430963" y="5688013"/>
          <p14:tracePt t="26922" x="6497638" y="5745163"/>
          <p14:tracePt t="26932" x="6565900" y="5800725"/>
          <p14:tracePt t="26942" x="6632575" y="5857875"/>
          <p14:tracePt t="26952" x="6705600" y="5913438"/>
          <p14:tracePt t="26962" x="6784975" y="5981700"/>
          <p14:tracePt t="26972" x="6891338" y="6054725"/>
          <p14:tracePt t="26982" x="7008813" y="6121400"/>
          <p14:tracePt t="26992" x="7132638" y="6189663"/>
          <p14:tracePt t="27002" x="7273925" y="6262688"/>
          <p14:tracePt t="27012" x="7424738" y="6324600"/>
          <p14:tracePt t="27022" x="7605713" y="6397625"/>
          <p14:tracePt t="27032" x="7734300" y="6442075"/>
          <p14:tracePt t="27042" x="7869238" y="6486525"/>
          <p14:tracePt t="27052" x="7999413" y="6532563"/>
          <p14:tracePt t="27062" x="8139113" y="6565900"/>
          <p14:tracePt t="27072" x="8269288" y="6588125"/>
          <p14:tracePt t="27082" x="8386763" y="6610350"/>
          <p14:tracePt t="27092" x="8499475" y="6621463"/>
          <p14:tracePt t="27102" x="8605838" y="6638925"/>
          <p14:tracePt t="27112" x="8718550" y="6650038"/>
          <p14:tracePt t="27122" x="8831263" y="6656388"/>
          <p14:tracePt t="27132" x="8953500" y="6661150"/>
          <p14:tracePt t="27142" x="9061450" y="6667500"/>
          <p14:tracePt t="27152" x="9156700" y="6667500"/>
          <p14:tracePt t="27162" x="9223375" y="6667500"/>
          <p14:tracePt t="27172" x="9291638" y="6661150"/>
          <p14:tracePt t="27182" x="9353550" y="6643688"/>
          <p14:tracePt t="27192" x="9393238" y="6632575"/>
          <p14:tracePt t="27202" x="9420225" y="6621463"/>
          <p14:tracePt t="27212" x="9437688" y="6610350"/>
          <p14:tracePt t="27222" x="9448800" y="6594475"/>
          <p14:tracePt t="27232" x="9466263" y="6570663"/>
          <p14:tracePt t="27242" x="9482138" y="6537325"/>
          <p14:tracePt t="27252" x="9499600" y="6497638"/>
          <p14:tracePt t="27262" x="9517063" y="6442075"/>
          <p14:tracePt t="27272" x="9532938" y="6351588"/>
          <p14:tracePt t="27282" x="9539288" y="6262688"/>
          <p14:tracePt t="27292" x="9550400" y="6154738"/>
          <p14:tracePt t="27302" x="9555163" y="6054725"/>
          <p14:tracePt t="27312" x="9578975" y="5957888"/>
          <p14:tracePt t="27322" x="9583738" y="5857875"/>
          <p14:tracePt t="27332" x="9583738" y="5749925"/>
          <p14:tracePt t="27342" x="9583738" y="5665788"/>
          <p14:tracePt t="27352" x="9583738" y="5576888"/>
          <p14:tracePt t="27362" x="9590088" y="5492750"/>
          <p14:tracePt t="27372" x="9590088" y="5407025"/>
          <p14:tracePt t="27382" x="9590088" y="5329238"/>
          <p14:tracePt t="27392" x="9590088" y="5260975"/>
          <p14:tracePt t="27402" x="9583738" y="5205413"/>
          <p14:tracePt t="27412" x="9578975" y="5165725"/>
          <p14:tracePt t="27422" x="9572625" y="5121275"/>
          <p14:tracePt t="27432" x="9566275" y="5092700"/>
          <p14:tracePt t="27442" x="9561513" y="5064125"/>
          <p14:tracePt t="27452" x="9555163" y="5037138"/>
          <p14:tracePt t="27462" x="9544050" y="5008563"/>
          <p14:tracePt t="27472" x="9528175" y="4979988"/>
          <p14:tracePt t="27482" x="9517063" y="4946650"/>
          <p14:tracePt t="27492" x="9488488" y="4906963"/>
          <p14:tracePt t="27502" x="9448800" y="4856163"/>
          <p14:tracePt t="27512" x="9382125" y="4783138"/>
          <p14:tracePt t="27522" x="9296400" y="4716463"/>
          <p14:tracePt t="27532" x="9178925" y="4632325"/>
          <p14:tracePt t="27542" x="9043988" y="4548188"/>
          <p14:tracePt t="27552" x="8897938" y="4475163"/>
          <p14:tracePt t="27562" x="8734425" y="4395788"/>
          <p14:tracePt t="27572" x="8566150" y="4329113"/>
          <p14:tracePt t="27582" x="8386763" y="4260850"/>
          <p14:tracePt t="27592" x="8223250" y="4210050"/>
          <p14:tracePt t="27602" x="8077200" y="4170363"/>
          <p14:tracePt t="27612" x="7964488" y="4137025"/>
          <p14:tracePt t="27622" x="7875588" y="4114800"/>
          <p14:tracePt t="27632" x="7818438" y="4097338"/>
          <p14:tracePt t="27642" x="7796213" y="4092575"/>
          <p14:tracePt t="27652" x="7791450" y="4092575"/>
          <p14:tracePt t="27662" x="7785100" y="4092575"/>
          <p14:tracePt t="27672" x="7778750" y="4092575"/>
          <p14:tracePt t="27696" x="7773988" y="4092575"/>
          <p14:tracePt t="27709" x="7767638" y="4092575"/>
          <p14:tracePt t="27713" x="7762875" y="4092575"/>
          <p14:tracePt t="27715" x="7756525" y="4092575"/>
          <p14:tracePt t="27722" x="7751763" y="4092575"/>
          <p14:tracePt t="27732" x="7718425" y="4108450"/>
          <p14:tracePt t="27742" x="7678738" y="4132263"/>
          <p14:tracePt t="27752" x="7621588" y="4165600"/>
          <p14:tracePt t="27762" x="7548563" y="4210050"/>
          <p14:tracePt t="27772" x="7493000" y="4256088"/>
          <p14:tracePt t="27782" x="7424738" y="4294188"/>
          <p14:tracePt t="27792" x="7358063" y="4340225"/>
          <p14:tracePt t="27802" x="7289800" y="4384675"/>
          <p14:tracePt t="27812" x="7223125" y="4429125"/>
          <p14:tracePt t="27822" x="7167563" y="4468813"/>
          <p14:tracePt t="27832" x="7105650" y="4513263"/>
          <p14:tracePt t="27842" x="7059613" y="4552950"/>
          <p14:tracePt t="27852" x="7032625" y="4581525"/>
          <p14:tracePt t="27862" x="7019925" y="4598988"/>
          <p14:tracePt t="27872" x="6997700" y="4621213"/>
          <p14:tracePt t="27882" x="6981825" y="4643438"/>
          <p14:tracePt t="27892" x="6964363" y="4659313"/>
          <p14:tracePt t="27902" x="6953250" y="4676775"/>
          <p14:tracePt t="27912" x="6953250" y="4683125"/>
          <p14:tracePt t="27922" x="6946900" y="4687888"/>
          <p14:tracePt t="27932" x="6946900" y="4694238"/>
          <p14:tracePt t="27990" x="6946900" y="4699000"/>
          <p14:tracePt t="27997" x="6946900" y="4705350"/>
          <p14:tracePt t="28006" x="6942138" y="4716463"/>
          <p14:tracePt t="28009" x="6942138" y="4721225"/>
          <p14:tracePt t="28013" x="6942138" y="4727575"/>
          <p14:tracePt t="28022" x="6942138" y="4745038"/>
          <p14:tracePt t="28032" x="6942138" y="4794250"/>
          <p14:tracePt t="28042" x="6946900" y="4845050"/>
          <p14:tracePt t="28052" x="6959600" y="4906963"/>
          <p14:tracePt t="28062" x="6970713" y="4975225"/>
          <p14:tracePt t="28072" x="6981825" y="5037138"/>
          <p14:tracePt t="28082" x="6992938" y="5087938"/>
          <p14:tracePt t="28092" x="6992938" y="5126038"/>
          <p14:tracePt t="28102" x="6992938" y="5160963"/>
          <p14:tracePt t="28112" x="6992938" y="5187950"/>
          <p14:tracePt t="28122" x="6992938" y="5216525"/>
          <p14:tracePt t="28132" x="6992938" y="5245100"/>
          <p14:tracePt t="28142" x="6992938" y="5272088"/>
          <p14:tracePt t="28152" x="6992938" y="5300663"/>
          <p14:tracePt t="28162" x="6992938" y="5329238"/>
          <p14:tracePt t="28172" x="6992938" y="5351463"/>
          <p14:tracePt t="28182" x="6992938" y="5373688"/>
          <p14:tracePt t="28192" x="6992938" y="5395913"/>
          <p14:tracePt t="28202" x="6986588" y="5419725"/>
          <p14:tracePt t="28212" x="6986588" y="5435600"/>
          <p14:tracePt t="28222" x="6986588" y="5457825"/>
          <p14:tracePt t="28232" x="6986588" y="5480050"/>
          <p14:tracePt t="28242" x="6986588" y="5508625"/>
          <p14:tracePt t="28252" x="6986588" y="5541963"/>
          <p14:tracePt t="28262" x="6992938" y="5576888"/>
          <p14:tracePt t="28272" x="6997700" y="5610225"/>
          <p14:tracePt t="28282" x="7008813" y="5654675"/>
          <p14:tracePt t="28292" x="7026275" y="5700713"/>
          <p14:tracePt t="28302" x="7043738" y="5749925"/>
          <p14:tracePt t="28312" x="7065963" y="5811838"/>
          <p14:tracePt t="28322" x="7081838" y="5873750"/>
          <p14:tracePt t="28332" x="7110413" y="5930900"/>
          <p14:tracePt t="28342" x="7132638" y="5981700"/>
          <p14:tracePt t="28352" x="7161213" y="6037263"/>
          <p14:tracePt t="28362" x="7212013" y="6116638"/>
          <p14:tracePt t="28372" x="7256463" y="6165850"/>
          <p14:tracePt t="28382" x="7296150" y="6216650"/>
          <p14:tracePt t="28392" x="7340600" y="6256338"/>
          <p14:tracePt t="28402" x="7380288" y="6296025"/>
          <p14:tracePt t="28412" x="7424738" y="6335713"/>
          <p14:tracePt t="28422" x="7470775" y="6369050"/>
          <p14:tracePt t="28432" x="7532688" y="6413500"/>
          <p14:tracePt t="28442" x="7588250" y="6448425"/>
          <p14:tracePt t="28452" x="7650163" y="6492875"/>
          <p14:tracePt t="28462" x="7729538" y="6537325"/>
          <p14:tracePt t="28472" x="7802563" y="6577013"/>
          <p14:tracePt t="28482" x="7880350" y="6616700"/>
          <p14:tracePt t="28492" x="7948613" y="6650038"/>
          <p14:tracePt t="28502" x="8010525" y="6672263"/>
          <p14:tracePt t="28512" x="8066088" y="6694488"/>
          <p14:tracePt t="28522" x="8088313" y="6700838"/>
          <p14:tracePt t="28532" x="8099425" y="6705600"/>
          <p14:tracePt t="28544" x="8105775" y="6705600"/>
          <p14:tracePt t="28564" x="8105775" y="6711950"/>
          <p14:tracePt t="28586" x="8110538" y="6711950"/>
          <p14:tracePt t="28818" x="8110538" y="6705600"/>
          <p14:tracePt t="28824" x="8110538" y="6700838"/>
          <p14:tracePt t="28828" x="8110538" y="6694488"/>
          <p14:tracePt t="28832" x="8110538" y="6683375"/>
          <p14:tracePt t="28842" x="8110538" y="6643688"/>
          <p14:tracePt t="28852" x="8105775" y="6565900"/>
          <p14:tracePt t="28862" x="8105775" y="6459538"/>
          <p14:tracePt t="28872" x="8099425" y="6324600"/>
          <p14:tracePt t="28882" x="8099425" y="6154738"/>
          <p14:tracePt t="28892" x="8088313" y="5913438"/>
          <p14:tracePt t="28902" x="8072438" y="5665788"/>
          <p14:tracePt t="28912" x="8037513" y="5407025"/>
          <p14:tracePt t="28922" x="7999413" y="5137150"/>
          <p14:tracePt t="28932" x="7964488" y="4873625"/>
          <p14:tracePt t="28942" x="7926388" y="4643438"/>
          <p14:tracePt t="28952" x="7897813" y="4446588"/>
          <p14:tracePt t="28962" x="7875588" y="4300538"/>
          <p14:tracePt t="28972" x="7853363" y="4176713"/>
          <p14:tracePt t="28982" x="7835900" y="4097338"/>
          <p14:tracePt t="28992" x="7818438" y="4035425"/>
          <p14:tracePt t="29002" x="7807325" y="3986213"/>
          <p14:tracePt t="29012" x="7796213" y="3968750"/>
          <p14:tracePt t="29022" x="7791450" y="3951288"/>
          <p14:tracePt t="29032" x="7791450" y="3946525"/>
          <p14:tracePt t="29058" x="7785100" y="3940175"/>
          <p14:tracePt t="29120" x="7778750" y="3940175"/>
          <p14:tracePt t="29168" x="7773988" y="3940175"/>
          <p14:tracePt t="29182" x="7767638" y="3940175"/>
          <p14:tracePt t="29192" x="7762875" y="3940175"/>
          <p14:tracePt t="29203" x="7756525" y="3940175"/>
          <p14:tracePt t="29208" x="7751763" y="3940175"/>
          <p14:tracePt t="29213" x="7745413" y="3940175"/>
          <p14:tracePt t="29222" x="7734300" y="3940175"/>
          <p14:tracePt t="29232" x="7700963" y="3924300"/>
          <p14:tracePt t="29242" x="7632700" y="3867150"/>
          <p14:tracePt t="29252" x="7548563" y="3789363"/>
          <p14:tracePt t="29262" x="7459663" y="3716338"/>
          <p14:tracePt t="29272" x="7380288" y="3636963"/>
          <p14:tracePt t="29282" x="7313613" y="3575050"/>
          <p14:tracePt t="29292" x="7256463" y="3524250"/>
          <p14:tracePt t="29302" x="7205663" y="3468688"/>
          <p14:tracePt t="29312" x="7150100" y="3406775"/>
          <p14:tracePt t="29322" x="7088188" y="3333750"/>
          <p14:tracePt t="29332" x="7037388" y="3276600"/>
          <p14:tracePt t="29342" x="6986588" y="3221038"/>
          <p14:tracePt t="29352" x="6946900" y="3192463"/>
          <p14:tracePt t="29362" x="6942138" y="3187700"/>
          <p14:tracePt t="29372" x="6942138" y="3181350"/>
          <p14:tracePt t="29382" x="6935788" y="3181350"/>
          <p14:tracePt t="29430" x="6931025" y="3192463"/>
          <p14:tracePt t="29431" x="6931025" y="3198813"/>
          <p14:tracePt t="29434" x="6924675" y="3203575"/>
          <p14:tracePt t="29442" x="6897688" y="3271838"/>
          <p14:tracePt t="29452" x="6869113" y="3373438"/>
          <p14:tracePt t="29462" x="6807200" y="3508375"/>
          <p14:tracePt t="29472" x="6751638" y="3659188"/>
          <p14:tracePt t="29482" x="6689725" y="3816350"/>
          <p14:tracePt t="29492" x="6650038" y="3962400"/>
          <p14:tracePt t="29502" x="6627813" y="4086225"/>
          <p14:tracePt t="29512" x="6610350" y="4181475"/>
          <p14:tracePt t="29522" x="6610350" y="4256088"/>
          <p14:tracePt t="29532" x="6616700" y="4329113"/>
          <p14:tracePt t="29542" x="6643688" y="4384675"/>
          <p14:tracePt t="29552" x="6677025" y="4440238"/>
          <p14:tracePt t="29562" x="6705600" y="4486275"/>
          <p14:tracePt t="29572" x="6745288" y="4524375"/>
          <p14:tracePt t="29582" x="6784975" y="4559300"/>
          <p14:tracePt t="29592" x="6829425" y="4586288"/>
          <p14:tracePt t="29602" x="6897688" y="4621213"/>
          <p14:tracePt t="29612" x="6997700" y="4665663"/>
          <p14:tracePt t="29622" x="7143750" y="4699000"/>
          <p14:tracePt t="29632" x="7358063" y="4745038"/>
          <p14:tracePt t="29642" x="7570788" y="4767263"/>
          <p14:tracePt t="29652" x="7778750" y="4772025"/>
          <p14:tracePt t="29662" x="8015288" y="4772025"/>
          <p14:tracePt t="29672" x="8207375" y="4745038"/>
          <p14:tracePt t="29682" x="8375650" y="4716463"/>
          <p14:tracePt t="29692" x="8504238" y="4676775"/>
          <p14:tracePt t="29702" x="8599488" y="4643438"/>
          <p14:tracePt t="29712" x="8685213" y="4625975"/>
          <p14:tracePt t="29722" x="8785225" y="4598988"/>
          <p14:tracePt t="29732" x="8893175" y="4570413"/>
          <p14:tracePt t="29742" x="8993188" y="4537075"/>
          <p14:tracePt t="29752" x="9055100" y="4497388"/>
          <p14:tracePt t="29762" x="9105900" y="4451350"/>
          <p14:tracePt t="29772" x="9134475" y="4406900"/>
          <p14:tracePt t="29782" x="9150350" y="4351338"/>
          <p14:tracePt t="29792" x="9150350" y="4294188"/>
          <p14:tracePt t="29802" x="9150350" y="4243388"/>
          <p14:tracePt t="29812" x="9139238" y="4181475"/>
          <p14:tracePt t="29822" x="9105900" y="4108450"/>
          <p14:tracePt t="29832" x="9061450" y="4008438"/>
          <p14:tracePt t="29842" x="8993188" y="3906838"/>
          <p14:tracePt t="29852" x="8915400" y="3805238"/>
          <p14:tracePt t="29862" x="8796338" y="3709988"/>
          <p14:tracePt t="29872" x="8672513" y="3619500"/>
          <p14:tracePt t="29882" x="8543925" y="3557588"/>
          <p14:tracePt t="29892" x="8415338" y="3508375"/>
          <p14:tracePt t="29902" x="8307388" y="3479800"/>
          <p14:tracePt t="29912" x="8207375" y="3457575"/>
          <p14:tracePt t="29922" x="8110538" y="3440113"/>
          <p14:tracePt t="29932" x="7999413" y="3429000"/>
          <p14:tracePt t="29942" x="7875588" y="3406775"/>
          <p14:tracePt t="29952" x="7729538" y="3389313"/>
          <p14:tracePt t="29962" x="7570788" y="3384550"/>
          <p14:tracePt t="29972" x="7419975" y="3378200"/>
          <p14:tracePt t="29982" x="7267575" y="3378200"/>
          <p14:tracePt t="29992" x="7121525" y="3378200"/>
          <p14:tracePt t="30002" x="6997700" y="3400425"/>
          <p14:tracePt t="30012" x="6908800" y="3429000"/>
          <p14:tracePt t="30022" x="6851650" y="3462338"/>
          <p14:tracePt t="30032" x="6807200" y="3490913"/>
          <p14:tracePt t="30042" x="6767513" y="3524250"/>
          <p14:tracePt t="30052" x="6745288" y="3557588"/>
          <p14:tracePt t="30062" x="6727825" y="3597275"/>
          <p14:tracePt t="30072" x="6711950" y="3636963"/>
          <p14:tracePt t="30082" x="6711950" y="3692525"/>
          <p14:tracePt t="30092" x="6711950" y="3765550"/>
          <p14:tracePt t="30102" x="6711950" y="3867150"/>
          <p14:tracePt t="30112" x="6734175" y="3979863"/>
          <p14:tracePt t="30122" x="6762750" y="4086225"/>
          <p14:tracePt t="30132" x="6789738" y="4194175"/>
          <p14:tracePt t="30142" x="6829425" y="4289425"/>
          <p14:tracePt t="30152" x="6873875" y="4373563"/>
          <p14:tracePt t="30162" x="6931025" y="4446588"/>
          <p14:tracePt t="30172" x="6992938" y="4513263"/>
          <p14:tracePt t="30182" x="7070725" y="4575175"/>
          <p14:tracePt t="30192" x="7150100" y="4637088"/>
          <p14:tracePt t="30202" x="7227888" y="4687888"/>
          <p14:tracePt t="30212" x="7307263" y="4738688"/>
          <p14:tracePt t="30222" x="7391400" y="4778375"/>
          <p14:tracePt t="30232" x="7486650" y="4829175"/>
          <p14:tracePt t="30242" x="7594600" y="4873625"/>
          <p14:tracePt t="30252" x="7705725" y="4918075"/>
          <p14:tracePt t="30262" x="7824788" y="4964113"/>
          <p14:tracePt t="30272" x="7937500" y="5002213"/>
          <p14:tracePt t="30282" x="8026400" y="5037138"/>
          <p14:tracePt t="30292" x="8094663" y="5053013"/>
          <p14:tracePt t="30302" x="8156575" y="5064125"/>
          <p14:tracePt t="30312" x="8207375" y="5070475"/>
          <p14:tracePt t="30322" x="8274050" y="5070475"/>
          <p14:tracePt t="30332" x="8342313" y="5070475"/>
          <p14:tracePt t="30342" x="8415338" y="5059363"/>
          <p14:tracePt t="30352" x="8482013" y="5041900"/>
          <p14:tracePt t="30362" x="8532813" y="5014913"/>
          <p14:tracePt t="30372" x="8572500" y="4968875"/>
          <p14:tracePt t="30382" x="8599488" y="4918075"/>
          <p14:tracePt t="30392" x="8612188" y="4845050"/>
          <p14:tracePt t="30402" x="8612188" y="4721225"/>
          <p14:tracePt t="30412" x="8594725" y="4537075"/>
          <p14:tracePt t="30422" x="8537575" y="4305300"/>
          <p14:tracePt t="30432" x="8442325" y="4081463"/>
          <p14:tracePt t="30442" x="8324850" y="3867150"/>
          <p14:tracePt t="30452" x="8183563" y="3670300"/>
          <p14:tracePt t="30462" x="8032750" y="3490913"/>
          <p14:tracePt t="30472" x="7875588" y="3322638"/>
          <p14:tracePt t="30482" x="7729538" y="3192463"/>
          <p14:tracePt t="30492" x="7627938" y="3108325"/>
          <p14:tracePt t="30502" x="7566025" y="3057525"/>
          <p14:tracePt t="30512" x="7526338" y="3030538"/>
          <p14:tracePt t="30522" x="7504113" y="3013075"/>
          <p14:tracePt t="30532" x="7493000" y="3013075"/>
          <p14:tracePt t="30542" x="7486650" y="3006725"/>
          <p14:tracePt t="30552" x="7481888" y="3006725"/>
          <p14:tracePt t="30582" x="7475538" y="3006725"/>
          <p14:tracePt t="30592" x="7470775" y="3006725"/>
          <p14:tracePt t="30593" x="7470775" y="3013075"/>
          <p14:tracePt t="30602" x="7448550" y="3046413"/>
          <p14:tracePt t="30612" x="7402513" y="3119438"/>
          <p14:tracePt t="30622" x="7340600" y="3214688"/>
          <p14:tracePt t="30632" x="7273925" y="3338513"/>
          <p14:tracePt t="30642" x="7183438" y="3484563"/>
          <p14:tracePt t="30652" x="7105650" y="3643313"/>
          <p14:tracePt t="30662" x="7019925" y="3800475"/>
          <p14:tracePt t="30672" x="6964363" y="3940175"/>
          <p14:tracePt t="30682" x="6908800" y="4075113"/>
          <p14:tracePt t="30692" x="6869113" y="4187825"/>
          <p14:tracePt t="30702" x="6840538" y="4278313"/>
          <p14:tracePt t="30712" x="6829425" y="4344988"/>
          <p14:tracePt t="30722" x="6824663" y="4395788"/>
          <p14:tracePt t="30732" x="6824663" y="4424363"/>
          <p14:tracePt t="30742" x="6824663" y="4446588"/>
          <p14:tracePt t="30752" x="6824663" y="4464050"/>
          <p14:tracePt t="30762" x="6829425" y="4468813"/>
          <p14:tracePt t="30772" x="6835775" y="4479925"/>
          <p14:tracePt t="30782" x="6840538" y="4486275"/>
          <p14:tracePt t="30802" x="6846888" y="4486275"/>
          <p14:tracePt t="30810" x="6858000" y="4479925"/>
          <p14:tracePt t="30813" x="6862763" y="4468813"/>
          <p14:tracePt t="30822" x="6902450" y="4440238"/>
          <p14:tracePt t="30832" x="6981825" y="4391025"/>
          <p14:tracePt t="30842" x="7099300" y="4322763"/>
          <p14:tracePt t="30852" x="7234238" y="4260850"/>
          <p14:tracePt t="30862" x="7375525" y="4216400"/>
          <p14:tracePt t="30872" x="7493000" y="4176713"/>
          <p14:tracePt t="30882" x="7588250" y="4143375"/>
          <p14:tracePt t="30892" x="7661275" y="4114800"/>
          <p14:tracePt t="30902" x="7712075" y="4097338"/>
          <p14:tracePt t="30912" x="7740650" y="4081463"/>
          <p14:tracePt t="30922" x="7756525" y="4064000"/>
          <p14:tracePt t="30932" x="7773988" y="4052888"/>
          <p14:tracePt t="30942" x="7785100" y="4041775"/>
          <p14:tracePt t="30952" x="7791450" y="4019550"/>
          <p14:tracePt t="30962" x="7791450" y="3986213"/>
          <p14:tracePt t="30972" x="7773988" y="3889375"/>
          <p14:tracePt t="30982" x="7723188" y="3743325"/>
          <p14:tracePt t="30992" x="7650163" y="3541713"/>
          <p14:tracePt t="31002" x="7570788" y="3378200"/>
          <p14:tracePt t="31012" x="7486650" y="3227388"/>
          <p14:tracePt t="31022" x="7402513" y="3114675"/>
          <p14:tracePt t="31032" x="7335838" y="3030538"/>
          <p14:tracePt t="31042" x="7267575" y="2968625"/>
          <p14:tracePt t="31052" x="7227888" y="2933700"/>
          <p14:tracePt t="31062" x="7178675" y="2906713"/>
          <p14:tracePt t="31072" x="7154863" y="2895600"/>
          <p14:tracePt t="31082" x="7143750" y="2889250"/>
          <p14:tracePt t="31092" x="7138988" y="2889250"/>
          <p14:tracePt t="31102" x="7132638" y="2889250"/>
          <p14:tracePt t="31112" x="7127875" y="2889250"/>
          <p14:tracePt t="31122" x="7110413" y="2900363"/>
          <p14:tracePt t="31132" x="7088188" y="2933700"/>
          <p14:tracePt t="31142" x="7032625" y="3001963"/>
          <p14:tracePt t="31152" x="6975475" y="3092450"/>
          <p14:tracePt t="31162" x="6919913" y="3198813"/>
          <p14:tracePt t="31172" x="6862763" y="3333750"/>
          <p14:tracePt t="31182" x="6818313" y="3479800"/>
          <p14:tracePt t="31192" x="6784975" y="3648075"/>
          <p14:tracePt t="31202" x="6778625" y="3805238"/>
          <p14:tracePt t="31212" x="6778625" y="3973513"/>
          <p14:tracePt t="31222" x="6818313" y="4143375"/>
          <p14:tracePt t="31232" x="6869113" y="4283075"/>
          <p14:tracePt t="31242" x="6935788" y="4413250"/>
          <p14:tracePt t="31252" x="7015163" y="4524375"/>
          <p14:tracePt t="31262" x="7099300" y="4632325"/>
          <p14:tracePt t="31272" x="7200900" y="4733925"/>
          <p14:tracePt t="31282" x="7307263" y="4818063"/>
          <p14:tracePt t="31292" x="7397750" y="4879975"/>
          <p14:tracePt t="31302" x="7459663" y="4918075"/>
          <p14:tracePt t="31312" x="7510463" y="4935538"/>
          <p14:tracePt t="31322" x="7548563" y="4946650"/>
          <p14:tracePt t="31332" x="7599363" y="4964113"/>
          <p14:tracePt t="31342" x="7661275" y="4975225"/>
          <p14:tracePt t="31352" x="7740650" y="4991100"/>
          <p14:tracePt t="31362" x="7829550" y="5002213"/>
          <p14:tracePt t="31372" x="7942263" y="5014913"/>
          <p14:tracePt t="31382" x="8048625" y="5014913"/>
          <p14:tracePt t="31392" x="8156575" y="5002213"/>
          <p14:tracePt t="31402" x="8256588" y="4979988"/>
          <p14:tracePt t="31412" x="8342313" y="4953000"/>
          <p14:tracePt t="31422" x="8397875" y="4913313"/>
          <p14:tracePt t="31432" x="8431213" y="4884738"/>
          <p14:tracePt t="31442" x="8437563" y="4862513"/>
          <p14:tracePt t="31452" x="8437563" y="4833938"/>
          <p14:tracePt t="31462" x="8415338" y="4749800"/>
          <p14:tracePt t="31472" x="8342313" y="4592638"/>
          <p14:tracePt t="31482" x="8218488" y="4367213"/>
          <p14:tracePt t="31492" x="8066088" y="4092575"/>
          <p14:tracePt t="31502" x="7880350" y="3811588"/>
          <p14:tracePt t="31512" x="7694613" y="3570288"/>
          <p14:tracePt t="31522" x="7537450" y="3378200"/>
          <p14:tracePt t="31532" x="7397750" y="3227388"/>
          <p14:tracePt t="31542" x="7296150" y="3130550"/>
          <p14:tracePt t="31552" x="7205663" y="3057525"/>
          <p14:tracePt t="31562" x="7161213" y="3019425"/>
          <p14:tracePt t="31572" x="7121525" y="2995613"/>
          <p14:tracePt t="31582" x="7099300" y="2990850"/>
          <p14:tracePt t="31592" x="7088188" y="2984500"/>
          <p14:tracePt t="31610" x="7081838" y="2984500"/>
          <p14:tracePt t="31622" x="7077075" y="2984500"/>
          <p14:tracePt t="31623" x="7070725" y="2995613"/>
          <p14:tracePt t="31632" x="7054850" y="3041650"/>
          <p14:tracePt t="31642" x="7026275" y="3136900"/>
          <p14:tracePt t="31652" x="6986588" y="3287713"/>
          <p14:tracePt t="31662" x="6935788" y="3462338"/>
          <p14:tracePt t="31672" x="6880225" y="3659188"/>
          <p14:tracePt t="31682" x="6829425" y="3851275"/>
          <p14:tracePt t="31692" x="6796088" y="4024313"/>
          <p14:tracePt t="31702" x="6784975" y="4194175"/>
          <p14:tracePt t="31712" x="6784975" y="4356100"/>
          <p14:tracePt t="31722" x="6824663" y="4491038"/>
          <p14:tracePt t="31732" x="6880225" y="4614863"/>
          <p14:tracePt t="31742" x="6935788" y="4710113"/>
          <p14:tracePt t="31752" x="6997700" y="4778375"/>
          <p14:tracePt t="31762" x="7059613" y="4829175"/>
          <p14:tracePt t="31772" x="7121525" y="4867275"/>
          <p14:tracePt t="31782" x="7167563" y="4884738"/>
          <p14:tracePt t="31792" x="7205663" y="4902200"/>
          <p14:tracePt t="31802" x="7227888" y="4902200"/>
          <p14:tracePt t="31812" x="7251700" y="4902200"/>
          <p14:tracePt t="31822" x="7307263" y="4902200"/>
          <p14:tracePt t="31832" x="7397750" y="4884738"/>
          <p14:tracePt t="31842" x="7521575" y="4851400"/>
          <p14:tracePt t="31852" x="7672388" y="4811713"/>
          <p14:tracePt t="31862" x="7853363" y="4772025"/>
          <p14:tracePt t="31872" x="7999413" y="4733925"/>
          <p14:tracePt t="31882" x="8105775" y="4687888"/>
          <p14:tracePt t="31892" x="8178800" y="4648200"/>
          <p14:tracePt t="31902" x="8218488" y="4610100"/>
          <p14:tracePt t="31912" x="8245475" y="4564063"/>
          <p14:tracePt t="31922" x="8262938" y="4519613"/>
          <p14:tracePt t="31932" x="8274050" y="4468813"/>
          <p14:tracePt t="31942" x="8280400" y="4413250"/>
          <p14:tracePt t="31952" x="8280400" y="4356100"/>
          <p14:tracePt t="31962" x="8280400" y="4289425"/>
          <p14:tracePt t="31972" x="8245475" y="4205288"/>
          <p14:tracePt t="31982" x="8183563" y="4081463"/>
          <p14:tracePt t="31992" x="8072438" y="3924300"/>
          <p14:tracePt t="32002" x="7942263" y="3771900"/>
          <p14:tracePt t="32012" x="7767638" y="3619500"/>
          <p14:tracePt t="32022" x="7577138" y="3484563"/>
          <p14:tracePt t="32032" x="7397750" y="3378200"/>
          <p14:tracePt t="32042" x="7223125" y="3300413"/>
          <p14:tracePt t="32052" x="7077075" y="3260725"/>
          <p14:tracePt t="32062" x="6946900" y="3232150"/>
          <p14:tracePt t="32072" x="6829425" y="3227388"/>
          <p14:tracePt t="32082" x="6705600" y="3221038"/>
          <p14:tracePt t="32092" x="6592888" y="3227388"/>
          <p14:tracePt t="32102" x="6492875" y="3249613"/>
          <p14:tracePt t="32112" x="6402388" y="3294063"/>
          <p14:tracePt t="32122" x="6329363" y="3338513"/>
          <p14:tracePt t="32132" x="6267450" y="3400425"/>
          <p14:tracePt t="32142" x="6227763" y="3473450"/>
          <p14:tracePt t="32152" x="6205538" y="3557588"/>
          <p14:tracePt t="32162" x="6183313" y="3648075"/>
          <p14:tracePt t="32172" x="6176963" y="3743325"/>
          <p14:tracePt t="32182" x="6176963" y="3844925"/>
          <p14:tracePt t="32192" x="6205538" y="3957638"/>
          <p14:tracePt t="32202" x="6245225" y="4064000"/>
          <p14:tracePt t="32212" x="6311900" y="4170363"/>
          <p14:tracePt t="32222" x="6402388" y="4278313"/>
          <p14:tracePt t="32232" x="6526213" y="4378325"/>
          <p14:tracePt t="32242" x="6654800" y="4451350"/>
          <p14:tracePt t="32252" x="6767513" y="4479925"/>
          <p14:tracePt t="32262" x="6902450" y="4508500"/>
          <p14:tracePt t="32272" x="7037388" y="4519613"/>
          <p14:tracePt t="32282" x="7154863" y="4519613"/>
          <p14:tracePt t="32292" x="7245350" y="4519613"/>
          <p14:tracePt t="32302" x="7289800" y="4508500"/>
          <p14:tracePt t="32312" x="7307263" y="4508500"/>
          <p14:tracePt t="32325" x="7313613" y="4508500"/>
          <p14:tracePt t="32864" x="7318375" y="4508500"/>
          <p14:tracePt t="32868" x="7324725" y="4508500"/>
          <p14:tracePt t="32872" x="7340600" y="4508500"/>
          <p14:tracePt t="32882" x="7386638" y="4497388"/>
          <p14:tracePt t="32892" x="7464425" y="4475163"/>
          <p14:tracePt t="32902" x="7554913" y="4435475"/>
          <p14:tracePt t="32912" x="7632700" y="4384675"/>
          <p14:tracePt t="32922" x="7705725" y="4329113"/>
          <p14:tracePt t="32932" x="7756525" y="4267200"/>
          <p14:tracePt t="32942" x="7791450" y="4216400"/>
          <p14:tracePt t="32952" x="7807325" y="4159250"/>
          <p14:tracePt t="32962" x="7813675" y="4108450"/>
          <p14:tracePt t="32972" x="7813675" y="4041775"/>
          <p14:tracePt t="32982" x="7785100" y="3946525"/>
          <p14:tracePt t="32992" x="7740650" y="3833813"/>
          <p14:tracePt t="33002" x="7672388" y="3692525"/>
          <p14:tracePt t="33012" x="7570788" y="3502025"/>
          <p14:tracePt t="33022" x="7448550" y="3311525"/>
          <p14:tracePt t="33032" x="7318375" y="3136900"/>
          <p14:tracePt t="33042" x="7194550" y="2990850"/>
          <p14:tracePt t="33052" x="7081838" y="2860675"/>
          <p14:tracePt t="33062" x="6959600" y="2736850"/>
          <p14:tracePt t="33072" x="6840538" y="2619375"/>
          <p14:tracePt t="33082" x="6700838" y="2495550"/>
          <p14:tracePt t="33092" x="6559550" y="2366963"/>
          <p14:tracePt t="33102" x="6424613" y="2254250"/>
          <p14:tracePt t="33112" x="6307138" y="2152650"/>
          <p14:tracePt t="33122" x="6223000" y="2085975"/>
          <p14:tracePt t="33132" x="6172200" y="2039938"/>
          <p14:tracePt t="33142" x="6126163" y="2006600"/>
          <p14:tracePt t="33152" x="6099175" y="1984375"/>
          <p14:tracePt t="33162" x="6081713" y="1973263"/>
          <p14:tracePt t="33172" x="6070600" y="1973263"/>
          <p14:tracePt t="33182" x="6042025" y="1962150"/>
          <p14:tracePt t="33192" x="6026150" y="1955800"/>
          <p14:tracePt t="33202" x="5991225" y="1944688"/>
          <p14:tracePt t="33212" x="5946775" y="1944688"/>
          <p14:tracePt t="33222" x="5895975" y="1939925"/>
          <p14:tracePt t="33232" x="5829300" y="1939925"/>
          <p14:tracePt t="33242" x="5749925" y="1939925"/>
          <p14:tracePt t="33252" x="5665788" y="1944688"/>
          <p14:tracePt t="33262" x="5564188" y="1962150"/>
          <p14:tracePt t="33272" x="5468938" y="1978025"/>
          <p14:tracePt t="33282" x="5373688" y="1995488"/>
          <p14:tracePt t="33292" x="5283200" y="2024063"/>
          <p14:tracePt t="33302" x="5205413" y="2051050"/>
          <p14:tracePt t="33312" x="5132388" y="2079625"/>
          <p14:tracePt t="33322" x="5059363" y="2112963"/>
          <p14:tracePt t="33332" x="4991100" y="2147888"/>
          <p14:tracePt t="33342" x="4924425" y="2185988"/>
          <p14:tracePt t="33352" x="4851400" y="2220913"/>
          <p14:tracePt t="33362" x="4783138" y="2259013"/>
          <p14:tracePt t="33372" x="4705350" y="2298700"/>
          <p14:tracePt t="33382" x="4621213" y="2344738"/>
          <p14:tracePt t="33392" x="4535488" y="2400300"/>
          <p14:tracePt t="33402" x="4451350" y="2466975"/>
          <p14:tracePt t="33412" x="4362450" y="2546350"/>
          <p14:tracePt t="33422" x="4289425" y="2636838"/>
          <p14:tracePt t="33432" x="4210050" y="2736850"/>
          <p14:tracePt t="33442" x="4114800" y="2855913"/>
          <p14:tracePt t="33452" x="4013200" y="2984500"/>
          <p14:tracePt t="33462" x="3906838" y="3141663"/>
          <p14:tracePt t="33472" x="3805238" y="3338513"/>
          <p14:tracePt t="33482" x="3727450" y="3552825"/>
          <p14:tracePt t="33492" x="3670300" y="3789363"/>
          <p14:tracePt t="33502" x="3614738" y="4059238"/>
          <p14:tracePt t="33512" x="3579813" y="4305300"/>
          <p14:tracePt t="33522" x="3557588" y="4548188"/>
          <p14:tracePt t="33532" x="3552825" y="4760913"/>
          <p14:tracePt t="33542" x="3552825" y="4941888"/>
          <p14:tracePt t="33552" x="3575050" y="5081588"/>
          <p14:tracePt t="33562" x="3608388" y="5222875"/>
          <p14:tracePt t="33572" x="3654425" y="5340350"/>
          <p14:tracePt t="33582" x="3703638" y="5468938"/>
          <p14:tracePt t="33592" x="3771900" y="5603875"/>
          <p14:tracePt t="33602" x="3849688" y="5749925"/>
          <p14:tracePt t="33612" x="3929063" y="5895975"/>
          <p14:tracePt t="33622" x="4013200" y="6030913"/>
          <p14:tracePt t="33632" x="4108450" y="6172200"/>
          <p14:tracePt t="33642" x="4210050" y="6296025"/>
          <p14:tracePt t="33652" x="4311650" y="6397625"/>
          <p14:tracePt t="33662" x="4435475" y="6492875"/>
          <p14:tracePt t="33672" x="4592638" y="6588125"/>
          <p14:tracePt t="33682" x="4783138" y="6689725"/>
          <p14:tracePt t="33692" x="5024438" y="6784975"/>
          <p14:tracePt t="33758" x="6565900" y="6840538"/>
          <p14:tracePt t="33762" x="6627813" y="6818313"/>
          <p14:tracePt t="33772" x="6784975" y="6762750"/>
          <p14:tracePt t="33782" x="6942138" y="6683375"/>
          <p14:tracePt t="33792" x="7121525" y="6588125"/>
          <p14:tracePt t="33802" x="7340600" y="6464300"/>
          <p14:tracePt t="33812" x="7559675" y="6318250"/>
          <p14:tracePt t="33822" x="7791450" y="6149975"/>
          <p14:tracePt t="33832" x="8010525" y="5957888"/>
          <p14:tracePt t="33842" x="8207375" y="5762625"/>
          <p14:tracePt t="33852" x="8364538" y="5576888"/>
          <p14:tracePt t="33862" x="8482013" y="5402263"/>
          <p14:tracePt t="33872" x="8583613" y="5256213"/>
          <p14:tracePt t="33882" x="8656638" y="5114925"/>
          <p14:tracePt t="33892" x="8707438" y="4997450"/>
          <p14:tracePt t="33902" x="8723313" y="4873625"/>
          <p14:tracePt t="33912" x="8729663" y="4745038"/>
          <p14:tracePt t="33922" x="8701088" y="4575175"/>
          <p14:tracePt t="33932" x="8656638" y="4402138"/>
          <p14:tracePt t="33942" x="8566150" y="4194175"/>
          <p14:tracePt t="33952" x="8448675" y="3979863"/>
          <p14:tracePt t="33962" x="8307388" y="3765550"/>
          <p14:tracePt t="33972" x="8167688" y="3592513"/>
          <p14:tracePt t="33982" x="8021638" y="3446463"/>
          <p14:tracePt t="33992" x="7840663" y="3311525"/>
          <p14:tracePt t="34002" x="7643813" y="3181350"/>
          <p14:tracePt t="34012" x="7419975" y="3068638"/>
          <p14:tracePt t="34022" x="7189788" y="2968625"/>
          <p14:tracePt t="34032" x="6946900" y="2878138"/>
          <p14:tracePt t="34042" x="6705600" y="2816225"/>
          <p14:tracePt t="34052" x="6457950" y="2771775"/>
          <p14:tracePt t="34062" x="6216650" y="2749550"/>
          <p14:tracePt t="34072" x="5957888" y="2743200"/>
          <p14:tracePt t="34082" x="5734050" y="2743200"/>
          <p14:tracePt t="34092" x="5514975" y="2760663"/>
          <p14:tracePt t="34102" x="5334000" y="2787650"/>
          <p14:tracePt t="34112" x="5183188" y="2827338"/>
          <p14:tracePt t="34122" x="5059363" y="2855913"/>
          <p14:tracePt t="34132" x="4957763" y="2889250"/>
          <p14:tracePt t="34142" x="4851400" y="2922588"/>
          <p14:tracePt t="34152" x="4749800" y="2957513"/>
          <p14:tracePt t="34162" x="4643438" y="3013075"/>
          <p14:tracePt t="34172" x="4548188" y="3068638"/>
          <p14:tracePt t="34182" x="4446588" y="3141663"/>
          <p14:tracePt t="34192" x="4367213" y="3232150"/>
          <p14:tracePt t="34202" x="4289425" y="3327400"/>
          <p14:tracePt t="34212" x="4221163" y="3440113"/>
          <p14:tracePt t="34222" x="4159250" y="3557588"/>
          <p14:tracePt t="34232" x="4108450" y="3681413"/>
          <p14:tracePt t="34242" x="4070350" y="3805238"/>
          <p14:tracePt t="34252" x="4052888" y="3946525"/>
          <p14:tracePt t="34262" x="4046538" y="4092575"/>
          <p14:tracePt t="34272" x="4046538" y="4260850"/>
          <p14:tracePt t="34282" x="4057650" y="4429125"/>
          <p14:tracePt t="34292" x="4081463" y="4598988"/>
          <p14:tracePt t="34302" x="4114800" y="4749800"/>
          <p14:tracePt t="34312" x="4148138" y="4902200"/>
          <p14:tracePt t="34322" x="4210050" y="5041900"/>
          <p14:tracePt t="34332" x="4289425" y="5187950"/>
          <p14:tracePt t="34342" x="4395788" y="5329238"/>
          <p14:tracePt t="34352" x="4530725" y="5464175"/>
          <p14:tracePt t="34362" x="4681538" y="5592763"/>
          <p14:tracePt t="34372" x="4829175" y="5705475"/>
          <p14:tracePt t="34382" x="4986338" y="5807075"/>
          <p14:tracePt t="34392" x="5154613" y="5908675"/>
          <p14:tracePt t="34402" x="5334000" y="6003925"/>
          <p14:tracePt t="34412" x="5514975" y="6088063"/>
          <p14:tracePt t="34422" x="5699125" y="6161088"/>
          <p14:tracePt t="34432" x="5873750" y="6223000"/>
          <p14:tracePt t="34442" x="6065838" y="6273800"/>
          <p14:tracePt t="34452" x="6245225" y="6313488"/>
          <p14:tracePt t="34462" x="6442075" y="6340475"/>
          <p14:tracePt t="34472" x="6610350" y="6362700"/>
          <p14:tracePt t="34482" x="6756400" y="6373813"/>
          <p14:tracePt t="34492" x="6873875" y="6373813"/>
          <p14:tracePt t="34502" x="6970713" y="6373813"/>
          <p14:tracePt t="34512" x="7065963" y="6362700"/>
          <p14:tracePt t="34522" x="7132638" y="6340475"/>
          <p14:tracePt t="34532" x="7194550" y="6313488"/>
          <p14:tracePt t="34542" x="7245350" y="6262688"/>
          <p14:tracePt t="34552" x="7302500" y="6194425"/>
          <p14:tracePt t="34562" x="7375525" y="6110288"/>
          <p14:tracePt t="34572" x="7448550" y="5997575"/>
          <p14:tracePt t="34582" x="7537450" y="5884863"/>
          <p14:tracePt t="34592" x="7621588" y="5762625"/>
          <p14:tracePt t="34602" x="7694613" y="5643563"/>
          <p14:tracePt t="34612" x="7745413" y="5541963"/>
          <p14:tracePt t="34622" x="7773988" y="5435600"/>
          <p14:tracePt t="34632" x="7778750" y="5322888"/>
          <p14:tracePt t="34642" x="7778750" y="5187950"/>
          <p14:tracePt t="34652" x="7740650" y="4975225"/>
          <p14:tracePt t="34662" x="7689850" y="4756150"/>
          <p14:tracePt t="34672" x="7639050" y="4552950"/>
          <p14:tracePt t="34682" x="7599363" y="4367213"/>
          <p14:tracePt t="34692" x="7566025" y="4216400"/>
          <p14:tracePt t="34702" x="7537450" y="4108450"/>
          <p14:tracePt t="34712" x="7515225" y="4019550"/>
          <p14:tracePt t="34722" x="7493000" y="3946525"/>
          <p14:tracePt t="34732" x="7470775" y="3878263"/>
          <p14:tracePt t="34742" x="7453313" y="3827463"/>
          <p14:tracePt t="34752" x="7448550" y="3805238"/>
          <p14:tracePt t="34762" x="7442200" y="3794125"/>
          <p14:tracePt t="34772" x="7442200" y="3789363"/>
          <p14:tracePt t="34783" x="7442200" y="3783013"/>
          <p14:tracePt t="34800" x="7442200" y="3778250"/>
          <p14:tracePt t="34807" x="7442200" y="3771900"/>
          <p14:tracePt t="34812" x="7442200" y="3765550"/>
          <p14:tracePt t="34822" x="7431088" y="3743325"/>
          <p14:tracePt t="34832" x="7413625" y="3709988"/>
          <p14:tracePt t="34842" x="7397750" y="3665538"/>
          <p14:tracePt t="34852" x="7362825" y="3614738"/>
          <p14:tracePt t="34862" x="7307263" y="3541713"/>
          <p14:tracePt t="34872" x="7251700" y="3479800"/>
          <p14:tracePt t="34882" x="7161213" y="3417888"/>
          <p14:tracePt t="34892" x="7026275" y="3338513"/>
          <p14:tracePt t="34902" x="6818313" y="3238500"/>
          <p14:tracePt t="34912" x="6599238" y="3159125"/>
          <p14:tracePt t="34922" x="6362700" y="3074988"/>
          <p14:tracePt t="34932" x="6121400" y="3001963"/>
          <p14:tracePt t="34942" x="5895975" y="2957513"/>
          <p14:tracePt t="34952" x="5699125" y="2917825"/>
          <p14:tracePt t="34962" x="5508625" y="2878138"/>
          <p14:tracePt t="34972" x="5318125" y="2844800"/>
          <p14:tracePt t="34982" x="5154613" y="2827338"/>
          <p14:tracePt t="34992" x="5024438" y="2822575"/>
          <p14:tracePt t="35002" x="4918075" y="2822575"/>
          <p14:tracePt t="35012" x="4840288" y="2822575"/>
          <p14:tracePt t="35022" x="4783138" y="2822575"/>
          <p14:tracePt t="35032" x="4732338" y="2822575"/>
          <p14:tracePt t="35042" x="4694238" y="2827338"/>
          <p14:tracePt t="35052" x="4670425" y="2827338"/>
          <p14:tracePt t="35062" x="4643438" y="2838450"/>
          <p14:tracePt t="35072" x="4614863" y="2844800"/>
          <p14:tracePt t="35082" x="4581525" y="2860675"/>
          <p14:tracePt t="35092" x="4541838" y="2889250"/>
          <p14:tracePt t="35102" x="4502150" y="2922588"/>
          <p14:tracePt t="35112" x="4451350" y="2968625"/>
          <p14:tracePt t="35122" x="4389438" y="3030538"/>
          <p14:tracePt t="35132" x="4338638" y="3103563"/>
          <p14:tracePt t="35142" x="4305300" y="3176588"/>
          <p14:tracePt t="35152" x="4265613" y="3249613"/>
          <p14:tracePt t="35162" x="4243388" y="3344863"/>
          <p14:tracePt t="35172" x="4216400" y="3457575"/>
          <p14:tracePt t="35182" x="4187825" y="3586163"/>
          <p14:tracePt t="35192" x="4165600" y="3727450"/>
          <p14:tracePt t="35202" x="4130675" y="3878263"/>
          <p14:tracePt t="35212" x="4097338" y="4052888"/>
          <p14:tracePt t="35222" x="4070350" y="4216400"/>
          <p14:tracePt t="35232" x="4035425" y="4378325"/>
          <p14:tracePt t="35242" x="4013200" y="4530725"/>
          <p14:tracePt t="35252" x="3990975" y="4687888"/>
          <p14:tracePt t="35262" x="3973513" y="4833938"/>
          <p14:tracePt t="35272" x="3957638" y="4964113"/>
          <p14:tracePt t="35282" x="3940175" y="5081588"/>
          <p14:tracePt t="35292" x="3935413" y="5183188"/>
          <p14:tracePt t="35302" x="3929063" y="5267325"/>
          <p14:tracePt t="35312" x="3929063" y="5329238"/>
          <p14:tracePt t="35322" x="3929063" y="5391150"/>
          <p14:tracePt t="35332" x="3929063" y="5446713"/>
          <p14:tracePt t="35342" x="3929063" y="5486400"/>
          <p14:tracePt t="35352" x="3929063" y="5526088"/>
          <p14:tracePt t="35362" x="3929063" y="5553075"/>
          <p14:tracePt t="35372" x="3929063" y="5576888"/>
          <p14:tracePt t="35382" x="3929063" y="5599113"/>
          <p14:tracePt t="35392" x="3929063" y="5610225"/>
          <p14:tracePt t="35402" x="3929063" y="5621338"/>
          <p14:tracePt t="35412" x="3929063" y="5632450"/>
          <p14:tracePt t="35422" x="3935413" y="5638800"/>
          <p14:tracePt t="35432" x="3935413" y="5649913"/>
          <p14:tracePt t="35442" x="3940175" y="5665788"/>
          <p14:tracePt t="35452" x="3957638" y="5688013"/>
          <p14:tracePt t="35462" x="3984625" y="5722938"/>
          <p14:tracePt t="35472" x="4035425" y="5778500"/>
          <p14:tracePt t="35482" x="4103688" y="5846763"/>
          <p14:tracePt t="35492" x="4210050" y="5930900"/>
          <p14:tracePt t="35502" x="4327525" y="6019800"/>
          <p14:tracePt t="35512" x="4457700" y="6092825"/>
          <p14:tracePt t="35522" x="4592638" y="6183313"/>
          <p14:tracePt t="35532" x="4743450" y="6262688"/>
          <p14:tracePt t="35542" x="4946650" y="6357938"/>
          <p14:tracePt t="35552" x="5126038" y="6430963"/>
          <p14:tracePt t="35562" x="5329238" y="6508750"/>
          <p14:tracePt t="35572" x="5541963" y="6588125"/>
          <p14:tracePt t="35582" x="5756275" y="6661150"/>
          <p14:tracePt t="35592" x="5953125" y="6734175"/>
          <p14:tracePt t="35602" x="6121400" y="6784975"/>
          <p14:tracePt t="35612" x="6261100" y="6829425"/>
          <p14:tracePt t="35622" x="6369050" y="6851650"/>
          <p14:tracePt t="35694" x="6919913" y="6840538"/>
          <p14:tracePt t="35702" x="7032625" y="6802438"/>
          <p14:tracePt t="35712" x="7234238" y="6716713"/>
          <p14:tracePt t="35722" x="7435850" y="6627813"/>
          <p14:tracePt t="35732" x="7643813" y="6503988"/>
          <p14:tracePt t="35742" x="7853363" y="6369050"/>
          <p14:tracePt t="35752" x="8048625" y="6216650"/>
          <p14:tracePt t="35762" x="8229600" y="6054725"/>
          <p14:tracePt t="35772" x="8391525" y="5873750"/>
          <p14:tracePt t="35782" x="8521700" y="5688013"/>
          <p14:tracePt t="35792" x="8612188" y="5508625"/>
          <p14:tracePt t="35802" x="8672513" y="5318125"/>
          <p14:tracePt t="35812" x="8701088" y="5126038"/>
          <p14:tracePt t="35822" x="8707438" y="4913313"/>
          <p14:tracePt t="35832" x="8689975" y="4687888"/>
          <p14:tracePt t="35842" x="8656638" y="4464050"/>
          <p14:tracePt t="35852" x="8616950" y="4243388"/>
          <p14:tracePt t="35862" x="8555038" y="4048125"/>
          <p14:tracePt t="35872" x="8488363" y="3856038"/>
          <p14:tracePt t="35882" x="8415338" y="3687763"/>
          <p14:tracePt t="35892" x="8347075" y="3575050"/>
          <p14:tracePt t="35902" x="8302625" y="3495675"/>
          <p14:tracePt t="35912" x="8240713" y="3417888"/>
          <p14:tracePt t="35922" x="8161338" y="3333750"/>
          <p14:tracePt t="35932" x="8061325" y="3249613"/>
          <p14:tracePt t="35942" x="7953375" y="3159125"/>
          <p14:tracePt t="35952" x="7835900" y="3086100"/>
          <p14:tracePt t="35962" x="7705725" y="3013075"/>
          <p14:tracePt t="35972" x="7570788" y="2944813"/>
          <p14:tracePt t="35982" x="7391400" y="2878138"/>
          <p14:tracePt t="35992" x="7178675" y="2809875"/>
          <p14:tracePt t="36002" x="6931025" y="2732088"/>
          <p14:tracePt t="36012" x="6654800" y="2663825"/>
          <p14:tracePt t="36022" x="6402388" y="2614613"/>
          <p14:tracePt t="36032" x="6176963" y="2579688"/>
          <p14:tracePt t="36042" x="6008688" y="2557463"/>
          <p14:tracePt t="36052" x="5891213" y="2552700"/>
          <p14:tracePt t="36062" x="5807075" y="2552700"/>
          <p14:tracePt t="36072" x="5749925" y="2552700"/>
          <p14:tracePt t="36082" x="5710238" y="2563813"/>
          <p14:tracePt t="36092" x="5688013" y="2574925"/>
          <p14:tracePt t="36102" x="5665788" y="2586038"/>
          <p14:tracePt t="36112" x="5649913" y="2608263"/>
          <p14:tracePt t="36122" x="5626100" y="2641600"/>
          <p14:tracePt t="36132" x="5599113" y="2681288"/>
          <p14:tracePt t="36142" x="5537200" y="2760663"/>
          <p14:tracePt t="36152" x="5468938" y="2838450"/>
          <p14:tracePt t="36162" x="5373688" y="2933700"/>
          <p14:tracePt t="36172" x="5283200" y="3041650"/>
          <p14:tracePt t="36182" x="5187950" y="3152775"/>
          <p14:tracePt t="36192" x="5103813" y="3271838"/>
          <p14:tracePt t="36202" x="5037138" y="3400425"/>
          <p14:tracePt t="36212" x="4979988" y="3535363"/>
          <p14:tracePt t="36222" x="4929188" y="3659188"/>
          <p14:tracePt t="36232" x="4878388" y="3783013"/>
          <p14:tracePt t="36242" x="4833938" y="3913188"/>
          <p14:tracePt t="36252" x="4789488" y="4030663"/>
          <p14:tracePt t="36262" x="4743450" y="4154488"/>
          <p14:tracePt t="36272" x="4710113" y="4278313"/>
          <p14:tracePt t="36282" x="4676775" y="4402138"/>
          <p14:tracePt t="36292" x="4648200" y="4530725"/>
          <p14:tracePt t="36302" x="4625975" y="4659313"/>
          <p14:tracePt t="36312" x="4614863" y="4783138"/>
          <p14:tracePt t="36322" x="4614863" y="4891088"/>
          <p14:tracePt t="36332" x="4614863" y="4986338"/>
          <p14:tracePt t="36342" x="4621213" y="5076825"/>
          <p14:tracePt t="36352" x="4637088" y="5160963"/>
          <p14:tracePt t="36362" x="4670425" y="5249863"/>
          <p14:tracePt t="36372" x="4716463" y="5345113"/>
          <p14:tracePt t="36382" x="4778375" y="5441950"/>
          <p14:tracePt t="36392" x="4851400" y="5526088"/>
          <p14:tracePt t="36402" x="4935538" y="5599113"/>
          <p14:tracePt t="36412" x="5024438" y="5661025"/>
          <p14:tracePt t="36422" x="5137150" y="5716588"/>
          <p14:tracePt t="36432" x="5318125" y="5789613"/>
          <p14:tracePt t="36442" x="5553075" y="5862638"/>
          <p14:tracePt t="36452" x="5834063" y="5946775"/>
          <p14:tracePt t="36462" x="6172200" y="6015038"/>
          <p14:tracePt t="36472" x="6508750" y="6076950"/>
          <p14:tracePt t="36482" x="6835775" y="6110288"/>
          <p14:tracePt t="36492" x="7127875" y="6138863"/>
          <p14:tracePt t="36502" x="7391400" y="6154738"/>
          <p14:tracePt t="36512" x="7621588" y="6161088"/>
          <p14:tracePt t="36522" x="7796213" y="6161088"/>
          <p14:tracePt t="36532" x="7931150" y="6154738"/>
          <p14:tracePt t="36542" x="8032750" y="6132513"/>
          <p14:tracePt t="36552" x="8099425" y="6099175"/>
          <p14:tracePt t="36562" x="8150225" y="6065838"/>
          <p14:tracePt t="36572" x="8172450" y="6030913"/>
          <p14:tracePt t="36582" x="8201025" y="5975350"/>
          <p14:tracePt t="36592" x="8218488" y="5902325"/>
          <p14:tracePt t="36602" x="8245475" y="5778500"/>
          <p14:tracePt t="36612" x="8269288" y="5614988"/>
          <p14:tracePt t="36622" x="8313738" y="5373688"/>
          <p14:tracePt t="36632" x="8347075" y="5126038"/>
          <p14:tracePt t="36642" x="8364538" y="4851400"/>
          <p14:tracePt t="36652" x="8364538" y="4559300"/>
          <p14:tracePt t="36662" x="8358188" y="4267200"/>
          <p14:tracePt t="36672" x="8318500" y="3979863"/>
          <p14:tracePt t="36682" x="8245475" y="3687763"/>
          <p14:tracePt t="36692" x="8134350" y="3417888"/>
          <p14:tracePt t="36702" x="8004175" y="3148013"/>
          <p14:tracePt t="36712" x="7875588" y="2917825"/>
          <p14:tracePt t="36722" x="7718425" y="2698750"/>
          <p14:tracePt t="36732" x="7554913" y="2506663"/>
          <p14:tracePt t="36742" x="7391400" y="2349500"/>
          <p14:tracePt t="36752" x="7212013" y="2220913"/>
          <p14:tracePt t="36762" x="7037388" y="2112963"/>
          <p14:tracePt t="36772" x="6858000" y="2028825"/>
          <p14:tracePt t="36782" x="6677025" y="1962150"/>
          <p14:tracePt t="36792" x="6508750" y="1905000"/>
          <p14:tracePt t="36802" x="6357938" y="1878013"/>
          <p14:tracePt t="36812" x="6216650" y="1849438"/>
          <p14:tracePt t="36822" x="6088063" y="1831975"/>
          <p14:tracePt t="36832" x="5946775" y="1827213"/>
          <p14:tracePt t="36842" x="5795963" y="1820863"/>
          <p14:tracePt t="36852" x="5603875" y="1820863"/>
          <p14:tracePt t="36862" x="5395913" y="1820863"/>
          <p14:tracePt t="36872" x="5205413" y="1831975"/>
          <p14:tracePt t="36882" x="5041900" y="1866900"/>
          <p14:tracePt t="36892" x="4918075" y="1916113"/>
          <p14:tracePt t="36902" x="4829175" y="1973263"/>
          <p14:tracePt t="36912" x="4760913" y="2035175"/>
          <p14:tracePt t="36922" x="4694238" y="2101850"/>
          <p14:tracePt t="36932" x="4632325" y="2181225"/>
          <p14:tracePt t="36942" x="4581525" y="2287588"/>
          <p14:tracePt t="36952" x="4535488" y="2411413"/>
          <p14:tracePt t="36962" x="4502150" y="2541588"/>
          <p14:tracePt t="36972" x="4468813" y="2670175"/>
          <p14:tracePt t="36982" x="4451350" y="2822575"/>
          <p14:tracePt t="36992" x="4440238" y="2973388"/>
          <p14:tracePt t="37002" x="4435475" y="3148013"/>
          <p14:tracePt t="37012" x="4435475" y="3316288"/>
          <p14:tracePt t="37022" x="4435475" y="3484563"/>
          <p14:tracePt t="37032" x="4446588" y="3648075"/>
          <p14:tracePt t="37042" x="4479925" y="3805238"/>
          <p14:tracePt t="37052" x="4502150" y="3935413"/>
          <p14:tracePt t="37062" x="4548188" y="4075113"/>
          <p14:tracePt t="37072" x="4597400" y="4221163"/>
          <p14:tracePt t="37082" x="4676775" y="4378325"/>
          <p14:tracePt t="37092" x="4767263" y="4537075"/>
          <p14:tracePt t="37102" x="4889500" y="4716463"/>
          <p14:tracePt t="37112" x="5024438" y="4895850"/>
          <p14:tracePt t="37122" x="5172075" y="5041900"/>
          <p14:tracePt t="37132" x="5318125" y="5165725"/>
          <p14:tracePt t="37142" x="5457825" y="5278438"/>
          <p14:tracePt t="37152" x="5603875" y="5362575"/>
          <p14:tracePt t="37162" x="5738813" y="5424488"/>
          <p14:tracePt t="37172" x="5873750" y="5468938"/>
          <p14:tracePt t="37182" x="6015038" y="5503863"/>
          <p14:tracePt t="37192" x="6165850" y="5519738"/>
          <p14:tracePt t="37202" x="6318250" y="5519738"/>
          <p14:tracePt t="37212" x="6457950" y="5514975"/>
          <p14:tracePt t="37222" x="6565900" y="5486400"/>
          <p14:tracePt t="37232" x="6654800" y="5446713"/>
          <p14:tracePt t="37242" x="6716713" y="5395913"/>
          <p14:tracePt t="37252" x="6778625" y="5340350"/>
          <p14:tracePt t="37262" x="6869113" y="5256213"/>
          <p14:tracePt t="37272" x="6975475" y="5154613"/>
          <p14:tracePt t="37282" x="7092950" y="5030788"/>
          <p14:tracePt t="37292" x="7205663" y="4895850"/>
          <p14:tracePt t="37302" x="7307263" y="4756150"/>
          <p14:tracePt t="37312" x="7375525" y="4625975"/>
          <p14:tracePt t="37322" x="7402513" y="4530725"/>
          <p14:tracePt t="37332" x="7413625" y="4451350"/>
          <p14:tracePt t="37342" x="7413625" y="4367213"/>
          <p14:tracePt t="37352" x="7380288" y="4271963"/>
          <p14:tracePt t="37362" x="7296150" y="4081463"/>
          <p14:tracePt t="37372" x="7154863" y="3844925"/>
          <p14:tracePt t="37382" x="6970713" y="3575050"/>
          <p14:tracePt t="37392" x="6694488" y="3232150"/>
          <p14:tracePt t="37402" x="6402388" y="2906713"/>
          <p14:tracePt t="37412" x="6143625" y="2652713"/>
          <p14:tracePt t="37422" x="5924550" y="2473325"/>
          <p14:tracePt t="37432" x="5783263" y="2366963"/>
          <p14:tracePt t="37442" x="5699125" y="2316163"/>
          <p14:tracePt t="37452" x="5649913" y="2287588"/>
          <p14:tracePt t="37462" x="5614988" y="2271713"/>
          <p14:tracePt t="37472" x="5599113" y="2265363"/>
          <p14:tracePt t="37482" x="5588000" y="2259013"/>
          <p14:tracePt t="37494" x="5581650" y="2259013"/>
          <p14:tracePt t="37526" x="5575300" y="2259013"/>
          <p14:tracePt t="37529" x="5570538" y="2259013"/>
          <p14:tracePt t="37532" x="5564188" y="2265363"/>
          <p14:tracePt t="37542" x="5537200" y="2293938"/>
          <p14:tracePt t="37552" x="5475288" y="2349500"/>
          <p14:tracePt t="37562" x="5407025" y="2422525"/>
          <p14:tracePt t="37572" x="5322888" y="2506663"/>
          <p14:tracePt t="37582" x="5205413" y="2608263"/>
          <p14:tracePt t="37592" x="5059363" y="2709863"/>
          <p14:tracePt t="37602" x="4906963" y="2809875"/>
          <p14:tracePt t="37612" x="4767263" y="2906713"/>
          <p14:tracePt t="37622" x="4625975" y="3001963"/>
          <p14:tracePt t="37632" x="4502150" y="3097213"/>
          <p14:tracePt t="37642" x="4406900" y="3192463"/>
          <p14:tracePt t="37652" x="4327525" y="3287713"/>
          <p14:tracePt t="37662" x="4271963" y="3378200"/>
          <p14:tracePt t="37672" x="4227513" y="3468688"/>
          <p14:tracePt t="37682" x="4187825" y="3581400"/>
          <p14:tracePt t="37692" x="4159250" y="3687763"/>
          <p14:tracePt t="37702" x="4143375" y="3816350"/>
          <p14:tracePt t="37712" x="4137025" y="3940175"/>
          <p14:tracePt t="37722" x="4130675" y="4064000"/>
          <p14:tracePt t="37732" x="4119563" y="4170363"/>
          <p14:tracePt t="37742" x="4119563" y="4256088"/>
          <p14:tracePt t="37752" x="4119563" y="4316413"/>
          <p14:tracePt t="37762" x="4114800" y="4351338"/>
          <p14:tracePt t="37772" x="4114800" y="4367213"/>
          <p14:tracePt t="37782" x="4114800" y="4373563"/>
          <p14:tracePt t="37824" x="4114800" y="4378325"/>
          <p14:tracePt t="37896" x="4114800" y="4373563"/>
          <p14:tracePt t="37902" x="4114800" y="4367213"/>
          <p14:tracePt t="37908" x="4108450" y="4367213"/>
          <p14:tracePt t="37930" x="4108450" y="4362450"/>
          <p14:tracePt t="73400" x="4108450" y="4356100"/>
          <p14:tracePt t="73406" x="4108450" y="4351338"/>
          <p14:tracePt t="73412" x="4108450" y="4340225"/>
          <p14:tracePt t="73422" x="4092575" y="4305300"/>
          <p14:tracePt t="73432" x="4024313" y="4271963"/>
          <p14:tracePt t="73442" x="3884613" y="4271963"/>
          <p14:tracePt t="73452" x="3630613" y="4311650"/>
          <p14:tracePt t="73462" x="3327400" y="4378325"/>
          <p14:tracePt t="73472" x="2984500" y="4475163"/>
          <p14:tracePt t="73482" x="2625725" y="4610100"/>
          <p14:tracePt t="73492" x="2265363" y="4778375"/>
          <p14:tracePt t="73502" x="2006600" y="4902200"/>
          <p14:tracePt t="73502" x="1944688" y="4924425"/>
          <p14:tracePt t="73512" x="1652588" y="5076825"/>
          <p14:tracePt t="73522" x="1376363" y="5222875"/>
          <p14:tracePt t="73532" x="1112838" y="5384800"/>
          <p14:tracePt t="73542" x="849313" y="5553075"/>
          <p14:tracePt t="73552" x="641350" y="5683250"/>
          <p14:tracePt t="73552" x="595313" y="5716588"/>
          <p14:tracePt t="73562" x="398463" y="5851525"/>
          <p14:tracePt t="73562" x="360363" y="5880100"/>
          <p14:tracePt t="73572" x="214313" y="6019800"/>
          <p14:tracePt t="73572" x="185738" y="6048375"/>
          <p14:tracePt t="73582" x="90488" y="6154738"/>
          <p14:tracePt t="73582" x="84138" y="6178550"/>
          <p14:tracePt t="73592" x="50800" y="6238875"/>
          <p14:tracePt t="73602" x="44450" y="6262688"/>
          <p14:tracePt t="73602" x="44450" y="6267450"/>
          <p14:tracePt t="73616" x="44450" y="6273800"/>
          <p14:tracePt t="73632" x="39688" y="6273800"/>
          <p14:tracePt t="73633" x="39688" y="6278563"/>
          <p14:tracePt t="73642" x="39688" y="6296025"/>
          <p14:tracePt t="73652" x="0" y="6362700"/>
          <p14:tracePt t="73768" x="61913" y="6694488"/>
          <p14:tracePt t="73772" x="146050" y="6683375"/>
          <p14:tracePt t="73782" x="422275" y="6667500"/>
          <p14:tracePt t="73792" x="741363" y="6667500"/>
          <p14:tracePt t="73802" x="1123950" y="6689725"/>
          <p14:tracePt t="73812" x="1546225" y="6745288"/>
          <p14:tracePt t="73822" x="1995488" y="6824663"/>
          <p14:tracePt t="73876" x="4176713" y="6840538"/>
          <p14:tracePt t="73882" x="4356100" y="6784975"/>
          <p14:tracePt t="73892" x="4625975" y="6694488"/>
          <p14:tracePt t="73902" x="4862513" y="6632575"/>
          <p14:tracePt t="73912" x="5013325" y="6570663"/>
          <p14:tracePt t="73922" x="5092700" y="6526213"/>
          <p14:tracePt t="73932" x="5137150" y="6492875"/>
          <p14:tracePt t="73942" x="5172075" y="6459538"/>
          <p14:tracePt t="73952" x="5205413" y="6435725"/>
          <p14:tracePt t="73962" x="5221288" y="6419850"/>
          <p14:tracePt t="73972" x="5238750" y="6413500"/>
          <p14:tracePt t="73982" x="5260975" y="6402388"/>
          <p14:tracePt t="73992" x="5307013" y="6380163"/>
          <p14:tracePt t="74002" x="5380038" y="6340475"/>
          <p14:tracePt t="74012" x="5453063" y="6300788"/>
          <p14:tracePt t="74022" x="5519738" y="6262688"/>
          <p14:tracePt t="74032" x="5581650" y="6234113"/>
          <p14:tracePt t="74042" x="5626100" y="6223000"/>
          <p14:tracePt t="74052" x="5643563" y="6216650"/>
          <p14:tracePt t="74062" x="5661025" y="6216650"/>
          <p14:tracePt t="74072" x="5665788" y="6216650"/>
          <p14:tracePt t="74082" x="5672138" y="6211888"/>
          <p14:tracePt t="74092" x="5699125" y="6189663"/>
          <p14:tracePt t="74102" x="5767388" y="6132513"/>
          <p14:tracePt t="74112" x="5868988" y="6059488"/>
          <p14:tracePt t="74122" x="6059488" y="5953125"/>
          <p14:tracePt t="74132" x="6278563" y="5846763"/>
          <p14:tracePt t="74142" x="6537325" y="5734050"/>
          <p14:tracePt t="74152" x="6800850" y="5610225"/>
          <p14:tracePt t="74162" x="7048500" y="5486400"/>
          <p14:tracePt t="74172" x="7251700" y="5345113"/>
          <p14:tracePt t="74182" x="7391400" y="5222875"/>
          <p14:tracePt t="74192" x="7497763" y="5110163"/>
          <p14:tracePt t="74202" x="7566025" y="5026025"/>
          <p14:tracePt t="74212" x="7594600" y="4975225"/>
          <p14:tracePt t="74222" x="7599363" y="4964113"/>
          <p14:tracePt t="74232" x="7599363" y="4957763"/>
          <p14:tracePt t="74242" x="7599363" y="4946650"/>
          <p14:tracePt t="74252" x="7588250" y="4918075"/>
          <p14:tracePt t="74262" x="7570788" y="4879975"/>
          <p14:tracePt t="74272" x="7554913" y="4845050"/>
          <p14:tracePt t="74282" x="7548563" y="4833938"/>
          <p14:tracePt t="74292" x="7548563" y="4822825"/>
          <p14:tracePt t="74302" x="7548563" y="4806950"/>
          <p14:tracePt t="74312" x="7548563" y="4778375"/>
          <p14:tracePt t="74322" x="7554913" y="4727575"/>
          <p14:tracePt t="74332" x="7566025" y="4672013"/>
          <p14:tracePt t="74342" x="7570788" y="4614863"/>
          <p14:tracePt t="74352" x="7577138" y="4570413"/>
          <p14:tracePt t="74362" x="7577138" y="4537075"/>
          <p14:tracePt t="74372" x="7577138" y="4513263"/>
          <p14:tracePt t="74382" x="7577138" y="4497388"/>
          <p14:tracePt t="74392" x="7577138" y="4475163"/>
          <p14:tracePt t="74402" x="7583488" y="4446588"/>
          <p14:tracePt t="74412" x="7588250" y="4413250"/>
          <p14:tracePt t="74422" x="7605713" y="4362450"/>
          <p14:tracePt t="74432" x="7616825" y="4322763"/>
          <p14:tracePt t="74442" x="7632700" y="4271963"/>
          <p14:tracePt t="74452" x="7656513" y="4232275"/>
          <p14:tracePt t="74462" x="7678738" y="4194175"/>
          <p14:tracePt t="74472" x="7700963" y="4165600"/>
          <p14:tracePt t="74482" x="7729538" y="4137025"/>
          <p14:tracePt t="74492" x="7751763" y="4114800"/>
          <p14:tracePt t="74502" x="7762875" y="4097338"/>
          <p14:tracePt t="74512" x="7778750" y="4075113"/>
          <p14:tracePt t="74522" x="7807325" y="4048125"/>
          <p14:tracePt t="74532" x="7847013" y="4002088"/>
          <p14:tracePt t="74542" x="7913688" y="3940175"/>
          <p14:tracePt t="74552" x="7970838" y="3895725"/>
          <p14:tracePt t="74562" x="8021638" y="3862388"/>
          <p14:tracePt t="74572" x="8048625" y="3844925"/>
          <p14:tracePt t="74582" x="8054975" y="3838575"/>
          <p14:tracePt t="74592" x="8054975" y="3833813"/>
          <p14:tracePt t="74602" x="8061325" y="3833813"/>
          <p14:tracePt t="74624" x="8061325" y="3827463"/>
          <p14:tracePt t="74662" x="8061325" y="3822700"/>
          <p14:tracePt t="74744" x="8061325" y="3816350"/>
          <p14:tracePt t="74745" x="8061325" y="3811588"/>
          <p14:tracePt t="74752" x="8054975" y="3805238"/>
          <p14:tracePt t="74762" x="8037513" y="3778250"/>
          <p14:tracePt t="74772" x="8010525" y="3749675"/>
          <p14:tracePt t="74782" x="7975600" y="3709988"/>
          <p14:tracePt t="74792" x="7948613" y="3681413"/>
          <p14:tracePt t="74802" x="7937500" y="3676650"/>
          <p14:tracePt t="74812" x="7875588" y="3630613"/>
          <p14:tracePt t="74822" x="7813675" y="3592513"/>
          <p14:tracePt t="74832" x="7762875" y="3563938"/>
          <p14:tracePt t="74842" x="7705725" y="3530600"/>
          <p14:tracePt t="74852" x="7661275" y="3508375"/>
          <p14:tracePt t="74862" x="7616825" y="3479800"/>
          <p14:tracePt t="74872" x="7577138" y="3462338"/>
          <p14:tracePt t="74882" x="7554913" y="3451225"/>
          <p14:tracePt t="74892" x="7537450" y="3440113"/>
          <p14:tracePt t="74902" x="7526338" y="3440113"/>
          <p14:tracePt t="74912" x="7515225" y="3435350"/>
          <p14:tracePt t="74922" x="7510463" y="3435350"/>
          <p14:tracePt t="74932" x="7504113" y="3435350"/>
          <p14:tracePt t="74942" x="7497763" y="3429000"/>
          <p14:tracePt t="74952" x="7493000" y="3429000"/>
          <p14:tracePt t="74962" x="7475538" y="3429000"/>
          <p14:tracePt t="74972" x="7453313" y="3429000"/>
          <p14:tracePt t="74982" x="7408863" y="3429000"/>
          <p14:tracePt t="74992" x="7362825" y="3429000"/>
          <p14:tracePt t="75002" x="7313613" y="3429000"/>
          <p14:tracePt t="75012" x="7251700" y="3429000"/>
          <p14:tracePt t="75022" x="7189788" y="3429000"/>
          <p14:tracePt t="75032" x="7127875" y="3429000"/>
          <p14:tracePt t="75042" x="7065963" y="3422650"/>
          <p14:tracePt t="75052" x="6986588" y="3406775"/>
          <p14:tracePt t="75062" x="6931025" y="3400425"/>
          <p14:tracePt t="75072" x="6884988" y="3389313"/>
          <p14:tracePt t="75082" x="6846888" y="3389313"/>
          <p14:tracePt t="75092" x="6818313" y="3384550"/>
          <p14:tracePt t="75102" x="6789738" y="3384550"/>
          <p14:tracePt t="75112" x="6762750" y="3384550"/>
          <p14:tracePt t="75122" x="6738938" y="3384550"/>
          <p14:tracePt t="75132" x="6727825" y="3384550"/>
          <p14:tracePt t="75142" x="6723063" y="3384550"/>
          <p14:tracePt t="75152" x="6716713" y="3384550"/>
          <p14:tracePt t="75194" x="6711950" y="3384550"/>
          <p14:tracePt t="75209" x="6711950" y="3389313"/>
          <p14:tracePt t="75213" x="6711950" y="3395663"/>
          <p14:tracePt t="75217" x="6711950" y="3400425"/>
          <p14:tracePt t="75222" x="6711950" y="3406775"/>
          <p14:tracePt t="75232" x="6705600" y="3440113"/>
          <p14:tracePt t="75242" x="6705600" y="3490913"/>
          <p14:tracePt t="75252" x="6705600" y="3570288"/>
          <p14:tracePt t="75262" x="6705600" y="3665538"/>
          <p14:tracePt t="75272" x="6700838" y="3760788"/>
          <p14:tracePt t="75282" x="6700838" y="3862388"/>
          <p14:tracePt t="75292" x="6700838" y="3951288"/>
          <p14:tracePt t="75302" x="6700838" y="4013200"/>
          <p14:tracePt t="75312" x="6700838" y="4075113"/>
          <p14:tracePt t="75322" x="6705600" y="4125913"/>
          <p14:tracePt t="75332" x="6716713" y="4176713"/>
          <p14:tracePt t="75342" x="6734175" y="4232275"/>
          <p14:tracePt t="75352" x="6751638" y="4294188"/>
          <p14:tracePt t="75362" x="6767513" y="4351338"/>
          <p14:tracePt t="75372" x="6784975" y="4402138"/>
          <p14:tracePt t="75382" x="6800850" y="4446588"/>
          <p14:tracePt t="75392" x="6818313" y="4486275"/>
          <p14:tracePt t="75402" x="6824663" y="4508500"/>
          <p14:tracePt t="75412" x="6835775" y="4524375"/>
          <p14:tracePt t="75422" x="6846888" y="4548188"/>
          <p14:tracePt t="75432" x="6858000" y="4564063"/>
          <p14:tracePt t="75442" x="6869113" y="4575175"/>
          <p14:tracePt t="75452" x="6884988" y="4586288"/>
          <p14:tracePt t="75462" x="6902450" y="4592638"/>
          <p14:tracePt t="75472" x="6924675" y="4598988"/>
          <p14:tracePt t="75482" x="6970713" y="4603750"/>
          <p14:tracePt t="75492" x="7019925" y="4610100"/>
          <p14:tracePt t="75502" x="7121525" y="4610100"/>
          <p14:tracePt t="75512" x="7234238" y="4610100"/>
          <p14:tracePt t="75522" x="7402513" y="4598988"/>
          <p14:tracePt t="75532" x="7599363" y="4592638"/>
          <p14:tracePt t="75542" x="7802563" y="4586288"/>
          <p14:tracePt t="75552" x="7970838" y="4581525"/>
          <p14:tracePt t="75562" x="8099425" y="4575175"/>
          <p14:tracePt t="75572" x="8189913" y="4575175"/>
          <p14:tracePt t="75582" x="8262938" y="4575175"/>
          <p14:tracePt t="75592" x="8313738" y="4575175"/>
          <p14:tracePt t="75602" x="8358188" y="4575175"/>
          <p14:tracePt t="75612" x="8386763" y="4575175"/>
          <p14:tracePt t="75622" x="8408988" y="4575175"/>
          <p14:tracePt t="75632" x="8437563" y="4575175"/>
          <p14:tracePt t="75642" x="8442325" y="4575175"/>
          <p14:tracePt t="75652" x="8448675" y="4575175"/>
          <p14:tracePt t="75662" x="8453438" y="4575175"/>
          <p14:tracePt t="75672" x="8459788" y="4575175"/>
          <p14:tracePt t="75682" x="8459788" y="4570413"/>
          <p14:tracePt t="75692" x="8464550" y="4559300"/>
          <p14:tracePt t="75702" x="8470900" y="4541838"/>
          <p14:tracePt t="75712" x="8477250" y="4524375"/>
          <p14:tracePt t="75722" x="8482013" y="4475163"/>
          <p14:tracePt t="75732" x="8482013" y="4413250"/>
          <p14:tracePt t="75742" x="8482013" y="4311650"/>
          <p14:tracePt t="75752" x="8453438" y="4181475"/>
          <p14:tracePt t="75762" x="8426450" y="4030663"/>
          <p14:tracePt t="75772" x="8391525" y="3884613"/>
          <p14:tracePt t="75782" x="8369300" y="3778250"/>
          <p14:tracePt t="75792" x="8347075" y="3698875"/>
          <p14:tracePt t="75802" x="8313738" y="3636963"/>
          <p14:tracePt t="75812" x="8285163" y="3586163"/>
          <p14:tracePt t="75822" x="8262938" y="3552825"/>
          <p14:tracePt t="75832" x="8234363" y="3519488"/>
          <p14:tracePt t="75842" x="8201025" y="3490913"/>
          <p14:tracePt t="75852" x="8161338" y="3451225"/>
          <p14:tracePt t="75862" x="8110538" y="3406775"/>
          <p14:tracePt t="75872" x="8061325" y="3373438"/>
          <p14:tracePt t="75882" x="8010525" y="3338513"/>
          <p14:tracePt t="75892" x="7953375" y="3305175"/>
          <p14:tracePt t="75902" x="7902575" y="3271838"/>
          <p14:tracePt t="75912" x="7829550" y="3238500"/>
          <p14:tracePt t="75922" x="7745413" y="3198813"/>
          <p14:tracePt t="75932" x="7650163" y="3170238"/>
          <p14:tracePt t="75942" x="7548563" y="3141663"/>
          <p14:tracePt t="75952" x="7459663" y="3114675"/>
          <p14:tracePt t="75962" x="7375525" y="3108325"/>
          <p14:tracePt t="75972" x="7307263" y="3103563"/>
          <p14:tracePt t="75982" x="7240588" y="3103563"/>
          <p14:tracePt t="75992" x="7172325" y="3103563"/>
          <p14:tracePt t="76002" x="7099300" y="3108325"/>
          <p14:tracePt t="76012" x="7019925" y="3125788"/>
          <p14:tracePt t="76022" x="6946900" y="3136900"/>
          <p14:tracePt t="76032" x="6884988" y="3152775"/>
          <p14:tracePt t="76042" x="6829425" y="3170238"/>
          <p14:tracePt t="76052" x="6789738" y="3198813"/>
          <p14:tracePt t="76062" x="6756400" y="3221038"/>
          <p14:tracePt t="76072" x="6727825" y="3243263"/>
          <p14:tracePt t="76082" x="6705600" y="3271838"/>
          <p14:tracePt t="76092" x="6683375" y="3300413"/>
          <p14:tracePt t="76102" x="6665913" y="3333750"/>
          <p14:tracePt t="76112" x="6654800" y="3373438"/>
          <p14:tracePt t="76122" x="6643688" y="3411538"/>
          <p14:tracePt t="76132" x="6643688" y="3451225"/>
          <p14:tracePt t="76142" x="6643688" y="3502025"/>
          <p14:tracePt t="76152" x="6643688" y="3541713"/>
          <p14:tracePt t="76162" x="6643688" y="3581400"/>
          <p14:tracePt t="76172" x="6643688" y="3614738"/>
          <p14:tracePt t="76182" x="6643688" y="3643313"/>
          <p14:tracePt t="76192" x="6650038" y="3670300"/>
          <p14:tracePt t="76202" x="6650038" y="3705225"/>
          <p14:tracePt t="76212" x="6654800" y="3743325"/>
          <p14:tracePt t="76222" x="6665913" y="3789363"/>
          <p14:tracePt t="76232" x="6689725" y="3862388"/>
          <p14:tracePt t="76242" x="6716713" y="3929063"/>
          <p14:tracePt t="76252" x="6751638" y="3997325"/>
          <p14:tracePt t="76262" x="6778625" y="4048125"/>
          <p14:tracePt t="76272" x="6807200" y="4097338"/>
          <p14:tracePt t="76282" x="6840538" y="4154488"/>
          <p14:tracePt t="76292" x="6880225" y="4205288"/>
          <p14:tracePt t="76302" x="6919913" y="4267200"/>
          <p14:tracePt t="76312" x="6959600" y="4316413"/>
          <p14:tracePt t="76322" x="6992938" y="4356100"/>
          <p14:tracePt t="76332" x="7037388" y="4402138"/>
          <p14:tracePt t="76342" x="7092950" y="4435475"/>
          <p14:tracePt t="76352" x="7154863" y="4475163"/>
          <p14:tracePt t="76362" x="7212013" y="4497388"/>
          <p14:tracePt t="76372" x="7285038" y="4519613"/>
          <p14:tracePt t="76382" x="7358063" y="4530725"/>
          <p14:tracePt t="76392" x="7424738" y="4541838"/>
          <p14:tracePt t="76402" x="7497763" y="4548188"/>
          <p14:tracePt t="76412" x="7583488" y="4548188"/>
          <p14:tracePt t="76422" x="7683500" y="4530725"/>
          <p14:tracePt t="76432" x="7785100" y="4502150"/>
          <p14:tracePt t="76442" x="7891463" y="4457700"/>
          <p14:tracePt t="76452" x="7986713" y="4402138"/>
          <p14:tracePt t="76462" x="8066088" y="4340225"/>
          <p14:tracePt t="76472" x="8121650" y="4278313"/>
          <p14:tracePt t="76482" x="8178800" y="4221163"/>
          <p14:tracePt t="76492" x="8223250" y="4176713"/>
          <p14:tracePt t="76502" x="8256588" y="4125913"/>
          <p14:tracePt t="76512" x="8280400" y="4081463"/>
          <p14:tracePt t="76522" x="8296275" y="4041775"/>
          <p14:tracePt t="76532" x="8307388" y="4002088"/>
          <p14:tracePt t="76542" x="8313738" y="3973513"/>
          <p14:tracePt t="76552" x="8313738" y="3940175"/>
          <p14:tracePt t="76562" x="8313738" y="3900488"/>
          <p14:tracePt t="76572" x="8313738" y="3838575"/>
          <p14:tracePt t="76582" x="8307388" y="3749675"/>
          <p14:tracePt t="76592" x="8296275" y="3659188"/>
          <p14:tracePt t="76602" x="8274050" y="3575050"/>
          <p14:tracePt t="76612" x="8251825" y="3502025"/>
          <p14:tracePt t="76622" x="8229600" y="3446463"/>
          <p14:tracePt t="76632" x="8207375" y="3411538"/>
          <p14:tracePt t="76642" x="8183563" y="3378200"/>
          <p14:tracePt t="76652" x="8161338" y="3349625"/>
          <p14:tracePt t="76662" x="8128000" y="3322638"/>
          <p14:tracePt t="76672" x="8088313" y="3300413"/>
          <p14:tracePt t="76682" x="8054975" y="3282950"/>
          <p14:tracePt t="76692" x="8010525" y="3265488"/>
          <p14:tracePt t="76702" x="7959725" y="3254375"/>
          <p14:tracePt t="76712" x="7897813" y="3249613"/>
          <p14:tracePt t="76722" x="7813675" y="3243263"/>
          <p14:tracePt t="76732" x="7718425" y="3249613"/>
          <p14:tracePt t="76742" x="7594600" y="3265488"/>
          <p14:tracePt t="76752" x="7464425" y="3294063"/>
          <p14:tracePt t="76762" x="7318375" y="3327400"/>
          <p14:tracePt t="76772" x="7189788" y="3362325"/>
          <p14:tracePt t="76782" x="7065963" y="3400425"/>
          <p14:tracePt t="76792" x="6946900" y="3440113"/>
          <p14:tracePt t="76802" x="6840538" y="3479800"/>
          <p14:tracePt t="76812" x="6773863" y="3513138"/>
          <p14:tracePt t="76822" x="6745288" y="3541713"/>
          <p14:tracePt t="76832" x="6734175" y="3557588"/>
          <p14:tracePt t="76842" x="6734175" y="3586163"/>
          <p14:tracePt t="76852" x="6756400" y="3625850"/>
          <p14:tracePt t="76862" x="6796088" y="3676650"/>
          <p14:tracePt t="76872" x="6851650" y="3754438"/>
          <p14:tracePt t="76882" x="6908800" y="3811588"/>
          <p14:tracePt t="76892" x="6970713" y="3862388"/>
          <p14:tracePt t="76902" x="7037388" y="3913188"/>
          <p14:tracePt t="76912" x="7132638" y="3968750"/>
          <p14:tracePt t="76922" x="7245350" y="4030663"/>
          <p14:tracePt t="76932" x="7380288" y="4092575"/>
          <p14:tracePt t="76942" x="7510463" y="4143375"/>
          <p14:tracePt t="76952" x="7610475" y="4176713"/>
          <p14:tracePt t="76962" x="7723188" y="4216400"/>
          <p14:tracePt t="76972" x="7858125" y="4267200"/>
          <p14:tracePt t="76982" x="7981950" y="4311650"/>
          <p14:tracePt t="76992" x="8083550" y="4351338"/>
          <p14:tracePt t="77002" x="8156575" y="4384675"/>
          <p14:tracePt t="77012" x="8207375" y="4413250"/>
          <p14:tracePt t="77022" x="8245475" y="4435475"/>
          <p14:tracePt t="77032" x="8262938" y="4446588"/>
          <p14:tracePt t="77042" x="8274050" y="4457700"/>
          <p14:tracePt t="77052" x="8280400" y="4457700"/>
          <p14:tracePt t="77066" x="8280400" y="4464050"/>
          <p14:tracePt t="77083" x="8285163" y="4464050"/>
          <p14:tracePt t="77426" x="8285163" y="4457700"/>
          <p14:tracePt t="77431" x="8280400" y="4457700"/>
          <p14:tracePt t="77433" x="8280400" y="4451350"/>
          <p14:tracePt t="77442" x="8280400" y="4446588"/>
          <p14:tracePt t="77452" x="8280400" y="4440238"/>
          <p14:tracePt t="77462" x="8274050" y="4440238"/>
          <p14:tracePt t="77474" x="8274050" y="4435475"/>
          <p14:tracePt t="91714" x="8269288" y="4435475"/>
          <p14:tracePt t="91720" x="8269288" y="4429125"/>
          <p14:tracePt t="91724" x="8262938" y="4429125"/>
          <p14:tracePt t="91756" x="8262938" y="4424363"/>
          <p14:tracePt t="91762" x="8256588" y="4424363"/>
          <p14:tracePt t="92064" x="8256588" y="4418013"/>
          <p14:tracePt t="92101" x="8251825" y="4413250"/>
          <p14:tracePt t="92105" x="8245475" y="4413250"/>
          <p14:tracePt t="92112" x="8223250" y="4418013"/>
          <p14:tracePt t="92122" x="8139113" y="4435475"/>
          <p14:tracePt t="92132" x="8026400" y="4475163"/>
          <p14:tracePt t="92142" x="7864475" y="4508500"/>
          <p14:tracePt t="92152" x="7643813" y="4564063"/>
          <p14:tracePt t="92162" x="7442200" y="4632325"/>
          <p14:tracePt t="92172" x="7234238" y="4705350"/>
          <p14:tracePt t="92182" x="7054850" y="4778375"/>
          <p14:tracePt t="92192" x="6924675" y="4840288"/>
          <p14:tracePt t="92202" x="6851650" y="4884738"/>
          <p14:tracePt t="92212" x="6796088" y="4913313"/>
          <p14:tracePt t="92222" x="6762750" y="4941888"/>
          <p14:tracePt t="92232" x="6738938" y="4964113"/>
          <p14:tracePt t="92242" x="6716713" y="4986338"/>
          <p14:tracePt t="92252" x="6694488" y="4991100"/>
          <p14:tracePt t="92262" x="6677025" y="5008563"/>
          <p14:tracePt t="92272" x="6665913" y="5014913"/>
          <p14:tracePt t="92282" x="6661150" y="5014913"/>
          <p14:tracePt t="92314" x="6654800" y="5014913"/>
          <p14:tracePt t="92327" x="6654800" y="5008563"/>
          <p14:tracePt t="92329" x="6654800" y="5002213"/>
          <p14:tracePt t="92332" x="6654800" y="4997450"/>
          <p14:tracePt t="92342" x="6654800" y="4946650"/>
          <p14:tracePt t="92352" x="6654800" y="4856163"/>
          <p14:tracePt t="92362" x="6661150" y="4767263"/>
          <p14:tracePt t="92372" x="6677025" y="4659313"/>
          <p14:tracePt t="92382" x="6705600" y="4541838"/>
          <p14:tracePt t="92392" x="6716713" y="4440238"/>
          <p14:tracePt t="92402" x="6734175" y="4340225"/>
          <p14:tracePt t="92412" x="6734175" y="4256088"/>
          <p14:tracePt t="92422" x="6738938" y="4181475"/>
          <p14:tracePt t="92432" x="6738938" y="4121150"/>
          <p14:tracePt t="92442" x="6738938" y="4075113"/>
          <p14:tracePt t="92452" x="6738938" y="4059238"/>
          <p14:tracePt t="92462" x="6738938" y="4052888"/>
          <p14:tracePt t="92472" x="6738938" y="4048125"/>
          <p14:tracePt t="92482" x="6738938" y="4024313"/>
          <p14:tracePt t="92492" x="6734175" y="4008438"/>
          <p14:tracePt t="92502" x="6734175" y="3986213"/>
          <p14:tracePt t="92512" x="6734175" y="3973513"/>
          <p14:tracePt t="92522" x="6734175" y="3962400"/>
          <p14:tracePt t="92532" x="6734175" y="3957638"/>
          <p14:tracePt t="92549" x="6734175" y="3951288"/>
          <p14:tracePt t="92605" x="6734175" y="3957638"/>
          <p14:tracePt t="92607" x="6734175" y="3962400"/>
          <p14:tracePt t="92612" x="6738938" y="3986213"/>
          <p14:tracePt t="92622" x="6784975" y="4075113"/>
          <p14:tracePt t="92632" x="6862763" y="4221163"/>
          <p14:tracePt t="92642" x="6992938" y="4413250"/>
          <p14:tracePt t="92652" x="7121525" y="4586288"/>
          <p14:tracePt t="92662" x="7251700" y="4727575"/>
          <p14:tracePt t="92672" x="7358063" y="4851400"/>
          <p14:tracePt t="92682" x="7424738" y="4941888"/>
          <p14:tracePt t="92692" x="7459663" y="4986338"/>
          <p14:tracePt t="92702" x="7470775" y="5008563"/>
          <p14:tracePt t="92717" x="7470775" y="5014913"/>
          <p14:tracePt t="92741" x="7475538" y="5014913"/>
          <p14:tracePt t="92745" x="7481888" y="5014913"/>
          <p14:tracePt t="92752" x="7486650" y="5014913"/>
          <p14:tracePt t="92762" x="7493000" y="5002213"/>
          <p14:tracePt t="92772" x="7504113" y="4991100"/>
          <p14:tracePt t="92782" x="7521575" y="4964113"/>
          <p14:tracePt t="92792" x="7532688" y="4924425"/>
          <p14:tracePt t="92802" x="7548563" y="4873625"/>
          <p14:tracePt t="92812" x="7570788" y="4811713"/>
          <p14:tracePt t="92822" x="7594600" y="4721225"/>
          <p14:tracePt t="92832" x="7616825" y="4621213"/>
          <p14:tracePt t="92842" x="7632700" y="4524375"/>
          <p14:tracePt t="92852" x="7650163" y="4429125"/>
          <p14:tracePt t="92862" x="7667625" y="4362450"/>
          <p14:tracePt t="92872" x="7667625" y="4305300"/>
          <p14:tracePt t="92882" x="7672388" y="4278313"/>
          <p14:tracePt t="92892" x="7672388" y="4256088"/>
          <p14:tracePt t="92902" x="7672388" y="4238625"/>
          <p14:tracePt t="92912" x="7672388" y="4227513"/>
          <p14:tracePt t="92922" x="7672388" y="4221163"/>
          <p14:tracePt t="92932" x="7672388" y="4216400"/>
          <p14:tracePt t="92958" x="7672388" y="4210050"/>
          <p14:tracePt t="93238" x="7672388" y="4205288"/>
          <p14:tracePt t="93243" x="7672388" y="4198938"/>
          <p14:tracePt t="93245" x="7672388" y="4194175"/>
          <p14:tracePt t="93252" x="7661275" y="4176713"/>
          <p14:tracePt t="93262" x="7639050" y="4132263"/>
          <p14:tracePt t="93272" x="7599363" y="4052888"/>
          <p14:tracePt t="93282" x="7559675" y="3979863"/>
          <p14:tracePt t="93292" x="7515225" y="3895725"/>
          <p14:tracePt t="93302" x="7470775" y="3800475"/>
          <p14:tracePt t="93312" x="7419975" y="3698875"/>
          <p14:tracePt t="93322" x="7346950" y="3581400"/>
          <p14:tracePt t="93332" x="7251700" y="3451225"/>
          <p14:tracePt t="93342" x="7167563" y="3338513"/>
          <p14:tracePt t="93352" x="7088188" y="3243263"/>
          <p14:tracePt t="93362" x="7032625" y="3159125"/>
          <p14:tracePt t="93372" x="6981825" y="3108325"/>
          <p14:tracePt t="93382" x="6942138" y="3057525"/>
          <p14:tracePt t="93392" x="6908800" y="3019425"/>
          <p14:tracePt t="93402" x="6873875" y="2990850"/>
          <p14:tracePt t="93412" x="6846888" y="2957513"/>
          <p14:tracePt t="93422" x="6811963" y="2928938"/>
          <p14:tracePt t="93432" x="6767513" y="2889250"/>
          <p14:tracePt t="93442" x="6716713" y="2860675"/>
          <p14:tracePt t="93452" x="6672263" y="2827338"/>
          <p14:tracePt t="93462" x="6627813" y="2798763"/>
          <p14:tracePt t="93472" x="6592888" y="2771775"/>
          <p14:tracePt t="93482" x="6554788" y="2754313"/>
          <p14:tracePt t="93492" x="6519863" y="2732088"/>
          <p14:tracePt t="93502" x="6486525" y="2714625"/>
          <p14:tracePt t="93512" x="6446838" y="2692400"/>
          <p14:tracePt t="93522" x="6408738" y="2676525"/>
          <p14:tracePt t="93532" x="6384925" y="2663825"/>
          <p14:tracePt t="93542" x="6357938" y="2652713"/>
          <p14:tracePt t="93552" x="6334125" y="2641600"/>
          <p14:tracePt t="93562" x="6311900" y="2636838"/>
          <p14:tracePt t="93572" x="6289675" y="2630488"/>
          <p14:tracePt t="93582" x="6267450" y="2625725"/>
          <p14:tracePt t="93592" x="6234113" y="2614613"/>
          <p14:tracePt t="93602" x="6188075" y="2601913"/>
          <p14:tracePt t="93612" x="6143625" y="2590800"/>
          <p14:tracePt t="93622" x="6092825" y="2574925"/>
          <p14:tracePt t="93632" x="6030913" y="2557463"/>
          <p14:tracePt t="93642" x="5964238" y="2546350"/>
          <p14:tracePt t="93652" x="5880100" y="2528888"/>
          <p14:tracePt t="93662" x="5795963" y="2513013"/>
          <p14:tracePt t="93672" x="5722938" y="2506663"/>
          <p14:tracePt t="93682" x="5654675" y="2501900"/>
          <p14:tracePt t="93692" x="5581650" y="2495550"/>
          <p14:tracePt t="93702" x="5502275" y="2495550"/>
          <p14:tracePt t="93712" x="5418138" y="2490788"/>
          <p14:tracePt t="93722" x="5329238" y="2490788"/>
          <p14:tracePt t="93732" x="5232400" y="2490788"/>
          <p14:tracePt t="93742" x="5132388" y="2506663"/>
          <p14:tracePt t="93752" x="5037138" y="2517775"/>
          <p14:tracePt t="93762" x="4946650" y="2541588"/>
          <p14:tracePt t="93772" x="4867275" y="2563813"/>
          <p14:tracePt t="93782" x="4783138" y="2590800"/>
          <p14:tracePt t="93792" x="4699000" y="2614613"/>
          <p14:tracePt t="93802" x="4608513" y="2647950"/>
          <p14:tracePt t="93812" x="4530725" y="2670175"/>
          <p14:tracePt t="93822" x="4468813" y="2703513"/>
          <p14:tracePt t="93832" x="4424363" y="2732088"/>
          <p14:tracePt t="93842" x="4378325" y="2771775"/>
          <p14:tracePt t="93852" x="4338638" y="2809875"/>
          <p14:tracePt t="93862" x="4300538" y="2855913"/>
          <p14:tracePt t="93872" x="4271963" y="2906713"/>
          <p14:tracePt t="93882" x="4243388" y="2951163"/>
          <p14:tracePt t="93892" x="4210050" y="3013075"/>
          <p14:tracePt t="93902" x="4187825" y="3074988"/>
          <p14:tracePt t="93912" x="4165600" y="3152775"/>
          <p14:tracePt t="93922" x="4143375" y="3232150"/>
          <p14:tracePt t="93932" x="4119563" y="3327400"/>
          <p14:tracePt t="93942" x="4097338" y="3417888"/>
          <p14:tracePt t="93952" x="4081463" y="3502025"/>
          <p14:tracePt t="93962" x="4064000" y="3581400"/>
          <p14:tracePt t="93972" x="4057650" y="3670300"/>
          <p14:tracePt t="93982" x="4046538" y="3749675"/>
          <p14:tracePt t="93992" x="4046538" y="3827463"/>
          <p14:tracePt t="94002" x="4046538" y="3906838"/>
          <p14:tracePt t="94012" x="4046538" y="3973513"/>
          <p14:tracePt t="94022" x="4057650" y="4059238"/>
          <p14:tracePt t="94032" x="4075113" y="4143375"/>
          <p14:tracePt t="94042" x="4097338" y="4238625"/>
          <p14:tracePt t="94052" x="4125913" y="4344988"/>
          <p14:tracePt t="94062" x="4165600" y="4475163"/>
          <p14:tracePt t="94072" x="4205288" y="4598988"/>
          <p14:tracePt t="94082" x="4254500" y="4733925"/>
          <p14:tracePt t="94092" x="4305300" y="4867275"/>
          <p14:tracePt t="94102" x="4356100" y="4979988"/>
          <p14:tracePt t="94112" x="4413250" y="5070475"/>
          <p14:tracePt t="94122" x="4479925" y="5160963"/>
          <p14:tracePt t="94132" x="4570413" y="5267325"/>
          <p14:tracePt t="94142" x="4687888" y="5391150"/>
          <p14:tracePt t="94152" x="4816475" y="5526088"/>
          <p14:tracePt t="94162" x="4951413" y="5649913"/>
          <p14:tracePt t="94172" x="5041900" y="5745163"/>
          <p14:tracePt t="94182" x="5121275" y="5818188"/>
          <p14:tracePt t="94192" x="5199063" y="5884863"/>
          <p14:tracePt t="94202" x="5267325" y="5953125"/>
          <p14:tracePt t="94212" x="5334000" y="6019800"/>
          <p14:tracePt t="94222" x="5413375" y="6081713"/>
          <p14:tracePt t="94232" x="5480050" y="6132513"/>
          <p14:tracePt t="94242" x="5559425" y="6189663"/>
          <p14:tracePt t="94252" x="5654675" y="6245225"/>
          <p14:tracePt t="94262" x="5745163" y="6289675"/>
          <p14:tracePt t="94272" x="5829300" y="6318250"/>
          <p14:tracePt t="94282" x="5895975" y="6346825"/>
          <p14:tracePt t="94292" x="5953125" y="6362700"/>
          <p14:tracePt t="94302" x="6015038" y="6373813"/>
          <p14:tracePt t="94312" x="6088063" y="6373813"/>
          <p14:tracePt t="94322" x="6176963" y="6373813"/>
          <p14:tracePt t="94332" x="6284913" y="6362700"/>
          <p14:tracePt t="94342" x="6430963" y="6335713"/>
          <p14:tracePt t="94352" x="6599238" y="6296025"/>
          <p14:tracePt t="94362" x="6762750" y="6251575"/>
          <p14:tracePt t="94372" x="6919913" y="6194425"/>
          <p14:tracePt t="94382" x="7059613" y="6127750"/>
          <p14:tracePt t="94392" x="7194550" y="6054725"/>
          <p14:tracePt t="94402" x="7307263" y="5975350"/>
          <p14:tracePt t="94412" x="7419975" y="5873750"/>
          <p14:tracePt t="94422" x="7526338" y="5778500"/>
          <p14:tracePt t="94432" x="7632700" y="5672138"/>
          <p14:tracePt t="94442" x="7756525" y="5570538"/>
          <p14:tracePt t="94452" x="7858125" y="5468938"/>
          <p14:tracePt t="94462" x="7964488" y="5351463"/>
          <p14:tracePt t="94472" x="8054975" y="5238750"/>
          <p14:tracePt t="94482" x="8121650" y="5132388"/>
          <p14:tracePt t="94492" x="8178800" y="5037138"/>
          <p14:tracePt t="94502" x="8223250" y="4946650"/>
          <p14:tracePt t="94512" x="8251825" y="4862513"/>
          <p14:tracePt t="94522" x="8274050" y="4778375"/>
          <p14:tracePt t="94532" x="8274050" y="4694238"/>
          <p14:tracePt t="94542" x="8280400" y="4603750"/>
          <p14:tracePt t="94552" x="8280400" y="4502150"/>
          <p14:tracePt t="94562" x="8274050" y="4391025"/>
          <p14:tracePt t="94572" x="8262938" y="4260850"/>
          <p14:tracePt t="94582" x="8229600" y="4132263"/>
          <p14:tracePt t="94592" x="8194675" y="4002088"/>
          <p14:tracePt t="94602" x="8150225" y="3862388"/>
          <p14:tracePt t="94612" x="8088313" y="3727450"/>
          <p14:tracePt t="94622" x="8032750" y="3592513"/>
          <p14:tracePt t="94632" x="7964488" y="3468688"/>
          <p14:tracePt t="94642" x="7891463" y="3349625"/>
          <p14:tracePt t="94652" x="7802563" y="3232150"/>
          <p14:tracePt t="94662" x="7712075" y="3114675"/>
          <p14:tracePt t="94672" x="7599363" y="2984500"/>
          <p14:tracePt t="94682" x="7475538" y="2867025"/>
          <p14:tracePt t="94692" x="7340600" y="2749550"/>
          <p14:tracePt t="94702" x="7205663" y="2652713"/>
          <p14:tracePt t="94712" x="7088188" y="2590800"/>
          <p14:tracePt t="94722" x="7008813" y="2568575"/>
          <p14:tracePt t="94732" x="6953250" y="2557463"/>
          <p14:tracePt t="94742" x="6897688" y="2557463"/>
          <p14:tracePt t="94752" x="6829425" y="2557463"/>
          <p14:tracePt t="94762" x="6734175" y="2552700"/>
          <p14:tracePt t="94772" x="6599238" y="2552700"/>
          <p14:tracePt t="94782" x="6442075" y="2541588"/>
          <p14:tracePt t="94792" x="6256338" y="2528888"/>
          <p14:tracePt t="94802" x="6030913" y="2513013"/>
          <p14:tracePt t="94812" x="5811838" y="2501900"/>
          <p14:tracePt t="94822" x="5570538" y="2479675"/>
          <p14:tracePt t="94832" x="5334000" y="2466975"/>
          <p14:tracePt t="94842" x="5099050" y="2462213"/>
          <p14:tracePt t="94852" x="4878388" y="2455863"/>
          <p14:tracePt t="94862" x="4681538" y="2451100"/>
          <p14:tracePt t="94872" x="4513263" y="2451100"/>
          <p14:tracePt t="94882" x="4384675" y="2451100"/>
          <p14:tracePt t="94892" x="4283075" y="2451100"/>
          <p14:tracePt t="94902" x="4227513" y="2455863"/>
          <p14:tracePt t="94912" x="4181475" y="2479675"/>
          <p14:tracePt t="94922" x="4130675" y="2506663"/>
          <p14:tracePt t="94932" x="4075113" y="2552700"/>
          <p14:tracePt t="94942" x="4013200" y="2608263"/>
          <p14:tracePt t="94952" x="3946525" y="2692400"/>
          <p14:tracePt t="94962" x="3878263" y="2787650"/>
          <p14:tracePt t="94972" x="3811588" y="2884488"/>
          <p14:tracePt t="94982" x="3738563" y="2990850"/>
          <p14:tracePt t="94992" x="3670300" y="3103563"/>
          <p14:tracePt t="95002" x="3608388" y="3227388"/>
          <p14:tracePt t="95012" x="3557588" y="3338513"/>
          <p14:tracePt t="95022" x="3524250" y="3462338"/>
          <p14:tracePt t="95032" x="3495675" y="3581400"/>
          <p14:tracePt t="95042" x="3473450" y="3698875"/>
          <p14:tracePt t="95052" x="3451225" y="3827463"/>
          <p14:tracePt t="95062" x="3433763" y="3968750"/>
          <p14:tracePt t="95072" x="3429000" y="4125913"/>
          <p14:tracePt t="95082" x="3417888" y="4278313"/>
          <p14:tracePt t="95092" x="3411538" y="4440238"/>
          <p14:tracePt t="95102" x="3411538" y="4592638"/>
          <p14:tracePt t="95112" x="3406775" y="4760913"/>
          <p14:tracePt t="95122" x="3406775" y="4935538"/>
          <p14:tracePt t="95132" x="3411538" y="5114925"/>
          <p14:tracePt t="95142" x="3433763" y="5295900"/>
          <p14:tracePt t="95152" x="3462338" y="5453063"/>
          <p14:tracePt t="95162" x="3519488" y="5588000"/>
          <p14:tracePt t="95172" x="3579813" y="5688013"/>
          <p14:tracePt t="95182" x="3681413" y="5789613"/>
          <p14:tracePt t="95192" x="3794125" y="5873750"/>
          <p14:tracePt t="95202" x="3929063" y="5946775"/>
          <p14:tracePt t="95212" x="4097338" y="6037263"/>
          <p14:tracePt t="95222" x="4311650" y="6132513"/>
          <p14:tracePt t="95232" x="4524375" y="6205538"/>
          <p14:tracePt t="95242" x="4778375" y="6278563"/>
          <p14:tracePt t="95252" x="5053013" y="6329363"/>
          <p14:tracePt t="95262" x="5340350" y="6362700"/>
          <p14:tracePt t="95272" x="5637213" y="6369050"/>
          <p14:tracePt t="95282" x="5953125" y="6362700"/>
          <p14:tracePt t="95292" x="6296025" y="6329363"/>
          <p14:tracePt t="95302" x="6665913" y="6278563"/>
          <p14:tracePt t="95312" x="7088188" y="6205538"/>
          <p14:tracePt t="95322" x="7526338" y="6116638"/>
          <p14:tracePt t="95332" x="7937500" y="6043613"/>
          <p14:tracePt t="95342" x="8291513" y="5953125"/>
          <p14:tracePt t="95352" x="8583613" y="5862638"/>
          <p14:tracePt t="95362" x="8791575" y="5773738"/>
          <p14:tracePt t="95372" x="8942388" y="5688013"/>
          <p14:tracePt t="95382" x="9028113" y="5621338"/>
          <p14:tracePt t="95392" x="9072563" y="5553075"/>
          <p14:tracePt t="95402" x="9101138" y="5475288"/>
          <p14:tracePt t="95412" x="9112250" y="5368925"/>
          <p14:tracePt t="95422" x="9112250" y="5233988"/>
          <p14:tracePt t="95432" x="9112250" y="5064125"/>
          <p14:tracePt t="95442" x="9112250" y="4873625"/>
          <p14:tracePt t="95452" x="9112250" y="4672013"/>
          <p14:tracePt t="95462" x="9105900" y="4491038"/>
          <p14:tracePt t="95472" x="9088438" y="4294188"/>
          <p14:tracePt t="95482" x="9050338" y="4103688"/>
          <p14:tracePt t="95492" x="8993188" y="3913188"/>
          <p14:tracePt t="95502" x="8920163" y="3705225"/>
          <p14:tracePt t="95512" x="8842375" y="3519488"/>
          <p14:tracePt t="95522" x="8751888" y="3344863"/>
          <p14:tracePt t="95532" x="8650288" y="3198813"/>
          <p14:tracePt t="95542" x="8572500" y="3079750"/>
          <p14:tracePt t="95552" x="8477250" y="2979738"/>
          <p14:tracePt t="95562" x="8375650" y="2889250"/>
          <p14:tracePt t="95572" x="8262938" y="2787650"/>
          <p14:tracePt t="95582" x="8110538" y="2687638"/>
          <p14:tracePt t="95592" x="7937500" y="2574925"/>
          <p14:tracePt t="95602" x="7740650" y="2466975"/>
          <p14:tracePt t="95612" x="7559675" y="2378075"/>
          <p14:tracePt t="95622" x="7391400" y="2309813"/>
          <p14:tracePt t="95632" x="7234238" y="2254250"/>
          <p14:tracePt t="95642" x="7092950" y="2214563"/>
          <p14:tracePt t="95652" x="6959600" y="2192338"/>
          <p14:tracePt t="95662" x="6811963" y="2170113"/>
          <p14:tracePt t="95672" x="6654800" y="2163763"/>
          <p14:tracePt t="95682" x="6492875" y="2159000"/>
          <p14:tracePt t="95692" x="6323013" y="2147888"/>
          <p14:tracePt t="95702" x="6143625" y="2141538"/>
          <p14:tracePt t="95712" x="5957888" y="2136775"/>
          <p14:tracePt t="95722" x="5800725" y="2130425"/>
          <p14:tracePt t="95732" x="5649913" y="2130425"/>
          <p14:tracePt t="95742" x="5526088" y="2136775"/>
          <p14:tracePt t="95752" x="5435600" y="2159000"/>
          <p14:tracePt t="95762" x="5362575" y="2198688"/>
          <p14:tracePt t="95772" x="5311775" y="2225675"/>
          <p14:tracePt t="95782" x="5278438" y="2254250"/>
          <p14:tracePt t="95792" x="5256213" y="2271713"/>
          <p14:tracePt t="95802" x="5245100" y="2282825"/>
          <p14:tracePt t="95812" x="5232400" y="2293938"/>
          <p14:tracePt t="95822" x="5221288" y="2305050"/>
          <p14:tracePt t="95832" x="5216525" y="2320925"/>
          <p14:tracePt t="95842" x="5205413" y="2338388"/>
          <p14:tracePt t="95852" x="5187950" y="2371725"/>
          <p14:tracePt t="95862" x="5165725" y="2411413"/>
          <p14:tracePt t="95873" x="5137150" y="2455863"/>
          <p14:tracePt t="95882" x="5110163" y="2501900"/>
          <p14:tracePt t="95892" x="5075238" y="2557463"/>
          <p14:tracePt t="95902" x="5048250" y="2601913"/>
          <p14:tracePt t="95912" x="5024438" y="2652713"/>
          <p14:tracePt t="95922" x="4997450" y="2698750"/>
          <p14:tracePt t="95932" x="4968875" y="2743200"/>
          <p14:tracePt t="95942" x="4946650" y="2794000"/>
          <p14:tracePt t="95952" x="4918075" y="2838450"/>
          <p14:tracePt t="95962" x="4895850" y="2889250"/>
          <p14:tracePt t="95972" x="4873625" y="2933700"/>
          <p14:tracePt t="95982" x="4851400" y="2979738"/>
          <p14:tracePt t="95992" x="4829175" y="3024188"/>
          <p14:tracePt t="96002" x="4805363" y="3068638"/>
          <p14:tracePt t="96012" x="4778375" y="3108325"/>
          <p14:tracePt t="96022" x="4756150" y="3159125"/>
          <p14:tracePt t="96032" x="4738688" y="3198813"/>
          <p14:tracePt t="96042" x="4716463" y="3243263"/>
          <p14:tracePt t="96052" x="4705350" y="3287713"/>
          <p14:tracePt t="96062" x="4694238" y="3322638"/>
          <p14:tracePt t="96072" x="4681538" y="3355975"/>
          <p14:tracePt t="96082" x="4670425" y="3395663"/>
          <p14:tracePt t="96092" x="4665663" y="3435350"/>
          <p14:tracePt t="96102" x="4654550" y="3473450"/>
          <p14:tracePt t="96112" x="4637088" y="3519488"/>
          <p14:tracePt t="96122" x="4632325" y="3570288"/>
          <p14:tracePt t="96132" x="4625975" y="3630613"/>
          <p14:tracePt t="96142" x="4614863" y="3698875"/>
          <p14:tracePt t="96152" x="4608513" y="3783013"/>
          <p14:tracePt t="96162" x="4603750" y="3873500"/>
          <p14:tracePt t="96172" x="4597400" y="3951288"/>
          <p14:tracePt t="96182" x="4597400" y="4030663"/>
          <p14:tracePt t="96192" x="4592638" y="4103688"/>
          <p14:tracePt t="96202" x="4592638" y="4176713"/>
          <p14:tracePt t="96212" x="4592638" y="4249738"/>
          <p14:tracePt t="96222" x="4597400" y="4322763"/>
          <p14:tracePt t="96232" x="4603750" y="4406900"/>
          <p14:tracePt t="96242" x="4625975" y="4508500"/>
          <p14:tracePt t="96252" x="4654550" y="4614863"/>
          <p14:tracePt t="96262" x="4687888" y="4738688"/>
          <p14:tracePt t="96272" x="4732338" y="4867275"/>
          <p14:tracePt t="96282" x="4778375" y="4991100"/>
          <p14:tracePt t="96292" x="4822825" y="5121275"/>
          <p14:tracePt t="96302" x="4867275" y="5238750"/>
          <p14:tracePt t="96312" x="4918075" y="5351463"/>
          <p14:tracePt t="96322" x="4964113" y="5464175"/>
          <p14:tracePt t="96332" x="5019675" y="5588000"/>
          <p14:tracePt t="96342" x="5070475" y="5700713"/>
          <p14:tracePt t="96352" x="5132388" y="5800725"/>
          <p14:tracePt t="96362" x="5187950" y="5895975"/>
          <p14:tracePt t="96372" x="5249863" y="5992813"/>
          <p14:tracePt t="96382" x="5311775" y="6070600"/>
          <p14:tracePt t="96392" x="5380038" y="6154738"/>
          <p14:tracePt t="96402" x="5468938" y="6238875"/>
          <p14:tracePt t="96412" x="5559425" y="6324600"/>
          <p14:tracePt t="96422" x="5661025" y="6402388"/>
          <p14:tracePt t="96432" x="5772150" y="6475413"/>
          <p14:tracePt t="96442" x="5913438" y="6532563"/>
          <p14:tracePt t="96452" x="6059488" y="6577013"/>
          <p14:tracePt t="96462" x="6216650" y="6599238"/>
          <p14:tracePt t="96472" x="6391275" y="6621463"/>
          <p14:tracePt t="96482" x="6559550" y="6638925"/>
          <p14:tracePt t="96492" x="6711950" y="6638925"/>
          <p14:tracePt t="96502" x="6851650" y="6638925"/>
          <p14:tracePt t="96512" x="6970713" y="6605588"/>
          <p14:tracePt t="96522" x="7070725" y="6559550"/>
          <p14:tracePt t="96532" x="7183438" y="6497638"/>
          <p14:tracePt t="96542" x="7307263" y="6413500"/>
          <p14:tracePt t="96552" x="7448550" y="6307138"/>
          <p14:tracePt t="96562" x="7627938" y="6165850"/>
          <p14:tracePt t="96572" x="7796213" y="6015038"/>
          <p14:tracePt t="96582" x="7931150" y="5868988"/>
          <p14:tracePt t="96592" x="8043863" y="5716588"/>
          <p14:tracePt t="96602" x="8134350" y="5565775"/>
          <p14:tracePt t="96612" x="8223250" y="5391150"/>
          <p14:tracePt t="96622" x="8313738" y="5199063"/>
          <p14:tracePt t="96632" x="8397875" y="5019675"/>
          <p14:tracePt t="96642" x="8482013" y="4833938"/>
          <p14:tracePt t="96652" x="8561388" y="4654550"/>
          <p14:tracePt t="96662" x="8628063" y="4479925"/>
          <p14:tracePt t="96672" x="8678863" y="4316413"/>
          <p14:tracePt t="96682" x="8712200" y="4148138"/>
          <p14:tracePt t="96692" x="8734425" y="3973513"/>
          <p14:tracePt t="96702" x="8758238" y="3800475"/>
          <p14:tracePt t="96712" x="8785225" y="3636963"/>
          <p14:tracePt t="96722" x="8813800" y="3484563"/>
          <p14:tracePt t="96732" x="8836025" y="3355975"/>
          <p14:tracePt t="96742" x="8847138" y="3271838"/>
          <p14:tracePt t="96752" x="8853488" y="3203575"/>
          <p14:tracePt t="96762" x="8853488" y="3152775"/>
          <p14:tracePt t="96772" x="8847138" y="3119438"/>
          <p14:tracePt t="96782" x="8831263" y="3074988"/>
          <p14:tracePt t="96792" x="8802688" y="3024188"/>
          <p14:tracePt t="96802" x="8769350" y="2979738"/>
          <p14:tracePt t="96812" x="8729663" y="2928938"/>
          <p14:tracePt t="96822" x="8689975" y="2878138"/>
          <p14:tracePt t="96832" x="8645525" y="2838450"/>
          <p14:tracePt t="96842" x="8594725" y="2794000"/>
          <p14:tracePt t="96852" x="8526463" y="2743200"/>
          <p14:tracePt t="96862" x="8420100" y="2687638"/>
          <p14:tracePt t="96872" x="8256588" y="2608263"/>
          <p14:tracePt t="96882" x="8077200" y="2535238"/>
          <p14:tracePt t="96892" x="7886700" y="2466975"/>
          <p14:tracePt t="96902" x="7678738" y="2400300"/>
          <p14:tracePt t="96912" x="7475538" y="2333625"/>
          <p14:tracePt t="96922" x="7262813" y="2276475"/>
          <p14:tracePt t="96932" x="7065963" y="2236788"/>
          <p14:tracePt t="96942" x="6858000" y="2198688"/>
          <p14:tracePt t="96952" x="6650038" y="2163763"/>
          <p14:tracePt t="96962" x="6424613" y="2130425"/>
          <p14:tracePt t="96972" x="6188075" y="2090738"/>
          <p14:tracePt t="96982" x="5942013" y="2051050"/>
          <p14:tracePt t="96992" x="5705475" y="2017713"/>
          <p14:tracePt t="97002" x="5491163" y="1990725"/>
          <p14:tracePt t="97012" x="5311775" y="1973263"/>
          <p14:tracePt t="97022" x="5159375" y="1973263"/>
          <p14:tracePt t="97032" x="5013325" y="1973263"/>
          <p14:tracePt t="97042" x="4878388" y="1973263"/>
          <p14:tracePt t="97052" x="4749800" y="1995488"/>
          <p14:tracePt t="97062" x="4621213" y="2028825"/>
          <p14:tracePt t="97072" x="4497388" y="2074863"/>
          <p14:tracePt t="97082" x="4384675" y="2124075"/>
          <p14:tracePt t="97092" x="4271963" y="2203450"/>
          <p14:tracePt t="97102" x="4159250" y="2293938"/>
          <p14:tracePt t="97112" x="4052888" y="2400300"/>
          <p14:tracePt t="97122" x="3940175" y="2517775"/>
          <p14:tracePt t="97132" x="3833813" y="2652713"/>
          <p14:tracePt t="97142" x="3732213" y="2805113"/>
          <p14:tracePt t="97152" x="3648075" y="2957513"/>
          <p14:tracePt t="97162" x="3579813" y="3119438"/>
          <p14:tracePt t="97172" x="3519488" y="3294063"/>
          <p14:tracePt t="97182" x="3479800" y="3468688"/>
          <p14:tracePt t="97192" x="3440113" y="3654425"/>
          <p14:tracePt t="97202" x="3417888" y="3822700"/>
          <p14:tracePt t="97212" x="3395663" y="3986213"/>
          <p14:tracePt t="97222" x="3384550" y="4154488"/>
          <p14:tracePt t="97232" x="3378200" y="4322763"/>
          <p14:tracePt t="97242" x="3367088" y="4497388"/>
          <p14:tracePt t="97252" x="3367088" y="4659313"/>
          <p14:tracePt t="97262" x="3367088" y="4818063"/>
          <p14:tracePt t="97272" x="3378200" y="4968875"/>
          <p14:tracePt t="97282" x="3400425" y="5087938"/>
          <p14:tracePt t="97292" x="3422650" y="5172075"/>
          <p14:tracePt t="97302" x="3457575" y="5238750"/>
          <p14:tracePt t="97312" x="3490913" y="5295900"/>
          <p14:tracePt t="97322" x="3524250" y="5340350"/>
          <p14:tracePt t="97332" x="3557588" y="5380038"/>
          <p14:tracePt t="97342" x="3579813" y="5407025"/>
          <p14:tracePt t="97352" x="3614738" y="5435600"/>
          <p14:tracePt t="97362" x="3670300" y="5464175"/>
          <p14:tracePt t="97372" x="3749675" y="5492750"/>
          <p14:tracePt t="97382" x="3862388" y="5519738"/>
          <p14:tracePt t="97392" x="4002088" y="5526088"/>
          <p14:tracePt t="97402" x="4176713" y="5526088"/>
          <p14:tracePt t="97412" x="4362450" y="5508625"/>
          <p14:tracePt t="97422" x="4586288" y="5457825"/>
          <p14:tracePt t="97432" x="4789488" y="5413375"/>
          <p14:tracePt t="97442" x="4964113" y="5362575"/>
          <p14:tracePt t="97452" x="5121275" y="5329238"/>
          <p14:tracePt t="97462" x="5267325" y="5300663"/>
          <p14:tracePt t="97472" x="5395913" y="5289550"/>
          <p14:tracePt t="97482" x="5526088" y="5284788"/>
          <p14:tracePt t="97492" x="5637213" y="5284788"/>
          <p14:tracePt t="97502" x="5749925" y="5284788"/>
          <p14:tracePt t="97512" x="5862638" y="5284788"/>
          <p14:tracePt t="97522" x="6003925" y="5300663"/>
          <p14:tracePt t="97532" x="6126163" y="5329238"/>
          <p14:tracePt t="97542" x="6256338" y="5362575"/>
          <p14:tracePt t="97552" x="6369050" y="5419725"/>
          <p14:tracePt t="97562" x="6464300" y="5486400"/>
          <p14:tracePt t="97572" x="6542088" y="5565775"/>
          <p14:tracePt t="97582" x="6604000" y="5638800"/>
          <p14:tracePt t="97592" x="6638925" y="5694363"/>
          <p14:tracePt t="97602" x="6665913" y="5738813"/>
          <p14:tracePt t="97612" x="6677025" y="5749925"/>
          <p14:tracePt t="97622" x="6677025" y="5756275"/>
          <p14:tracePt t="97632" x="6683375" y="5756275"/>
          <p14:tracePt t="97642" x="6689725" y="5762625"/>
          <p14:tracePt t="97700" x="6689725" y="5756275"/>
          <p14:tracePt t="97701" x="6689725" y="5749925"/>
          <p14:tracePt t="97704" x="6694488" y="5745163"/>
          <p14:tracePt t="97712" x="6705600" y="5716588"/>
          <p14:tracePt t="97722" x="6727825" y="5638800"/>
          <p14:tracePt t="97732" x="6751638" y="5530850"/>
          <p14:tracePt t="97742" x="6773863" y="5384800"/>
          <p14:tracePt t="97752" x="6807200" y="5194300"/>
          <p14:tracePt t="97762" x="6873875" y="4979988"/>
          <p14:tracePt t="97772" x="6946900" y="4767263"/>
          <p14:tracePt t="97782" x="7032625" y="4548188"/>
          <p14:tracePt t="97792" x="7105650" y="4322763"/>
          <p14:tracePt t="97802" x="7172325" y="4125913"/>
          <p14:tracePt t="97812" x="7205663" y="3940175"/>
          <p14:tracePt t="97822" x="7227888" y="3778250"/>
          <p14:tracePt t="97832" x="7227888" y="3619500"/>
          <p14:tracePt t="97842" x="7205663" y="3479800"/>
          <p14:tracePt t="97852" x="7183438" y="3344863"/>
          <p14:tracePt t="97862" x="7161213" y="3227388"/>
          <p14:tracePt t="97872" x="7150100" y="3148013"/>
          <p14:tracePt t="97882" x="7138988" y="3079750"/>
          <p14:tracePt t="97892" x="7127875" y="3024188"/>
          <p14:tracePt t="97902" x="7105650" y="2962275"/>
          <p14:tracePt t="97912" x="7081838" y="2917825"/>
          <p14:tracePt t="97922" x="7048500" y="2867025"/>
          <p14:tracePt t="97932" x="7015163" y="2822575"/>
          <p14:tracePt t="97942" x="6981825" y="2787650"/>
          <p14:tracePt t="97952" x="6931025" y="2754313"/>
          <p14:tracePt t="97962" x="6880225" y="2720975"/>
          <p14:tracePt t="97972" x="6818313" y="2692400"/>
          <p14:tracePt t="97982" x="6745288" y="2652713"/>
          <p14:tracePt t="97992" x="6661150" y="2614613"/>
          <p14:tracePt t="98002" x="6565900" y="2579688"/>
          <p14:tracePt t="98012" x="6453188" y="2546350"/>
          <p14:tracePt t="98022" x="6329363" y="2506663"/>
          <p14:tracePt t="98032" x="6188075" y="2462213"/>
          <p14:tracePt t="98042" x="6030913" y="2439988"/>
          <p14:tracePt t="98052" x="5862638" y="2422525"/>
          <p14:tracePt t="98062" x="5688013" y="2411413"/>
          <p14:tracePt t="98072" x="5502275" y="2411413"/>
          <p14:tracePt t="98082" x="5318125" y="2411413"/>
          <p14:tracePt t="98092" x="5132388" y="2411413"/>
          <p14:tracePt t="98102" x="4968875" y="2433638"/>
          <p14:tracePt t="98112" x="4816475" y="2455863"/>
          <p14:tracePt t="98122" x="4665663" y="2490788"/>
          <p14:tracePt t="98132" x="4519613" y="2528888"/>
          <p14:tracePt t="98142" x="4389438" y="2574925"/>
          <p14:tracePt t="98152" x="4278313" y="2619375"/>
          <p14:tracePt t="98162" x="4170363" y="2676525"/>
          <p14:tracePt t="98172" x="4081463" y="2732088"/>
          <p14:tracePt t="98182" x="4013200" y="2787650"/>
          <p14:tracePt t="98192" x="3951288" y="2849563"/>
          <p14:tracePt t="98202" x="3895725" y="2922588"/>
          <p14:tracePt t="98212" x="3849688" y="3001963"/>
          <p14:tracePt t="98222" x="3811588" y="3086100"/>
          <p14:tracePt t="98232" x="3771900" y="3187700"/>
          <p14:tracePt t="98242" x="3738563" y="3287713"/>
          <p14:tracePt t="98252" x="3703638" y="3411538"/>
          <p14:tracePt t="98262" x="3676650" y="3546475"/>
          <p14:tracePt t="98272" x="3659188" y="3692525"/>
          <p14:tracePt t="98282" x="3636963" y="3833813"/>
          <p14:tracePt t="98292" x="3619500" y="3968750"/>
          <p14:tracePt t="98302" x="3597275" y="4097338"/>
          <p14:tracePt t="98312" x="3575050" y="4216400"/>
          <p14:tracePt t="98322" x="3568700" y="4333875"/>
          <p14:tracePt t="98332" x="3552825" y="4457700"/>
          <p14:tracePt t="98342" x="3546475" y="4570413"/>
          <p14:tracePt t="98352" x="3541713" y="4676775"/>
          <p14:tracePt t="98362" x="3535363" y="4794250"/>
          <p14:tracePt t="98372" x="3541713" y="4918075"/>
          <p14:tracePt t="98382" x="3568700" y="5076825"/>
          <p14:tracePt t="98392" x="3592513" y="5227638"/>
          <p14:tracePt t="98402" x="3636963" y="5380038"/>
          <p14:tracePt t="98412" x="3687763" y="5514975"/>
          <p14:tracePt t="98422" x="3732213" y="5632450"/>
          <p14:tracePt t="98432" x="3771900" y="5716588"/>
          <p14:tracePt t="98442" x="3811588" y="5789613"/>
          <p14:tracePt t="98452" x="3827463" y="5829300"/>
          <p14:tracePt t="98462" x="3878263" y="5884863"/>
          <p14:tracePt t="98472" x="3929063" y="5924550"/>
          <p14:tracePt t="98482" x="3997325" y="5957888"/>
          <p14:tracePt t="98492" x="4081463" y="5986463"/>
          <p14:tracePt t="98502" x="4181475" y="6003925"/>
          <p14:tracePt t="98512" x="4283075" y="6019800"/>
          <p14:tracePt t="98522" x="4400550" y="6026150"/>
          <p14:tracePt t="98532" x="4548188" y="6026150"/>
          <p14:tracePt t="98542" x="4716463" y="6026150"/>
          <p14:tracePt t="98552" x="4895850" y="6026150"/>
          <p14:tracePt t="98562" x="5092700" y="6019800"/>
          <p14:tracePt t="98572" x="5307013" y="6008688"/>
          <p14:tracePt t="98582" x="5514975" y="5992813"/>
          <p14:tracePt t="98592" x="5699125" y="5970588"/>
          <p14:tracePt t="98602" x="5873750" y="5942013"/>
          <p14:tracePt t="98612" x="6042025" y="5902325"/>
          <p14:tracePt t="98622" x="6249988" y="5851525"/>
          <p14:tracePt t="98632" x="6396038" y="5800725"/>
          <p14:tracePt t="98642" x="6526213" y="5745163"/>
          <p14:tracePt t="98652" x="6627813" y="5705475"/>
          <p14:tracePt t="98662" x="6705600" y="5672138"/>
          <p14:tracePt t="98672" x="6767513" y="5643563"/>
          <p14:tracePt t="98682" x="6835775" y="5610225"/>
          <p14:tracePt t="98692" x="6897688" y="5576888"/>
          <p14:tracePt t="98702" x="6946900" y="5530850"/>
          <p14:tracePt t="98712" x="7015163" y="5457825"/>
          <p14:tracePt t="98722" x="7088188" y="5357813"/>
          <p14:tracePt t="98732" x="7189788" y="5216525"/>
          <p14:tracePt t="98742" x="7307263" y="5070475"/>
          <p14:tracePt t="98752" x="7431088" y="4924425"/>
          <p14:tracePt t="98762" x="7543800" y="4783138"/>
          <p14:tracePt t="98772" x="7643813" y="4637088"/>
          <p14:tracePt t="98782" x="7723188" y="4497388"/>
          <p14:tracePt t="98792" x="7785100" y="4351338"/>
          <p14:tracePt t="98802" x="7829550" y="4181475"/>
          <p14:tracePt t="98812" x="7858125" y="3957638"/>
          <p14:tracePt t="98822" x="7858125" y="3705225"/>
          <p14:tracePt t="98832" x="7847013" y="3411538"/>
          <p14:tracePt t="98842" x="7802563" y="3092450"/>
          <p14:tracePt t="98852" x="7762875" y="2782888"/>
          <p14:tracePt t="98862" x="7718425" y="2501900"/>
          <p14:tracePt t="98872" x="7678738" y="2271713"/>
          <p14:tracePt t="98882" x="7632700" y="2079625"/>
          <p14:tracePt t="98892" x="7570788" y="1911350"/>
          <p14:tracePt t="98902" x="7493000" y="1747838"/>
          <p14:tracePt t="98912" x="7386638" y="1590675"/>
          <p14:tracePt t="98922" x="7256463" y="1444625"/>
          <p14:tracePt t="98932" x="7127875" y="1316038"/>
          <p14:tracePt t="98942" x="7004050" y="1214438"/>
          <p14:tracePt t="98952" x="6902450" y="1152525"/>
          <p14:tracePt t="98962" x="6824663" y="1119188"/>
          <p14:tracePt t="98972" x="6762750" y="1101725"/>
          <p14:tracePt t="98982" x="6694488" y="1090613"/>
          <p14:tracePt t="98992" x="6621463" y="1090613"/>
          <p14:tracePt t="99002" x="6530975" y="1090613"/>
          <p14:tracePt t="99012" x="6419850" y="1108075"/>
          <p14:tracePt t="99022" x="6273800" y="1146175"/>
          <p14:tracePt t="99032" x="6099175" y="1203325"/>
          <p14:tracePt t="99042" x="5895975" y="1292225"/>
          <p14:tracePt t="99052" x="5705475" y="1393825"/>
          <p14:tracePt t="99062" x="5508625" y="1512888"/>
          <p14:tracePt t="99072" x="5334000" y="1641475"/>
          <p14:tracePt t="99082" x="5154613" y="1781175"/>
          <p14:tracePt t="99092" x="4979988" y="1939925"/>
          <p14:tracePt t="99102" x="4833938" y="2085975"/>
          <p14:tracePt t="99112" x="4710113" y="2232025"/>
          <p14:tracePt t="99122" x="4625975" y="2355850"/>
          <p14:tracePt t="99132" x="4559300" y="2490788"/>
          <p14:tracePt t="99142" x="4519613" y="2625725"/>
          <p14:tracePt t="99152" x="4497388" y="2754313"/>
          <p14:tracePt t="99162" x="4473575" y="2889250"/>
          <p14:tracePt t="99172" x="4457700" y="3024188"/>
          <p14:tracePt t="99182" x="4435475" y="3159125"/>
          <p14:tracePt t="99192" x="4429125" y="3311525"/>
          <p14:tracePt t="99202" x="4424363" y="3479800"/>
          <p14:tracePt t="99212" x="4424363" y="3654425"/>
          <p14:tracePt t="99222" x="4424363" y="3822700"/>
          <p14:tracePt t="99232" x="4429125" y="3997325"/>
          <p14:tracePt t="99242" x="4446588" y="4165600"/>
          <p14:tracePt t="99252" x="4479925" y="4344988"/>
          <p14:tracePt t="99262" x="4530725" y="4541838"/>
          <p14:tracePt t="99272" x="4597400" y="4745038"/>
          <p14:tracePt t="99282" x="4681538" y="4935538"/>
          <p14:tracePt t="99292" x="4772025" y="5114925"/>
          <p14:tracePt t="99302" x="4873625" y="5284788"/>
          <p14:tracePt t="99312" x="4975225" y="5435600"/>
          <p14:tracePt t="99322" x="5070475" y="5592763"/>
          <p14:tracePt t="99332" x="5154613" y="5716588"/>
          <p14:tracePt t="99342" x="5232400" y="5835650"/>
          <p14:tracePt t="99352" x="5307013" y="5930900"/>
          <p14:tracePt t="99362" x="5380038" y="6019800"/>
          <p14:tracePt t="99372" x="5468938" y="6105525"/>
          <p14:tracePt t="99382" x="5559425" y="6178550"/>
          <p14:tracePt t="99392" x="5621338" y="6227763"/>
          <p14:tracePt t="99402" x="5694363" y="6267450"/>
          <p14:tracePt t="99412" x="5745163" y="6289675"/>
          <p14:tracePt t="99422" x="5811838" y="6313488"/>
          <p14:tracePt t="99432" x="5884863" y="6324600"/>
          <p14:tracePt t="99442" x="5980113" y="6329363"/>
          <p14:tracePt t="99452" x="6099175" y="6329363"/>
          <p14:tracePt t="99462" x="6261100" y="6329363"/>
          <p14:tracePt t="99472" x="6446838" y="6307138"/>
          <p14:tracePt t="99482" x="6683375" y="6267450"/>
          <p14:tracePt t="99492" x="6908800" y="6223000"/>
          <p14:tracePt t="99502" x="7132638" y="6172200"/>
          <p14:tracePt t="99512" x="7324725" y="6110288"/>
          <p14:tracePt t="99522" x="7486650" y="6043613"/>
          <p14:tracePt t="99532" x="7632700" y="5975350"/>
          <p14:tracePt t="99542" x="7767638" y="5902325"/>
          <p14:tracePt t="99552" x="7913688" y="5835650"/>
          <p14:tracePt t="99562" x="8037513" y="5778500"/>
          <p14:tracePt t="99572" x="8178800" y="5722938"/>
          <p14:tracePt t="99582" x="8307388" y="5676900"/>
          <p14:tracePt t="99592" x="8397875" y="5654675"/>
          <p14:tracePt t="99602" x="8453438" y="5643563"/>
          <p14:tracePt t="99612" x="8482013" y="5632450"/>
          <p14:tracePt t="99622" x="8488363" y="5632450"/>
          <p14:tracePt t="99632" x="8499475" y="5632450"/>
          <p14:tracePt t="99642" x="8504238" y="5627688"/>
          <p14:tracePt t="99652" x="8526463" y="5610225"/>
          <p14:tracePt t="99662" x="8561388" y="5588000"/>
          <p14:tracePt t="99672" x="8605838" y="5553075"/>
          <p14:tracePt t="99682" x="8639175" y="5526088"/>
          <p14:tracePt t="99692" x="8661400" y="5503863"/>
          <p14:tracePt t="99702" x="8667750" y="5486400"/>
          <p14:tracePt t="99712" x="8672513" y="5464175"/>
          <p14:tracePt t="99722" x="8672513" y="5424488"/>
          <p14:tracePt t="99732" x="8645525" y="5340350"/>
          <p14:tracePt t="99742" x="8605838" y="5222875"/>
          <p14:tracePt t="99752" x="8543925" y="5059363"/>
          <p14:tracePt t="99762" x="8477250" y="4895850"/>
          <p14:tracePt t="99772" x="8397875" y="4721225"/>
          <p14:tracePt t="99782" x="8302625" y="4537075"/>
          <p14:tracePt t="99792" x="8183563" y="4340225"/>
          <p14:tracePt t="99802" x="8054975" y="4137025"/>
          <p14:tracePt t="99812" x="7908925" y="3924300"/>
          <p14:tracePt t="99822" x="7762875" y="3721100"/>
          <p14:tracePt t="99832" x="7621588" y="3535363"/>
          <p14:tracePt t="99842" x="7493000" y="3378200"/>
          <p14:tracePt t="99852" x="7375525" y="3249613"/>
          <p14:tracePt t="99862" x="7273925" y="3159125"/>
          <p14:tracePt t="99872" x="7194550" y="3092450"/>
          <p14:tracePt t="99882" x="7110413" y="3046413"/>
          <p14:tracePt t="99892" x="7019925" y="3001963"/>
          <p14:tracePt t="99902" x="6902450" y="2951163"/>
          <p14:tracePt t="99912" x="6756400" y="2895600"/>
          <p14:tracePt t="99922" x="6599238" y="2822575"/>
          <p14:tracePt t="99932" x="6453188" y="2771775"/>
          <p14:tracePt t="99942" x="6318250" y="2720975"/>
          <p14:tracePt t="99952" x="6211888" y="2687638"/>
          <p14:tracePt t="99962" x="6121400" y="2663825"/>
          <p14:tracePt t="99972" x="6053138" y="2652713"/>
          <p14:tracePt t="99982" x="5986463" y="2652713"/>
          <p14:tracePt t="99992" x="5935663" y="2652713"/>
          <p14:tracePt t="100002" x="5873750" y="2652713"/>
          <p14:tracePt t="100012" x="5822950" y="2652713"/>
          <p14:tracePt t="100022" x="5772150" y="2652713"/>
          <p14:tracePt t="100032" x="5716588" y="2659063"/>
          <p14:tracePt t="100042" x="5665788" y="2663825"/>
          <p14:tracePt t="100052" x="5626100" y="2670175"/>
          <p14:tracePt t="100062" x="5581650" y="2681288"/>
          <p14:tracePt t="100072" x="5537200" y="2692400"/>
          <p14:tracePt t="100082" x="5468938" y="2709863"/>
          <p14:tracePt t="100092" x="5380038" y="2736850"/>
          <p14:tracePt t="100102" x="5260975" y="2782888"/>
          <p14:tracePt t="100112" x="5121275" y="2838450"/>
          <p14:tracePt t="100122" x="4986338" y="2906713"/>
          <p14:tracePt t="100132" x="4851400" y="2973388"/>
          <p14:tracePt t="100142" x="4749800" y="3052763"/>
          <p14:tracePt t="100152" x="4648200" y="3141663"/>
          <p14:tracePt t="100162" x="4552950" y="3238500"/>
          <p14:tracePt t="100172" x="4462463" y="3344863"/>
          <p14:tracePt t="100182" x="4373563" y="3457575"/>
          <p14:tracePt t="100192" x="4294188" y="3575050"/>
          <p14:tracePt t="100202" x="4216400" y="3698875"/>
          <p14:tracePt t="100212" x="4137025" y="3833813"/>
          <p14:tracePt t="100222" x="4070350" y="3968750"/>
          <p14:tracePt t="100232" x="4019550" y="4092575"/>
          <p14:tracePt t="100242" x="3973513" y="4198938"/>
          <p14:tracePt t="100252" x="3940175" y="4305300"/>
          <p14:tracePt t="100262" x="3911600" y="4424363"/>
          <p14:tracePt t="100272" x="3884613" y="4548188"/>
          <p14:tracePt t="100282" x="3867150" y="4659313"/>
          <p14:tracePt t="100292" x="3856038" y="4772025"/>
          <p14:tracePt t="100302" x="3856038" y="4867275"/>
          <p14:tracePt t="100312" x="3856038" y="4957763"/>
          <p14:tracePt t="100322" x="3867150" y="5048250"/>
          <p14:tracePt t="100332" x="3884613" y="5149850"/>
          <p14:tracePt t="100342" x="3900488" y="5245100"/>
          <p14:tracePt t="100352" x="3917950" y="5340350"/>
          <p14:tracePt t="100362" x="3940175" y="5435600"/>
          <p14:tracePt t="100372" x="3984625" y="5553075"/>
          <p14:tracePt t="100382" x="4041775" y="5661025"/>
          <p14:tracePt t="100392" x="4086225" y="5738813"/>
          <p14:tracePt t="100402" x="4143375" y="5807075"/>
          <p14:tracePt t="100412" x="4216400" y="5868988"/>
          <p14:tracePt t="100422" x="4322763" y="5942013"/>
          <p14:tracePt t="100432" x="4451350" y="6026150"/>
          <p14:tracePt t="100442" x="4614863" y="6110288"/>
          <p14:tracePt t="100452" x="4778375" y="6178550"/>
          <p14:tracePt t="100462" x="4991100" y="6256338"/>
          <p14:tracePt t="100472" x="5194300" y="6318250"/>
          <p14:tracePt t="100482" x="5407025" y="6362700"/>
          <p14:tracePt t="100492" x="5599113" y="6391275"/>
          <p14:tracePt t="100502" x="5767388" y="6408738"/>
          <p14:tracePt t="100512" x="5913438" y="6408738"/>
          <p14:tracePt t="100522" x="6053138" y="6408738"/>
          <p14:tracePt t="100532" x="6205538" y="6408738"/>
          <p14:tracePt t="100542" x="6357938" y="6413500"/>
          <p14:tracePt t="100552" x="6497638" y="6413500"/>
          <p14:tracePt t="100562" x="6610350" y="6413500"/>
          <p14:tracePt t="100572" x="6683375" y="6413500"/>
          <p14:tracePt t="100582" x="6734175" y="6413500"/>
          <p14:tracePt t="100592" x="6751638" y="6413500"/>
          <p14:tracePt t="100614" x="6756400" y="6413500"/>
          <p14:tracePt t="100678" x="6762750" y="6413500"/>
          <p14:tracePt t="100681" x="6767513" y="6413500"/>
          <p14:tracePt t="100683" x="6767513" y="6408738"/>
          <p14:tracePt t="100692" x="6784975" y="6391275"/>
          <p14:tracePt t="100702" x="6811963" y="6357938"/>
          <p14:tracePt t="100712" x="6851650" y="6324600"/>
          <p14:tracePt t="100722" x="6908800" y="6267450"/>
          <p14:tracePt t="100732" x="6975475" y="6200775"/>
          <p14:tracePt t="100742" x="7043738" y="6110288"/>
          <p14:tracePt t="100752" x="7121525" y="5986463"/>
          <p14:tracePt t="100762" x="7183438" y="5822950"/>
          <p14:tracePt t="100772" x="7234238" y="5603875"/>
          <p14:tracePt t="100782" x="7245350" y="5380038"/>
          <p14:tracePt t="100792" x="7227888" y="5092700"/>
          <p14:tracePt t="100802" x="7143750" y="4749800"/>
          <p14:tracePt t="100812" x="7015163" y="4395788"/>
          <p14:tracePt t="100822" x="6862763" y="4097338"/>
          <p14:tracePt t="100832" x="6700838" y="3851275"/>
          <p14:tracePt t="100842" x="6548438" y="3681413"/>
          <p14:tracePt t="100852" x="6413500" y="3546475"/>
          <p14:tracePt t="100862" x="6300788" y="3457575"/>
          <p14:tracePt t="100872" x="6211888" y="3400425"/>
          <p14:tracePt t="100882" x="6165850" y="3378200"/>
          <p14:tracePt t="100892" x="6149975" y="3373438"/>
          <p14:tracePt t="100902" x="6143625" y="3367088"/>
          <p14:tracePt t="100912" x="6132513" y="3367088"/>
          <p14:tracePt t="100922" x="6121400" y="3362325"/>
          <p14:tracePt t="100932" x="6092825" y="3362325"/>
          <p14:tracePt t="100942" x="6037263" y="3362325"/>
          <p14:tracePt t="100952" x="5946775" y="3373438"/>
          <p14:tracePt t="100962" x="5862638" y="3389313"/>
          <p14:tracePt t="100972" x="5789613" y="3395663"/>
          <p14:tracePt t="100982" x="5727700" y="3406775"/>
          <p14:tracePt t="100992" x="5676900" y="3411538"/>
          <p14:tracePt t="101002" x="5643563" y="3417888"/>
          <p14:tracePt t="101012" x="5614988" y="3429000"/>
          <p14:tracePt t="101022" x="5570538" y="3435350"/>
          <p14:tracePt t="101032" x="5519738" y="3440113"/>
          <p14:tracePt t="101042" x="5468938" y="3446463"/>
          <p14:tracePt t="101052" x="5418138" y="3457575"/>
          <p14:tracePt t="101062" x="5395913" y="3457575"/>
          <p14:tracePt t="101072" x="5380038" y="3462338"/>
          <p14:tracePt t="101084" x="5373688" y="3462338"/>
          <p14:tracePt t="122548" x="5367338" y="3468688"/>
          <p14:tracePt t="122549" x="5362575" y="3468688"/>
          <p14:tracePt t="122552" x="5362575" y="3473450"/>
          <p14:tracePt t="122562" x="5340350" y="3508375"/>
          <p14:tracePt t="122572" x="5307013" y="3557588"/>
          <p14:tracePt t="122582" x="5249863" y="3643313"/>
          <p14:tracePt t="122592" x="5205413" y="3738563"/>
          <p14:tracePt t="122602" x="5159375" y="3844925"/>
          <p14:tracePt t="122612" x="5110163" y="3973513"/>
          <p14:tracePt t="122622" x="5053013" y="4108450"/>
          <p14:tracePt t="122632" x="5008563" y="4232275"/>
          <p14:tracePt t="122642" x="4979988" y="4329113"/>
          <p14:tracePt t="122652" x="4957763" y="4406900"/>
          <p14:tracePt t="122662" x="4951413" y="4491038"/>
          <p14:tracePt t="122672" x="4951413" y="4598988"/>
          <p14:tracePt t="122682" x="4968875" y="4733925"/>
          <p14:tracePt t="122692" x="4986338" y="4895850"/>
          <p14:tracePt t="122702" x="4991100" y="5076825"/>
          <p14:tracePt t="122712" x="4991100" y="5256213"/>
          <p14:tracePt t="122722" x="4991100" y="5486400"/>
          <p14:tracePt t="122732" x="4975225" y="5722938"/>
          <p14:tracePt t="122742" x="4964113" y="5953125"/>
          <p14:tracePt t="122752" x="4946650" y="6205538"/>
          <p14:tracePt t="122762" x="4935538" y="6475413"/>
          <p14:tracePt t="122772" x="4918075" y="6745288"/>
          <p14:tracePt t="123730" x="0" y="0"/>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DD78-54C3-00F6-B7BD-423C4596C0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C63C16-43A0-2940-AAC2-430E46085E22}"/>
              </a:ext>
            </a:extLst>
          </p:cNvPr>
          <p:cNvSpPr>
            <a:spLocks noGrp="1"/>
          </p:cNvSpPr>
          <p:nvPr>
            <p:ph type="title"/>
          </p:nvPr>
        </p:nvSpPr>
        <p:spPr>
          <a:xfrm>
            <a:off x="381178" y="1125495"/>
            <a:ext cx="10873665" cy="1207457"/>
          </a:xfrm>
        </p:spPr>
        <p:txBody>
          <a:bodyPr/>
          <a:lstStyle/>
          <a:p>
            <a:r>
              <a:rPr lang="en-US" dirty="0"/>
              <a:t>The Physiology of Stress</a:t>
            </a:r>
          </a:p>
        </p:txBody>
      </p:sp>
      <p:sp>
        <p:nvSpPr>
          <p:cNvPr id="3" name="Slide Number Placeholder 2">
            <a:extLst>
              <a:ext uri="{FF2B5EF4-FFF2-40B4-BE49-F238E27FC236}">
                <a16:creationId xmlns:a16="http://schemas.microsoft.com/office/drawing/2014/main" id="{B5EDCA37-4BA4-7678-5AFA-3BD6A598145B}"/>
              </a:ext>
            </a:extLst>
          </p:cNvPr>
          <p:cNvSpPr>
            <a:spLocks noGrp="1"/>
          </p:cNvSpPr>
          <p:nvPr>
            <p:ph type="sldNum" sz="quarter" idx="4"/>
          </p:nvPr>
        </p:nvSpPr>
        <p:spPr/>
        <p:txBody>
          <a:bodyPr/>
          <a:lstStyle/>
          <a:p>
            <a:fld id="{6D22F896-40B5-4ADD-8801-0D06FADFA095}" type="slidenum">
              <a:rPr lang="en-US" smtClean="0"/>
              <a:pPr/>
              <a:t>13</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51AFD4ED-80C2-6CA3-EE78-3182850BEBAD}"/>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F9045A65-B972-12E1-6764-3859B98AAD1D}"/>
              </a:ext>
            </a:extLst>
          </p:cNvPr>
          <p:cNvSpPr txBox="1"/>
          <p:nvPr/>
        </p:nvSpPr>
        <p:spPr>
          <a:xfrm>
            <a:off x="6702137" y="913615"/>
            <a:ext cx="5216237" cy="1015663"/>
          </a:xfrm>
          <a:prstGeom prst="rect">
            <a:avLst/>
          </a:prstGeom>
          <a:noFill/>
          <a:ln w="38100">
            <a:solidFill>
              <a:srgbClr val="00B0F0"/>
            </a:solidFill>
          </a:ln>
        </p:spPr>
        <p:txBody>
          <a:bodyPr wrap="square" rtlCol="0">
            <a:spAutoFit/>
          </a:bodyPr>
          <a:lstStyle/>
          <a:p>
            <a:r>
              <a:rPr lang="en-US" sz="2000" b="1" dirty="0">
                <a:solidFill>
                  <a:schemeClr val="bg1"/>
                </a:solidFill>
              </a:rPr>
              <a:t>Step 6: </a:t>
            </a:r>
            <a:r>
              <a:rPr lang="en-US" sz="2000" dirty="0">
                <a:solidFill>
                  <a:schemeClr val="bg1"/>
                </a:solidFill>
              </a:rPr>
              <a:t>Hypothalamus never turns “off”, and continually releases CRF into bloodstream</a:t>
            </a:r>
          </a:p>
        </p:txBody>
      </p:sp>
      <p:sp>
        <p:nvSpPr>
          <p:cNvPr id="8" name="Oval 7">
            <a:extLst>
              <a:ext uri="{FF2B5EF4-FFF2-40B4-BE49-F238E27FC236}">
                <a16:creationId xmlns:a16="http://schemas.microsoft.com/office/drawing/2014/main" id="{1CBC9F88-1787-8D0A-7CA2-4AD506E665A5}"/>
              </a:ext>
            </a:extLst>
          </p:cNvPr>
          <p:cNvSpPr/>
          <p:nvPr/>
        </p:nvSpPr>
        <p:spPr>
          <a:xfrm rot="21218365">
            <a:off x="3831386" y="2099756"/>
            <a:ext cx="3185338" cy="1938083"/>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401420"/>
      </p:ext>
    </p:extLst>
  </p:cSld>
  <p:clrMapOvr>
    <a:masterClrMapping/>
  </p:clrMapOvr>
  <mc:AlternateContent xmlns:mc="http://schemas.openxmlformats.org/markup-compatibility/2006" xmlns:p14="http://schemas.microsoft.com/office/powerpoint/2010/main">
    <mc:Choice Requires="p14">
      <p:transition spd="slow" p14:dur="2000" advTm="26707"/>
    </mc:Choice>
    <mc:Fallback xmlns="">
      <p:transition spd="slow" advTm="267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FC36-CBB1-071D-1CF7-DC9A3D0939C4}"/>
              </a:ext>
            </a:extLst>
          </p:cNvPr>
          <p:cNvSpPr>
            <a:spLocks noGrp="1"/>
          </p:cNvSpPr>
          <p:nvPr>
            <p:ph type="title"/>
          </p:nvPr>
        </p:nvSpPr>
        <p:spPr>
          <a:xfrm>
            <a:off x="566727" y="1097238"/>
            <a:ext cx="3895104" cy="1207457"/>
          </a:xfrm>
        </p:spPr>
        <p:txBody>
          <a:bodyPr anchor="t">
            <a:normAutofit fontScale="90000"/>
          </a:bodyPr>
          <a:lstStyle/>
          <a:p>
            <a:r>
              <a:rPr lang="en-US" dirty="0"/>
              <a:t>How much stress is too much?</a:t>
            </a:r>
          </a:p>
        </p:txBody>
      </p:sp>
      <p:sp>
        <p:nvSpPr>
          <p:cNvPr id="3" name="Slide Number Placeholder 2">
            <a:extLst>
              <a:ext uri="{FF2B5EF4-FFF2-40B4-BE49-F238E27FC236}">
                <a16:creationId xmlns:a16="http://schemas.microsoft.com/office/drawing/2014/main" id="{B11037E2-27BC-C0AF-7C00-1E2CAA548D7E}"/>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14</a:t>
            </a:fld>
            <a:endParaRPr lang="en-US"/>
          </a:p>
        </p:txBody>
      </p:sp>
      <p:sp>
        <p:nvSpPr>
          <p:cNvPr id="4" name="Content Placeholder 3">
            <a:extLst>
              <a:ext uri="{FF2B5EF4-FFF2-40B4-BE49-F238E27FC236}">
                <a16:creationId xmlns:a16="http://schemas.microsoft.com/office/drawing/2014/main" id="{80350161-9921-C130-D0BA-92BD193941CC}"/>
              </a:ext>
            </a:extLst>
          </p:cNvPr>
          <p:cNvSpPr>
            <a:spLocks noGrp="1"/>
          </p:cNvSpPr>
          <p:nvPr>
            <p:ph sz="quarter" idx="11"/>
          </p:nvPr>
        </p:nvSpPr>
        <p:spPr>
          <a:xfrm>
            <a:off x="566726" y="2864386"/>
            <a:ext cx="4115443" cy="3495850"/>
          </a:xfrm>
        </p:spPr>
        <p:txBody>
          <a:bodyPr>
            <a:normAutofit/>
          </a:bodyPr>
          <a:lstStyle/>
          <a:p>
            <a:r>
              <a:rPr lang="en-US" dirty="0"/>
              <a:t>It depends on your capacity to carry stress</a:t>
            </a:r>
          </a:p>
        </p:txBody>
      </p:sp>
      <p:pic>
        <p:nvPicPr>
          <p:cNvPr id="1028" name="Picture 4" descr="Long term chronic stress and the effect on our allostatic load - True North  Wellness">
            <a:extLst>
              <a:ext uri="{FF2B5EF4-FFF2-40B4-BE49-F238E27FC236}">
                <a16:creationId xmlns:a16="http://schemas.microsoft.com/office/drawing/2014/main" id="{3DD06463-308C-97D7-1DAD-22D214B05B21}"/>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5552501" y="926941"/>
            <a:ext cx="5460599" cy="5433296"/>
          </a:xfrm>
          <a:prstGeom prst="rect">
            <a:avLst/>
          </a:prstGeom>
          <a:solidFill>
            <a:srgbClr val="FFFFFF"/>
          </a:solidFill>
        </p:spPr>
      </p:pic>
    </p:spTree>
    <p:extLst>
      <p:ext uri="{BB962C8B-B14F-4D97-AF65-F5344CB8AC3E}">
        <p14:creationId xmlns:p14="http://schemas.microsoft.com/office/powerpoint/2010/main" val="3030341019"/>
      </p:ext>
    </p:extLst>
  </p:cSld>
  <p:clrMapOvr>
    <a:masterClrMapping/>
  </p:clrMapOvr>
  <mc:AlternateContent xmlns:mc="http://schemas.openxmlformats.org/markup-compatibility/2006" xmlns:p14="http://schemas.microsoft.com/office/powerpoint/2010/main">
    <mc:Choice Requires="p14">
      <p:transition spd="slow" p14:dur="2000" advTm="127767"/>
    </mc:Choice>
    <mc:Fallback xmlns="">
      <p:transition spd="slow" advTm="12776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5C0BFC-69D0-4B63-1C93-00E5FB12FF26}"/>
              </a:ext>
            </a:extLst>
          </p:cNvPr>
          <p:cNvSpPr>
            <a:spLocks noGrp="1"/>
          </p:cNvSpPr>
          <p:nvPr>
            <p:ph type="title"/>
          </p:nvPr>
        </p:nvSpPr>
        <p:spPr>
          <a:xfrm>
            <a:off x="444807" y="1049447"/>
            <a:ext cx="4622952" cy="5094386"/>
          </a:xfrm>
        </p:spPr>
        <p:txBody>
          <a:bodyPr anchor="ctr">
            <a:normAutofit/>
          </a:bodyPr>
          <a:lstStyle/>
          <a:p>
            <a:r>
              <a:rPr lang="en-US" dirty="0"/>
              <a:t>Indicators of Allostatic Load</a:t>
            </a:r>
          </a:p>
        </p:txBody>
      </p:sp>
      <p:sp>
        <p:nvSpPr>
          <p:cNvPr id="7" name="Content Placeholder 6">
            <a:extLst>
              <a:ext uri="{FF2B5EF4-FFF2-40B4-BE49-F238E27FC236}">
                <a16:creationId xmlns:a16="http://schemas.microsoft.com/office/drawing/2014/main" id="{C16EA95E-627E-C807-F6F4-FD934B6E476A}"/>
              </a:ext>
            </a:extLst>
          </p:cNvPr>
          <p:cNvSpPr>
            <a:spLocks noGrp="1"/>
          </p:cNvSpPr>
          <p:nvPr>
            <p:ph sz="quarter" idx="10"/>
          </p:nvPr>
        </p:nvSpPr>
        <p:spPr>
          <a:xfrm>
            <a:off x="4825389" y="714167"/>
            <a:ext cx="6921804" cy="5719684"/>
          </a:xfrm>
        </p:spPr>
        <p:txBody>
          <a:bodyPr anchor="ctr">
            <a:normAutofit/>
          </a:bodyPr>
          <a:lstStyle/>
          <a:p>
            <a:pPr>
              <a:lnSpc>
                <a:spcPct val="90000"/>
              </a:lnSpc>
            </a:pPr>
            <a:r>
              <a:rPr lang="en-US" sz="2400" dirty="0"/>
              <a:t>Decreases in cell-mediated immunity.</a:t>
            </a:r>
          </a:p>
          <a:p>
            <a:pPr>
              <a:lnSpc>
                <a:spcPct val="90000"/>
              </a:lnSpc>
            </a:pPr>
            <a:r>
              <a:rPr lang="en-US" sz="2400" dirty="0"/>
              <a:t>Inability to shut off cortisol in response to stress.</a:t>
            </a:r>
          </a:p>
          <a:p>
            <a:pPr>
              <a:lnSpc>
                <a:spcPct val="90000"/>
              </a:lnSpc>
            </a:pPr>
            <a:r>
              <a:rPr lang="en-US" sz="2400" dirty="0"/>
              <a:t>Lowered heart rate variability.</a:t>
            </a:r>
          </a:p>
          <a:p>
            <a:pPr>
              <a:lnSpc>
                <a:spcPct val="90000"/>
              </a:lnSpc>
            </a:pPr>
            <a:r>
              <a:rPr lang="en-US" sz="2400" dirty="0"/>
              <a:t>Elevated epinephrine levels.</a:t>
            </a:r>
          </a:p>
          <a:p>
            <a:pPr>
              <a:lnSpc>
                <a:spcPct val="90000"/>
              </a:lnSpc>
            </a:pPr>
            <a:r>
              <a:rPr lang="en-US" sz="2400" dirty="0"/>
              <a:t>A high waist-to-hip ratio, reflecting abdominal fat.</a:t>
            </a:r>
          </a:p>
          <a:p>
            <a:pPr>
              <a:lnSpc>
                <a:spcPct val="90000"/>
              </a:lnSpc>
            </a:pPr>
            <a:r>
              <a:rPr lang="en-US" sz="2400" dirty="0"/>
              <a:t>Hippocampal volume, which can decrease with repeated stimulation of the HPA axis.</a:t>
            </a:r>
          </a:p>
          <a:p>
            <a:pPr>
              <a:lnSpc>
                <a:spcPct val="90000"/>
              </a:lnSpc>
            </a:pPr>
            <a:r>
              <a:rPr lang="en-US" sz="2400" dirty="0"/>
              <a:t>Problems with memory, an indirect measure of hippocampal functioning.</a:t>
            </a:r>
          </a:p>
          <a:p>
            <a:pPr>
              <a:lnSpc>
                <a:spcPct val="90000"/>
              </a:lnSpc>
            </a:pPr>
            <a:r>
              <a:rPr lang="en-US" sz="2400" dirty="0"/>
              <a:t>Elevated blood pressure.</a:t>
            </a:r>
          </a:p>
        </p:txBody>
      </p:sp>
      <p:sp>
        <p:nvSpPr>
          <p:cNvPr id="3" name="Slide Number Placeholder 2" hidden="1">
            <a:extLst>
              <a:ext uri="{FF2B5EF4-FFF2-40B4-BE49-F238E27FC236}">
                <a16:creationId xmlns:a16="http://schemas.microsoft.com/office/drawing/2014/main" id="{4FACD1C1-7BDB-C9D6-15BB-C6445D659065}"/>
              </a:ext>
            </a:extLst>
          </p:cNvPr>
          <p:cNvSpPr>
            <a:spLocks noGrp="1"/>
          </p:cNvSpPr>
          <p:nvPr>
            <p:ph type="sldNum" sz="quarter" idx="4294967295"/>
          </p:nvPr>
        </p:nvSpPr>
        <p:spPr>
          <a:xfrm>
            <a:off x="10342880" y="517325"/>
            <a:ext cx="911963" cy="480364"/>
          </a:xfrm>
        </p:spPr>
        <p:txBody>
          <a:bodyPr/>
          <a:lstStyle/>
          <a:p>
            <a:pPr>
              <a:spcAft>
                <a:spcPts val="600"/>
              </a:spcAft>
            </a:pPr>
            <a:fld id="{6D22F896-40B5-4ADD-8801-0D06FADFA095}" type="slidenum">
              <a:rPr lang="en-US" smtClean="0"/>
              <a:pPr>
                <a:spcAft>
                  <a:spcPts val="600"/>
                </a:spcAft>
              </a:pPr>
              <a:t>15</a:t>
            </a:fld>
            <a:endParaRPr lang="en-US"/>
          </a:p>
        </p:txBody>
      </p:sp>
    </p:spTree>
    <p:extLst>
      <p:ext uri="{BB962C8B-B14F-4D97-AF65-F5344CB8AC3E}">
        <p14:creationId xmlns:p14="http://schemas.microsoft.com/office/powerpoint/2010/main" val="2408488382"/>
      </p:ext>
    </p:extLst>
  </p:cSld>
  <p:clrMapOvr>
    <a:masterClrMapping/>
  </p:clrMapOvr>
  <mc:AlternateContent xmlns:mc="http://schemas.openxmlformats.org/markup-compatibility/2006" xmlns:p14="http://schemas.microsoft.com/office/powerpoint/2010/main">
    <mc:Choice Requires="p14">
      <p:transition spd="slow" p14:dur="2000" advTm="153843"/>
    </mc:Choice>
    <mc:Fallback xmlns="">
      <p:transition spd="slow" advTm="15384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B78F5-690F-C0D6-D196-6A1794072313}"/>
              </a:ext>
            </a:extLst>
          </p:cNvPr>
          <p:cNvSpPr>
            <a:spLocks noGrp="1"/>
          </p:cNvSpPr>
          <p:nvPr>
            <p:ph type="title"/>
          </p:nvPr>
        </p:nvSpPr>
        <p:spPr/>
        <p:txBody>
          <a:bodyPr/>
          <a:lstStyle/>
          <a:p>
            <a:r>
              <a:rPr lang="en-US" dirty="0"/>
              <a:t>Impact of Chronic Stress</a:t>
            </a:r>
          </a:p>
        </p:txBody>
      </p:sp>
      <p:sp>
        <p:nvSpPr>
          <p:cNvPr id="3" name="Slide Number Placeholder 2">
            <a:extLst>
              <a:ext uri="{FF2B5EF4-FFF2-40B4-BE49-F238E27FC236}">
                <a16:creationId xmlns:a16="http://schemas.microsoft.com/office/drawing/2014/main" id="{F714548B-71C9-9660-38E8-35D2B641D675}"/>
              </a:ext>
            </a:extLst>
          </p:cNvPr>
          <p:cNvSpPr>
            <a:spLocks noGrp="1"/>
          </p:cNvSpPr>
          <p:nvPr>
            <p:ph type="sldNum" sz="quarter" idx="4"/>
          </p:nvPr>
        </p:nvSpPr>
        <p:spPr/>
        <p:txBody>
          <a:bodyPr/>
          <a:lstStyle/>
          <a:p>
            <a:fld id="{6D22F896-40B5-4ADD-8801-0D06FADFA095}" type="slidenum">
              <a:rPr lang="en-US" smtClean="0"/>
              <a:pPr/>
              <a:t>16</a:t>
            </a:fld>
            <a:endParaRPr lang="en-US" dirty="0"/>
          </a:p>
        </p:txBody>
      </p:sp>
      <p:sp>
        <p:nvSpPr>
          <p:cNvPr id="7" name="Content Placeholder 6">
            <a:extLst>
              <a:ext uri="{FF2B5EF4-FFF2-40B4-BE49-F238E27FC236}">
                <a16:creationId xmlns:a16="http://schemas.microsoft.com/office/drawing/2014/main" id="{2E185272-16ED-644A-8D57-7BCA42224328}"/>
              </a:ext>
            </a:extLst>
          </p:cNvPr>
          <p:cNvSpPr>
            <a:spLocks noGrp="1"/>
          </p:cNvSpPr>
          <p:nvPr>
            <p:ph sz="quarter" idx="11"/>
          </p:nvPr>
        </p:nvSpPr>
        <p:spPr/>
        <p:txBody>
          <a:bodyPr/>
          <a:lstStyle/>
          <a:p>
            <a:r>
              <a:rPr lang="en-US" dirty="0"/>
              <a:t>Direct physiological effects.</a:t>
            </a:r>
          </a:p>
          <a:p>
            <a:pPr lvl="1"/>
            <a:r>
              <a:rPr lang="en-US" dirty="0"/>
              <a:t>Elevated lipids.</a:t>
            </a:r>
          </a:p>
          <a:p>
            <a:pPr lvl="1"/>
            <a:r>
              <a:rPr lang="en-US" dirty="0"/>
              <a:t>Elevated blood pressure.</a:t>
            </a:r>
          </a:p>
          <a:p>
            <a:pPr lvl="1"/>
            <a:r>
              <a:rPr lang="en-US" dirty="0"/>
              <a:t>Decreased immunity.</a:t>
            </a:r>
          </a:p>
          <a:p>
            <a:pPr lvl="1"/>
            <a:r>
              <a:rPr lang="en-US" dirty="0"/>
              <a:t>Increased hormonal activity.</a:t>
            </a:r>
          </a:p>
          <a:p>
            <a:endParaRPr lang="en-US" dirty="0"/>
          </a:p>
        </p:txBody>
      </p:sp>
      <p:sp>
        <p:nvSpPr>
          <p:cNvPr id="6" name="Content Placeholder 5">
            <a:extLst>
              <a:ext uri="{FF2B5EF4-FFF2-40B4-BE49-F238E27FC236}">
                <a16:creationId xmlns:a16="http://schemas.microsoft.com/office/drawing/2014/main" id="{A7CFB629-D9C4-2841-DE92-F7242D5884DB}"/>
              </a:ext>
            </a:extLst>
          </p:cNvPr>
          <p:cNvSpPr>
            <a:spLocks noGrp="1"/>
          </p:cNvSpPr>
          <p:nvPr>
            <p:ph sz="quarter" idx="10"/>
          </p:nvPr>
        </p:nvSpPr>
        <p:spPr/>
        <p:txBody>
          <a:bodyPr/>
          <a:lstStyle/>
          <a:p>
            <a:pPr marL="342900" indent="-342900">
              <a:buFont typeface="Arial" panose="020B0604020202020204" pitchFamily="34" charset="0"/>
              <a:buChar char="•"/>
            </a:pPr>
            <a:r>
              <a:rPr lang="en-US" dirty="0"/>
              <a:t>Health behavior changes.</a:t>
            </a:r>
          </a:p>
          <a:p>
            <a:pPr marL="690372" lvl="1"/>
            <a:r>
              <a:rPr lang="en-US" sz="1800" dirty="0"/>
              <a:t>Increased smoking and alcohol use.</a:t>
            </a:r>
          </a:p>
          <a:p>
            <a:pPr marL="690372" lvl="1"/>
            <a:r>
              <a:rPr lang="en-US" sz="1800" dirty="0"/>
              <a:t>Decreased nutrition.</a:t>
            </a:r>
          </a:p>
          <a:p>
            <a:pPr marL="690372" lvl="1"/>
            <a:r>
              <a:rPr lang="en-US" sz="1800" dirty="0"/>
              <a:t>Decreased sleep.</a:t>
            </a:r>
          </a:p>
          <a:p>
            <a:pPr marL="690372" lvl="1"/>
            <a:r>
              <a:rPr lang="en-US" sz="1800" dirty="0"/>
              <a:t>Increased drug use.</a:t>
            </a:r>
          </a:p>
          <a:p>
            <a:pPr marL="690372" lvl="1"/>
            <a:r>
              <a:rPr lang="en-US" sz="1800" dirty="0"/>
              <a:t>Poor diet, little exercise.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848625573"/>
      </p:ext>
    </p:extLst>
  </p:cSld>
  <p:clrMapOvr>
    <a:masterClrMapping/>
  </p:clrMapOvr>
  <mc:AlternateContent xmlns:mc="http://schemas.openxmlformats.org/markup-compatibility/2006" xmlns:p14="http://schemas.microsoft.com/office/powerpoint/2010/main">
    <mc:Choice Requires="p14">
      <p:transition spd="slow" p14:dur="2000" advTm="45175"/>
    </mc:Choice>
    <mc:Fallback xmlns="">
      <p:transition spd="slow" advTm="4517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C478-73F3-B295-B980-A4302F3A8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86DC3-2840-BE36-A151-56AE86EB4C3D}"/>
              </a:ext>
            </a:extLst>
          </p:cNvPr>
          <p:cNvSpPr>
            <a:spLocks noGrp="1"/>
          </p:cNvSpPr>
          <p:nvPr>
            <p:ph type="title"/>
          </p:nvPr>
        </p:nvSpPr>
        <p:spPr/>
        <p:txBody>
          <a:bodyPr/>
          <a:lstStyle/>
          <a:p>
            <a:r>
              <a:rPr lang="en-US" dirty="0"/>
              <a:t>Impact of Chronic Stress</a:t>
            </a:r>
          </a:p>
        </p:txBody>
      </p:sp>
      <p:sp>
        <p:nvSpPr>
          <p:cNvPr id="3" name="Slide Number Placeholder 2">
            <a:extLst>
              <a:ext uri="{FF2B5EF4-FFF2-40B4-BE49-F238E27FC236}">
                <a16:creationId xmlns:a16="http://schemas.microsoft.com/office/drawing/2014/main" id="{009A8ADD-42AE-412C-80D5-ED4839A32CBF}"/>
              </a:ext>
            </a:extLst>
          </p:cNvPr>
          <p:cNvSpPr>
            <a:spLocks noGrp="1"/>
          </p:cNvSpPr>
          <p:nvPr>
            <p:ph type="sldNum" sz="quarter" idx="4"/>
          </p:nvPr>
        </p:nvSpPr>
        <p:spPr/>
        <p:txBody>
          <a:bodyPr/>
          <a:lstStyle/>
          <a:p>
            <a:fld id="{6D22F896-40B5-4ADD-8801-0D06FADFA095}" type="slidenum">
              <a:rPr lang="en-US" smtClean="0"/>
              <a:pPr/>
              <a:t>17</a:t>
            </a:fld>
            <a:endParaRPr lang="en-US" dirty="0"/>
          </a:p>
        </p:txBody>
      </p:sp>
      <p:sp>
        <p:nvSpPr>
          <p:cNvPr id="7" name="Content Placeholder 6">
            <a:extLst>
              <a:ext uri="{FF2B5EF4-FFF2-40B4-BE49-F238E27FC236}">
                <a16:creationId xmlns:a16="http://schemas.microsoft.com/office/drawing/2014/main" id="{25E17361-5DC0-C2AD-F03D-40C8FAC79095}"/>
              </a:ext>
            </a:extLst>
          </p:cNvPr>
          <p:cNvSpPr>
            <a:spLocks noGrp="1"/>
          </p:cNvSpPr>
          <p:nvPr>
            <p:ph sz="quarter" idx="11"/>
          </p:nvPr>
        </p:nvSpPr>
        <p:spPr/>
        <p:txBody>
          <a:bodyPr/>
          <a:lstStyle/>
          <a:p>
            <a:r>
              <a:rPr lang="en-US" dirty="0"/>
              <a:t>Psychosocial resources.</a:t>
            </a:r>
          </a:p>
          <a:p>
            <a:pPr lvl="1"/>
            <a:r>
              <a:rPr lang="en-US" dirty="0"/>
              <a:t>Threatened social support.</a:t>
            </a:r>
          </a:p>
          <a:p>
            <a:pPr lvl="1"/>
            <a:r>
              <a:rPr lang="en-US" dirty="0"/>
              <a:t>Reduced optimism.</a:t>
            </a:r>
          </a:p>
          <a:p>
            <a:pPr lvl="1"/>
            <a:r>
              <a:rPr lang="en-US" dirty="0"/>
              <a:t>Threats to self-esteem.</a:t>
            </a:r>
          </a:p>
          <a:p>
            <a:pPr lvl="1"/>
            <a:r>
              <a:rPr lang="en-US" dirty="0"/>
              <a:t>Lower sense of mastery.</a:t>
            </a:r>
          </a:p>
          <a:p>
            <a:endParaRPr lang="en-US" dirty="0"/>
          </a:p>
        </p:txBody>
      </p:sp>
      <p:sp>
        <p:nvSpPr>
          <p:cNvPr id="6" name="Content Placeholder 5">
            <a:extLst>
              <a:ext uri="{FF2B5EF4-FFF2-40B4-BE49-F238E27FC236}">
                <a16:creationId xmlns:a16="http://schemas.microsoft.com/office/drawing/2014/main" id="{E565BDC8-8823-7386-6A93-002B62EBC2E0}"/>
              </a:ext>
            </a:extLst>
          </p:cNvPr>
          <p:cNvSpPr>
            <a:spLocks noGrp="1"/>
          </p:cNvSpPr>
          <p:nvPr>
            <p:ph sz="quarter" idx="10"/>
          </p:nvPr>
        </p:nvSpPr>
        <p:spPr/>
        <p:txBody>
          <a:bodyPr/>
          <a:lstStyle/>
          <a:p>
            <a:pPr marL="342900" indent="-342900">
              <a:buFont typeface="Arial" panose="020B0604020202020204" pitchFamily="34" charset="0"/>
              <a:buChar char="•"/>
            </a:pPr>
            <a:r>
              <a:rPr lang="en-US" dirty="0"/>
              <a:t>Health care.</a:t>
            </a:r>
          </a:p>
          <a:p>
            <a:pPr marL="690372" lvl="1"/>
            <a:r>
              <a:rPr lang="en-US" sz="1800" dirty="0"/>
              <a:t>Decreased adherence to treatment.</a:t>
            </a:r>
          </a:p>
          <a:p>
            <a:pPr marL="690372" lvl="1"/>
            <a:r>
              <a:rPr lang="en-US" sz="1800" dirty="0"/>
              <a:t>Delay in seeking care.</a:t>
            </a:r>
          </a:p>
          <a:p>
            <a:pPr marL="690372" lvl="1"/>
            <a:r>
              <a:rPr lang="en-US" sz="1800" dirty="0"/>
              <a:t>Obscured symptom profile.</a:t>
            </a:r>
          </a:p>
          <a:p>
            <a:pPr marL="690372" lvl="1"/>
            <a:r>
              <a:rPr lang="en-US" sz="1800" dirty="0"/>
              <a:t>Decreased likelihood of seeking care.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53641498"/>
      </p:ext>
    </p:extLst>
  </p:cSld>
  <p:clrMapOvr>
    <a:masterClrMapping/>
  </p:clrMapOvr>
  <mc:AlternateContent xmlns:mc="http://schemas.openxmlformats.org/markup-compatibility/2006" xmlns:p14="http://schemas.microsoft.com/office/powerpoint/2010/main">
    <mc:Choice Requires="p14">
      <p:transition spd="slow" p14:dur="2000" advTm="87918"/>
    </mc:Choice>
    <mc:Fallback xmlns="">
      <p:transition spd="slow" advTm="8791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p:txBody>
          <a:bodyPr/>
          <a:lstStyle/>
          <a:p>
            <a:r>
              <a:rPr lang="en-US" dirty="0"/>
              <a:t>Stressors</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18</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2392441"/>
            <a:ext cx="11104270" cy="3967795"/>
          </a:xfrm>
        </p:spPr>
        <p:txBody>
          <a:bodyPr>
            <a:normAutofit/>
          </a:bodyPr>
          <a:lstStyle/>
          <a:p>
            <a:pPr marL="342900" indent="-342900">
              <a:buFont typeface="Arial" panose="020B0604020202020204" pitchFamily="34" charset="0"/>
              <a:buChar char="•"/>
            </a:pPr>
            <a:r>
              <a:rPr lang="en-US" dirty="0"/>
              <a:t>Negative, uncontrollable, or ambiguous events</a:t>
            </a:r>
          </a:p>
          <a:p>
            <a:pPr marL="342900" indent="-342900">
              <a:buFont typeface="Arial" panose="020B0604020202020204" pitchFamily="34" charset="0"/>
              <a:buChar char="•"/>
            </a:pPr>
            <a:r>
              <a:rPr lang="en-US" dirty="0"/>
              <a:t>Life events (both negative and positive life events)</a:t>
            </a:r>
          </a:p>
          <a:p>
            <a:pPr marL="342900" indent="-342900">
              <a:buFont typeface="Arial" panose="020B0604020202020204" pitchFamily="34" charset="0"/>
              <a:buChar char="•"/>
            </a:pPr>
            <a:r>
              <a:rPr lang="en-US" dirty="0"/>
              <a:t>Daily hassles</a:t>
            </a:r>
          </a:p>
          <a:p>
            <a:pPr marL="342900" indent="-342900">
              <a:buFont typeface="Arial" panose="020B0604020202020204" pitchFamily="34" charset="0"/>
              <a:buChar char="•"/>
            </a:pPr>
            <a:r>
              <a:rPr lang="en-US" dirty="0"/>
              <a:t>Home life/ work life balance</a:t>
            </a:r>
          </a:p>
          <a:p>
            <a:pPr marL="690372" lvl="1"/>
            <a:r>
              <a:rPr lang="en-US" dirty="0"/>
              <a:t>Roles can be protective or cause conflict</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949878314"/>
      </p:ext>
    </p:extLst>
  </p:cSld>
  <p:clrMapOvr>
    <a:masterClrMapping/>
  </p:clrMapOvr>
  <mc:AlternateContent xmlns:mc="http://schemas.openxmlformats.org/markup-compatibility/2006" xmlns:p14="http://schemas.microsoft.com/office/powerpoint/2010/main">
    <mc:Choice Requires="p14">
      <p:transition spd="slow" p14:dur="2000" advTm="94751"/>
    </mc:Choice>
    <mc:Fallback xmlns="">
      <p:transition spd="slow" advTm="9475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7D31-F64B-D97A-E515-4C3505FD98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90CBEE-DA55-06EC-525C-6761C8019A1C}"/>
              </a:ext>
            </a:extLst>
          </p:cNvPr>
          <p:cNvSpPr>
            <a:spLocks noGrp="1"/>
          </p:cNvSpPr>
          <p:nvPr>
            <p:ph type="title"/>
          </p:nvPr>
        </p:nvSpPr>
        <p:spPr/>
        <p:txBody>
          <a:bodyPr/>
          <a:lstStyle/>
          <a:p>
            <a:r>
              <a:rPr lang="en-US" dirty="0"/>
              <a:t>Stressors</a:t>
            </a:r>
          </a:p>
        </p:txBody>
      </p:sp>
      <p:sp>
        <p:nvSpPr>
          <p:cNvPr id="3" name="Slide Number Placeholder 2">
            <a:extLst>
              <a:ext uri="{FF2B5EF4-FFF2-40B4-BE49-F238E27FC236}">
                <a16:creationId xmlns:a16="http://schemas.microsoft.com/office/drawing/2014/main" id="{211E95D2-D45D-3AE2-ADBB-A28A6FAF3A8F}"/>
              </a:ext>
            </a:extLst>
          </p:cNvPr>
          <p:cNvSpPr>
            <a:spLocks noGrp="1"/>
          </p:cNvSpPr>
          <p:nvPr>
            <p:ph type="sldNum" sz="quarter" idx="4"/>
          </p:nvPr>
        </p:nvSpPr>
        <p:spPr/>
        <p:txBody>
          <a:bodyPr/>
          <a:lstStyle/>
          <a:p>
            <a:fld id="{6D22F896-40B5-4ADD-8801-0D06FADFA095}" type="slidenum">
              <a:rPr lang="en-US" smtClean="0"/>
              <a:pPr/>
              <a:t>19</a:t>
            </a:fld>
            <a:endParaRPr lang="en-US" dirty="0"/>
          </a:p>
        </p:txBody>
      </p:sp>
      <p:pic>
        <p:nvPicPr>
          <p:cNvPr id="8" name="Picture 7">
            <a:extLst>
              <a:ext uri="{FF2B5EF4-FFF2-40B4-BE49-F238E27FC236}">
                <a16:creationId xmlns:a16="http://schemas.microsoft.com/office/drawing/2014/main" id="{209031A0-7FB3-9428-C5AD-6C181CE3733C}"/>
              </a:ext>
            </a:extLst>
          </p:cNvPr>
          <p:cNvPicPr>
            <a:picLocks noChangeAspect="1"/>
          </p:cNvPicPr>
          <p:nvPr/>
        </p:nvPicPr>
        <p:blipFill>
          <a:blip r:embed="rId3"/>
          <a:stretch>
            <a:fillRect/>
          </a:stretch>
        </p:blipFill>
        <p:spPr>
          <a:xfrm>
            <a:off x="3676858" y="997689"/>
            <a:ext cx="7577985" cy="2749534"/>
          </a:xfrm>
          <a:prstGeom prst="rect">
            <a:avLst/>
          </a:prstGeom>
        </p:spPr>
      </p:pic>
      <p:pic>
        <p:nvPicPr>
          <p:cNvPr id="10" name="Picture 9">
            <a:extLst>
              <a:ext uri="{FF2B5EF4-FFF2-40B4-BE49-F238E27FC236}">
                <a16:creationId xmlns:a16="http://schemas.microsoft.com/office/drawing/2014/main" id="{257C3AD0-AD3B-E859-D115-4349186FC2B3}"/>
              </a:ext>
            </a:extLst>
          </p:cNvPr>
          <p:cNvPicPr>
            <a:picLocks noChangeAspect="1"/>
          </p:cNvPicPr>
          <p:nvPr/>
        </p:nvPicPr>
        <p:blipFill>
          <a:blip r:embed="rId4"/>
          <a:stretch>
            <a:fillRect/>
          </a:stretch>
        </p:blipFill>
        <p:spPr>
          <a:xfrm>
            <a:off x="3676858" y="4143019"/>
            <a:ext cx="7577985" cy="1781745"/>
          </a:xfrm>
          <a:prstGeom prst="rect">
            <a:avLst/>
          </a:prstGeom>
        </p:spPr>
      </p:pic>
      <p:sp>
        <p:nvSpPr>
          <p:cNvPr id="11" name="TextBox 10">
            <a:extLst>
              <a:ext uri="{FF2B5EF4-FFF2-40B4-BE49-F238E27FC236}">
                <a16:creationId xmlns:a16="http://schemas.microsoft.com/office/drawing/2014/main" id="{C7B79EF1-D497-7646-49EA-9B110BDAD6F7}"/>
              </a:ext>
            </a:extLst>
          </p:cNvPr>
          <p:cNvSpPr txBox="1"/>
          <p:nvPr/>
        </p:nvSpPr>
        <p:spPr>
          <a:xfrm>
            <a:off x="3553097" y="6109842"/>
            <a:ext cx="8399809" cy="461665"/>
          </a:xfrm>
          <a:prstGeom prst="rect">
            <a:avLst/>
          </a:prstGeom>
          <a:noFill/>
        </p:spPr>
        <p:txBody>
          <a:bodyPr wrap="square" rtlCol="0">
            <a:spAutoFit/>
          </a:bodyPr>
          <a:lstStyle/>
          <a:p>
            <a:r>
              <a:rPr lang="en-US" sz="1200" dirty="0">
                <a:solidFill>
                  <a:schemeClr val="bg1"/>
                </a:solidFill>
              </a:rPr>
              <a:t>Source: Acuna, Laura, and Diana Alejandra González-García. “The Social Readjustment Rating Scale of Holmes and Rahe in Mexico: A Rescaling after 16 Years.” Journal of Psychosomatic Research 11 (January 2012): 213–218.</a:t>
            </a:r>
          </a:p>
        </p:txBody>
      </p:sp>
    </p:spTree>
    <p:extLst>
      <p:ext uri="{BB962C8B-B14F-4D97-AF65-F5344CB8AC3E}">
        <p14:creationId xmlns:p14="http://schemas.microsoft.com/office/powerpoint/2010/main" val="967654636"/>
      </p:ext>
    </p:extLst>
  </p:cSld>
  <p:clrMapOvr>
    <a:masterClrMapping/>
  </p:clrMapOvr>
  <mc:AlternateContent xmlns:mc="http://schemas.openxmlformats.org/markup-compatibility/2006" xmlns:p14="http://schemas.microsoft.com/office/powerpoint/2010/main">
    <mc:Choice Requires="p14">
      <p:transition spd="slow" p14:dur="2000" advTm="58361"/>
    </mc:Choice>
    <mc:Fallback xmlns="">
      <p:transition spd="slow" advTm="5836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94AC-9C10-D879-9EA9-64BB00BFBD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3DFEB96-437F-622C-173A-6F6876E8B123}"/>
              </a:ext>
            </a:extLst>
          </p:cNvPr>
          <p:cNvSpPr>
            <a:spLocks noGrp="1"/>
          </p:cNvSpPr>
          <p:nvPr>
            <p:ph type="title"/>
          </p:nvPr>
        </p:nvSpPr>
        <p:spPr/>
        <p:txBody>
          <a:bodyPr/>
          <a:lstStyle/>
          <a:p>
            <a:r>
              <a:rPr lang="en-US" dirty="0"/>
              <a:t>Workplace Stress</a:t>
            </a:r>
          </a:p>
        </p:txBody>
      </p:sp>
      <p:sp>
        <p:nvSpPr>
          <p:cNvPr id="3" name="Slide Number Placeholder 2">
            <a:extLst>
              <a:ext uri="{FF2B5EF4-FFF2-40B4-BE49-F238E27FC236}">
                <a16:creationId xmlns:a16="http://schemas.microsoft.com/office/drawing/2014/main" id="{2D1E9644-076C-55B2-817D-05D98A2504BA}"/>
              </a:ext>
            </a:extLst>
          </p:cNvPr>
          <p:cNvSpPr>
            <a:spLocks noGrp="1"/>
          </p:cNvSpPr>
          <p:nvPr>
            <p:ph type="sldNum" sz="quarter" idx="4"/>
          </p:nvPr>
        </p:nvSpPr>
        <p:spPr/>
        <p:txBody>
          <a:bodyPr/>
          <a:lstStyle/>
          <a:p>
            <a:fld id="{6D22F896-40B5-4ADD-8801-0D06FADFA095}" type="slidenum">
              <a:rPr lang="en-US" smtClean="0"/>
              <a:pPr/>
              <a:t>20</a:t>
            </a:fld>
            <a:endParaRPr lang="en-US" dirty="0"/>
          </a:p>
        </p:txBody>
      </p:sp>
      <p:sp>
        <p:nvSpPr>
          <p:cNvPr id="6" name="Content Placeholder 5">
            <a:extLst>
              <a:ext uri="{FF2B5EF4-FFF2-40B4-BE49-F238E27FC236}">
                <a16:creationId xmlns:a16="http://schemas.microsoft.com/office/drawing/2014/main" id="{89AD9637-D187-1A38-0BAC-79EA9745FE7E}"/>
              </a:ext>
            </a:extLst>
          </p:cNvPr>
          <p:cNvSpPr>
            <a:spLocks noGrp="1"/>
          </p:cNvSpPr>
          <p:nvPr>
            <p:ph sz="quarter" idx="10"/>
          </p:nvPr>
        </p:nvSpPr>
        <p:spPr>
          <a:xfrm>
            <a:off x="566726" y="1959429"/>
            <a:ext cx="11104270" cy="4400807"/>
          </a:xfrm>
        </p:spPr>
        <p:txBody>
          <a:bodyPr>
            <a:normAutofit fontScale="92500" lnSpcReduction="10000"/>
          </a:bodyPr>
          <a:lstStyle/>
          <a:p>
            <a:pPr marL="342900" indent="-342900">
              <a:buFont typeface="Arial" panose="020B0604020202020204" pitchFamily="34" charset="0"/>
              <a:buChar char="•"/>
            </a:pPr>
            <a:r>
              <a:rPr lang="en-US" dirty="0"/>
              <a:t>Workplace stress is estimated to cost $300 billion a year (in the U.S.)</a:t>
            </a:r>
          </a:p>
          <a:p>
            <a:pPr marL="342900" indent="-342900">
              <a:buFont typeface="Arial" panose="020B0604020202020204" pitchFamily="34" charset="0"/>
              <a:buChar char="•"/>
            </a:pPr>
            <a:r>
              <a:rPr lang="en-US" dirty="0"/>
              <a:t>Multiple factors lead to workplace stress:</a:t>
            </a:r>
          </a:p>
          <a:p>
            <a:pPr marL="690372" lvl="1"/>
            <a:r>
              <a:rPr lang="en-US" dirty="0"/>
              <a:t>Sedentary lifestyle</a:t>
            </a:r>
          </a:p>
          <a:p>
            <a:pPr marL="690372" lvl="1"/>
            <a:r>
              <a:rPr lang="en-US" dirty="0"/>
              <a:t>Overload of expectations</a:t>
            </a:r>
          </a:p>
          <a:p>
            <a:pPr marL="690372" lvl="1"/>
            <a:r>
              <a:rPr lang="en-US" dirty="0"/>
              <a:t>Role conflict</a:t>
            </a:r>
          </a:p>
          <a:p>
            <a:pPr marL="690372" lvl="1"/>
            <a:r>
              <a:rPr lang="en-US" dirty="0"/>
              <a:t>Social dynamics</a:t>
            </a:r>
          </a:p>
          <a:p>
            <a:pPr marL="690372" lvl="1"/>
            <a:r>
              <a:rPr lang="en-US" dirty="0"/>
              <a:t>Unemployment (or risk of unemployment)</a:t>
            </a:r>
          </a:p>
          <a:p>
            <a:pPr marL="342900" indent="-342900">
              <a:buFont typeface="Arial" panose="020B0604020202020204" pitchFamily="34" charset="0"/>
              <a:buChar char="•"/>
            </a:pPr>
            <a:r>
              <a:rPr lang="en-US" b="1" u="sng" dirty="0"/>
              <a:t>Demand-control-support model</a:t>
            </a:r>
            <a:r>
              <a:rPr lang="en-US" dirty="0"/>
              <a:t> – High demands and low control are combined with little social support at work.</a:t>
            </a:r>
          </a:p>
          <a:p>
            <a:pPr marL="690372" lvl="1"/>
            <a:r>
              <a:rPr lang="en-US" dirty="0"/>
              <a:t>Linked to risk or coronary artery disease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4220572628"/>
      </p:ext>
    </p:extLst>
  </p:cSld>
  <p:clrMapOvr>
    <a:masterClrMapping/>
  </p:clrMapOvr>
  <mc:AlternateContent xmlns:mc="http://schemas.openxmlformats.org/markup-compatibility/2006" xmlns:p14="http://schemas.microsoft.com/office/powerpoint/2010/main">
    <mc:Choice Requires="p14">
      <p:transition spd="slow" p14:dur="2000" advTm="111244"/>
    </mc:Choice>
    <mc:Fallback xmlns="">
      <p:transition spd="slow" advTm="11124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F98FD-7E0A-0FC0-150D-3E9D48D7EC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56CA71-3197-944C-1658-268FEA36923D}"/>
              </a:ext>
            </a:extLst>
          </p:cNvPr>
          <p:cNvSpPr>
            <a:spLocks noGrp="1"/>
          </p:cNvSpPr>
          <p:nvPr>
            <p:ph type="title"/>
          </p:nvPr>
        </p:nvSpPr>
        <p:spPr/>
        <p:txBody>
          <a:bodyPr/>
          <a:lstStyle/>
          <a:p>
            <a:r>
              <a:rPr lang="en-US" dirty="0"/>
              <a:t>Stress Adaptation</a:t>
            </a:r>
          </a:p>
        </p:txBody>
      </p:sp>
      <p:sp>
        <p:nvSpPr>
          <p:cNvPr id="3" name="Slide Number Placeholder 2">
            <a:extLst>
              <a:ext uri="{FF2B5EF4-FFF2-40B4-BE49-F238E27FC236}">
                <a16:creationId xmlns:a16="http://schemas.microsoft.com/office/drawing/2014/main" id="{7CE52F49-AA84-18A2-6958-3F9DAB24120F}"/>
              </a:ext>
            </a:extLst>
          </p:cNvPr>
          <p:cNvSpPr>
            <a:spLocks noGrp="1"/>
          </p:cNvSpPr>
          <p:nvPr>
            <p:ph type="sldNum" sz="quarter" idx="4"/>
          </p:nvPr>
        </p:nvSpPr>
        <p:spPr/>
        <p:txBody>
          <a:bodyPr/>
          <a:lstStyle/>
          <a:p>
            <a:fld id="{6D22F896-40B5-4ADD-8801-0D06FADFA095}" type="slidenum">
              <a:rPr lang="en-US" smtClean="0"/>
              <a:pPr/>
              <a:t>21</a:t>
            </a:fld>
            <a:endParaRPr lang="en-US" dirty="0"/>
          </a:p>
        </p:txBody>
      </p:sp>
      <p:sp>
        <p:nvSpPr>
          <p:cNvPr id="6" name="Content Placeholder 5">
            <a:extLst>
              <a:ext uri="{FF2B5EF4-FFF2-40B4-BE49-F238E27FC236}">
                <a16:creationId xmlns:a16="http://schemas.microsoft.com/office/drawing/2014/main" id="{FBA091FB-F165-DE59-E6A7-6BB36AB11030}"/>
              </a:ext>
            </a:extLst>
          </p:cNvPr>
          <p:cNvSpPr>
            <a:spLocks noGrp="1"/>
          </p:cNvSpPr>
          <p:nvPr>
            <p:ph sz="quarter" idx="10"/>
          </p:nvPr>
        </p:nvSpPr>
        <p:spPr>
          <a:xfrm>
            <a:off x="566726" y="1915887"/>
            <a:ext cx="11104270" cy="4444350"/>
          </a:xfrm>
        </p:spPr>
        <p:txBody>
          <a:bodyPr>
            <a:normAutofit lnSpcReduction="10000"/>
          </a:bodyPr>
          <a:lstStyle/>
          <a:p>
            <a:pPr marL="342900" indent="-342900">
              <a:buFont typeface="Arial" panose="020B0604020202020204" pitchFamily="34" charset="0"/>
              <a:buChar char="•"/>
            </a:pPr>
            <a:r>
              <a:rPr lang="en-US" dirty="0"/>
              <a:t>Stress is known to cause a series of after effects, including (but not limited to):</a:t>
            </a:r>
          </a:p>
          <a:p>
            <a:pPr marL="690372" lvl="1"/>
            <a:r>
              <a:rPr lang="en-US" dirty="0"/>
              <a:t>Shortened attention span</a:t>
            </a:r>
          </a:p>
          <a:p>
            <a:pPr marL="690372" lvl="1"/>
            <a:r>
              <a:rPr lang="en-US" dirty="0"/>
              <a:t>Poor performance on intellectual tasks</a:t>
            </a:r>
          </a:p>
          <a:p>
            <a:pPr marL="690372" lvl="1"/>
            <a:r>
              <a:rPr lang="en-US" dirty="0"/>
              <a:t>Ongoing psychological distress</a:t>
            </a:r>
          </a:p>
          <a:p>
            <a:pPr marL="690372" lvl="1"/>
            <a:r>
              <a:rPr lang="en-US" dirty="0"/>
              <a:t>Physiological arousal</a:t>
            </a:r>
          </a:p>
          <a:p>
            <a:pPr marL="342900" indent="-342900">
              <a:buFont typeface="Arial" panose="020B0604020202020204" pitchFamily="34" charset="0"/>
              <a:buChar char="•"/>
            </a:pPr>
            <a:r>
              <a:rPr lang="en-US" dirty="0"/>
              <a:t>Can we adapt to stress?</a:t>
            </a:r>
          </a:p>
          <a:p>
            <a:pPr marL="690372" lvl="1"/>
            <a:r>
              <a:rPr lang="en-US" dirty="0"/>
              <a:t>Yes, but…</a:t>
            </a:r>
          </a:p>
          <a:p>
            <a:pPr marL="1056132" lvl="2"/>
            <a:r>
              <a:rPr lang="en-US" dirty="0"/>
              <a:t>Only to a certain amount of stress</a:t>
            </a:r>
          </a:p>
          <a:p>
            <a:pPr marL="1056132" lvl="2"/>
            <a:r>
              <a:rPr lang="en-US" dirty="0"/>
              <a:t>Vulnerable populations (older adults, children, lower SES, etc.) may not be able to</a:t>
            </a:r>
          </a:p>
          <a:p>
            <a:pPr marL="690372" lvl="1"/>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194544760"/>
      </p:ext>
    </p:extLst>
  </p:cSld>
  <p:clrMapOvr>
    <a:masterClrMapping/>
  </p:clrMapOvr>
  <mc:AlternateContent xmlns:mc="http://schemas.openxmlformats.org/markup-compatibility/2006" xmlns:p14="http://schemas.microsoft.com/office/powerpoint/2010/main">
    <mc:Choice Requires="p14">
      <p:transition spd="slow" p14:dur="2000" advTm="82925"/>
    </mc:Choice>
    <mc:Fallback xmlns="">
      <p:transition spd="slow" advTm="82925"/>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0DE5-C259-4563-1C44-396A2A061C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4BE495-8896-B4B0-610B-44B7720AEC0C}"/>
              </a:ext>
            </a:extLst>
          </p:cNvPr>
          <p:cNvSpPr>
            <a:spLocks noGrp="1"/>
          </p:cNvSpPr>
          <p:nvPr>
            <p:ph type="title"/>
          </p:nvPr>
        </p:nvSpPr>
        <p:spPr/>
        <p:txBody>
          <a:bodyPr/>
          <a:lstStyle/>
          <a:p>
            <a:r>
              <a:rPr lang="en-US" dirty="0"/>
              <a:t>Studying Stress</a:t>
            </a:r>
          </a:p>
        </p:txBody>
      </p:sp>
      <p:sp>
        <p:nvSpPr>
          <p:cNvPr id="3" name="Slide Number Placeholder 2">
            <a:extLst>
              <a:ext uri="{FF2B5EF4-FFF2-40B4-BE49-F238E27FC236}">
                <a16:creationId xmlns:a16="http://schemas.microsoft.com/office/drawing/2014/main" id="{F6C2FEC3-B450-79FA-5D98-ECD1392B0940}"/>
              </a:ext>
            </a:extLst>
          </p:cNvPr>
          <p:cNvSpPr>
            <a:spLocks noGrp="1"/>
          </p:cNvSpPr>
          <p:nvPr>
            <p:ph type="sldNum" sz="quarter" idx="4"/>
          </p:nvPr>
        </p:nvSpPr>
        <p:spPr/>
        <p:txBody>
          <a:bodyPr/>
          <a:lstStyle/>
          <a:p>
            <a:fld id="{6D22F896-40B5-4ADD-8801-0D06FADFA095}" type="slidenum">
              <a:rPr lang="en-US" smtClean="0"/>
              <a:pPr/>
              <a:t>22</a:t>
            </a:fld>
            <a:endParaRPr lang="en-US" dirty="0"/>
          </a:p>
        </p:txBody>
      </p:sp>
      <p:sp>
        <p:nvSpPr>
          <p:cNvPr id="6" name="Content Placeholder 5">
            <a:extLst>
              <a:ext uri="{FF2B5EF4-FFF2-40B4-BE49-F238E27FC236}">
                <a16:creationId xmlns:a16="http://schemas.microsoft.com/office/drawing/2014/main" id="{092741FE-BAA4-39C0-875A-BD36AC398D1D}"/>
              </a:ext>
            </a:extLst>
          </p:cNvPr>
          <p:cNvSpPr>
            <a:spLocks noGrp="1"/>
          </p:cNvSpPr>
          <p:nvPr>
            <p:ph sz="quarter" idx="10"/>
          </p:nvPr>
        </p:nvSpPr>
        <p:spPr>
          <a:xfrm>
            <a:off x="566726" y="1915887"/>
            <a:ext cx="11104270" cy="4444350"/>
          </a:xfrm>
        </p:spPr>
        <p:txBody>
          <a:bodyPr>
            <a:normAutofit lnSpcReduction="10000"/>
          </a:bodyPr>
          <a:lstStyle/>
          <a:p>
            <a:pPr marL="342900" indent="-342900">
              <a:buFont typeface="Arial" panose="020B0604020202020204" pitchFamily="34" charset="0"/>
              <a:buChar char="•"/>
            </a:pPr>
            <a:r>
              <a:rPr lang="en-US" dirty="0"/>
              <a:t>Ethical concern: should we induce stress in order to study it, when we know it has negative outcomes for health?</a:t>
            </a:r>
          </a:p>
          <a:p>
            <a:pPr marL="342900" indent="-342900">
              <a:buFont typeface="Arial" panose="020B0604020202020204" pitchFamily="34" charset="0"/>
              <a:buChar char="•"/>
            </a:pPr>
            <a:r>
              <a:rPr lang="en-US" dirty="0"/>
              <a:t>Acute stress paradigm</a:t>
            </a:r>
          </a:p>
          <a:p>
            <a:pPr marL="690372" lvl="1"/>
            <a:r>
              <a:rPr lang="en-US" dirty="0"/>
              <a:t>Unplanned presentation</a:t>
            </a:r>
          </a:p>
          <a:p>
            <a:pPr marL="690372" lvl="1"/>
            <a:r>
              <a:rPr lang="en-US" dirty="0"/>
              <a:t>Counting backwards, by difficult sets (e.g., count backwards quickly from 100 by 7s)</a:t>
            </a:r>
          </a:p>
          <a:p>
            <a:pPr marL="690372" lvl="1"/>
            <a:r>
              <a:rPr lang="en-US" dirty="0"/>
              <a:t>Cold pressor</a:t>
            </a:r>
          </a:p>
          <a:p>
            <a:pPr marL="342900" indent="-342900">
              <a:buFont typeface="Arial" panose="020B0604020202020204" pitchFamily="34" charset="0"/>
              <a:buChar char="•"/>
            </a:pPr>
            <a:r>
              <a:rPr lang="en-US" dirty="0"/>
              <a:t>Flu shots/ vaccines</a:t>
            </a:r>
          </a:p>
          <a:p>
            <a:pPr marL="342900" indent="-342900">
              <a:buFont typeface="Arial" panose="020B0604020202020204" pitchFamily="34" charset="0"/>
              <a:buChar char="•"/>
            </a:pPr>
            <a:r>
              <a:rPr lang="en-US" dirty="0"/>
              <a:t>Quasi-experiments</a:t>
            </a:r>
          </a:p>
          <a:p>
            <a:pPr marL="342900" indent="-342900">
              <a:buFont typeface="Arial" panose="020B0604020202020204" pitchFamily="34" charset="0"/>
              <a:buChar char="•"/>
            </a:pPr>
            <a:r>
              <a:rPr lang="en-US" dirty="0"/>
              <a:t>Stress can be assessed with qualitative measures (surveys, interviews, etc.) and quantitative measures (cortisol, blood pressure, heart rate variability, etc.)</a:t>
            </a:r>
          </a:p>
          <a:p>
            <a:pPr marL="690372" lvl="1"/>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426991312"/>
      </p:ext>
    </p:extLst>
  </p:cSld>
  <p:clrMapOvr>
    <a:masterClrMapping/>
  </p:clrMapOvr>
  <mc:AlternateContent xmlns:mc="http://schemas.openxmlformats.org/markup-compatibility/2006" xmlns:p14="http://schemas.microsoft.com/office/powerpoint/2010/main">
    <mc:Choice Requires="p14">
      <p:transition spd="slow" p14:dur="2000" advTm="299304"/>
    </mc:Choice>
    <mc:Fallback xmlns="">
      <p:transition spd="slow" advTm="299304"/>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FBC208-84B5-4BA7-8306-5BDC2F8CE14B}">
  <ds:schemaRefs>
    <ds:schemaRef ds:uri="http://schemas.microsoft.com/office/2006/documentManagement/types"/>
    <ds:schemaRef ds:uri="http://schemas.microsoft.com/office/infopath/2007/PartnerControls"/>
    <ds:schemaRef ds:uri="http://schemas.openxmlformats.org/package/2006/metadata/core-properties"/>
    <ds:schemaRef ds:uri="http://schemas.microsoft.com/office/2006/metadata/properties"/>
    <ds:schemaRef ds:uri="230e9df3-be65-4c73-a93b-d1236ebd677e"/>
    <ds:schemaRef ds:uri="http://www.w3.org/XML/1998/namespace"/>
    <ds:schemaRef ds:uri="16c05727-aa75-4e4a-9b5f-8a80a1165891"/>
    <ds:schemaRef ds:uri="http://purl.org/dc/elements/1.1/"/>
    <ds:schemaRef ds:uri="http://purl.org/dc/terms/"/>
    <ds:schemaRef ds:uri="71af3243-3dd4-4a8d-8c0d-dd76da1f02a5"/>
    <ds:schemaRef ds:uri="http://schemas.microsoft.com/sharepoint/v3"/>
    <ds:schemaRef ds:uri="http://purl.org/dc/dcmitype/"/>
  </ds:schemaRefs>
</ds:datastoreItem>
</file>

<file path=customXml/itemProps2.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3.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292</TotalTime>
  <Words>3243</Words>
  <Application>Microsoft Office PowerPoint</Application>
  <PresentationFormat>Widescreen</PresentationFormat>
  <Paragraphs>163</Paragraphs>
  <Slides>22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Kalinga</vt:lpstr>
      <vt:lpstr>Wingdings</vt:lpstr>
      <vt:lpstr>Madison</vt:lpstr>
      <vt:lpstr>Stress </vt:lpstr>
      <vt:lpstr>Important Terminology</vt:lpstr>
      <vt:lpstr>Acute Stress vs.  Chronic Stress</vt:lpstr>
      <vt:lpstr>Responding to Stress</vt:lpstr>
      <vt:lpstr>Selye’s General Adaptation Syndrome</vt:lpstr>
      <vt:lpstr>So, what is happening during a stress response?</vt:lpstr>
      <vt:lpstr>The Physiology of Stress</vt:lpstr>
      <vt:lpstr>The Physiology of Stress</vt:lpstr>
      <vt:lpstr>The Physiology of Stress</vt:lpstr>
      <vt:lpstr>The Physiology of Stress</vt:lpstr>
      <vt:lpstr>The Physiology of Stress</vt:lpstr>
      <vt:lpstr>The Physiology of Stress</vt:lpstr>
      <vt:lpstr>The Physiology of Stress</vt:lpstr>
      <vt:lpstr>How much stress is too much?</vt:lpstr>
      <vt:lpstr>Indicators of Allostatic Load</vt:lpstr>
      <vt:lpstr>Impact of Chronic Stress</vt:lpstr>
      <vt:lpstr>Impact of Chronic Stress</vt:lpstr>
      <vt:lpstr>Stressors</vt:lpstr>
      <vt:lpstr>Stressors</vt:lpstr>
      <vt:lpstr>Workplace Stress</vt:lpstr>
      <vt:lpstr>Stress Adaptation</vt:lpstr>
      <vt:lpstr>Studying Stress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14</cp:revision>
  <dcterms:created xsi:type="dcterms:W3CDTF">2025-09-26T07:06:03Z</dcterms:created>
  <dcterms:modified xsi:type="dcterms:W3CDTF">2026-08-15T22:12:11Z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