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7" r:id="rId5"/>
    <p:sldId id="319" r:id="rId6"/>
    <p:sldId id="307" r:id="rId7"/>
    <p:sldId id="331" r:id="rId8"/>
    <p:sldId id="336" r:id="rId9"/>
    <p:sldId id="332" r:id="rId10"/>
    <p:sldId id="339" r:id="rId11"/>
    <p:sldId id="338" r:id="rId12"/>
    <p:sldId id="334" r:id="rId13"/>
    <p:sldId id="333" r:id="rId14"/>
    <p:sldId id="335" r:id="rId15"/>
    <p:sldId id="33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74361" autoAdjust="0"/>
  </p:normalViewPr>
  <p:slideViewPr>
    <p:cSldViewPr snapToGrid="0">
      <p:cViewPr varScale="1">
        <p:scale>
          <a:sx n="80" d="100"/>
          <a:sy n="80" d="100"/>
        </p:scale>
        <p:origin x="3204" y="9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4/10/2026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24339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1091-67E7-5292-E38D-2D24FC82C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C9901-B664-9C45-69BC-652497568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05093-CD52-8349-3D98-1850900B8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1951B-00D3-7D7A-4231-8A3F45BF1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9736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1390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A57E4-E7F4-5BBD-748D-45BC681C3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F9353B-9E3D-21E1-E96C-2C6F89D28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DF1FC-74AB-07FB-3862-41D0B3D28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77A60-489A-56F4-3003-508881EC4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1630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56885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179A3-0A4F-91CC-7A42-7F643A33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07A67-44ED-D41B-6627-AE4C52FBE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54D1B-FEE6-5BD1-95E9-6CB73B689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0BDB2-3729-C73A-B88F-102985A4D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48287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31FC0-919A-F136-1596-291A6A0D1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DC245-238E-8BD0-1960-E3271345F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CD8533-0997-3399-B161-12DEFDA21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6F581-E8A0-266A-3FD9-E23247C3C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81692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54F0E-B53F-780F-693E-7E7772F24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F5D91-3833-3B7A-1DC9-FEAE517D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4A35E-9E0C-6195-8C51-A87CF54E5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10981-9160-17FB-018F-7A0952780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0395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39EF8-C1A8-1F34-2655-2ECFC4D4E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7415A-6541-8491-9131-3CB516A39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299A9-8BB1-C849-4D92-8B8F25081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CE5C2-98EB-0121-9C9D-E608FBB8C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8336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6517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jsarts.com/2020/03/14/the-five-stages-of-grief/" TargetMode="External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sz="6000" b="1" dirty="0"/>
              <a:t>Psychological Issues in Death &amp; Dying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58360F-490E-EFD0-5185-57F392DFA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44" y="497940"/>
            <a:ext cx="7534656" cy="547912"/>
          </a:xfrm>
        </p:spPr>
        <p:txBody>
          <a:bodyPr/>
          <a:lstStyle/>
          <a:p>
            <a:r>
              <a:rPr lang="en-US" dirty="0"/>
              <a:t>Important Note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4CDE65-2628-43F8-0055-6474258C1AC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67897"/>
            <a:ext cx="9180214" cy="4879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In today’s lecture, we will discuss very important but difficult topics such as suicide, death, and terminal illness. Please treat these conversations with the respect they deserve. 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A note: In following with the APA guidelines, rather than saying someone “committed suicide,” we say someone “died by suicide.” This framing highlights the underlying mental illness, rather than treating it like a crime. While this may be a new phrasing for you, please do your best to follow these guidelines in this class. (As an additional note, switching the terminology outside of this class could make a large difference to the people around you as well, even if that person never says it).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B23E5-7A92-C1EB-A061-226C9D433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632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812" y="914400"/>
            <a:ext cx="5828503" cy="5029200"/>
          </a:xfrm>
        </p:spPr>
        <p:txBody>
          <a:bodyPr/>
          <a:lstStyle/>
          <a:p>
            <a:r>
              <a:rPr lang="en-US" sz="11500" b="1" dirty="0">
                <a:solidFill>
                  <a:srgbClr val="002060"/>
                </a:solidFill>
              </a:rPr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545011"/>
              </p:ext>
            </p:extLst>
          </p:nvPr>
        </p:nvGraphicFramePr>
        <p:xfrm>
          <a:off x="6643315" y="1143000"/>
          <a:ext cx="4954174" cy="4267200"/>
        </p:xfrm>
        <a:graphic>
          <a:graphicData uri="http://schemas.openxmlformats.org/drawingml/2006/table">
            <a:tbl>
              <a:tblPr firstRow="1" bandRow="1"/>
              <a:tblGrid>
                <a:gridCol w="4954174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latin typeface="+mn-lt"/>
                          <a:cs typeface="Gill Sans Light" panose="020B0302020104020203" pitchFamily="34" charset="-79"/>
                        </a:rPr>
                        <a:t>Deaths Through the Ages</a:t>
                      </a:r>
                      <a:br>
                        <a:rPr lang="en-US" sz="3200" b="0" dirty="0">
                          <a:latin typeface="+mn-lt"/>
                          <a:cs typeface="Gill Sans Light" panose="020B0302020104020203" pitchFamily="34" charset="-79"/>
                        </a:rPr>
                      </a:br>
                      <a:endParaRPr lang="en-US" sz="3200" b="0" dirty="0">
                        <a:latin typeface="+mn-lt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/>
                        <a:t>Legalities of Terminal Illnesses</a:t>
                      </a:r>
                    </a:p>
                    <a:p>
                      <a:pPr algn="r"/>
                      <a:endParaRPr lang="en-US" sz="3200" b="0" dirty="0"/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/>
                        <a:t>Issues in Advancing Illness</a:t>
                      </a:r>
                    </a:p>
                    <a:p>
                      <a:pPr algn="r"/>
                      <a:endParaRPr lang="en-US" sz="3200" b="0" dirty="0"/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/>
                        <a:t>Grief and Processing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79A6E-0488-35E0-8EDB-C331DB91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165F55-BC2B-6473-1B63-F42AC28B9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44" y="497940"/>
            <a:ext cx="7534656" cy="547912"/>
          </a:xfrm>
        </p:spPr>
        <p:txBody>
          <a:bodyPr/>
          <a:lstStyle/>
          <a:p>
            <a:r>
              <a:rPr lang="en-US" dirty="0"/>
              <a:t>Death in Childhood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79521C-E0F0-4EBD-ECBD-1E34FF1FB6B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67897"/>
            <a:ext cx="9180214" cy="4879818"/>
          </a:xfrm>
        </p:spPr>
        <p:txBody>
          <a:bodyPr>
            <a:normAutofit/>
          </a:bodyPr>
          <a:lstStyle/>
          <a:p>
            <a:r>
              <a:rPr lang="en-US" sz="2400" b="1" dirty="0"/>
              <a:t>Infant mortality rate </a:t>
            </a:r>
            <a:r>
              <a:rPr lang="en-US" sz="2400" dirty="0"/>
              <a:t>– the rate of death in children under one year old</a:t>
            </a:r>
          </a:p>
          <a:p>
            <a:pPr lvl="1"/>
            <a:r>
              <a:rPr lang="en-US" sz="2200" dirty="0"/>
              <a:t>Rate in United States (5.6 deaths per 1,000 live births) is higher than in most developed countries (ex: 3.8 deaths per 1,000 live births in the UK, and 2.9 deaths per 1,000 live births in Australia)</a:t>
            </a:r>
          </a:p>
          <a:p>
            <a:pPr lvl="2"/>
            <a:r>
              <a:rPr lang="en-US" sz="2000" dirty="0"/>
              <a:t>This is linked to health care costs, with the highest mortality rates occurring in financially strained homes, with limited education and health care access</a:t>
            </a:r>
          </a:p>
          <a:p>
            <a:r>
              <a:rPr lang="en-US" sz="2400" b="1" dirty="0"/>
              <a:t>Sudden infant death syndrome</a:t>
            </a:r>
            <a:r>
              <a:rPr lang="en-US" sz="2400" dirty="0"/>
              <a:t> – a condition where a child stops breathing during sleep. The cause is still unknown.</a:t>
            </a:r>
          </a:p>
          <a:p>
            <a:r>
              <a:rPr lang="en-US" sz="2400" dirty="0"/>
              <a:t>Causes of death: accidents, cancers (especially Leukemia), and suicide</a:t>
            </a:r>
          </a:p>
          <a:p>
            <a:r>
              <a:rPr lang="en-US" sz="2400" dirty="0"/>
              <a:t>The understanding of the concept of death develops sometime between age 5 and 9 years old, depending on the child</a:t>
            </a:r>
            <a:endParaRPr lang="en-US" sz="2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B598D-76DF-E05B-DEDE-0DF3DBC0E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586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14C00-48E1-48CD-1012-DE98681A5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8" name="Picture 4" descr="A graph depicting suicide rates across age groups. The top is Ages 45-54, followed by 55-64, 35-44, 65+, 25-34, and 15-24, respectively">
            <a:extLst>
              <a:ext uri="{FF2B5EF4-FFF2-40B4-BE49-F238E27FC236}">
                <a16:creationId xmlns:a16="http://schemas.microsoft.com/office/drawing/2014/main" id="{90ED330A-6C79-BD56-6AB4-660E3395E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066" y="523970"/>
            <a:ext cx="7915747" cy="593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1649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06818-4F72-CC55-801F-F71F5687A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D6C4D1-CF02-AA73-D1EC-F069ADDBD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43" y="497940"/>
            <a:ext cx="9723423" cy="547912"/>
          </a:xfrm>
        </p:spPr>
        <p:txBody>
          <a:bodyPr/>
          <a:lstStyle/>
          <a:p>
            <a:r>
              <a:rPr lang="en-US" dirty="0"/>
              <a:t>Death in Adolescent, Young, and Middle Adults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257006-E865-47A6-8588-4101018FE7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67897"/>
            <a:ext cx="9180214" cy="4879818"/>
          </a:xfrm>
        </p:spPr>
        <p:txBody>
          <a:bodyPr>
            <a:normAutofit/>
          </a:bodyPr>
          <a:lstStyle/>
          <a:p>
            <a:r>
              <a:rPr lang="en-US" sz="2400" dirty="0"/>
              <a:t>The leading cause of death in adolescence and young adulthood is unintentional injury (ex: car accidents)</a:t>
            </a:r>
          </a:p>
          <a:p>
            <a:r>
              <a:rPr lang="en-US" sz="2400" dirty="0"/>
              <a:t>For 15-24 year olds, the second leading cause of death is homicide, followed by suicide</a:t>
            </a:r>
          </a:p>
          <a:p>
            <a:r>
              <a:rPr lang="en-US" sz="2400" dirty="0"/>
              <a:t>For 25-34 year olds, the second leading cause of death is suicide, followed by homicide </a:t>
            </a:r>
          </a:p>
          <a:p>
            <a:r>
              <a:rPr lang="en-US" sz="2400" dirty="0"/>
              <a:t>For people in the middle ages (35 to 64 years old), the leading causes of death are unintentional injuries, cancer, and heart disease (though the order varies)</a:t>
            </a:r>
          </a:p>
          <a:p>
            <a:r>
              <a:rPr lang="en-US" sz="2400" b="1" dirty="0"/>
              <a:t>Premature death </a:t>
            </a:r>
            <a:r>
              <a:rPr lang="en-US" sz="2400" dirty="0"/>
              <a:t>– death that occurs before the average age for the population </a:t>
            </a:r>
          </a:p>
          <a:p>
            <a:pPr lvl="1"/>
            <a:r>
              <a:rPr lang="en-US" sz="2200" dirty="0"/>
              <a:t>In the United States, the average age is 78.4 years old </a:t>
            </a: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E1956-0E54-37EB-75C7-AFE91978A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0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7C544-8B29-0DF9-AD65-DB465D49F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050" name="Picture 2" descr="A diagram depicting how telomeres on a chromosome shorten over time">
            <a:extLst>
              <a:ext uri="{FF2B5EF4-FFF2-40B4-BE49-F238E27FC236}">
                <a16:creationId xmlns:a16="http://schemas.microsoft.com/office/drawing/2014/main" id="{D95EF881-5617-8BB9-DA3C-C08769AA98C1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209" y="500912"/>
            <a:ext cx="7927121" cy="589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727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16380-F0EB-AB96-A3BE-B213871C6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AA194A-3CE5-40A0-F8FF-ECE258669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43" y="497940"/>
            <a:ext cx="9723423" cy="547912"/>
          </a:xfrm>
        </p:spPr>
        <p:txBody>
          <a:bodyPr/>
          <a:lstStyle/>
          <a:p>
            <a:r>
              <a:rPr lang="en-US" dirty="0"/>
              <a:t>Death in Older Adults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97A503-82D7-03B3-ADDB-1279C0F7CC8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67897"/>
            <a:ext cx="9180214" cy="4879818"/>
          </a:xfrm>
        </p:spPr>
        <p:txBody>
          <a:bodyPr>
            <a:normAutofit/>
          </a:bodyPr>
          <a:lstStyle/>
          <a:p>
            <a:r>
              <a:rPr lang="en-US" sz="2400" dirty="0"/>
              <a:t>Older adults most often die of degenerative diseases, such as heart disease, cancer, stroke, Alzheimer’s disease, or chronic lower respiratory disease</a:t>
            </a:r>
          </a:p>
          <a:p>
            <a:r>
              <a:rPr lang="en-US" sz="2400" dirty="0"/>
              <a:t>The terminal phase of illnesses are typically shorter for older adults, due to multiple biological competitors for death </a:t>
            </a:r>
          </a:p>
          <a:p>
            <a:r>
              <a:rPr lang="en-US" sz="2400" dirty="0"/>
              <a:t>Women typically live longer than men (average lifespan for a woman is 81 years, as opposed to 76 years)</a:t>
            </a:r>
          </a:p>
          <a:p>
            <a:pPr lvl="1"/>
            <a:r>
              <a:rPr lang="en-US" sz="2200" dirty="0"/>
              <a:t>Proposed reasons include risky behaviors, social support, and biological fitness</a:t>
            </a:r>
          </a:p>
          <a:p>
            <a:r>
              <a:rPr lang="en-US" sz="2400" dirty="0"/>
              <a:t>Lifespan is heavily impacted by health behaviors, such as diet, exercise, and substance use</a:t>
            </a:r>
          </a:p>
          <a:p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9A534-1712-3535-FE5C-4E89CD8EB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232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10049-8764-C09D-DD38-8E52EC047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D97B2C-9ACC-342F-1567-FD796DE2A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457200"/>
            <a:ext cx="10360152" cy="620162"/>
          </a:xfrm>
        </p:spPr>
        <p:txBody>
          <a:bodyPr/>
          <a:lstStyle/>
          <a:p>
            <a:r>
              <a:rPr lang="en-US" dirty="0"/>
              <a:t>Legalities of Terminal Illness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7DC967-13A0-124D-7125-6AEAC9403B1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88063" y="1303699"/>
            <a:ext cx="11054282" cy="5377758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Advanced directive</a:t>
            </a:r>
            <a:r>
              <a:rPr lang="en-US" sz="2400" dirty="0"/>
              <a:t> – a legal document that outlines wishes for future health care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200" b="1" dirty="0"/>
              <a:t>Living will</a:t>
            </a:r>
            <a:r>
              <a:rPr lang="en-US" sz="2200" dirty="0"/>
              <a:t> – a type of advanced directive that dictates end-of-life care instructions (can include a </a:t>
            </a:r>
            <a:r>
              <a:rPr lang="en-US" sz="2200" b="1" dirty="0"/>
              <a:t>Do Not Resuscitate</a:t>
            </a:r>
            <a:r>
              <a:rPr lang="en-US" sz="2200" dirty="0"/>
              <a:t> [DNR] order)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200" b="1" dirty="0"/>
              <a:t>Health care proxy</a:t>
            </a:r>
            <a:r>
              <a:rPr lang="en-US" sz="2200" dirty="0"/>
              <a:t> – an individual chosen to make health care decisions for a person once they are no longer able to decide for themselves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200" b="1" dirty="0"/>
              <a:t>Power of attorney</a:t>
            </a:r>
            <a:r>
              <a:rPr lang="en-US" sz="2200" dirty="0"/>
              <a:t> – a person elected to handle legal, financial, and medical matters once a person is incapacitated or deceased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Hospice care</a:t>
            </a:r>
            <a:r>
              <a:rPr lang="en-US" sz="2400" dirty="0"/>
              <a:t> – end-of-life care provided by healthcare professionals; can be at home or in a facility, such as a nursing home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Home care</a:t>
            </a:r>
            <a:r>
              <a:rPr lang="en-US" sz="2400" dirty="0"/>
              <a:t> – end-of-life care in a patient’s home; often heavily relying on a family member as a caretaker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Curative care</a:t>
            </a:r>
            <a:r>
              <a:rPr lang="en-US" sz="2400" dirty="0"/>
              <a:t> – care designed to treat a patient’s disease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Palliative care</a:t>
            </a:r>
            <a:r>
              <a:rPr lang="en-US" sz="2400" dirty="0"/>
              <a:t> – care designed to make a patient feel comfortable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Includes pain management, psychological guidance, and spiritual care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This form of care can be extremely difficult for hospital staff. There is a balance between emotional burnout and empathy</a:t>
            </a:r>
            <a:endParaRPr lang="en-US" sz="2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Death education</a:t>
            </a:r>
            <a:r>
              <a:rPr lang="en-US" sz="2400" dirty="0"/>
              <a:t> – training on the causes and realities of death, to develop realistic expectations</a:t>
            </a:r>
            <a:endParaRPr lang="en-US" sz="2400" b="1" u="sn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B5C78-6245-25F2-19A7-61973D371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463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E51C-FE19-1C13-678A-CE90EDB7A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EEF394-E9CC-4FD6-6752-D89D9240F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849" y="325925"/>
            <a:ext cx="10360152" cy="914400"/>
          </a:xfrm>
        </p:spPr>
        <p:txBody>
          <a:bodyPr/>
          <a:lstStyle/>
          <a:p>
            <a:r>
              <a:rPr lang="en-US" dirty="0"/>
              <a:t>Issues in Advancing Illness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9C45E9-1775-4238-D852-1B42F90E78B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1490471"/>
            <a:ext cx="11277600" cy="504160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Is there a right to die?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1990 Patient Self-Determination act led to the requirement that Medicare and Medicaid health care facilities allow a DNR order</a:t>
            </a:r>
          </a:p>
          <a:p>
            <a:pPr lvl="2"/>
            <a:r>
              <a:rPr lang="en-US" sz="2200" dirty="0"/>
              <a:t>Concern: These DNRs are not being followed (one study found that physicians did not follow DNR in 1/3 of their patients)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Euthanasia</a:t>
            </a:r>
            <a:r>
              <a:rPr lang="en-US" sz="2400" dirty="0"/>
              <a:t> – the intentional act of a physician administering a lethal dose of a substance to a patient</a:t>
            </a:r>
          </a:p>
          <a:p>
            <a:pPr lvl="2"/>
            <a:r>
              <a:rPr lang="en-US" sz="2200" dirty="0"/>
              <a:t>Illegal in the United States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Physician-assisted death</a:t>
            </a:r>
            <a:r>
              <a:rPr lang="en-US" sz="2400" dirty="0"/>
              <a:t> – when a physician provides a lethal dose of a substance to a patient, and allows them to end their own life</a:t>
            </a:r>
          </a:p>
          <a:p>
            <a:pPr lvl="2"/>
            <a:r>
              <a:rPr lang="en-US" dirty="0"/>
              <a:t>Legal in 11 states and D.C. (17 other states are considering)</a:t>
            </a:r>
          </a:p>
          <a:p>
            <a:pPr lvl="2"/>
            <a:r>
              <a:rPr lang="en-US" dirty="0"/>
              <a:t>Began in Oregon in 1997 with the Death with Dignity Act</a:t>
            </a:r>
          </a:p>
          <a:p>
            <a:pPr lvl="3"/>
            <a:r>
              <a:rPr lang="en-US" sz="1800" dirty="0"/>
              <a:t>Patient must be mentally competent, informed of alternatives, have a terminal illness with less than 6 months to live, must request this option at least three times, and must be consulted with a second physician </a:t>
            </a:r>
          </a:p>
          <a:p>
            <a:pPr lvl="3"/>
            <a:r>
              <a:rPr lang="en-US" sz="1800" dirty="0"/>
              <a:t>Patients most often reported concerns about maintaining autonomy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61A97-5EA3-ECAA-96D6-A4151B7E8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423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D49AA-BF25-D893-3B6A-DFF9C112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2261DE-EF83-C1E0-BD84-65F003523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56970"/>
            <a:ext cx="10360152" cy="597529"/>
          </a:xfrm>
        </p:spPr>
        <p:txBody>
          <a:bodyPr/>
          <a:lstStyle/>
          <a:p>
            <a:r>
              <a:rPr lang="en-US" dirty="0"/>
              <a:t>Grief and Processing</a:t>
            </a:r>
          </a:p>
        </p:txBody>
      </p:sp>
      <p:pic>
        <p:nvPicPr>
          <p:cNvPr id="11" name="Content Placeholder 10" descr="a moving diagram of a blue circle in a box, where the ball randomly hits a red button on the wall. Over time, the size of the ball gets smaller">
            <a:extLst>
              <a:ext uri="{FF2B5EF4-FFF2-40B4-BE49-F238E27FC236}">
                <a16:creationId xmlns:a16="http://schemas.microsoft.com/office/drawing/2014/main" id="{F0CFA831-6A05-E44A-7E1C-9C813AFE4117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6707187" y="1451824"/>
            <a:ext cx="4464789" cy="4464789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65186-6628-E292-10D4-D0C89D45C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Picture 2" descr="a diagram of the Kubler-Ross Five-Stage Theory. Depicts 5 stages: denial, anger, bargaining, depression, and acceptance">
            <a:extLst>
              <a:ext uri="{FF2B5EF4-FFF2-40B4-BE49-F238E27FC236}">
                <a16:creationId xmlns:a16="http://schemas.microsoft.com/office/drawing/2014/main" id="{3B210C39-D9CF-4E28-09E1-CE84D00EFD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76785" y="1455879"/>
            <a:ext cx="6039534" cy="45375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4B090E-2D7F-D924-D2DB-D76FB471BE46}"/>
              </a:ext>
            </a:extLst>
          </p:cNvPr>
          <p:cNvSpPr txBox="1"/>
          <p:nvPr/>
        </p:nvSpPr>
        <p:spPr>
          <a:xfrm>
            <a:off x="624689" y="6147303"/>
            <a:ext cx="4381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Kubler-Ross Five-Stage Theory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27894B-8C3F-DA6F-4F4F-02B382B87655}"/>
              </a:ext>
            </a:extLst>
          </p:cNvPr>
          <p:cNvSpPr txBox="1"/>
          <p:nvPr/>
        </p:nvSpPr>
        <p:spPr>
          <a:xfrm>
            <a:off x="6707187" y="6120081"/>
            <a:ext cx="3550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Ball-in-the-Box Analogy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1695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BBBD74A-9A7D-E58C-3F51-E02DC762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 on PSY 440…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DA13C1D-EA80-4B25-3243-78FB54D7F47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Before Next Class: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Complete today’s journal prompt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Due 4/13 at 11:59 pm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Submit HIP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/>
              <a:t>Due TONIGHT </a:t>
            </a:r>
            <a:r>
              <a:rPr lang="en-US" sz="2400" dirty="0"/>
              <a:t>at 11:59 pm</a:t>
            </a:r>
          </a:p>
          <a:p>
            <a:pPr lvl="1" indent="0">
              <a:buNone/>
            </a:pPr>
            <a:endParaRPr lang="en-US" sz="24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F48A430-B8AF-1DC0-DA44-029337EE894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In Our Next Class: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 activity!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Note: This activity may be emotionally straining. If discussing death is emotionally triggering and may not be comfortable in a public setting, please speak with Dr. S BEFORE Monday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3CE4A-7631-B354-9299-9CA7821E9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9161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{5D393DFC-1BBF-40D3-AD94-4284BE9CF5C4}TF1ed9553b-00c4-4092-846a-c8f7f2908f3beecd942f_win32-8e33096c3cfc</Template>
  <TotalTime>430</TotalTime>
  <Words>981</Words>
  <Application>Microsoft Office PowerPoint</Application>
  <PresentationFormat>Widescreen</PresentationFormat>
  <Paragraphs>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Gill Sans Nova Light</vt:lpstr>
      <vt:lpstr>Sagona Book</vt:lpstr>
      <vt:lpstr>Custom</vt:lpstr>
      <vt:lpstr>Psychological Issues in Death &amp; Dying</vt:lpstr>
      <vt:lpstr>Important Note</vt:lpstr>
      <vt:lpstr>Agenda</vt:lpstr>
      <vt:lpstr>Death in Childhood</vt:lpstr>
      <vt:lpstr>PowerPoint Presentation</vt:lpstr>
      <vt:lpstr>Death in Adolescent, Young, and Middle Adults</vt:lpstr>
      <vt:lpstr>PowerPoint Presentation</vt:lpstr>
      <vt:lpstr>Death in Older Adults</vt:lpstr>
      <vt:lpstr>Legalities of Terminal Illness</vt:lpstr>
      <vt:lpstr>Issues in Advancing Illness</vt:lpstr>
      <vt:lpstr>Grief and Processing</vt:lpstr>
      <vt:lpstr>Next Time on PSY 440…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12 – Psychological Issues in Death &amp; Dying</dc:title>
  <dc:creator>Scheuler, Bryanna</dc:creator>
  <cp:lastModifiedBy>Bryanna Scheuler</cp:lastModifiedBy>
  <cp:revision>12</cp:revision>
  <dcterms:created xsi:type="dcterms:W3CDTF">2025-10-29T06:28:47Z</dcterms:created>
  <dcterms:modified xsi:type="dcterms:W3CDTF">2026-04-10T17:15:05Z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