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1" r:id="rId4"/>
  </p:sldMasterIdLst>
  <p:notesMasterIdLst>
    <p:notesMasterId r:id="rId29"/>
  </p:notesMasterIdLst>
  <p:sldIdLst>
    <p:sldId id="320" r:id="rId5"/>
    <p:sldId id="321" r:id="rId6"/>
    <p:sldId id="322" r:id="rId7"/>
    <p:sldId id="331" r:id="rId8"/>
    <p:sldId id="330" r:id="rId9"/>
    <p:sldId id="332" r:id="rId10"/>
    <p:sldId id="338" r:id="rId11"/>
    <p:sldId id="323" r:id="rId12"/>
    <p:sldId id="324" r:id="rId13"/>
    <p:sldId id="325" r:id="rId14"/>
    <p:sldId id="326" r:id="rId15"/>
    <p:sldId id="327" r:id="rId16"/>
    <p:sldId id="328" r:id="rId17"/>
    <p:sldId id="329" r:id="rId18"/>
    <p:sldId id="339" r:id="rId19"/>
    <p:sldId id="335" r:id="rId20"/>
    <p:sldId id="333" r:id="rId21"/>
    <p:sldId id="334" r:id="rId22"/>
    <p:sldId id="340" r:id="rId23"/>
    <p:sldId id="342" r:id="rId24"/>
    <p:sldId id="343" r:id="rId25"/>
    <p:sldId id="344" r:id="rId26"/>
    <p:sldId id="341" r:id="rId27"/>
    <p:sldId id="336"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8" autoAdjust="0"/>
    <p:restoredTop sz="75768" autoAdjust="0"/>
  </p:normalViewPr>
  <p:slideViewPr>
    <p:cSldViewPr snapToGrid="0">
      <p:cViewPr varScale="1">
        <p:scale>
          <a:sx n="82" d="100"/>
          <a:sy n="82" d="100"/>
        </p:scale>
        <p:origin x="3354" y="84"/>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8B987B-6643-43AA-9B56-509B80CCD0F3}" type="datetimeFigureOut">
              <a:rPr lang="en-US" smtClean="0"/>
              <a:t>2/13/2026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0D42F3-CDD5-4B19-B3DB-7C5223465AF0}" type="slidenum">
              <a:rPr lang="en-US" smtClean="0"/>
              <a:t>‹#›</a:t>
            </a:fld>
            <a:endParaRPr lang="en-US" dirty="0"/>
          </a:p>
        </p:txBody>
      </p:sp>
    </p:spTree>
    <p:extLst>
      <p:ext uri="{BB962C8B-B14F-4D97-AF65-F5344CB8AC3E}">
        <p14:creationId xmlns:p14="http://schemas.microsoft.com/office/powerpoint/2010/main" val="481058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Homeostasis on one end and allostasis on the other</a:t>
            </a:r>
          </a:p>
        </p:txBody>
      </p:sp>
      <p:sp>
        <p:nvSpPr>
          <p:cNvPr id="4" name="Slide Number Placeholder 3"/>
          <p:cNvSpPr>
            <a:spLocks noGrp="1"/>
          </p:cNvSpPr>
          <p:nvPr>
            <p:ph type="sldNum" sz="quarter" idx="5"/>
          </p:nvPr>
        </p:nvSpPr>
        <p:spPr/>
        <p:txBody>
          <a:bodyPr/>
          <a:lstStyle/>
          <a:p>
            <a:fld id="{DC0D42F3-CDD5-4B19-B3DB-7C5223465AF0}" type="slidenum">
              <a:rPr lang="en-US" smtClean="0"/>
              <a:t>3</a:t>
            </a:fld>
            <a:endParaRPr lang="en-US" dirty="0"/>
          </a:p>
        </p:txBody>
      </p:sp>
    </p:spTree>
    <p:extLst>
      <p:ext uri="{BB962C8B-B14F-4D97-AF65-F5344CB8AC3E}">
        <p14:creationId xmlns:p14="http://schemas.microsoft.com/office/powerpoint/2010/main" val="41144493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This would be a good topic to make into a </a:t>
            </a:r>
            <a:r>
              <a:rPr lang="en-US" dirty="0" err="1"/>
              <a:t>venn</a:t>
            </a:r>
            <a:r>
              <a:rPr lang="en-US" dirty="0"/>
              <a:t> diagram or t-chart for study material</a:t>
            </a:r>
          </a:p>
          <a:p>
            <a:r>
              <a:rPr lang="en-US" dirty="0"/>
              <a:t>-acute can actually be a good thing</a:t>
            </a:r>
          </a:p>
        </p:txBody>
      </p:sp>
      <p:sp>
        <p:nvSpPr>
          <p:cNvPr id="4" name="Slide Number Placeholder 3"/>
          <p:cNvSpPr>
            <a:spLocks noGrp="1"/>
          </p:cNvSpPr>
          <p:nvPr>
            <p:ph type="sldNum" sz="quarter" idx="5"/>
          </p:nvPr>
        </p:nvSpPr>
        <p:spPr/>
        <p:txBody>
          <a:bodyPr/>
          <a:lstStyle/>
          <a:p>
            <a:fld id="{DC0D42F3-CDD5-4B19-B3DB-7C5223465AF0}" type="slidenum">
              <a:rPr lang="en-US" smtClean="0"/>
              <a:t>4</a:t>
            </a:fld>
            <a:endParaRPr lang="en-US" dirty="0"/>
          </a:p>
        </p:txBody>
      </p:sp>
    </p:spTree>
    <p:extLst>
      <p:ext uri="{BB962C8B-B14F-4D97-AF65-F5344CB8AC3E}">
        <p14:creationId xmlns:p14="http://schemas.microsoft.com/office/powerpoint/2010/main" val="13057395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Doesn’t address accumulating damage aspect well: is it the exhaustion of physiological resources or their chronic activation that is causing stress?</a:t>
            </a:r>
          </a:p>
        </p:txBody>
      </p:sp>
      <p:sp>
        <p:nvSpPr>
          <p:cNvPr id="4" name="Slide Number Placeholder 3"/>
          <p:cNvSpPr>
            <a:spLocks noGrp="1"/>
          </p:cNvSpPr>
          <p:nvPr>
            <p:ph type="sldNum" sz="quarter" idx="5"/>
          </p:nvPr>
        </p:nvSpPr>
        <p:spPr/>
        <p:txBody>
          <a:bodyPr/>
          <a:lstStyle/>
          <a:p>
            <a:fld id="{DC0D42F3-CDD5-4B19-B3DB-7C5223465AF0}" type="slidenum">
              <a:rPr lang="en-US" smtClean="0"/>
              <a:t>6</a:t>
            </a:fld>
            <a:endParaRPr lang="en-US" dirty="0"/>
          </a:p>
        </p:txBody>
      </p:sp>
    </p:spTree>
    <p:extLst>
      <p:ext uri="{BB962C8B-B14F-4D97-AF65-F5344CB8AC3E}">
        <p14:creationId xmlns:p14="http://schemas.microsoft.com/office/powerpoint/2010/main" val="32304503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a person undergoes stress for an extended period of time, the floodgates in the hypothalamus open, and a hormone known as the corticotropin-releasing factor (CRF) is produced at higher-than usual rates (Dai et al., 2020). CRF then travels through the blood to the pituitary gland, where the adrenocorticotropic hormone (ACTH) is released into the blood stream. ACTH travels to the adrenal cortex. This pathway is known as the hypothalamus-pituitary-adrenal (HPA) axis. While this axis is being almost constantly activated, the adrenal gland is also being stimulated by the sympathetic nervous system (SNS), as the body tries to induce a fight-or-flight response to escape the stress it is experiencing. When the adrenal gland is stimulated, it releases a variety of hormones, including corticosteroids, norepinephrine, adrenaline, and cortisol. In a healthy system, cortisol feeds back to glucocorticoid receptors in the hypothalamus, stopping the release of CRF. Research has found that in situations of chronic stress, the glucocorticoid receptors become desensitized to cortisol, so the hypothalamus continues to release CRF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At the same time, the corticosteroids that are being mass-produced as a result of chronic stress alter the production of cytokines. Reiche et al. (2004) stated that when over-produced during chronic stress, corticosteroids can alter the production of pro-inflammatory cytokines.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reported that these pro-inflammatory cytokines released into the bloodstream can pass through the blood-brain barrier and activate the hypothalamus, further perpetuating the cycle through the HPA axis. This process is illustrated in Figure 2. Being stuck in this cycle can diminish the function of the prefrontal cortex and hippocampus, and lead to a mass production of stress hormones (Dai et al., 2020). </a:t>
            </a:r>
            <a:endParaRPr lang="en-US" dirty="0"/>
          </a:p>
        </p:txBody>
      </p:sp>
      <p:sp>
        <p:nvSpPr>
          <p:cNvPr id="4" name="Slide Number Placeholder 3"/>
          <p:cNvSpPr>
            <a:spLocks noGrp="1"/>
          </p:cNvSpPr>
          <p:nvPr>
            <p:ph type="sldNum" sz="quarter" idx="5"/>
          </p:nvPr>
        </p:nvSpPr>
        <p:spPr/>
        <p:txBody>
          <a:bodyPr/>
          <a:lstStyle/>
          <a:p>
            <a:fld id="{DC0D42F3-CDD5-4B19-B3DB-7C5223465AF0}" type="slidenum">
              <a:rPr lang="en-US" smtClean="0"/>
              <a:t>8</a:t>
            </a:fld>
            <a:endParaRPr lang="en-US" dirty="0"/>
          </a:p>
        </p:txBody>
      </p:sp>
    </p:spTree>
    <p:extLst>
      <p:ext uri="{BB962C8B-B14F-4D97-AF65-F5344CB8AC3E}">
        <p14:creationId xmlns:p14="http://schemas.microsoft.com/office/powerpoint/2010/main" val="15856487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15D4C-066A-1BD0-79D1-DBF450118B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EB4C7C-5C23-CA3B-4764-9655439E4A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8B5326-DAE5-D807-2A0C-1AF651C0097D}"/>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When a person undergoes stress for an extended period of time, the floodgates in the hypothalamus open, and a hormone known as the corticotropin-releasing factor (CRF) is produced at higher-than usual rates (Dai et al., 2020). CRF then travels through the blood to the pituitary gland, where the adrenocorticotropic hormone (ACTH) is released into the blood stream. ACTH travels to the adrenal cortex. This pathway is known as the hypothalamus-pituitary-adrenal (HPA) axis. While this axis is being almost constantly activated, the adrenal gland is also being stimulated by the sympathetic nervous system (SNS), as the body tries to induce a fight-or-flight response to escape the stress it is experiencing. When the adrenal gland is stimulated, it releases a variety of hormones, including corticosteroids, norepinephrine, adrenaline, and cortisol. In a healthy system, cortisol feeds back to glucocorticoid receptors in the hypothalamus, stopping the release of CRF. Research has found that in situations of chronic stress, the glucocorticoid receptors become desensitized to cortisol, so the hypothalamus continues to release CRF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At the same time, the corticosteroids that are being mass-produced as a result of chronic stress alter the production of cytokines. Reiche et al. (2004) stated that when over-produced during chronic stress, corticosteroids can alter the production of pro-inflammatory cytokines.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reported that these pro-inflammatory cytokines released into the bloodstream can pass through the blood-brain barrier and activate the hypothalamus, further perpetuating the cycle through the HPA axis. This process is illustrated in Figure 2. Being stuck in this cycle can diminish the function of the prefrontal cortex and hippocampus, and lead to a mass production of stress hormones (Dai et al., 2020). </a:t>
            </a:r>
            <a:endParaRPr lang="en-US" dirty="0"/>
          </a:p>
        </p:txBody>
      </p:sp>
      <p:sp>
        <p:nvSpPr>
          <p:cNvPr id="4" name="Slide Number Placeholder 3">
            <a:extLst>
              <a:ext uri="{FF2B5EF4-FFF2-40B4-BE49-F238E27FC236}">
                <a16:creationId xmlns:a16="http://schemas.microsoft.com/office/drawing/2014/main" id="{5C4202E7-78F7-B2C2-6E5F-D72BF8009F99}"/>
              </a:ext>
            </a:extLst>
          </p:cNvPr>
          <p:cNvSpPr>
            <a:spLocks noGrp="1"/>
          </p:cNvSpPr>
          <p:nvPr>
            <p:ph type="sldNum" sz="quarter" idx="5"/>
          </p:nvPr>
        </p:nvSpPr>
        <p:spPr/>
        <p:txBody>
          <a:bodyPr/>
          <a:lstStyle/>
          <a:p>
            <a:fld id="{DC0D42F3-CDD5-4B19-B3DB-7C5223465AF0}" type="slidenum">
              <a:rPr lang="en-US" smtClean="0"/>
              <a:t>9</a:t>
            </a:fld>
            <a:endParaRPr lang="en-US" dirty="0"/>
          </a:p>
        </p:txBody>
      </p:sp>
    </p:spTree>
    <p:extLst>
      <p:ext uri="{BB962C8B-B14F-4D97-AF65-F5344CB8AC3E}">
        <p14:creationId xmlns:p14="http://schemas.microsoft.com/office/powerpoint/2010/main" val="16021584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3208F-4DAC-99C8-B09A-0AACB78336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EFA277-E6E2-F2E2-0147-116E589618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6D530A-0927-679A-8C70-63799CC3F6E0}"/>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When a person undergoes stress for an extended period of time, the floodgates in the hypothalamus open, and a hormone known as the corticotropin-releasing factor (CRF) is produced at higher-than usual rates (Dai et al., 2020). CRF then travels through the blood to the pituitary gland, where the adrenocorticotropic hormone (ACTH) is released into the blood stream. ACTH travels to the adrenal cortex. This pathway is known as the hypothalamus-pituitary-adrenal (HPA) axis. While this axis is being almost constantly activated, the adrenal gland is also being stimulated by the sympathetic nervous system (SNS), as the body tries to induce a fight-or-flight response to escape the stress it is experiencing. When the adrenal gland is stimulated, it releases a variety of hormones, including corticosteroids, norepinephrine, adrenaline, and cortisol. In a healthy system, cortisol feeds back to glucocorticoid receptors in the hypothalamus, stopping the release of CRF. Research has found that in situations of chronic stress, the glucocorticoid receptors become desensitized to cortisol, so the hypothalamus continues to release CRF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At the same time, the corticosteroids that are being mass-produced as a result of chronic stress alter the production of cytokines. Reiche et al. (2004) stated that when over-produced during chronic stress, corticosteroids can alter the production of pro-inflammatory cytokines.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reported that these pro-inflammatory cytokines released into the bloodstream can pass through the blood-brain barrier and activate the hypothalamus, further perpetuating the cycle through the HPA axis. This process is illustrated in Figure 2. Being stuck in this cycle can diminish the function of the prefrontal cortex and hippocampus, and lead to a mass production of stress hormones (Dai et al., 2020). </a:t>
            </a:r>
            <a:endParaRPr lang="en-US" dirty="0"/>
          </a:p>
        </p:txBody>
      </p:sp>
      <p:sp>
        <p:nvSpPr>
          <p:cNvPr id="4" name="Slide Number Placeholder 3">
            <a:extLst>
              <a:ext uri="{FF2B5EF4-FFF2-40B4-BE49-F238E27FC236}">
                <a16:creationId xmlns:a16="http://schemas.microsoft.com/office/drawing/2014/main" id="{8D86E835-FF2A-4449-802B-7B6F6ACE2736}"/>
              </a:ext>
            </a:extLst>
          </p:cNvPr>
          <p:cNvSpPr>
            <a:spLocks noGrp="1"/>
          </p:cNvSpPr>
          <p:nvPr>
            <p:ph type="sldNum" sz="quarter" idx="5"/>
          </p:nvPr>
        </p:nvSpPr>
        <p:spPr/>
        <p:txBody>
          <a:bodyPr/>
          <a:lstStyle/>
          <a:p>
            <a:fld id="{DC0D42F3-CDD5-4B19-B3DB-7C5223465AF0}" type="slidenum">
              <a:rPr lang="en-US" smtClean="0"/>
              <a:t>10</a:t>
            </a:fld>
            <a:endParaRPr lang="en-US" dirty="0"/>
          </a:p>
        </p:txBody>
      </p:sp>
    </p:spTree>
    <p:extLst>
      <p:ext uri="{BB962C8B-B14F-4D97-AF65-F5344CB8AC3E}">
        <p14:creationId xmlns:p14="http://schemas.microsoft.com/office/powerpoint/2010/main" val="15838341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41854-4D45-B202-FDD8-DEB27470A4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A12F21-591F-96D9-BCA9-56242AB762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2414D2-D763-AFE7-1B96-69B1C9F9D756}"/>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When a person undergoes stress for an extended period of time, the floodgates in the hypothalamus open, and a hormone known as the corticotropin-releasing factor (CRF) is produced at higher-than usual rates (Dai et al., 2020). CRF then travels through the blood to the pituitary gland, where the adrenocorticotropic hormone (ACTH) is released into the blood stream. ACTH travels to the adrenal cortex. This pathway is known as the hypothalamus-pituitary-adrenal (HPA) axis. While this axis is being almost constantly activated, the adrenal gland is also being stimulated by the sympathetic nervous system (SNS), as the body tries to induce a fight-or-flight response to escape the stress it is experiencing. When the adrenal gland is stimulated, it releases a variety of hormones, including corticosteroids, norepinephrine, adrenaline, and cortisol. In a healthy system, cortisol feeds back to glucocorticoid receptors in the hypothalamus, stopping the release of CRF. Research has found that in situations of chronic stress, the glucocorticoid receptors become desensitized to cortisol, so the hypothalamus continues to release CRF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At the same time, the corticosteroids that are being mass-produced as a result of chronic stress alter the production of cytokines. Reiche et al. (2004) stated that when over-produced during chronic stress, corticosteroids can alter the production of pro-inflammatory cytokines.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reported that these pro-inflammatory cytokines released into the bloodstream can pass through the blood-brain barrier and activate the hypothalamus, further perpetuating the cycle through the HPA axis. This process is illustrated in Figure 2. Being stuck in this cycle can diminish the function of the prefrontal cortex and hippocampus, and lead to a mass production of stress hormones (Dai et al., 2020). </a:t>
            </a:r>
            <a:endParaRPr lang="en-US" dirty="0"/>
          </a:p>
        </p:txBody>
      </p:sp>
      <p:sp>
        <p:nvSpPr>
          <p:cNvPr id="4" name="Slide Number Placeholder 3">
            <a:extLst>
              <a:ext uri="{FF2B5EF4-FFF2-40B4-BE49-F238E27FC236}">
                <a16:creationId xmlns:a16="http://schemas.microsoft.com/office/drawing/2014/main" id="{523557B1-DF58-1BD1-5375-45A87DC43674}"/>
              </a:ext>
            </a:extLst>
          </p:cNvPr>
          <p:cNvSpPr>
            <a:spLocks noGrp="1"/>
          </p:cNvSpPr>
          <p:nvPr>
            <p:ph type="sldNum" sz="quarter" idx="5"/>
          </p:nvPr>
        </p:nvSpPr>
        <p:spPr/>
        <p:txBody>
          <a:bodyPr/>
          <a:lstStyle/>
          <a:p>
            <a:fld id="{DC0D42F3-CDD5-4B19-B3DB-7C5223465AF0}" type="slidenum">
              <a:rPr lang="en-US" smtClean="0"/>
              <a:t>11</a:t>
            </a:fld>
            <a:endParaRPr lang="en-US" dirty="0"/>
          </a:p>
        </p:txBody>
      </p:sp>
    </p:spTree>
    <p:extLst>
      <p:ext uri="{BB962C8B-B14F-4D97-AF65-F5344CB8AC3E}">
        <p14:creationId xmlns:p14="http://schemas.microsoft.com/office/powerpoint/2010/main" val="3501939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CCD30-4A50-15AF-D0E4-3383DD0C3B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601EA9-F943-C773-FA61-AFB3CDD395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4895C7-09C5-6DF7-1433-0376A9029E86}"/>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When a person undergoes stress for an extended period of time, the floodgates in the hypothalamus open, and a hormone known as the corticotropin-releasing factor (CRF) is produced at higher-than usual rates (Dai et al., 2020). CRF then travels through the blood to the pituitary gland, where the adrenocorticotropic hormone (ACTH) is released into the blood stream. ACTH travels to the adrenal cortex. This pathway is known as the hypothalamus-pituitary-adrenal (HPA) axis. While this axis is being almost constantly activated, the adrenal gland is also being stimulated by the sympathetic nervous system (SNS), as the body tries to induce a fight-or-flight response to escape the stress it is experiencing. When the adrenal gland is stimulated, it releases a variety of hormones, including corticosteroids, norepinephrine, adrenaline, and cortisol. In a healthy system, cortisol feeds back to glucocorticoid receptors in the hypothalamus, stopping the release of CRF. Research has found that in situations of chronic stress, the glucocorticoid receptors become desensitized to cortisol, so the hypothalamus continues to release CRF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At the same time, the corticosteroids that are being mass-produced as a result of chronic stress alter the production of cytokines. Reiche et al. (2004) stated that when over-produced during chronic stress, corticosteroids can alter the production of pro-inflammatory cytokines.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reported that these pro-inflammatory cytokines released into the bloodstream can pass through the blood-brain barrier and activate the hypothalamus, further perpetuating the cycle through the HPA axis. This process is illustrated in Figure 2. Being stuck in this cycle can diminish the function of the prefrontal cortex and hippocampus, and lead to a mass production of stress hormones (Dai et al., 2020). </a:t>
            </a:r>
            <a:endParaRPr lang="en-US" dirty="0"/>
          </a:p>
        </p:txBody>
      </p:sp>
      <p:sp>
        <p:nvSpPr>
          <p:cNvPr id="4" name="Slide Number Placeholder 3">
            <a:extLst>
              <a:ext uri="{FF2B5EF4-FFF2-40B4-BE49-F238E27FC236}">
                <a16:creationId xmlns:a16="http://schemas.microsoft.com/office/drawing/2014/main" id="{4EDCC3D8-FD10-FDE6-53F8-72B57896801A}"/>
              </a:ext>
            </a:extLst>
          </p:cNvPr>
          <p:cNvSpPr>
            <a:spLocks noGrp="1"/>
          </p:cNvSpPr>
          <p:nvPr>
            <p:ph type="sldNum" sz="quarter" idx="5"/>
          </p:nvPr>
        </p:nvSpPr>
        <p:spPr/>
        <p:txBody>
          <a:bodyPr/>
          <a:lstStyle/>
          <a:p>
            <a:fld id="{DC0D42F3-CDD5-4B19-B3DB-7C5223465AF0}" type="slidenum">
              <a:rPr lang="en-US" smtClean="0"/>
              <a:t>12</a:t>
            </a:fld>
            <a:endParaRPr lang="en-US" dirty="0"/>
          </a:p>
        </p:txBody>
      </p:sp>
    </p:spTree>
    <p:extLst>
      <p:ext uri="{BB962C8B-B14F-4D97-AF65-F5344CB8AC3E}">
        <p14:creationId xmlns:p14="http://schemas.microsoft.com/office/powerpoint/2010/main" val="34497095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C844E-8391-8EF3-3093-3F0B1EED94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CBB590-8D19-9BB2-46A0-DFCF7CE9FC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C0CBC4-9C4E-2C3B-FA85-78CD4F64FFFA}"/>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When a person undergoes stress for an extended period of time, the floodgates in the hypothalamus open, and a hormone known as the corticotropin-releasing factor (CRF) is produced at higher-than usual rates (Dai et al., 2020). CRF then travels through the blood to the pituitary gland, where the adrenocorticotropic hormone (ACTH) is released into the blood stream. ACTH travels to the adrenal cortex. This pathway is known as the hypothalamus-pituitary-adrenal (HPA) axis. While this axis is being almost constantly activated, the adrenal gland is also being stimulated by the sympathetic nervous system (SNS), as the body tries to induce a fight-or-flight response to escape the stress it is experiencing. When the adrenal gland is stimulated, it releases a variety of hormones, including corticosteroids, norepinephrine, adrenaline, and cortisol. In a healthy system, cortisol feeds back to glucocorticoid receptors in the hypothalamus, stopping the release of CRF. Research has found that in situations of chronic stress, the glucocorticoid receptors become desensitized to cortisol, so the hypothalamus continues to release CRF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At the same time, the corticosteroids that are being mass-produced as a result of chronic stress alter the production of cytokines. Reiche et al. (2004) stated that when over-produced during chronic stress, corticosteroids can alter the production of pro-inflammatory cytokines.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reported that these pro-inflammatory cytokines released into the bloodstream can pass through the blood-brain barrier and activate the hypothalamus, further perpetuating the cycle through the HPA axis. This process is illustrated in Figure 2. Being stuck in this cycle can diminish the function of the prefrontal cortex and hippocampus, and lead to a mass production of stress hormones (Dai et al., 2020). </a:t>
            </a:r>
            <a:endParaRPr lang="en-US" dirty="0"/>
          </a:p>
        </p:txBody>
      </p:sp>
      <p:sp>
        <p:nvSpPr>
          <p:cNvPr id="4" name="Slide Number Placeholder 3">
            <a:extLst>
              <a:ext uri="{FF2B5EF4-FFF2-40B4-BE49-F238E27FC236}">
                <a16:creationId xmlns:a16="http://schemas.microsoft.com/office/drawing/2014/main" id="{EC007307-888E-C21C-B6A9-79EF6015FA4B}"/>
              </a:ext>
            </a:extLst>
          </p:cNvPr>
          <p:cNvSpPr>
            <a:spLocks noGrp="1"/>
          </p:cNvSpPr>
          <p:nvPr>
            <p:ph type="sldNum" sz="quarter" idx="5"/>
          </p:nvPr>
        </p:nvSpPr>
        <p:spPr/>
        <p:txBody>
          <a:bodyPr/>
          <a:lstStyle/>
          <a:p>
            <a:fld id="{DC0D42F3-CDD5-4B19-B3DB-7C5223465AF0}" type="slidenum">
              <a:rPr lang="en-US" smtClean="0"/>
              <a:t>13</a:t>
            </a:fld>
            <a:endParaRPr lang="en-US" dirty="0"/>
          </a:p>
        </p:txBody>
      </p:sp>
    </p:spTree>
    <p:extLst>
      <p:ext uri="{BB962C8B-B14F-4D97-AF65-F5344CB8AC3E}">
        <p14:creationId xmlns:p14="http://schemas.microsoft.com/office/powerpoint/2010/main" val="18852017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E07537-E8B5-93A3-9DE4-87F6F33BA0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B69941-CD0E-59E7-FAF9-305A09044C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F1E4F7-71D6-FD65-F242-40176C700C09}"/>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When a person undergoes stress for an extended period of time, the floodgates in the hypothalamus open, and a hormone known as the corticotropin-releasing factor (CRF) is produced at higher-than usual rates (Dai et al., 2020). CRF then travels through the blood to the pituitary gland, where the adrenocorticotropic hormone (ACTH) is released into the blood stream. ACTH travels to the adrenal cortex. This pathway is known as the hypothalamus-pituitary-adrenal (HPA) axis. While this axis is being almost constantly activated, the adrenal gland is also being stimulated by the sympathetic nervous system (SNS), as the body tries to induce a fight-or-flight response to escape the stress it is experiencing. When the adrenal gland is stimulated, it releases a variety of hormones, including corticosteroids, norepinephrine, adrenaline, and cortisol. In a healthy system, cortisol feeds back to glucocorticoid receptors in the hypothalamus, stopping the release of CRF. Research has found that in situations of chronic stress, the glucocorticoid receptors become desensitized to cortisol, so the hypothalamus continues to release CRF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At the same time, the corticosteroids that are being mass-produced as a result of chronic stress alter the production of cytokines. Reiche et al. (2004) stated that when over-produced during chronic stress, corticosteroids can alter the production of pro-inflammatory cytokines. </a:t>
            </a:r>
            <a:r>
              <a:rPr lang="en-US" sz="1200" kern="1200" dirty="0" err="1">
                <a:solidFill>
                  <a:schemeClr val="tx1"/>
                </a:solidFill>
                <a:effectLst/>
                <a:latin typeface="+mn-lt"/>
                <a:ea typeface="+mn-ea"/>
                <a:cs typeface="+mn-cs"/>
              </a:rPr>
              <a:t>Tausk</a:t>
            </a:r>
            <a:r>
              <a:rPr lang="en-US" sz="1200" kern="1200" dirty="0">
                <a:solidFill>
                  <a:schemeClr val="tx1"/>
                </a:solidFill>
                <a:effectLst/>
                <a:latin typeface="+mn-lt"/>
                <a:ea typeface="+mn-ea"/>
                <a:cs typeface="+mn-cs"/>
              </a:rPr>
              <a:t> (2023) reported that these pro-inflammatory cytokines released into the bloodstream can pass through the blood-brain barrier and activate the hypothalamus, further perpetuating the cycle through the HPA axis. This process is illustrated in Figure 2. Being stuck in this cycle can diminish the function of the prefrontal cortex and hippocampus, and lead to a mass production of stress hormones (Dai et al., 2020). </a:t>
            </a:r>
            <a:endParaRPr lang="en-US" dirty="0"/>
          </a:p>
        </p:txBody>
      </p:sp>
      <p:sp>
        <p:nvSpPr>
          <p:cNvPr id="4" name="Slide Number Placeholder 3">
            <a:extLst>
              <a:ext uri="{FF2B5EF4-FFF2-40B4-BE49-F238E27FC236}">
                <a16:creationId xmlns:a16="http://schemas.microsoft.com/office/drawing/2014/main" id="{A7F49F25-58E0-A059-4110-6EB11B2530E5}"/>
              </a:ext>
            </a:extLst>
          </p:cNvPr>
          <p:cNvSpPr>
            <a:spLocks noGrp="1"/>
          </p:cNvSpPr>
          <p:nvPr>
            <p:ph type="sldNum" sz="quarter" idx="5"/>
          </p:nvPr>
        </p:nvSpPr>
        <p:spPr/>
        <p:txBody>
          <a:bodyPr/>
          <a:lstStyle/>
          <a:p>
            <a:fld id="{DC0D42F3-CDD5-4B19-B3DB-7C5223465AF0}" type="slidenum">
              <a:rPr lang="en-US" smtClean="0"/>
              <a:t>14</a:t>
            </a:fld>
            <a:endParaRPr lang="en-US" dirty="0"/>
          </a:p>
        </p:txBody>
      </p:sp>
    </p:spTree>
    <p:extLst>
      <p:ext uri="{BB962C8B-B14F-4D97-AF65-F5344CB8AC3E}">
        <p14:creationId xmlns:p14="http://schemas.microsoft.com/office/powerpoint/2010/main" val="14373646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C0D42F3-CDD5-4B19-B3DB-7C5223465AF0}" type="slidenum">
              <a:rPr lang="en-US" smtClean="0"/>
              <a:t>19</a:t>
            </a:fld>
            <a:endParaRPr lang="en-US" dirty="0"/>
          </a:p>
        </p:txBody>
      </p:sp>
    </p:spTree>
    <p:extLst>
      <p:ext uri="{BB962C8B-B14F-4D97-AF65-F5344CB8AC3E}">
        <p14:creationId xmlns:p14="http://schemas.microsoft.com/office/powerpoint/2010/main" val="41144493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68069-36E8-DA49-FFDD-67E6852B5F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FC9441-1DE8-B712-FE94-E8DC0578E8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C3A6BC-FA38-86F4-7052-7394473AA6B0}"/>
              </a:ext>
            </a:extLst>
          </p:cNvPr>
          <p:cNvSpPr>
            <a:spLocks noGrp="1"/>
          </p:cNvSpPr>
          <p:nvPr>
            <p:ph type="body" idx="1"/>
          </p:nvPr>
        </p:nvSpPr>
        <p:spPr/>
        <p:txBody>
          <a:bodyPr/>
          <a:lstStyle/>
          <a:p>
            <a:pPr marL="342900" indent="-342900">
              <a:buFont typeface="Arial" panose="020B0604020202020204" pitchFamily="34" charset="0"/>
              <a:buChar char="•"/>
            </a:pPr>
            <a:r>
              <a:rPr lang="en-US" dirty="0"/>
              <a:t>Some items on the life event list are vague.</a:t>
            </a:r>
          </a:p>
          <a:p>
            <a:pPr marL="342900" indent="-342900">
              <a:buFont typeface="Arial" panose="020B0604020202020204" pitchFamily="34" charset="0"/>
              <a:buChar char="•"/>
            </a:pPr>
            <a:r>
              <a:rPr lang="en-US" dirty="0"/>
              <a:t>Individual differences are not considered.</a:t>
            </a:r>
          </a:p>
          <a:p>
            <a:pPr marL="342900" indent="-342900">
              <a:buFont typeface="Arial" panose="020B0604020202020204" pitchFamily="34" charset="0"/>
              <a:buChar char="•"/>
            </a:pPr>
            <a:r>
              <a:rPr lang="en-US" dirty="0"/>
              <a:t>Does not assess whether stressful events have been successfully resolved.</a:t>
            </a:r>
          </a:p>
          <a:p>
            <a:pPr marL="342900" indent="-342900">
              <a:buFont typeface="Arial" panose="020B0604020202020204" pitchFamily="34" charset="0"/>
              <a:buChar char="•"/>
            </a:pPr>
            <a:r>
              <a:rPr lang="en-US" dirty="0"/>
              <a:t>Time between stress and illness does not correlate.</a:t>
            </a:r>
          </a:p>
          <a:p>
            <a:endParaRPr lang="en-US" dirty="0"/>
          </a:p>
        </p:txBody>
      </p:sp>
      <p:sp>
        <p:nvSpPr>
          <p:cNvPr id="4" name="Slide Number Placeholder 3">
            <a:extLst>
              <a:ext uri="{FF2B5EF4-FFF2-40B4-BE49-F238E27FC236}">
                <a16:creationId xmlns:a16="http://schemas.microsoft.com/office/drawing/2014/main" id="{52251232-A4B4-29C9-C57F-0197ADE1A084}"/>
              </a:ext>
            </a:extLst>
          </p:cNvPr>
          <p:cNvSpPr>
            <a:spLocks noGrp="1"/>
          </p:cNvSpPr>
          <p:nvPr>
            <p:ph type="sldNum" sz="quarter" idx="5"/>
          </p:nvPr>
        </p:nvSpPr>
        <p:spPr/>
        <p:txBody>
          <a:bodyPr/>
          <a:lstStyle/>
          <a:p>
            <a:fld id="{DC0D42F3-CDD5-4B19-B3DB-7C5223465AF0}" type="slidenum">
              <a:rPr lang="en-US" smtClean="0"/>
              <a:t>20</a:t>
            </a:fld>
            <a:endParaRPr lang="en-US" dirty="0"/>
          </a:p>
        </p:txBody>
      </p:sp>
    </p:spTree>
    <p:extLst>
      <p:ext uri="{BB962C8B-B14F-4D97-AF65-F5344CB8AC3E}">
        <p14:creationId xmlns:p14="http://schemas.microsoft.com/office/powerpoint/2010/main" val="27581297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E3249-C3BB-C1C8-07A6-1AB451ECA6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A905E2-C420-774F-3C87-7B87BC802B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3EF59E-E32B-2C9B-545F-4EBC87056D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6A1246-745F-F073-9341-5571461A7E3E}"/>
              </a:ext>
            </a:extLst>
          </p:cNvPr>
          <p:cNvSpPr>
            <a:spLocks noGrp="1"/>
          </p:cNvSpPr>
          <p:nvPr>
            <p:ph type="sldNum" sz="quarter" idx="5"/>
          </p:nvPr>
        </p:nvSpPr>
        <p:spPr/>
        <p:txBody>
          <a:bodyPr/>
          <a:lstStyle/>
          <a:p>
            <a:fld id="{DC0D42F3-CDD5-4B19-B3DB-7C5223465AF0}" type="slidenum">
              <a:rPr lang="en-US" smtClean="0"/>
              <a:t>21</a:t>
            </a:fld>
            <a:endParaRPr lang="en-US" dirty="0"/>
          </a:p>
        </p:txBody>
      </p:sp>
    </p:spTree>
    <p:extLst>
      <p:ext uri="{BB962C8B-B14F-4D97-AF65-F5344CB8AC3E}">
        <p14:creationId xmlns:p14="http://schemas.microsoft.com/office/powerpoint/2010/main" val="28228289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14888-5FB3-3D44-E557-4F74AC5806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F075FD-6C1C-BF56-463D-021F6B3549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A16112-03D4-C781-79BF-56027557BE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7729AF-633D-1725-0A96-CFCEE505975F}"/>
              </a:ext>
            </a:extLst>
          </p:cNvPr>
          <p:cNvSpPr>
            <a:spLocks noGrp="1"/>
          </p:cNvSpPr>
          <p:nvPr>
            <p:ph type="sldNum" sz="quarter" idx="5"/>
          </p:nvPr>
        </p:nvSpPr>
        <p:spPr/>
        <p:txBody>
          <a:bodyPr/>
          <a:lstStyle/>
          <a:p>
            <a:fld id="{DC0D42F3-CDD5-4B19-B3DB-7C5223465AF0}" type="slidenum">
              <a:rPr lang="en-US" smtClean="0"/>
              <a:t>22</a:t>
            </a:fld>
            <a:endParaRPr lang="en-US" dirty="0"/>
          </a:p>
        </p:txBody>
      </p:sp>
    </p:spTree>
    <p:extLst>
      <p:ext uri="{BB962C8B-B14F-4D97-AF65-F5344CB8AC3E}">
        <p14:creationId xmlns:p14="http://schemas.microsoft.com/office/powerpoint/2010/main" val="21735412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5E051-CE10-E6FD-B310-A6F4465F79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C6B379-7C7E-3AC0-0E30-6A54F8039D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B9301C-321B-E09B-45AA-1B1DE555DB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E17F04-8C62-A118-279F-52B067C5B16C}"/>
              </a:ext>
            </a:extLst>
          </p:cNvPr>
          <p:cNvSpPr>
            <a:spLocks noGrp="1"/>
          </p:cNvSpPr>
          <p:nvPr>
            <p:ph type="sldNum" sz="quarter" idx="5"/>
          </p:nvPr>
        </p:nvSpPr>
        <p:spPr/>
        <p:txBody>
          <a:bodyPr/>
          <a:lstStyle/>
          <a:p>
            <a:fld id="{DC0D42F3-CDD5-4B19-B3DB-7C5223465AF0}" type="slidenum">
              <a:rPr lang="en-US" smtClean="0"/>
              <a:t>23</a:t>
            </a:fld>
            <a:endParaRPr lang="en-US" dirty="0"/>
          </a:p>
        </p:txBody>
      </p:sp>
    </p:spTree>
    <p:extLst>
      <p:ext uri="{BB962C8B-B14F-4D97-AF65-F5344CB8AC3E}">
        <p14:creationId xmlns:p14="http://schemas.microsoft.com/office/powerpoint/2010/main" val="1099462196"/>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slideMaster" Target="../slideMasters/slideMaster1.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 Id="rId9" Type="http://schemas.openxmlformats.org/officeDocument/2006/relationships/image" Target="../media/image11.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9.svg"/><Relationship Id="rId7" Type="http://schemas.openxmlformats.org/officeDocument/2006/relationships/image" Target="../media/image5.svg"/><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 Id="rId9" Type="http://schemas.openxmlformats.org/officeDocument/2006/relationships/image" Target="../media/image7.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2">
            <a:lumMod val="20000"/>
            <a:lumOff val="80000"/>
          </a:schemeClr>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A87D9900-95AD-EC4F-B7E1-959F0521034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rcRect t="50000"/>
          <a:stretch>
            <a:fillRect/>
          </a:stretch>
        </p:blipFill>
        <p:spPr>
          <a:xfrm>
            <a:off x="999081" y="2"/>
            <a:ext cx="4389120" cy="2194559"/>
          </a:xfrm>
          <a:custGeom>
            <a:avLst/>
            <a:gdLst>
              <a:gd name="connsiteX0" fmla="*/ 0 w 4389120"/>
              <a:gd name="connsiteY0" fmla="*/ 0 h 2194559"/>
              <a:gd name="connsiteX1" fmla="*/ 4389120 w 4389120"/>
              <a:gd name="connsiteY1" fmla="*/ 0 h 2194559"/>
              <a:gd name="connsiteX2" fmla="*/ 4389120 w 4389120"/>
              <a:gd name="connsiteY2" fmla="*/ 2194559 h 2194559"/>
              <a:gd name="connsiteX3" fmla="*/ 0 w 4389120"/>
              <a:gd name="connsiteY3" fmla="*/ 2194559 h 2194559"/>
            </a:gdLst>
            <a:ahLst/>
            <a:cxnLst>
              <a:cxn ang="0">
                <a:pos x="connsiteX0" y="connsiteY0"/>
              </a:cxn>
              <a:cxn ang="0">
                <a:pos x="connsiteX1" y="connsiteY1"/>
              </a:cxn>
              <a:cxn ang="0">
                <a:pos x="connsiteX2" y="connsiteY2"/>
              </a:cxn>
              <a:cxn ang="0">
                <a:pos x="connsiteX3" y="connsiteY3"/>
              </a:cxn>
            </a:cxnLst>
            <a:rect l="l" t="t" r="r" b="b"/>
            <a:pathLst>
              <a:path w="4389120" h="2194559">
                <a:moveTo>
                  <a:pt x="0" y="0"/>
                </a:moveTo>
                <a:lnTo>
                  <a:pt x="4389120" y="0"/>
                </a:lnTo>
                <a:lnTo>
                  <a:pt x="4389120" y="2194559"/>
                </a:lnTo>
                <a:lnTo>
                  <a:pt x="0" y="2194559"/>
                </a:lnTo>
                <a:close/>
              </a:path>
            </a:pathLst>
          </a:custGeom>
        </p:spPr>
      </p:pic>
      <p:pic>
        <p:nvPicPr>
          <p:cNvPr id="6" name="Graphic 5">
            <a:extLst>
              <a:ext uri="{FF2B5EF4-FFF2-40B4-BE49-F238E27FC236}">
                <a16:creationId xmlns:a16="http://schemas.microsoft.com/office/drawing/2014/main" id="{F600C6AD-400C-F5F8-0A07-09147BFB8CE7}"/>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rcRect l="27924"/>
          <a:stretch>
            <a:fillRect/>
          </a:stretch>
        </p:blipFill>
        <p:spPr>
          <a:xfrm>
            <a:off x="0" y="191268"/>
            <a:ext cx="2916372" cy="4389120"/>
          </a:xfrm>
          <a:custGeom>
            <a:avLst/>
            <a:gdLst>
              <a:gd name="connsiteX0" fmla="*/ 0 w 2916372"/>
              <a:gd name="connsiteY0" fmla="*/ 0 h 4389120"/>
              <a:gd name="connsiteX1" fmla="*/ 2916372 w 2916372"/>
              <a:gd name="connsiteY1" fmla="*/ 0 h 4389120"/>
              <a:gd name="connsiteX2" fmla="*/ 2916372 w 2916372"/>
              <a:gd name="connsiteY2" fmla="*/ 4389120 h 4389120"/>
              <a:gd name="connsiteX3" fmla="*/ 0 w 2916372"/>
              <a:gd name="connsiteY3" fmla="*/ 4389120 h 4389120"/>
            </a:gdLst>
            <a:ahLst/>
            <a:cxnLst>
              <a:cxn ang="0">
                <a:pos x="connsiteX0" y="connsiteY0"/>
              </a:cxn>
              <a:cxn ang="0">
                <a:pos x="connsiteX1" y="connsiteY1"/>
              </a:cxn>
              <a:cxn ang="0">
                <a:pos x="connsiteX2" y="connsiteY2"/>
              </a:cxn>
              <a:cxn ang="0">
                <a:pos x="connsiteX3" y="connsiteY3"/>
              </a:cxn>
            </a:cxnLst>
            <a:rect l="l" t="t" r="r" b="b"/>
            <a:pathLst>
              <a:path w="2916372" h="4389120">
                <a:moveTo>
                  <a:pt x="0" y="0"/>
                </a:moveTo>
                <a:lnTo>
                  <a:pt x="2916372" y="0"/>
                </a:lnTo>
                <a:lnTo>
                  <a:pt x="2916372" y="4389120"/>
                </a:lnTo>
                <a:lnTo>
                  <a:pt x="0" y="4389120"/>
                </a:lnTo>
                <a:close/>
              </a:path>
            </a:pathLst>
          </a:custGeom>
        </p:spPr>
      </p:pic>
      <p:pic>
        <p:nvPicPr>
          <p:cNvPr id="7" name="Graphic 6">
            <a:extLst>
              <a:ext uri="{FF2B5EF4-FFF2-40B4-BE49-F238E27FC236}">
                <a16:creationId xmlns:a16="http://schemas.microsoft.com/office/drawing/2014/main" id="{3301EBB8-0583-30D5-D5C9-6064F992C3A0}"/>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rcRect l="12529" b="23302"/>
          <a:stretch>
            <a:fillRect/>
          </a:stretch>
        </p:blipFill>
        <p:spPr>
          <a:xfrm>
            <a:off x="0" y="3632200"/>
            <a:ext cx="3839210" cy="3261166"/>
          </a:xfrm>
          <a:custGeom>
            <a:avLst/>
            <a:gdLst>
              <a:gd name="connsiteX0" fmla="*/ 0 w 3839210"/>
              <a:gd name="connsiteY0" fmla="*/ 0 h 3261166"/>
              <a:gd name="connsiteX1" fmla="*/ 3839210 w 3839210"/>
              <a:gd name="connsiteY1" fmla="*/ 0 h 3261166"/>
              <a:gd name="connsiteX2" fmla="*/ 3839210 w 3839210"/>
              <a:gd name="connsiteY2" fmla="*/ 3261166 h 3261166"/>
              <a:gd name="connsiteX3" fmla="*/ 0 w 3839210"/>
              <a:gd name="connsiteY3" fmla="*/ 3261166 h 3261166"/>
            </a:gdLst>
            <a:ahLst/>
            <a:cxnLst>
              <a:cxn ang="0">
                <a:pos x="connsiteX0" y="connsiteY0"/>
              </a:cxn>
              <a:cxn ang="0">
                <a:pos x="connsiteX1" y="connsiteY1"/>
              </a:cxn>
              <a:cxn ang="0">
                <a:pos x="connsiteX2" y="connsiteY2"/>
              </a:cxn>
              <a:cxn ang="0">
                <a:pos x="connsiteX3" y="connsiteY3"/>
              </a:cxn>
            </a:cxnLst>
            <a:rect l="l" t="t" r="r" b="b"/>
            <a:pathLst>
              <a:path w="3839210" h="3261166">
                <a:moveTo>
                  <a:pt x="0" y="0"/>
                </a:moveTo>
                <a:lnTo>
                  <a:pt x="3839210" y="0"/>
                </a:lnTo>
                <a:lnTo>
                  <a:pt x="3839210" y="3261166"/>
                </a:lnTo>
                <a:lnTo>
                  <a:pt x="0" y="3261166"/>
                </a:lnTo>
                <a:close/>
              </a:path>
            </a:pathLst>
          </a:custGeom>
        </p:spPr>
      </p:pic>
      <p:pic>
        <p:nvPicPr>
          <p:cNvPr id="9" name="Graphic 8">
            <a:extLst>
              <a:ext uri="{FF2B5EF4-FFF2-40B4-BE49-F238E27FC236}">
                <a16:creationId xmlns:a16="http://schemas.microsoft.com/office/drawing/2014/main" id="{4E425898-E19E-D66B-9FE6-55FE52BAB781}"/>
              </a:ext>
              <a:ext uri="{C183D7F6-B498-43B3-948B-1728B52AA6E4}">
                <adec:decorative xmlns:adec="http://schemas.microsoft.com/office/drawing/2017/decorative" val="1"/>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1441049" y="602835"/>
            <a:ext cx="202311" cy="219456"/>
          </a:xfrm>
          <a:prstGeom prst="rect">
            <a:avLst/>
          </a:prstGeom>
        </p:spPr>
      </p:pic>
      <p:sp>
        <p:nvSpPr>
          <p:cNvPr id="2" name="Title 1">
            <a:extLst>
              <a:ext uri="{FF2B5EF4-FFF2-40B4-BE49-F238E27FC236}">
                <a16:creationId xmlns:a16="http://schemas.microsoft.com/office/drawing/2014/main" id="{5E5783E0-630B-D6BD-1914-F6A39C57307F}"/>
              </a:ext>
            </a:extLst>
          </p:cNvPr>
          <p:cNvSpPr>
            <a:spLocks noGrp="1"/>
          </p:cNvSpPr>
          <p:nvPr>
            <p:ph type="title" hasCustomPrompt="1"/>
          </p:nvPr>
        </p:nvSpPr>
        <p:spPr>
          <a:xfrm>
            <a:off x="3330801" y="1140460"/>
            <a:ext cx="8001256" cy="5166360"/>
          </a:xfrm>
        </p:spPr>
        <p:txBody>
          <a:bodyPr anchor="ctr"/>
          <a:lstStyle>
            <a:lvl1pPr>
              <a:lnSpc>
                <a:spcPct val="75000"/>
              </a:lnSpc>
              <a:spcBef>
                <a:spcPts val="600"/>
              </a:spcBef>
              <a:spcAft>
                <a:spcPts val="1200"/>
              </a:spcAft>
              <a:defRPr sz="7200" baseline="0"/>
            </a:lvl1pPr>
          </a:lstStyle>
          <a:p>
            <a:r>
              <a:rPr lang="en-US" dirty="0"/>
              <a:t>Click to add title</a:t>
            </a:r>
          </a:p>
        </p:txBody>
      </p:sp>
    </p:spTree>
    <p:extLst>
      <p:ext uri="{BB962C8B-B14F-4D97-AF65-F5344CB8AC3E}">
        <p14:creationId xmlns:p14="http://schemas.microsoft.com/office/powerpoint/2010/main" val="381095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5011113" cy="5048974"/>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6370317" y="1091885"/>
            <a:ext cx="5130734" cy="5048973"/>
          </a:xfrm>
        </p:spPr>
        <p:txBody>
          <a:bodyPr>
            <a:normAutofit/>
          </a:bodyPr>
          <a:lstStyle>
            <a:lvl1pPr marL="457200" indent="-457200">
              <a:lnSpc>
                <a:spcPct val="90000"/>
              </a:lnSpc>
              <a:spcBef>
                <a:spcPts val="600"/>
              </a:spcBef>
              <a:spcAft>
                <a:spcPts val="1200"/>
              </a:spcAft>
              <a:buClr>
                <a:schemeClr val="bg1"/>
              </a:buClr>
              <a:buFont typeface="+mj-lt"/>
              <a:buAutoNum type="arabicPeriod"/>
              <a:defRPr sz="2800" b="0"/>
            </a:lvl1pPr>
            <a:lvl2pPr marL="800100" indent="-342900">
              <a:lnSpc>
                <a:spcPct val="90000"/>
              </a:lnSpc>
              <a:spcBef>
                <a:spcPts val="600"/>
              </a:spcBef>
              <a:spcAft>
                <a:spcPts val="1200"/>
              </a:spcAft>
              <a:buClr>
                <a:schemeClr val="bg1"/>
              </a:buClr>
              <a:buFont typeface="+mj-lt"/>
              <a:buAutoNum type="arabicPeriod"/>
              <a:defRPr sz="2400" b="0"/>
            </a:lvl2pPr>
            <a:lvl3pPr marL="1257300" indent="-342900">
              <a:lnSpc>
                <a:spcPct val="90000"/>
              </a:lnSpc>
              <a:spcBef>
                <a:spcPts val="600"/>
              </a:spcBef>
              <a:spcAft>
                <a:spcPts val="1200"/>
              </a:spcAft>
              <a:buClr>
                <a:schemeClr val="bg1"/>
              </a:buClr>
              <a:buFont typeface="+mj-lt"/>
              <a:buAutoNum type="arabicPeriod"/>
              <a:defRPr sz="2000" b="0"/>
            </a:lvl3pPr>
            <a:lvl4pPr marL="1714500" indent="-342900">
              <a:lnSpc>
                <a:spcPct val="90000"/>
              </a:lnSpc>
              <a:spcBef>
                <a:spcPts val="600"/>
              </a:spcBef>
              <a:spcAft>
                <a:spcPts val="1200"/>
              </a:spcAft>
              <a:buClr>
                <a:schemeClr val="bg1"/>
              </a:buClr>
              <a:buFont typeface="+mj-lt"/>
              <a:buAutoNum type="arabicPeriod"/>
              <a:defRPr sz="1800" b="0"/>
            </a:lvl4pPr>
            <a:lvl5pPr marL="2057400" indent="-228600">
              <a:lnSpc>
                <a:spcPct val="90000"/>
              </a:lnSpc>
              <a:spcBef>
                <a:spcPts val="600"/>
              </a:spcBef>
              <a:spcAft>
                <a:spcPts val="1200"/>
              </a:spcAft>
              <a:buClr>
                <a:schemeClr val="bg1"/>
              </a:buClr>
              <a:buFont typeface="+mj-lt"/>
              <a:buAutoNum type="arabicPeriod"/>
              <a:defRPr sz="16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4012310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Intro">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7472374" cy="1913892"/>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566723" y="3152220"/>
            <a:ext cx="6977077" cy="3264017"/>
          </a:xfrm>
        </p:spPr>
        <p:txBody>
          <a:bodyPr>
            <a:normAutofit/>
          </a:bodyPr>
          <a:lstStyle>
            <a:lvl1pPr marL="0" indent="0">
              <a:lnSpc>
                <a:spcPct val="90000"/>
              </a:lnSpc>
              <a:spcBef>
                <a:spcPts val="600"/>
              </a:spcBef>
              <a:spcAft>
                <a:spcPts val="1200"/>
              </a:spcAft>
              <a:buClr>
                <a:schemeClr val="bg1"/>
              </a:buClr>
              <a:buFont typeface="+mj-lt"/>
              <a:buNone/>
              <a:defRPr sz="2800" b="0"/>
            </a:lvl1pPr>
            <a:lvl2pPr marL="457200" indent="0">
              <a:lnSpc>
                <a:spcPct val="90000"/>
              </a:lnSpc>
              <a:spcBef>
                <a:spcPts val="600"/>
              </a:spcBef>
              <a:spcAft>
                <a:spcPts val="1200"/>
              </a:spcAft>
              <a:buClr>
                <a:schemeClr val="bg1"/>
              </a:buClr>
              <a:buFont typeface="+mj-lt"/>
              <a:buNone/>
              <a:defRPr sz="2400" b="0"/>
            </a:lvl2pPr>
            <a:lvl3pPr marL="914400" indent="0">
              <a:lnSpc>
                <a:spcPct val="90000"/>
              </a:lnSpc>
              <a:spcBef>
                <a:spcPts val="600"/>
              </a:spcBef>
              <a:spcAft>
                <a:spcPts val="1200"/>
              </a:spcAft>
              <a:buClr>
                <a:schemeClr val="bg1"/>
              </a:buClr>
              <a:buFont typeface="+mj-lt"/>
              <a:buNone/>
              <a:defRPr sz="2000" b="0"/>
            </a:lvl3pPr>
            <a:lvl4pPr marL="1371600" indent="0">
              <a:lnSpc>
                <a:spcPct val="90000"/>
              </a:lnSpc>
              <a:spcBef>
                <a:spcPts val="600"/>
              </a:spcBef>
              <a:spcAft>
                <a:spcPts val="1200"/>
              </a:spcAft>
              <a:buClr>
                <a:schemeClr val="bg1"/>
              </a:buClr>
              <a:buFont typeface="+mj-lt"/>
              <a:buNone/>
              <a:defRPr sz="1800" b="0"/>
            </a:lvl4pPr>
            <a:lvl5pPr marL="1828800" indent="0">
              <a:lnSpc>
                <a:spcPct val="90000"/>
              </a:lnSpc>
              <a:spcBef>
                <a:spcPts val="600"/>
              </a:spcBef>
              <a:spcAft>
                <a:spcPts val="1200"/>
              </a:spcAft>
              <a:buClr>
                <a:schemeClr val="bg1"/>
              </a:buClr>
              <a:buFont typeface="+mj-lt"/>
              <a:buNone/>
              <a:defRPr sz="16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441049" y="602835"/>
            <a:ext cx="202311" cy="219456"/>
          </a:xfrm>
          <a:prstGeom prst="rect">
            <a:avLst/>
          </a:prstGeom>
        </p:spPr>
      </p:pic>
      <p:sp>
        <p:nvSpPr>
          <p:cNvPr id="5" name="Picture Placeholder 4">
            <a:extLst>
              <a:ext uri="{FF2B5EF4-FFF2-40B4-BE49-F238E27FC236}">
                <a16:creationId xmlns:a16="http://schemas.microsoft.com/office/drawing/2014/main" id="{7CD50F62-7F43-2FBB-55E3-23F629397003}"/>
              </a:ext>
            </a:extLst>
          </p:cNvPr>
          <p:cNvSpPr>
            <a:spLocks noGrp="1"/>
          </p:cNvSpPr>
          <p:nvPr>
            <p:ph type="pic" sz="quarter" idx="11"/>
          </p:nvPr>
        </p:nvSpPr>
        <p:spPr>
          <a:xfrm>
            <a:off x="8039100" y="1096963"/>
            <a:ext cx="4152900" cy="5761037"/>
          </a:xfrm>
        </p:spPr>
        <p:txBody>
          <a:bodyPr/>
          <a:lstStyle>
            <a:lvl1pPr algn="ctr">
              <a:defRPr/>
            </a:lvl1pPr>
          </a:lstStyle>
          <a:p>
            <a:r>
              <a:rPr lang="en-US"/>
              <a:t>Click icon to add picture</a:t>
            </a:r>
            <a:endParaRPr lang="en-US" dirty="0"/>
          </a:p>
        </p:txBody>
      </p:sp>
    </p:spTree>
    <p:extLst>
      <p:ext uri="{BB962C8B-B14F-4D97-AF65-F5344CB8AC3E}">
        <p14:creationId xmlns:p14="http://schemas.microsoft.com/office/powerpoint/2010/main" val="1434648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Title">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318A9A4E-F149-44F8-9FAE-8ABA2BD261FF}"/>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rcRect t="50000"/>
          <a:stretch>
            <a:fillRect/>
          </a:stretch>
        </p:blipFill>
        <p:spPr>
          <a:xfrm flipV="1">
            <a:off x="1881504" y="4663441"/>
            <a:ext cx="4389120" cy="2194559"/>
          </a:xfrm>
          <a:custGeom>
            <a:avLst/>
            <a:gdLst>
              <a:gd name="connsiteX0" fmla="*/ 0 w 4389120"/>
              <a:gd name="connsiteY0" fmla="*/ 0 h 2194559"/>
              <a:gd name="connsiteX1" fmla="*/ 4389120 w 4389120"/>
              <a:gd name="connsiteY1" fmla="*/ 0 h 2194559"/>
              <a:gd name="connsiteX2" fmla="*/ 4389120 w 4389120"/>
              <a:gd name="connsiteY2" fmla="*/ 2194559 h 2194559"/>
              <a:gd name="connsiteX3" fmla="*/ 0 w 4389120"/>
              <a:gd name="connsiteY3" fmla="*/ 2194559 h 2194559"/>
            </a:gdLst>
            <a:ahLst/>
            <a:cxnLst>
              <a:cxn ang="0">
                <a:pos x="connsiteX0" y="connsiteY0"/>
              </a:cxn>
              <a:cxn ang="0">
                <a:pos x="connsiteX1" y="connsiteY1"/>
              </a:cxn>
              <a:cxn ang="0">
                <a:pos x="connsiteX2" y="connsiteY2"/>
              </a:cxn>
              <a:cxn ang="0">
                <a:pos x="connsiteX3" y="connsiteY3"/>
              </a:cxn>
            </a:cxnLst>
            <a:rect l="l" t="t" r="r" b="b"/>
            <a:pathLst>
              <a:path w="4389120" h="2194559">
                <a:moveTo>
                  <a:pt x="0" y="0"/>
                </a:moveTo>
                <a:lnTo>
                  <a:pt x="4389120" y="0"/>
                </a:lnTo>
                <a:lnTo>
                  <a:pt x="4389120" y="2194559"/>
                </a:lnTo>
                <a:lnTo>
                  <a:pt x="0" y="2194559"/>
                </a:lnTo>
                <a:close/>
              </a:path>
            </a:pathLst>
          </a:custGeom>
        </p:spPr>
      </p:pic>
      <p:pic>
        <p:nvPicPr>
          <p:cNvPr id="10" name="Graphic 9">
            <a:extLst>
              <a:ext uri="{FF2B5EF4-FFF2-40B4-BE49-F238E27FC236}">
                <a16:creationId xmlns:a16="http://schemas.microsoft.com/office/drawing/2014/main" id="{444170C3-9FB6-324B-DD88-972B181F50E9}"/>
              </a:ext>
              <a:ext uri="{C183D7F6-B498-43B3-948B-1728B52AA6E4}">
                <adec:decorative xmlns:adec="http://schemas.microsoft.com/office/drawing/2017/decorative" val="1"/>
              </a:ext>
            </a:extLst>
          </p:cNvPr>
          <p:cNvPicPr>
            <a:picLocks noChangeAspect="1"/>
          </p:cNvPicPr>
          <p:nvPr userDrawn="1"/>
        </p:nvPicPr>
        <p:blipFill rotWithShape="1">
          <a:blip r:embed="rId4">
            <a:extLst>
              <a:ext uri="{96DAC541-7B7A-43D3-8B79-37D633B846F1}">
                <asvg:svgBlip xmlns:asvg="http://schemas.microsoft.com/office/drawing/2016/SVG/main" r:embed="rId5"/>
              </a:ext>
            </a:extLst>
          </a:blip>
          <a:srcRect l="49956" r="-1"/>
          <a:stretch/>
        </p:blipFill>
        <p:spPr>
          <a:xfrm flipH="1">
            <a:off x="10185174" y="1234440"/>
            <a:ext cx="2024907" cy="4389120"/>
          </a:xfrm>
          <a:custGeom>
            <a:avLst/>
            <a:gdLst>
              <a:gd name="connsiteX0" fmla="*/ 0 w 2916372"/>
              <a:gd name="connsiteY0" fmla="*/ 0 h 4389120"/>
              <a:gd name="connsiteX1" fmla="*/ 2916372 w 2916372"/>
              <a:gd name="connsiteY1" fmla="*/ 0 h 4389120"/>
              <a:gd name="connsiteX2" fmla="*/ 2916372 w 2916372"/>
              <a:gd name="connsiteY2" fmla="*/ 4389120 h 4389120"/>
              <a:gd name="connsiteX3" fmla="*/ 0 w 2916372"/>
              <a:gd name="connsiteY3" fmla="*/ 4389120 h 4389120"/>
            </a:gdLst>
            <a:ahLst/>
            <a:cxnLst>
              <a:cxn ang="0">
                <a:pos x="connsiteX0" y="connsiteY0"/>
              </a:cxn>
              <a:cxn ang="0">
                <a:pos x="connsiteX1" y="connsiteY1"/>
              </a:cxn>
              <a:cxn ang="0">
                <a:pos x="connsiteX2" y="connsiteY2"/>
              </a:cxn>
              <a:cxn ang="0">
                <a:pos x="connsiteX3" y="connsiteY3"/>
              </a:cxn>
            </a:cxnLst>
            <a:rect l="l" t="t" r="r" b="b"/>
            <a:pathLst>
              <a:path w="2916372" h="4389120">
                <a:moveTo>
                  <a:pt x="0" y="0"/>
                </a:moveTo>
                <a:lnTo>
                  <a:pt x="2916372" y="0"/>
                </a:lnTo>
                <a:lnTo>
                  <a:pt x="2916372" y="4389120"/>
                </a:lnTo>
                <a:lnTo>
                  <a:pt x="0" y="4389120"/>
                </a:lnTo>
                <a:close/>
              </a:path>
            </a:pathLst>
          </a:custGeom>
        </p:spPr>
      </p:pic>
      <p:pic>
        <p:nvPicPr>
          <p:cNvPr id="11" name="Graphic 10">
            <a:extLst>
              <a:ext uri="{FF2B5EF4-FFF2-40B4-BE49-F238E27FC236}">
                <a16:creationId xmlns:a16="http://schemas.microsoft.com/office/drawing/2014/main" id="{91091CD0-1D83-5BBE-A26C-2D7EAF85896F}"/>
              </a:ext>
              <a:ext uri="{C183D7F6-B498-43B3-948B-1728B52AA6E4}">
                <adec:decorative xmlns:adec="http://schemas.microsoft.com/office/drawing/2017/decorative" val="1"/>
              </a:ext>
            </a:extLst>
          </p:cNvPr>
          <p:cNvPicPr>
            <a:picLocks noChangeAspect="1"/>
          </p:cNvPicPr>
          <p:nvPr userDrawn="1"/>
        </p:nvPicPr>
        <p:blipFill rotWithShape="1">
          <a:blip r:embed="rId6">
            <a:extLst>
              <a:ext uri="{96DAC541-7B7A-43D3-8B79-37D633B846F1}">
                <asvg:svgBlip xmlns:asvg="http://schemas.microsoft.com/office/drawing/2016/SVG/main" r:embed="rId7"/>
              </a:ext>
            </a:extLst>
          </a:blip>
          <a:srcRect l="12529" t="-1" b="51667"/>
          <a:stretch/>
        </p:blipFill>
        <p:spPr>
          <a:xfrm flipV="1">
            <a:off x="0" y="-1"/>
            <a:ext cx="3839210" cy="2055127"/>
          </a:xfrm>
          <a:custGeom>
            <a:avLst/>
            <a:gdLst>
              <a:gd name="connsiteX0" fmla="*/ 0 w 3839210"/>
              <a:gd name="connsiteY0" fmla="*/ 0 h 3261166"/>
              <a:gd name="connsiteX1" fmla="*/ 3839210 w 3839210"/>
              <a:gd name="connsiteY1" fmla="*/ 0 h 3261166"/>
              <a:gd name="connsiteX2" fmla="*/ 3839210 w 3839210"/>
              <a:gd name="connsiteY2" fmla="*/ 3261166 h 3261166"/>
              <a:gd name="connsiteX3" fmla="*/ 0 w 3839210"/>
              <a:gd name="connsiteY3" fmla="*/ 3261166 h 3261166"/>
            </a:gdLst>
            <a:ahLst/>
            <a:cxnLst>
              <a:cxn ang="0">
                <a:pos x="connsiteX0" y="connsiteY0"/>
              </a:cxn>
              <a:cxn ang="0">
                <a:pos x="connsiteX1" y="connsiteY1"/>
              </a:cxn>
              <a:cxn ang="0">
                <a:pos x="connsiteX2" y="connsiteY2"/>
              </a:cxn>
              <a:cxn ang="0">
                <a:pos x="connsiteX3" y="connsiteY3"/>
              </a:cxn>
            </a:cxnLst>
            <a:rect l="l" t="t" r="r" b="b"/>
            <a:pathLst>
              <a:path w="3839210" h="3261166">
                <a:moveTo>
                  <a:pt x="0" y="0"/>
                </a:moveTo>
                <a:lnTo>
                  <a:pt x="3839210" y="0"/>
                </a:lnTo>
                <a:lnTo>
                  <a:pt x="3839210" y="3261166"/>
                </a:lnTo>
                <a:lnTo>
                  <a:pt x="0" y="3261166"/>
                </a:lnTo>
                <a:close/>
              </a:path>
            </a:pathLst>
          </a:custGeom>
        </p:spPr>
      </p:pic>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5" y="1097237"/>
            <a:ext cx="11076631" cy="2885630"/>
          </a:xfrm>
        </p:spPr>
        <p:txBody>
          <a:bodyPr lIns="0" rIns="0"/>
          <a:lstStyle>
            <a:lvl1pPr>
              <a:defRPr sz="7200" spc="-150" baseline="0"/>
            </a:lvl1pPr>
          </a:lstStyle>
          <a:p>
            <a:r>
              <a:rPr lang="en-US" dirty="0"/>
              <a:t>Click to add title</a:t>
            </a:r>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4305300" y="4059067"/>
            <a:ext cx="7338056" cy="2692254"/>
          </a:xfrm>
        </p:spPr>
        <p:txBody>
          <a:bodyPr>
            <a:normAutofit/>
          </a:bodyPr>
          <a:lstStyle>
            <a:lvl1pPr marL="0" indent="0">
              <a:lnSpc>
                <a:spcPct val="100000"/>
              </a:lnSpc>
              <a:spcBef>
                <a:spcPts val="1000"/>
              </a:spcBef>
              <a:spcAft>
                <a:spcPts val="600"/>
              </a:spcAft>
              <a:buClr>
                <a:schemeClr val="bg1"/>
              </a:buClr>
              <a:buFont typeface="+mj-lt"/>
              <a:buNone/>
              <a:defRPr sz="2800" b="0"/>
            </a:lvl1pPr>
            <a:lvl2pPr marL="457200" indent="0">
              <a:lnSpc>
                <a:spcPct val="100000"/>
              </a:lnSpc>
              <a:spcBef>
                <a:spcPts val="1000"/>
              </a:spcBef>
              <a:spcAft>
                <a:spcPts val="600"/>
              </a:spcAft>
              <a:buClr>
                <a:schemeClr val="bg1"/>
              </a:buClr>
              <a:buFont typeface="+mj-lt"/>
              <a:buNone/>
              <a:defRPr sz="2400" b="0"/>
            </a:lvl2pPr>
            <a:lvl3pPr marL="914400" indent="0">
              <a:lnSpc>
                <a:spcPct val="100000"/>
              </a:lnSpc>
              <a:spcBef>
                <a:spcPts val="1000"/>
              </a:spcBef>
              <a:spcAft>
                <a:spcPts val="600"/>
              </a:spcAft>
              <a:buClr>
                <a:schemeClr val="bg1"/>
              </a:buClr>
              <a:buFont typeface="+mj-lt"/>
              <a:buNone/>
              <a:defRPr sz="2000" b="0"/>
            </a:lvl3pPr>
            <a:lvl4pPr marL="1371600" indent="0">
              <a:lnSpc>
                <a:spcPct val="100000"/>
              </a:lnSpc>
              <a:spcBef>
                <a:spcPts val="1000"/>
              </a:spcBef>
              <a:spcAft>
                <a:spcPts val="600"/>
              </a:spcAft>
              <a:buClr>
                <a:schemeClr val="bg1"/>
              </a:buClr>
              <a:buFont typeface="+mj-lt"/>
              <a:buNone/>
              <a:defRPr sz="1800" b="0"/>
            </a:lvl4pPr>
            <a:lvl5pPr marL="1828800" indent="0">
              <a:lnSpc>
                <a:spcPct val="100000"/>
              </a:lnSpc>
              <a:spcBef>
                <a:spcPts val="1000"/>
              </a:spcBef>
              <a:spcAft>
                <a:spcPts val="600"/>
              </a:spcAft>
              <a:buClr>
                <a:schemeClr val="bg1"/>
              </a:buClr>
              <a:buFont typeface="+mj-lt"/>
              <a:buNone/>
              <a:defRPr sz="16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r:embed="rId8">
            <a:extLst>
              <a:ext uri="{96DAC541-7B7A-43D3-8B79-37D633B846F1}">
                <asvg:svgBlip xmlns:asvg="http://schemas.microsoft.com/office/drawing/2016/SVG/main" r:embed="rId9"/>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37451562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 Content 1">
    <p:bg>
      <p:bgPr>
        <a:solidFill>
          <a:schemeClr val="accent2">
            <a:lumMod val="20000"/>
            <a:lumOff val="80000"/>
          </a:schemeClr>
        </a:solidFill>
        <a:effectLst/>
      </p:bgPr>
    </p:bg>
    <p:spTree>
      <p:nvGrpSpPr>
        <p:cNvPr id="1" name=""/>
        <p:cNvGrpSpPr/>
        <p:nvPr/>
      </p:nvGrpSpPr>
      <p:grpSpPr>
        <a:xfrm>
          <a:off x="0" y="0"/>
          <a:ext cx="0" cy="0"/>
          <a:chOff x="0" y="0"/>
          <a:chExt cx="0" cy="0"/>
        </a:xfrm>
      </p:grpSpPr>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441049" y="602835"/>
            <a:ext cx="202311" cy="219456"/>
          </a:xfrm>
          <a:prstGeom prst="rect">
            <a:avLst/>
          </a:prstGeom>
        </p:spPr>
      </p:pic>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5011113" cy="5048974"/>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6370316" y="1091885"/>
            <a:ext cx="5273043" cy="5056747"/>
          </a:xfrm>
        </p:spPr>
        <p:txBody>
          <a:bodyPr>
            <a:normAutofit/>
          </a:bodyPr>
          <a:lstStyle>
            <a:lvl1pPr marL="347472" indent="-347472">
              <a:lnSpc>
                <a:spcPct val="100000"/>
              </a:lnSpc>
              <a:spcBef>
                <a:spcPts val="600"/>
              </a:spcBef>
              <a:spcAft>
                <a:spcPts val="1200"/>
              </a:spcAft>
              <a:buClr>
                <a:schemeClr val="bg1"/>
              </a:buClr>
              <a:buFont typeface="Arial" panose="020B0604020202020204" pitchFamily="34" charset="0"/>
              <a:buChar char="•"/>
              <a:defRPr sz="2800" b="0"/>
            </a:lvl1pPr>
            <a:lvl2pPr marL="800100" indent="-342900">
              <a:lnSpc>
                <a:spcPct val="100000"/>
              </a:lnSpc>
              <a:spcBef>
                <a:spcPts val="600"/>
              </a:spcBef>
              <a:spcAft>
                <a:spcPts val="1200"/>
              </a:spcAft>
              <a:buClr>
                <a:schemeClr val="bg1"/>
              </a:buClr>
              <a:buFont typeface="Arial" panose="020B0604020202020204" pitchFamily="34" charset="0"/>
              <a:buChar char="•"/>
              <a:defRPr sz="2400" b="0"/>
            </a:lvl2pPr>
            <a:lvl3pPr marL="1257300" indent="-342900">
              <a:lnSpc>
                <a:spcPct val="100000"/>
              </a:lnSpc>
              <a:spcBef>
                <a:spcPts val="600"/>
              </a:spcBef>
              <a:spcAft>
                <a:spcPts val="1200"/>
              </a:spcAft>
              <a:buClr>
                <a:schemeClr val="bg1"/>
              </a:buClr>
              <a:buFont typeface="Arial" panose="020B0604020202020204" pitchFamily="34" charset="0"/>
              <a:buChar char="•"/>
              <a:defRPr sz="2000" b="0"/>
            </a:lvl3pPr>
            <a:lvl4pPr marL="1714500" indent="-342900">
              <a:lnSpc>
                <a:spcPct val="100000"/>
              </a:lnSpc>
              <a:spcBef>
                <a:spcPts val="600"/>
              </a:spcBef>
              <a:spcAft>
                <a:spcPts val="1200"/>
              </a:spcAft>
              <a:buClr>
                <a:schemeClr val="bg1"/>
              </a:buClr>
              <a:buFont typeface="Arial" panose="020B0604020202020204" pitchFamily="34" charset="0"/>
              <a:buChar char="•"/>
              <a:defRPr sz="1800" b="0"/>
            </a:lvl4pPr>
            <a:lvl5pPr marL="2114550" indent="-285750">
              <a:lnSpc>
                <a:spcPct val="100000"/>
              </a:lnSpc>
              <a:spcBef>
                <a:spcPts val="600"/>
              </a:spcBef>
              <a:spcAft>
                <a:spcPts val="1200"/>
              </a:spcAft>
              <a:buClr>
                <a:schemeClr val="bg1"/>
              </a:buClr>
              <a:buFont typeface="Arial" panose="020B0604020202020204" pitchFamily="34" charset="0"/>
              <a:buChar char="•"/>
              <a:defRPr sz="16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631103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Title 2">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658165" y="3870960"/>
            <a:ext cx="11533835" cy="2941320"/>
          </a:xfrm>
        </p:spPr>
        <p:txBody>
          <a:bodyPr lIns="0" tIns="0" rIns="0" bIns="0" anchor="ctr"/>
          <a:lstStyle>
            <a:lvl1pPr>
              <a:lnSpc>
                <a:spcPct val="75000"/>
              </a:lnSpc>
              <a:spcBef>
                <a:spcPts val="1000"/>
              </a:spcBef>
              <a:spcAft>
                <a:spcPts val="600"/>
              </a:spcAft>
              <a:defRPr sz="7200" spc="0" baseline="0"/>
            </a:lvl1pPr>
          </a:lstStyle>
          <a:p>
            <a:r>
              <a:rPr lang="en-US" dirty="0"/>
              <a:t>Click to add title</a:t>
            </a:r>
          </a:p>
        </p:txBody>
      </p:sp>
      <p:sp>
        <p:nvSpPr>
          <p:cNvPr id="5" name="Picture Placeholder 4">
            <a:extLst>
              <a:ext uri="{FF2B5EF4-FFF2-40B4-BE49-F238E27FC236}">
                <a16:creationId xmlns:a16="http://schemas.microsoft.com/office/drawing/2014/main" id="{7C506222-0BCA-9701-399C-0CF92FA23167}"/>
              </a:ext>
            </a:extLst>
          </p:cNvPr>
          <p:cNvSpPr>
            <a:spLocks noGrp="1"/>
          </p:cNvSpPr>
          <p:nvPr>
            <p:ph type="pic" sz="quarter" idx="10"/>
          </p:nvPr>
        </p:nvSpPr>
        <p:spPr>
          <a:xfrm>
            <a:off x="0" y="0"/>
            <a:ext cx="11112500" cy="3771900"/>
          </a:xfrm>
        </p:spPr>
        <p:txBody>
          <a:bodyPr/>
          <a:lstStyle>
            <a:lvl1pPr algn="ctr">
              <a:defRPr/>
            </a:lvl1pPr>
          </a:lstStyle>
          <a:p>
            <a:r>
              <a:rPr lang="en-US"/>
              <a:t>Click icon to add picture</a:t>
            </a:r>
            <a:endParaRPr lang="en-US" dirty="0"/>
          </a:p>
        </p:txBody>
      </p: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2945698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Picture + Content">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5" name="Picture Placeholder 4">
            <a:extLst>
              <a:ext uri="{FF2B5EF4-FFF2-40B4-BE49-F238E27FC236}">
                <a16:creationId xmlns:a16="http://schemas.microsoft.com/office/drawing/2014/main" id="{1F0DABCC-5F7F-4B44-B780-46F5D46079D2}"/>
              </a:ext>
            </a:extLst>
          </p:cNvPr>
          <p:cNvSpPr>
            <a:spLocks noGrp="1"/>
          </p:cNvSpPr>
          <p:nvPr>
            <p:ph type="pic" sz="quarter" idx="11"/>
          </p:nvPr>
        </p:nvSpPr>
        <p:spPr>
          <a:xfrm>
            <a:off x="0" y="2433638"/>
            <a:ext cx="5821363" cy="3967162"/>
          </a:xfrm>
        </p:spPr>
        <p:txBody>
          <a:bodyPr/>
          <a:lstStyle>
            <a:lvl1pPr algn="ctr">
              <a:defRPr/>
            </a:lvl1pPr>
          </a:lstStyle>
          <a:p>
            <a:r>
              <a:rPr lang="en-US"/>
              <a:t>Click icon to add picture</a:t>
            </a:r>
            <a:endParaRPr lang="en-US" dirty="0"/>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6357926" y="2433005"/>
            <a:ext cx="5303523" cy="3967795"/>
          </a:xfrm>
        </p:spPr>
        <p:txBody>
          <a:bodyPr>
            <a:normAutofit/>
          </a:bodyPr>
          <a:lstStyle>
            <a:lvl1pPr marL="347472" indent="-347472">
              <a:lnSpc>
                <a:spcPct val="100000"/>
              </a:lnSpc>
              <a:spcBef>
                <a:spcPts val="600"/>
              </a:spcBef>
              <a:spcAft>
                <a:spcPts val="1200"/>
              </a:spcAft>
              <a:buClr>
                <a:schemeClr val="bg1"/>
              </a:buClr>
              <a:buFont typeface="Arial" panose="020B0604020202020204" pitchFamily="34" charset="0"/>
              <a:buChar char="•"/>
              <a:defRPr sz="2000" b="0"/>
            </a:lvl1pPr>
            <a:lvl2pPr marL="800100" indent="-342900">
              <a:lnSpc>
                <a:spcPct val="100000"/>
              </a:lnSpc>
              <a:spcBef>
                <a:spcPts val="600"/>
              </a:spcBef>
              <a:spcAft>
                <a:spcPts val="1200"/>
              </a:spcAft>
              <a:buClr>
                <a:schemeClr val="bg1"/>
              </a:buClr>
              <a:buFont typeface="Arial" panose="020B0604020202020204" pitchFamily="34" charset="0"/>
              <a:buChar char="•"/>
              <a:defRPr sz="1800" b="0"/>
            </a:lvl2pPr>
            <a:lvl3pPr marL="1257300" indent="-342900">
              <a:lnSpc>
                <a:spcPct val="100000"/>
              </a:lnSpc>
              <a:spcBef>
                <a:spcPts val="600"/>
              </a:spcBef>
              <a:spcAft>
                <a:spcPts val="1200"/>
              </a:spcAft>
              <a:buClr>
                <a:schemeClr val="bg1"/>
              </a:buClr>
              <a:buFont typeface="Arial" panose="020B0604020202020204" pitchFamily="34" charset="0"/>
              <a:buChar char="•"/>
              <a:defRPr sz="1600" b="0"/>
            </a:lvl3pPr>
            <a:lvl4pPr marL="1714500" indent="-342900">
              <a:lnSpc>
                <a:spcPct val="100000"/>
              </a:lnSpc>
              <a:spcBef>
                <a:spcPts val="600"/>
              </a:spcBef>
              <a:spcAft>
                <a:spcPts val="1200"/>
              </a:spcAft>
              <a:buClr>
                <a:schemeClr val="bg1"/>
              </a:buClr>
              <a:buFont typeface="Arial" panose="020B0604020202020204" pitchFamily="34" charset="0"/>
              <a:buChar char="•"/>
              <a:defRPr sz="1400" b="0"/>
            </a:lvl4pPr>
            <a:lvl5pPr marL="2114550" indent="-285750">
              <a:lnSpc>
                <a:spcPct val="100000"/>
              </a:lnSpc>
              <a:spcBef>
                <a:spcPts val="600"/>
              </a:spcBef>
              <a:spcAft>
                <a:spcPts val="1200"/>
              </a:spcAft>
              <a:buClr>
                <a:schemeClr val="bg1"/>
              </a:buClr>
              <a:buFont typeface="Arial" panose="020B0604020202020204" pitchFamily="34" charset="0"/>
              <a:buChar char="•"/>
              <a:defRPr sz="12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10571146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mparison">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4" name="Content Placeholder 13">
            <a:extLst>
              <a:ext uri="{FF2B5EF4-FFF2-40B4-BE49-F238E27FC236}">
                <a16:creationId xmlns:a16="http://schemas.microsoft.com/office/drawing/2014/main" id="{C631A2C5-44A9-8EF8-E747-353DD34AB2E7}"/>
              </a:ext>
            </a:extLst>
          </p:cNvPr>
          <p:cNvSpPr>
            <a:spLocks noGrp="1"/>
          </p:cNvSpPr>
          <p:nvPr>
            <p:ph sz="quarter" idx="11" hasCustomPrompt="1"/>
          </p:nvPr>
        </p:nvSpPr>
        <p:spPr>
          <a:xfrm>
            <a:off x="566726" y="2392441"/>
            <a:ext cx="5303523" cy="3967795"/>
          </a:xfrm>
        </p:spPr>
        <p:txBody>
          <a:bodyPr>
            <a:normAutofit/>
          </a:bodyPr>
          <a:lstStyle>
            <a:lvl1pPr marL="347472" indent="-347472">
              <a:lnSpc>
                <a:spcPct val="90000"/>
              </a:lnSpc>
              <a:spcBef>
                <a:spcPts val="600"/>
              </a:spcBef>
              <a:spcAft>
                <a:spcPts val="1200"/>
              </a:spcAft>
              <a:buClr>
                <a:schemeClr val="bg1"/>
              </a:buClr>
              <a:buFont typeface="Arial" panose="020B0604020202020204" pitchFamily="34" charset="0"/>
              <a:buChar char="•"/>
              <a:defRPr sz="2000" b="0"/>
            </a:lvl1pPr>
            <a:lvl2pPr marL="800100" indent="-342900">
              <a:lnSpc>
                <a:spcPct val="90000"/>
              </a:lnSpc>
              <a:spcBef>
                <a:spcPts val="600"/>
              </a:spcBef>
              <a:spcAft>
                <a:spcPts val="1200"/>
              </a:spcAft>
              <a:buClr>
                <a:schemeClr val="bg1"/>
              </a:buClr>
              <a:buFont typeface="Arial" panose="020B0604020202020204" pitchFamily="34" charset="0"/>
              <a:buChar char="•"/>
              <a:defRPr sz="1800" b="0"/>
            </a:lvl2pPr>
            <a:lvl3pPr marL="1257300" indent="-342900">
              <a:lnSpc>
                <a:spcPct val="90000"/>
              </a:lnSpc>
              <a:spcBef>
                <a:spcPts val="600"/>
              </a:spcBef>
              <a:spcAft>
                <a:spcPts val="1200"/>
              </a:spcAft>
              <a:buClr>
                <a:schemeClr val="bg1"/>
              </a:buClr>
              <a:buFont typeface="Arial" panose="020B0604020202020204" pitchFamily="34" charset="0"/>
              <a:buChar char="•"/>
              <a:defRPr sz="1600" b="0"/>
            </a:lvl3pPr>
            <a:lvl4pPr marL="1714500" indent="-342900">
              <a:lnSpc>
                <a:spcPct val="90000"/>
              </a:lnSpc>
              <a:spcBef>
                <a:spcPts val="600"/>
              </a:spcBef>
              <a:spcAft>
                <a:spcPts val="1200"/>
              </a:spcAft>
              <a:buClr>
                <a:schemeClr val="bg1"/>
              </a:buClr>
              <a:buFont typeface="Arial" panose="020B0604020202020204" pitchFamily="34" charset="0"/>
              <a:buChar char="•"/>
              <a:defRPr sz="1400" b="0"/>
            </a:lvl4pPr>
            <a:lvl5pPr marL="2114550" indent="-285750">
              <a:lnSpc>
                <a:spcPct val="90000"/>
              </a:lnSpc>
              <a:spcBef>
                <a:spcPts val="600"/>
              </a:spcBef>
              <a:spcAft>
                <a:spcPts val="1200"/>
              </a:spcAft>
              <a:buClr>
                <a:schemeClr val="bg1"/>
              </a:buClr>
              <a:buFont typeface="Arial" panose="020B0604020202020204" pitchFamily="34" charset="0"/>
              <a:buChar char="•"/>
              <a:defRPr sz="12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6367472" y="2392441"/>
            <a:ext cx="5303523" cy="3967795"/>
          </a:xfrm>
        </p:spPr>
        <p:txBody>
          <a:bodyPr>
            <a:normAutofit/>
          </a:bodyPr>
          <a:lstStyle>
            <a:lvl1pPr marL="0" indent="0">
              <a:lnSpc>
                <a:spcPct val="90000"/>
              </a:lnSpc>
              <a:spcBef>
                <a:spcPts val="600"/>
              </a:spcBef>
              <a:spcAft>
                <a:spcPts val="1200"/>
              </a:spcAft>
              <a:buClr>
                <a:schemeClr val="bg1"/>
              </a:buClr>
              <a:buFont typeface="Arial" panose="020B0604020202020204" pitchFamily="34" charset="0"/>
              <a:buNone/>
              <a:defRPr sz="2000" b="0"/>
            </a:lvl1pPr>
            <a:lvl2pPr marL="347472" indent="-342900">
              <a:lnSpc>
                <a:spcPct val="90000"/>
              </a:lnSpc>
              <a:spcBef>
                <a:spcPts val="600"/>
              </a:spcBef>
              <a:spcAft>
                <a:spcPts val="1200"/>
              </a:spcAft>
              <a:buClr>
                <a:schemeClr val="bg1"/>
              </a:buClr>
              <a:buFont typeface="Arial" panose="020B0604020202020204" pitchFamily="34" charset="0"/>
              <a:buChar char="•"/>
              <a:defRPr sz="2000" b="0"/>
            </a:lvl2pPr>
            <a:lvl3pPr marL="713232" indent="-342900">
              <a:lnSpc>
                <a:spcPct val="90000"/>
              </a:lnSpc>
              <a:spcBef>
                <a:spcPts val="600"/>
              </a:spcBef>
              <a:spcAft>
                <a:spcPts val="1200"/>
              </a:spcAft>
              <a:buClr>
                <a:schemeClr val="bg1"/>
              </a:buClr>
              <a:buFont typeface="Arial" panose="020B0604020202020204" pitchFamily="34" charset="0"/>
              <a:buChar char="•"/>
              <a:defRPr sz="2000" b="0"/>
            </a:lvl3pPr>
            <a:lvl4pPr marL="1078992" indent="-342900">
              <a:lnSpc>
                <a:spcPct val="90000"/>
              </a:lnSpc>
              <a:spcBef>
                <a:spcPts val="600"/>
              </a:spcBef>
              <a:spcAft>
                <a:spcPts val="1200"/>
              </a:spcAft>
              <a:buClr>
                <a:schemeClr val="bg1"/>
              </a:buClr>
              <a:buFont typeface="Arial" panose="020B0604020202020204" pitchFamily="34" charset="0"/>
              <a:buChar char="•"/>
              <a:defRPr sz="2000" b="0"/>
            </a:lvl4pPr>
            <a:lvl5pPr marL="1837944" indent="-285750">
              <a:lnSpc>
                <a:spcPct val="90000"/>
              </a:lnSpc>
              <a:spcBef>
                <a:spcPts val="600"/>
              </a:spcBef>
              <a:spcAft>
                <a:spcPts val="1200"/>
              </a:spcAft>
              <a:buClr>
                <a:schemeClr val="bg1"/>
              </a:buClr>
              <a:buFont typeface="Arial" panose="020B0604020202020204" pitchFamily="34" charset="0"/>
              <a:buChar char="•"/>
              <a:defRPr sz="20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30295451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wo Content 1">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4" name="Content Placeholder 13">
            <a:extLst>
              <a:ext uri="{FF2B5EF4-FFF2-40B4-BE49-F238E27FC236}">
                <a16:creationId xmlns:a16="http://schemas.microsoft.com/office/drawing/2014/main" id="{C631A2C5-44A9-8EF8-E747-353DD34AB2E7}"/>
              </a:ext>
            </a:extLst>
          </p:cNvPr>
          <p:cNvSpPr>
            <a:spLocks noGrp="1"/>
          </p:cNvSpPr>
          <p:nvPr>
            <p:ph sz="quarter" idx="11" hasCustomPrompt="1"/>
          </p:nvPr>
        </p:nvSpPr>
        <p:spPr>
          <a:xfrm>
            <a:off x="551487" y="2392441"/>
            <a:ext cx="3456633" cy="3967795"/>
          </a:xfrm>
        </p:spPr>
        <p:txBody>
          <a:bodyPr>
            <a:normAutofit/>
          </a:bodyPr>
          <a:lstStyle>
            <a:lvl1pPr marL="347472" indent="-347472">
              <a:lnSpc>
                <a:spcPct val="120000"/>
              </a:lnSpc>
              <a:spcBef>
                <a:spcPts val="1000"/>
              </a:spcBef>
              <a:spcAft>
                <a:spcPts val="600"/>
              </a:spcAft>
              <a:buClr>
                <a:schemeClr val="bg1"/>
              </a:buClr>
              <a:buFont typeface="Arial" panose="020B0604020202020204" pitchFamily="34" charset="0"/>
              <a:buChar char="•"/>
              <a:defRPr sz="2000" b="0"/>
            </a:lvl1pPr>
            <a:lvl2pPr marL="800100" indent="-342900">
              <a:lnSpc>
                <a:spcPct val="120000"/>
              </a:lnSpc>
              <a:spcBef>
                <a:spcPts val="1000"/>
              </a:spcBef>
              <a:spcAft>
                <a:spcPts val="600"/>
              </a:spcAft>
              <a:buClr>
                <a:schemeClr val="bg1"/>
              </a:buClr>
              <a:buFont typeface="Arial" panose="020B0604020202020204" pitchFamily="34" charset="0"/>
              <a:buChar char="•"/>
              <a:defRPr sz="1800" b="0"/>
            </a:lvl2pPr>
            <a:lvl3pPr marL="1257300" indent="-342900">
              <a:lnSpc>
                <a:spcPct val="120000"/>
              </a:lnSpc>
              <a:spcBef>
                <a:spcPts val="1000"/>
              </a:spcBef>
              <a:spcAft>
                <a:spcPts val="600"/>
              </a:spcAft>
              <a:buClr>
                <a:schemeClr val="bg1"/>
              </a:buClr>
              <a:buFont typeface="Arial" panose="020B0604020202020204" pitchFamily="34" charset="0"/>
              <a:buChar char="•"/>
              <a:defRPr sz="1600" b="0"/>
            </a:lvl3pPr>
            <a:lvl4pPr marL="1714500" indent="-342900">
              <a:lnSpc>
                <a:spcPct val="120000"/>
              </a:lnSpc>
              <a:spcBef>
                <a:spcPts val="1000"/>
              </a:spcBef>
              <a:spcAft>
                <a:spcPts val="600"/>
              </a:spcAft>
              <a:buClr>
                <a:schemeClr val="bg1"/>
              </a:buClr>
              <a:buFont typeface="Arial" panose="020B0604020202020204" pitchFamily="34" charset="0"/>
              <a:buChar char="•"/>
              <a:defRPr sz="1400" b="0"/>
            </a:lvl4pPr>
            <a:lvl5pPr marL="2114550" indent="-285750">
              <a:lnSpc>
                <a:spcPct val="120000"/>
              </a:lnSpc>
              <a:spcBef>
                <a:spcPts val="1000"/>
              </a:spcBef>
              <a:spcAft>
                <a:spcPts val="600"/>
              </a:spcAft>
              <a:buClr>
                <a:schemeClr val="bg1"/>
              </a:buClr>
              <a:buFont typeface="Arial" panose="020B0604020202020204" pitchFamily="34" charset="0"/>
              <a:buChar char="•"/>
              <a:defRPr sz="12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4701538" y="2392441"/>
            <a:ext cx="6969458" cy="3967795"/>
          </a:xfrm>
        </p:spPr>
        <p:txBody>
          <a:bodyPr>
            <a:normAutofit/>
          </a:bodyPr>
          <a:lstStyle>
            <a:lvl1pPr marL="0" indent="0">
              <a:lnSpc>
                <a:spcPct val="90000"/>
              </a:lnSpc>
              <a:spcBef>
                <a:spcPts val="600"/>
              </a:spcBef>
              <a:spcAft>
                <a:spcPts val="1200"/>
              </a:spcAft>
              <a:buClr>
                <a:schemeClr val="bg1"/>
              </a:buClr>
              <a:buFont typeface="Arial" panose="020B0604020202020204" pitchFamily="34" charset="0"/>
              <a:buNone/>
              <a:defRPr sz="2000" b="0"/>
            </a:lvl1pPr>
            <a:lvl2pPr marL="347472" indent="-342900">
              <a:lnSpc>
                <a:spcPct val="90000"/>
              </a:lnSpc>
              <a:spcBef>
                <a:spcPts val="600"/>
              </a:spcBef>
              <a:spcAft>
                <a:spcPts val="1200"/>
              </a:spcAft>
              <a:buClr>
                <a:schemeClr val="bg1"/>
              </a:buClr>
              <a:buFont typeface="Arial" panose="020B0604020202020204" pitchFamily="34" charset="0"/>
              <a:buChar char="•"/>
              <a:defRPr sz="2000" b="0"/>
            </a:lvl2pPr>
            <a:lvl3pPr marL="713232" indent="-342900">
              <a:lnSpc>
                <a:spcPct val="90000"/>
              </a:lnSpc>
              <a:spcBef>
                <a:spcPts val="600"/>
              </a:spcBef>
              <a:spcAft>
                <a:spcPts val="1200"/>
              </a:spcAft>
              <a:buClr>
                <a:schemeClr val="bg1"/>
              </a:buClr>
              <a:buFont typeface="Arial" panose="020B0604020202020204" pitchFamily="34" charset="0"/>
              <a:buChar char="•"/>
              <a:defRPr sz="2000" b="0"/>
            </a:lvl3pPr>
            <a:lvl4pPr marL="1078992" indent="-342900">
              <a:lnSpc>
                <a:spcPct val="90000"/>
              </a:lnSpc>
              <a:spcBef>
                <a:spcPts val="600"/>
              </a:spcBef>
              <a:spcAft>
                <a:spcPts val="1200"/>
              </a:spcAft>
              <a:buClr>
                <a:schemeClr val="bg1"/>
              </a:buClr>
              <a:buFont typeface="Arial" panose="020B0604020202020204" pitchFamily="34" charset="0"/>
              <a:buChar char="•"/>
              <a:defRPr sz="2000" b="0"/>
            </a:lvl4pPr>
            <a:lvl5pPr marL="1837944" indent="-285750">
              <a:lnSpc>
                <a:spcPct val="90000"/>
              </a:lnSpc>
              <a:spcBef>
                <a:spcPts val="600"/>
              </a:spcBef>
              <a:spcAft>
                <a:spcPts val="1200"/>
              </a:spcAft>
              <a:buClr>
                <a:schemeClr val="bg1"/>
              </a:buClr>
              <a:buFont typeface="Arial" panose="020B0604020202020204" pitchFamily="34" charset="0"/>
              <a:buChar char="•"/>
              <a:defRPr sz="20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7652275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ntent + Table">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4" name="Content Placeholder 13">
            <a:extLst>
              <a:ext uri="{FF2B5EF4-FFF2-40B4-BE49-F238E27FC236}">
                <a16:creationId xmlns:a16="http://schemas.microsoft.com/office/drawing/2014/main" id="{C631A2C5-44A9-8EF8-E747-353DD34AB2E7}"/>
              </a:ext>
            </a:extLst>
          </p:cNvPr>
          <p:cNvSpPr>
            <a:spLocks noGrp="1"/>
          </p:cNvSpPr>
          <p:nvPr>
            <p:ph sz="quarter" idx="11" hasCustomPrompt="1"/>
          </p:nvPr>
        </p:nvSpPr>
        <p:spPr>
          <a:xfrm>
            <a:off x="594358" y="2417765"/>
            <a:ext cx="6680202" cy="3967795"/>
          </a:xfrm>
        </p:spPr>
        <p:txBody>
          <a:bodyPr lIns="45720">
            <a:normAutofit/>
          </a:bodyPr>
          <a:lstStyle>
            <a:lvl1pPr marL="347472" indent="-347472">
              <a:lnSpc>
                <a:spcPct val="120000"/>
              </a:lnSpc>
              <a:spcBef>
                <a:spcPts val="1000"/>
              </a:spcBef>
              <a:spcAft>
                <a:spcPts val="600"/>
              </a:spcAft>
              <a:buClr>
                <a:schemeClr val="bg1"/>
              </a:buClr>
              <a:buFont typeface="Arial" panose="020B0604020202020204" pitchFamily="34" charset="0"/>
              <a:buChar char="•"/>
              <a:defRPr sz="2000" b="0"/>
            </a:lvl1pPr>
            <a:lvl2pPr marL="740664" indent="-283464">
              <a:lnSpc>
                <a:spcPct val="120000"/>
              </a:lnSpc>
              <a:spcBef>
                <a:spcPts val="500"/>
              </a:spcBef>
              <a:spcAft>
                <a:spcPts val="600"/>
              </a:spcAft>
              <a:buClr>
                <a:schemeClr val="bg1"/>
              </a:buClr>
              <a:buFont typeface="Arial" panose="020B0604020202020204" pitchFamily="34" charset="0"/>
              <a:buChar char="•"/>
              <a:defRPr sz="2000" b="0"/>
            </a:lvl2pPr>
            <a:lvl3pPr marL="1257300" indent="-342900">
              <a:lnSpc>
                <a:spcPct val="120000"/>
              </a:lnSpc>
              <a:spcBef>
                <a:spcPts val="1000"/>
              </a:spcBef>
              <a:spcAft>
                <a:spcPts val="600"/>
              </a:spcAft>
              <a:buClr>
                <a:schemeClr val="bg1"/>
              </a:buClr>
              <a:buFont typeface="Arial" panose="020B0604020202020204" pitchFamily="34" charset="0"/>
              <a:buChar char="•"/>
              <a:defRPr sz="2000" b="0"/>
            </a:lvl3pPr>
            <a:lvl4pPr marL="1714500" indent="-342900">
              <a:lnSpc>
                <a:spcPct val="120000"/>
              </a:lnSpc>
              <a:spcBef>
                <a:spcPts val="1000"/>
              </a:spcBef>
              <a:spcAft>
                <a:spcPts val="600"/>
              </a:spcAft>
              <a:buClr>
                <a:schemeClr val="bg1"/>
              </a:buClr>
              <a:buFont typeface="Arial" panose="020B0604020202020204" pitchFamily="34" charset="0"/>
              <a:buChar char="•"/>
              <a:defRPr sz="2000" b="0"/>
            </a:lvl4pPr>
            <a:lvl5pPr marL="2114550" indent="-285750">
              <a:lnSpc>
                <a:spcPct val="120000"/>
              </a:lnSpc>
              <a:spcBef>
                <a:spcPts val="1000"/>
              </a:spcBef>
              <a:spcAft>
                <a:spcPts val="600"/>
              </a:spcAft>
              <a:buClr>
                <a:schemeClr val="bg1"/>
              </a:buClr>
              <a:buFont typeface="Arial" panose="020B0604020202020204" pitchFamily="34" charset="0"/>
              <a:buChar char="•"/>
              <a:defRPr sz="20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able Placeholder 6">
            <a:extLst>
              <a:ext uri="{FF2B5EF4-FFF2-40B4-BE49-F238E27FC236}">
                <a16:creationId xmlns:a16="http://schemas.microsoft.com/office/drawing/2014/main" id="{8B30A748-E024-5BE9-6F18-C89041707629}"/>
              </a:ext>
            </a:extLst>
          </p:cNvPr>
          <p:cNvSpPr>
            <a:spLocks noGrp="1"/>
          </p:cNvSpPr>
          <p:nvPr>
            <p:ph type="tbl" sz="quarter" idx="12"/>
          </p:nvPr>
        </p:nvSpPr>
        <p:spPr>
          <a:xfrm>
            <a:off x="7823200" y="2417763"/>
            <a:ext cx="3838248" cy="3967794"/>
          </a:xfrm>
        </p:spPr>
        <p:txBody>
          <a:bodyPr/>
          <a:lstStyle/>
          <a:p>
            <a:r>
              <a:rPr lang="en-US"/>
              <a:t>Click icon to add table</a:t>
            </a:r>
            <a:endParaRPr lang="en-US" dirty="0"/>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11672275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able">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7" name="Table Placeholder 6">
            <a:extLst>
              <a:ext uri="{FF2B5EF4-FFF2-40B4-BE49-F238E27FC236}">
                <a16:creationId xmlns:a16="http://schemas.microsoft.com/office/drawing/2014/main" id="{8B30A748-E024-5BE9-6F18-C89041707629}"/>
              </a:ext>
            </a:extLst>
          </p:cNvPr>
          <p:cNvSpPr>
            <a:spLocks noGrp="1"/>
          </p:cNvSpPr>
          <p:nvPr>
            <p:ph type="tbl" sz="quarter" idx="12"/>
          </p:nvPr>
        </p:nvSpPr>
        <p:spPr>
          <a:xfrm>
            <a:off x="566724" y="2417763"/>
            <a:ext cx="11094724" cy="3967794"/>
          </a:xfrm>
        </p:spPr>
        <p:txBody>
          <a:bodyPr/>
          <a:lstStyle>
            <a:lvl1pPr>
              <a:defRPr/>
            </a:lvl1pPr>
          </a:lstStyle>
          <a:p>
            <a:r>
              <a:rPr lang="en-US"/>
              <a:t>Click icon to add table</a:t>
            </a:r>
            <a:endParaRPr lang="en-US" dirty="0"/>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29149877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wo Content 2">
    <p:bg>
      <p:bgPr>
        <a:solidFill>
          <a:schemeClr val="accent6">
            <a:lumMod val="20000"/>
            <a:lumOff val="80000"/>
          </a:schemeClr>
        </a:solidFill>
        <a:effectLst/>
      </p:bgPr>
    </p:bg>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7B18E-FE26-116A-87BB-F2B149413DB0}"/>
              </a:ext>
            </a:extLst>
          </p:cNvPr>
          <p:cNvSpPr>
            <a:spLocks noGrp="1"/>
          </p:cNvSpPr>
          <p:nvPr>
            <p:ph type="title" hasCustomPrompt="1"/>
          </p:nvPr>
        </p:nvSpPr>
        <p:spPr>
          <a:xfrm>
            <a:off x="566726" y="1097238"/>
            <a:ext cx="11094723" cy="1207457"/>
          </a:xfrm>
        </p:spPr>
        <p:txBody>
          <a:bodyPr lIns="0"/>
          <a:lstStyle>
            <a:lvl1pPr>
              <a:defRPr sz="4400" spc="-150" baseline="0"/>
            </a:lvl1pPr>
          </a:lstStyle>
          <a:p>
            <a:r>
              <a:rPr lang="en-US" dirty="0"/>
              <a:t>Click to add title</a:t>
            </a:r>
          </a:p>
        </p:txBody>
      </p:sp>
      <p:sp>
        <p:nvSpPr>
          <p:cNvPr id="8" name="Slide Number Placeholder 5">
            <a:extLst>
              <a:ext uri="{FF2B5EF4-FFF2-40B4-BE49-F238E27FC236}">
                <a16:creationId xmlns:a16="http://schemas.microsoft.com/office/drawing/2014/main" id="{CEB1FEE7-93DB-2CE9-DCDC-716894A7C00D}"/>
              </a:ext>
            </a:extLst>
          </p:cNvPr>
          <p:cNvSpPr>
            <a:spLocks noGrp="1"/>
          </p:cNvSpPr>
          <p:nvPr>
            <p:ph type="sldNum" sz="quarter" idx="4"/>
          </p:nvPr>
        </p:nvSpPr>
        <p:spPr>
          <a:xfrm>
            <a:off x="10342880" y="517325"/>
            <a:ext cx="911963" cy="480364"/>
          </a:xfrm>
          <a:prstGeom prst="rect">
            <a:avLst/>
          </a:prstGeom>
        </p:spPr>
        <p:txBody>
          <a:bodyPr vert="horz" lIns="0" tIns="0" rIns="0" bIns="0" rtlCol="0" anchor="t"/>
          <a:lstStyle>
            <a:lvl1pPr algn="r">
              <a:defRPr sz="3200" b="1" i="0">
                <a:solidFill>
                  <a:schemeClr val="bg1"/>
                </a:solidFill>
                <a:latin typeface="+mn-lt"/>
                <a:cs typeface="Kalinga" panose="020B0502040204020203" pitchFamily="34" charset="0"/>
              </a:defRPr>
            </a:lvl1pPr>
          </a:lstStyle>
          <a:p>
            <a:fld id="{6D22F896-40B5-4ADD-8801-0D06FADFA095}" type="slidenum">
              <a:rPr lang="en-US" smtClean="0"/>
              <a:pPr/>
              <a:t>‹#›</a:t>
            </a:fld>
            <a:endParaRPr lang="en-US" dirty="0"/>
          </a:p>
        </p:txBody>
      </p:sp>
      <p:sp>
        <p:nvSpPr>
          <p:cNvPr id="4" name="Content Placeholder 13">
            <a:extLst>
              <a:ext uri="{FF2B5EF4-FFF2-40B4-BE49-F238E27FC236}">
                <a16:creationId xmlns:a16="http://schemas.microsoft.com/office/drawing/2014/main" id="{C631A2C5-44A9-8EF8-E747-353DD34AB2E7}"/>
              </a:ext>
            </a:extLst>
          </p:cNvPr>
          <p:cNvSpPr>
            <a:spLocks noGrp="1"/>
          </p:cNvSpPr>
          <p:nvPr>
            <p:ph sz="quarter" idx="11" hasCustomPrompt="1"/>
          </p:nvPr>
        </p:nvSpPr>
        <p:spPr>
          <a:xfrm>
            <a:off x="551487" y="2392441"/>
            <a:ext cx="6977073" cy="3967795"/>
          </a:xfrm>
        </p:spPr>
        <p:txBody>
          <a:bodyPr>
            <a:normAutofit/>
          </a:bodyPr>
          <a:lstStyle>
            <a:lvl1pPr marL="347472" indent="-347472">
              <a:lnSpc>
                <a:spcPct val="120000"/>
              </a:lnSpc>
              <a:spcBef>
                <a:spcPts val="1000"/>
              </a:spcBef>
              <a:spcAft>
                <a:spcPts val="600"/>
              </a:spcAft>
              <a:buClr>
                <a:schemeClr val="bg1"/>
              </a:buClr>
              <a:buFont typeface="Arial" panose="020B0604020202020204" pitchFamily="34" charset="0"/>
              <a:buChar char="•"/>
              <a:defRPr sz="2000" b="0"/>
            </a:lvl1pPr>
            <a:lvl2pPr marL="800100" indent="-342900">
              <a:lnSpc>
                <a:spcPct val="120000"/>
              </a:lnSpc>
              <a:spcBef>
                <a:spcPts val="1000"/>
              </a:spcBef>
              <a:spcAft>
                <a:spcPts val="600"/>
              </a:spcAft>
              <a:buClr>
                <a:schemeClr val="bg1"/>
              </a:buClr>
              <a:buFont typeface="Arial" panose="020B0604020202020204" pitchFamily="34" charset="0"/>
              <a:buChar char="•"/>
              <a:defRPr sz="1800" b="0"/>
            </a:lvl2pPr>
            <a:lvl3pPr marL="1257300" indent="-342900">
              <a:lnSpc>
                <a:spcPct val="120000"/>
              </a:lnSpc>
              <a:spcBef>
                <a:spcPts val="1000"/>
              </a:spcBef>
              <a:spcAft>
                <a:spcPts val="600"/>
              </a:spcAft>
              <a:buClr>
                <a:schemeClr val="bg1"/>
              </a:buClr>
              <a:buFont typeface="Arial" panose="020B0604020202020204" pitchFamily="34" charset="0"/>
              <a:buChar char="•"/>
              <a:defRPr sz="1600" b="0"/>
            </a:lvl3pPr>
            <a:lvl4pPr marL="1714500" indent="-342900">
              <a:lnSpc>
                <a:spcPct val="120000"/>
              </a:lnSpc>
              <a:spcBef>
                <a:spcPts val="1000"/>
              </a:spcBef>
              <a:spcAft>
                <a:spcPts val="600"/>
              </a:spcAft>
              <a:buClr>
                <a:schemeClr val="bg1"/>
              </a:buClr>
              <a:buFont typeface="Arial" panose="020B0604020202020204" pitchFamily="34" charset="0"/>
              <a:buChar char="•"/>
              <a:defRPr sz="1400" b="0"/>
            </a:lvl4pPr>
            <a:lvl5pPr marL="2114550" indent="-285750">
              <a:lnSpc>
                <a:spcPct val="120000"/>
              </a:lnSpc>
              <a:spcBef>
                <a:spcPts val="1000"/>
              </a:spcBef>
              <a:spcAft>
                <a:spcPts val="600"/>
              </a:spcAft>
              <a:buClr>
                <a:schemeClr val="bg1"/>
              </a:buClr>
              <a:buFont typeface="Arial" panose="020B0604020202020204" pitchFamily="34" charset="0"/>
              <a:buChar char="•"/>
              <a:defRPr sz="12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a:extLst>
              <a:ext uri="{FF2B5EF4-FFF2-40B4-BE49-F238E27FC236}">
                <a16:creationId xmlns:a16="http://schemas.microsoft.com/office/drawing/2014/main" id="{7276C322-4595-4F82-C8A6-C97FC28C12AB}"/>
              </a:ext>
            </a:extLst>
          </p:cNvPr>
          <p:cNvSpPr>
            <a:spLocks noGrp="1"/>
          </p:cNvSpPr>
          <p:nvPr>
            <p:ph sz="quarter" idx="10" hasCustomPrompt="1"/>
          </p:nvPr>
        </p:nvSpPr>
        <p:spPr>
          <a:xfrm>
            <a:off x="8005773" y="2392440"/>
            <a:ext cx="3655675" cy="3967795"/>
          </a:xfrm>
        </p:spPr>
        <p:txBody>
          <a:bodyPr>
            <a:normAutofit/>
          </a:bodyPr>
          <a:lstStyle>
            <a:lvl1pPr marL="0" indent="0">
              <a:lnSpc>
                <a:spcPct val="120000"/>
              </a:lnSpc>
              <a:spcBef>
                <a:spcPts val="600"/>
              </a:spcBef>
              <a:spcAft>
                <a:spcPts val="1200"/>
              </a:spcAft>
              <a:buClr>
                <a:schemeClr val="bg1"/>
              </a:buClr>
              <a:buFont typeface="Arial" panose="020B0604020202020204" pitchFamily="34" charset="0"/>
              <a:buNone/>
              <a:defRPr sz="2000" b="0"/>
            </a:lvl1pPr>
            <a:lvl2pPr marL="347472" indent="-342900">
              <a:lnSpc>
                <a:spcPct val="120000"/>
              </a:lnSpc>
              <a:spcBef>
                <a:spcPts val="600"/>
              </a:spcBef>
              <a:spcAft>
                <a:spcPts val="1200"/>
              </a:spcAft>
              <a:buClr>
                <a:schemeClr val="bg1"/>
              </a:buClr>
              <a:buFont typeface="Arial" panose="020B0604020202020204" pitchFamily="34" charset="0"/>
              <a:buChar char="•"/>
              <a:defRPr sz="2000" b="0"/>
            </a:lvl2pPr>
            <a:lvl3pPr marL="713232" indent="-342900">
              <a:lnSpc>
                <a:spcPct val="120000"/>
              </a:lnSpc>
              <a:spcBef>
                <a:spcPts val="600"/>
              </a:spcBef>
              <a:spcAft>
                <a:spcPts val="1200"/>
              </a:spcAft>
              <a:buClr>
                <a:schemeClr val="bg1"/>
              </a:buClr>
              <a:buFont typeface="Arial" panose="020B0604020202020204" pitchFamily="34" charset="0"/>
              <a:buChar char="•"/>
              <a:defRPr sz="2000" b="0"/>
            </a:lvl3pPr>
            <a:lvl4pPr marL="1078992" indent="-342900">
              <a:lnSpc>
                <a:spcPct val="120000"/>
              </a:lnSpc>
              <a:spcBef>
                <a:spcPts val="600"/>
              </a:spcBef>
              <a:spcAft>
                <a:spcPts val="1200"/>
              </a:spcAft>
              <a:buClr>
                <a:schemeClr val="bg1"/>
              </a:buClr>
              <a:buFont typeface="Arial" panose="020B0604020202020204" pitchFamily="34" charset="0"/>
              <a:buChar char="•"/>
              <a:defRPr sz="2000" b="0"/>
            </a:lvl4pPr>
            <a:lvl5pPr marL="1837944" indent="-285750">
              <a:lnSpc>
                <a:spcPct val="120000"/>
              </a:lnSpc>
              <a:spcBef>
                <a:spcPts val="600"/>
              </a:spcBef>
              <a:spcAft>
                <a:spcPts val="1200"/>
              </a:spcAft>
              <a:buClr>
                <a:schemeClr val="bg1"/>
              </a:buClr>
              <a:buFont typeface="Arial" panose="020B0604020202020204" pitchFamily="34" charset="0"/>
              <a:buChar char="•"/>
              <a:defRPr sz="20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5" name="Straight Connector 14">
            <a:extLst>
              <a:ext uri="{FF2B5EF4-FFF2-40B4-BE49-F238E27FC236}">
                <a16:creationId xmlns:a16="http://schemas.microsoft.com/office/drawing/2014/main" id="{FB7FEADB-D66E-282A-67E4-D956C95B48BC}"/>
              </a:ext>
              <a:ext uri="{C183D7F6-B498-43B3-948B-1728B52AA6E4}">
                <adec:decorative xmlns:adec="http://schemas.microsoft.com/office/drawing/2017/decorative" val="1"/>
              </a:ext>
            </a:extLst>
          </p:cNvPr>
          <p:cNvCxnSpPr>
            <a:cxnSpLocks/>
          </p:cNvCxnSpPr>
          <p:nvPr userDrawn="1"/>
        </p:nvCxnSpPr>
        <p:spPr>
          <a:xfrm flipV="1">
            <a:off x="548639" y="709368"/>
            <a:ext cx="10043161" cy="639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7" name="Graphic 16">
            <a:extLst>
              <a:ext uri="{FF2B5EF4-FFF2-40B4-BE49-F238E27FC236}">
                <a16:creationId xmlns:a16="http://schemas.microsoft.com/office/drawing/2014/main" id="{E73CB4F7-C5C8-2612-B625-01F8BC94871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441049" y="602835"/>
            <a:ext cx="202311" cy="219456"/>
          </a:xfrm>
          <a:prstGeom prst="rect">
            <a:avLst/>
          </a:prstGeom>
        </p:spPr>
      </p:pic>
    </p:spTree>
    <p:extLst>
      <p:ext uri="{BB962C8B-B14F-4D97-AF65-F5344CB8AC3E}">
        <p14:creationId xmlns:p14="http://schemas.microsoft.com/office/powerpoint/2010/main" val="41933736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tx2">
            <a:lumMod val="20000"/>
            <a:lumOff val="80000"/>
          </a:schemeClr>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19982B1-35C2-DE4A-CC6C-C7EF3864FDDA}"/>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441049" y="602835"/>
            <a:ext cx="202311" cy="219456"/>
          </a:xfrm>
          <a:prstGeom prst="rect">
            <a:avLst/>
          </a:prstGeom>
        </p:spPr>
      </p:pic>
      <p:pic>
        <p:nvPicPr>
          <p:cNvPr id="3" name="Graphic 2">
            <a:extLst>
              <a:ext uri="{FF2B5EF4-FFF2-40B4-BE49-F238E27FC236}">
                <a16:creationId xmlns:a16="http://schemas.microsoft.com/office/drawing/2014/main" id="{11330D7F-AB80-0985-7B65-80D66CC8410A}"/>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rcRect r="51653" b="49194"/>
          <a:stretch>
            <a:fillRect/>
          </a:stretch>
        </p:blipFill>
        <p:spPr>
          <a:xfrm>
            <a:off x="10095411" y="4663440"/>
            <a:ext cx="2121988" cy="2229926"/>
          </a:xfrm>
          <a:custGeom>
            <a:avLst/>
            <a:gdLst>
              <a:gd name="connsiteX0" fmla="*/ 0 w 2121988"/>
              <a:gd name="connsiteY0" fmla="*/ 0 h 2229926"/>
              <a:gd name="connsiteX1" fmla="*/ 2121988 w 2121988"/>
              <a:gd name="connsiteY1" fmla="*/ 0 h 2229926"/>
              <a:gd name="connsiteX2" fmla="*/ 2121988 w 2121988"/>
              <a:gd name="connsiteY2" fmla="*/ 2229926 h 2229926"/>
              <a:gd name="connsiteX3" fmla="*/ 0 w 2121988"/>
              <a:gd name="connsiteY3" fmla="*/ 2229926 h 2229926"/>
            </a:gdLst>
            <a:ahLst/>
            <a:cxnLst>
              <a:cxn ang="0">
                <a:pos x="connsiteX0" y="connsiteY0"/>
              </a:cxn>
              <a:cxn ang="0">
                <a:pos x="connsiteX1" y="connsiteY1"/>
              </a:cxn>
              <a:cxn ang="0">
                <a:pos x="connsiteX2" y="connsiteY2"/>
              </a:cxn>
              <a:cxn ang="0">
                <a:pos x="connsiteX3" y="connsiteY3"/>
              </a:cxn>
            </a:cxnLst>
            <a:rect l="l" t="t" r="r" b="b"/>
            <a:pathLst>
              <a:path w="2121988" h="2229926">
                <a:moveTo>
                  <a:pt x="0" y="0"/>
                </a:moveTo>
                <a:lnTo>
                  <a:pt x="2121988" y="0"/>
                </a:lnTo>
                <a:lnTo>
                  <a:pt x="2121988" y="2229926"/>
                </a:lnTo>
                <a:lnTo>
                  <a:pt x="0" y="2229926"/>
                </a:lnTo>
                <a:close/>
              </a:path>
            </a:pathLst>
          </a:custGeom>
        </p:spPr>
      </p:pic>
      <p:pic>
        <p:nvPicPr>
          <p:cNvPr id="4" name="Graphic 3">
            <a:extLst>
              <a:ext uri="{FF2B5EF4-FFF2-40B4-BE49-F238E27FC236}">
                <a16:creationId xmlns:a16="http://schemas.microsoft.com/office/drawing/2014/main" id="{355AA66F-C4B1-E34A-8E6B-F893310B2E1E}"/>
              </a:ext>
              <a:ext uri="{C183D7F6-B498-43B3-948B-1728B52AA6E4}">
                <adec:decorative xmlns:adec="http://schemas.microsoft.com/office/drawing/2017/decorative" val="1"/>
              </a:ext>
            </a:extLst>
          </p:cNvPr>
          <p:cNvPicPr>
            <a:picLocks noChangeAspect="1"/>
          </p:cNvPicPr>
          <p:nvPr userDrawn="1"/>
        </p:nvPicPr>
        <p:blipFill>
          <a:blip r:embed="rId6">
            <a:extLst>
              <a:ext uri="{96DAC541-7B7A-43D3-8B79-37D633B846F1}">
                <asvg:svgBlip xmlns:asvg="http://schemas.microsoft.com/office/drawing/2016/SVG/main" r:embed="rId7"/>
              </a:ext>
            </a:extLst>
          </a:blip>
          <a:srcRect t="50000"/>
          <a:stretch>
            <a:fillRect/>
          </a:stretch>
        </p:blipFill>
        <p:spPr>
          <a:xfrm>
            <a:off x="6228080" y="2"/>
            <a:ext cx="4046220" cy="2194559"/>
          </a:xfrm>
          <a:custGeom>
            <a:avLst/>
            <a:gdLst>
              <a:gd name="connsiteX0" fmla="*/ 0 w 4046220"/>
              <a:gd name="connsiteY0" fmla="*/ 0 h 2194559"/>
              <a:gd name="connsiteX1" fmla="*/ 4046220 w 4046220"/>
              <a:gd name="connsiteY1" fmla="*/ 0 h 2194559"/>
              <a:gd name="connsiteX2" fmla="*/ 4046220 w 4046220"/>
              <a:gd name="connsiteY2" fmla="*/ 2194559 h 2194559"/>
              <a:gd name="connsiteX3" fmla="*/ 0 w 4046220"/>
              <a:gd name="connsiteY3" fmla="*/ 2194559 h 2194559"/>
            </a:gdLst>
            <a:ahLst/>
            <a:cxnLst>
              <a:cxn ang="0">
                <a:pos x="connsiteX0" y="connsiteY0"/>
              </a:cxn>
              <a:cxn ang="0">
                <a:pos x="connsiteX1" y="connsiteY1"/>
              </a:cxn>
              <a:cxn ang="0">
                <a:pos x="connsiteX2" y="connsiteY2"/>
              </a:cxn>
              <a:cxn ang="0">
                <a:pos x="connsiteX3" y="connsiteY3"/>
              </a:cxn>
            </a:cxnLst>
            <a:rect l="l" t="t" r="r" b="b"/>
            <a:pathLst>
              <a:path w="4046220" h="2194559">
                <a:moveTo>
                  <a:pt x="0" y="0"/>
                </a:moveTo>
                <a:lnTo>
                  <a:pt x="4046220" y="0"/>
                </a:lnTo>
                <a:lnTo>
                  <a:pt x="4046220" y="2194559"/>
                </a:lnTo>
                <a:lnTo>
                  <a:pt x="0" y="2194559"/>
                </a:lnTo>
                <a:close/>
              </a:path>
            </a:pathLst>
          </a:custGeom>
        </p:spPr>
      </p:pic>
      <p:pic>
        <p:nvPicPr>
          <p:cNvPr id="5" name="Graphic 4">
            <a:extLst>
              <a:ext uri="{FF2B5EF4-FFF2-40B4-BE49-F238E27FC236}">
                <a16:creationId xmlns:a16="http://schemas.microsoft.com/office/drawing/2014/main" id="{55700ADD-BC9D-410F-D6AC-1D0E4F1043A5}"/>
              </a:ext>
              <a:ext uri="{C183D7F6-B498-43B3-948B-1728B52AA6E4}">
                <adec:decorative xmlns:adec="http://schemas.microsoft.com/office/drawing/2017/decorative" val="1"/>
              </a:ext>
            </a:extLst>
          </p:cNvPr>
          <p:cNvPicPr>
            <a:picLocks noChangeAspect="1"/>
          </p:cNvPicPr>
          <p:nvPr userDrawn="1"/>
        </p:nvPicPr>
        <p:blipFill>
          <a:blip r:embed="rId8">
            <a:extLst>
              <a:ext uri="{96DAC541-7B7A-43D3-8B79-37D633B846F1}">
                <asvg:svgBlip xmlns:asvg="http://schemas.microsoft.com/office/drawing/2016/SVG/main" r:embed="rId9"/>
              </a:ext>
            </a:extLst>
          </a:blip>
          <a:srcRect l="50000" b="30164"/>
          <a:stretch>
            <a:fillRect/>
          </a:stretch>
        </p:blipFill>
        <p:spPr>
          <a:xfrm>
            <a:off x="0" y="3923964"/>
            <a:ext cx="2194560" cy="2969402"/>
          </a:xfrm>
          <a:custGeom>
            <a:avLst/>
            <a:gdLst>
              <a:gd name="connsiteX0" fmla="*/ 0 w 2194560"/>
              <a:gd name="connsiteY0" fmla="*/ 0 h 2969402"/>
              <a:gd name="connsiteX1" fmla="*/ 2194560 w 2194560"/>
              <a:gd name="connsiteY1" fmla="*/ 0 h 2969402"/>
              <a:gd name="connsiteX2" fmla="*/ 2194560 w 2194560"/>
              <a:gd name="connsiteY2" fmla="*/ 2969402 h 2969402"/>
              <a:gd name="connsiteX3" fmla="*/ 0 w 2194560"/>
              <a:gd name="connsiteY3" fmla="*/ 2969402 h 2969402"/>
            </a:gdLst>
            <a:ahLst/>
            <a:cxnLst>
              <a:cxn ang="0">
                <a:pos x="connsiteX0" y="connsiteY0"/>
              </a:cxn>
              <a:cxn ang="0">
                <a:pos x="connsiteX1" y="connsiteY1"/>
              </a:cxn>
              <a:cxn ang="0">
                <a:pos x="connsiteX2" y="connsiteY2"/>
              </a:cxn>
              <a:cxn ang="0">
                <a:pos x="connsiteX3" y="connsiteY3"/>
              </a:cxn>
            </a:cxnLst>
            <a:rect l="l" t="t" r="r" b="b"/>
            <a:pathLst>
              <a:path w="2194560" h="2969402">
                <a:moveTo>
                  <a:pt x="0" y="0"/>
                </a:moveTo>
                <a:lnTo>
                  <a:pt x="2194560" y="0"/>
                </a:lnTo>
                <a:lnTo>
                  <a:pt x="2194560" y="2969402"/>
                </a:lnTo>
                <a:lnTo>
                  <a:pt x="0" y="2969402"/>
                </a:lnTo>
                <a:close/>
              </a:path>
            </a:pathLst>
          </a:custGeom>
        </p:spPr>
      </p:pic>
      <p:sp>
        <p:nvSpPr>
          <p:cNvPr id="8" name="Title 7">
            <a:extLst>
              <a:ext uri="{FF2B5EF4-FFF2-40B4-BE49-F238E27FC236}">
                <a16:creationId xmlns:a16="http://schemas.microsoft.com/office/drawing/2014/main" id="{F9091067-F6AB-B1C8-2F06-423B82E6EE67}"/>
              </a:ext>
            </a:extLst>
          </p:cNvPr>
          <p:cNvSpPr>
            <a:spLocks noGrp="1"/>
          </p:cNvSpPr>
          <p:nvPr>
            <p:ph type="title" hasCustomPrompt="1"/>
          </p:nvPr>
        </p:nvSpPr>
        <p:spPr>
          <a:xfrm>
            <a:off x="444807" y="1049447"/>
            <a:ext cx="5910270" cy="5094386"/>
          </a:xfrm>
        </p:spPr>
        <p:txBody>
          <a:bodyPr rIns="0" anchor="ctr"/>
          <a:lstStyle>
            <a:lvl1pPr>
              <a:defRPr sz="7200"/>
            </a:lvl1pPr>
          </a:lstStyle>
          <a:p>
            <a:r>
              <a:rPr lang="en-US" dirty="0"/>
              <a:t>Click to add title</a:t>
            </a:r>
          </a:p>
        </p:txBody>
      </p:sp>
      <p:sp>
        <p:nvSpPr>
          <p:cNvPr id="10" name="Content Placeholder 9">
            <a:extLst>
              <a:ext uri="{FF2B5EF4-FFF2-40B4-BE49-F238E27FC236}">
                <a16:creationId xmlns:a16="http://schemas.microsoft.com/office/drawing/2014/main" id="{6D4F7BB3-A204-D529-DD36-39D4311F354A}"/>
              </a:ext>
            </a:extLst>
          </p:cNvPr>
          <p:cNvSpPr>
            <a:spLocks noGrp="1"/>
          </p:cNvSpPr>
          <p:nvPr>
            <p:ph sz="quarter" idx="10" hasCustomPrompt="1"/>
          </p:nvPr>
        </p:nvSpPr>
        <p:spPr>
          <a:xfrm>
            <a:off x="6355077" y="1049447"/>
            <a:ext cx="4922837" cy="5094386"/>
          </a:xfrm>
        </p:spPr>
        <p:txBody>
          <a:bodyPr anchor="ctr">
            <a:normAutofit/>
          </a:bodyPr>
          <a:lstStyle>
            <a:lvl1pPr>
              <a:lnSpc>
                <a:spcPct val="100000"/>
              </a:lnSpc>
              <a:spcBef>
                <a:spcPts val="1000"/>
              </a:spcBef>
              <a:defRPr sz="2800" b="0"/>
            </a:lvl1pPr>
            <a:lvl2pPr>
              <a:lnSpc>
                <a:spcPct val="100000"/>
              </a:lnSpc>
              <a:spcBef>
                <a:spcPts val="1000"/>
              </a:spcBef>
              <a:defRPr sz="2400" b="0"/>
            </a:lvl2pPr>
            <a:lvl3pPr>
              <a:lnSpc>
                <a:spcPct val="100000"/>
              </a:lnSpc>
              <a:spcBef>
                <a:spcPts val="1000"/>
              </a:spcBef>
              <a:defRPr sz="2000" b="0"/>
            </a:lvl3pPr>
            <a:lvl4pPr>
              <a:lnSpc>
                <a:spcPct val="100000"/>
              </a:lnSpc>
              <a:spcBef>
                <a:spcPts val="1000"/>
              </a:spcBef>
              <a:defRPr sz="1800" b="0"/>
            </a:lvl4pPr>
            <a:lvl5pPr>
              <a:lnSpc>
                <a:spcPct val="100000"/>
              </a:lnSpc>
              <a:spcBef>
                <a:spcPts val="1000"/>
              </a:spcBef>
              <a:defRPr sz="1600" b="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84331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44806" y="1432518"/>
            <a:ext cx="7958331" cy="2237608"/>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2611808" y="3696004"/>
            <a:ext cx="7796540" cy="237981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4">
            <a:extLst>
              <a:ext uri="{FF2B5EF4-FFF2-40B4-BE49-F238E27FC236}">
                <a16:creationId xmlns:a16="http://schemas.microsoft.com/office/drawing/2014/main" id="{D88E8CDA-4B53-1285-4909-D3A5FB6B365D}"/>
              </a:ext>
            </a:extLst>
          </p:cNvPr>
          <p:cNvSpPr>
            <a:spLocks noGrp="1"/>
          </p:cNvSpPr>
          <p:nvPr>
            <p:ph type="ftr" sz="quarter" idx="3"/>
          </p:nvPr>
        </p:nvSpPr>
        <p:spPr>
          <a:xfrm>
            <a:off x="563671" y="459077"/>
            <a:ext cx="2267211" cy="480363"/>
          </a:xfrm>
          <a:prstGeom prst="rect">
            <a:avLst/>
          </a:prstGeom>
        </p:spPr>
        <p:txBody>
          <a:bodyPr vert="horz" lIns="0" tIns="0" rIns="91440" bIns="18288" rtlCol="0" anchor="ctr"/>
          <a:lstStyle>
            <a:lvl1pPr algn="l">
              <a:defRPr sz="1200" b="1" i="0">
                <a:solidFill>
                  <a:schemeClr val="bg1"/>
                </a:solidFill>
                <a:latin typeface="Kalinga" panose="020B0502040204020203" pitchFamily="34" charset="0"/>
                <a:cs typeface="Kalinga" panose="020B0502040204020203" pitchFamily="34" charset="0"/>
              </a:defRPr>
            </a:lvl1pPr>
          </a:lstStyle>
          <a:p>
            <a:r>
              <a:rPr lang="en-US"/>
              <a:t>PRESENTATION TITLE</a:t>
            </a:r>
            <a:endParaRPr lang="en-US" dirty="0"/>
          </a:p>
        </p:txBody>
      </p:sp>
      <p:sp>
        <p:nvSpPr>
          <p:cNvPr id="12" name="Slide Number Placeholder 5">
            <a:extLst>
              <a:ext uri="{FF2B5EF4-FFF2-40B4-BE49-F238E27FC236}">
                <a16:creationId xmlns:a16="http://schemas.microsoft.com/office/drawing/2014/main" id="{100A2341-0273-5256-69F5-7D63AFB93302}"/>
              </a:ext>
            </a:extLst>
          </p:cNvPr>
          <p:cNvSpPr>
            <a:spLocks noGrp="1"/>
          </p:cNvSpPr>
          <p:nvPr>
            <p:ph type="sldNum" sz="quarter" idx="4"/>
          </p:nvPr>
        </p:nvSpPr>
        <p:spPr>
          <a:xfrm>
            <a:off x="10359025" y="459081"/>
            <a:ext cx="789138" cy="480364"/>
          </a:xfrm>
          <a:prstGeom prst="rect">
            <a:avLst/>
          </a:prstGeom>
        </p:spPr>
        <p:txBody>
          <a:bodyPr vert="horz" lIns="0" tIns="0" rIns="0" bIns="0" rtlCol="0" anchor="t"/>
          <a:lstStyle>
            <a:lvl1pPr algn="r">
              <a:defRPr sz="4000" b="1" i="0">
                <a:solidFill>
                  <a:schemeClr val="bg1"/>
                </a:solidFill>
                <a:latin typeface="Kalinga" panose="020B0502040204020203" pitchFamily="34" charset="0"/>
                <a:cs typeface="Kalinga" panose="020B0502040204020203" pitchFamily="34" charset="0"/>
              </a:defRPr>
            </a:lvl1pPr>
          </a:lstStyle>
          <a:p>
            <a:fld id="{6D22F896-40B5-4ADD-8801-0D06FADFA095}" type="slidenum">
              <a:rPr lang="en-US" smtClean="0"/>
              <a:pPr/>
              <a:t>‹#›</a:t>
            </a:fld>
            <a:endParaRPr lang="en-US" dirty="0"/>
          </a:p>
        </p:txBody>
      </p:sp>
    </p:spTree>
  </p:cSld>
  <p:clrMap bg1="dk1" tx1="lt1" bg2="dk2" tx2="lt2" accent1="accent1" accent2="accent2" accent3="accent3" accent4="accent4" accent5="accent5" accent6="accent6" hlink="hlink" folHlink="folHlink"/>
  <p:sldLayoutIdLst>
    <p:sldLayoutId id="2147483680" r:id="rId1"/>
    <p:sldLayoutId id="2147483676"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79" r:id="rId13"/>
  </p:sldLayoutIdLst>
  <p:hf hdr="0" dt="0"/>
  <p:txStyles>
    <p:titleStyle>
      <a:lvl1pPr algn="l" defTabSz="914400" rtl="0" eaLnBrk="1" latinLnBrk="0" hangingPunct="1">
        <a:lnSpc>
          <a:spcPct val="90000"/>
        </a:lnSpc>
        <a:spcBef>
          <a:spcPct val="0"/>
        </a:spcBef>
        <a:buNone/>
        <a:defRPr sz="8000" b="1" i="0" kern="1200" cap="none" spc="-300">
          <a:solidFill>
            <a:schemeClr val="bg1"/>
          </a:solidFill>
          <a:effectLst/>
          <a:latin typeface="+mj-lt"/>
          <a:ea typeface="+mj-ea"/>
          <a:cs typeface="Kalinga" panose="020B0502040204020203" pitchFamily="34" charset="0"/>
        </a:defRPr>
      </a:lvl1pPr>
    </p:titleStyle>
    <p:bodyStyle>
      <a:lvl1pPr marL="0" indent="0"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None/>
        <a:defRPr sz="2000" b="1" i="0" kern="1200" spc="0">
          <a:solidFill>
            <a:schemeClr val="bg1"/>
          </a:solidFill>
          <a:effectLst/>
          <a:latin typeface="+mn-lt"/>
          <a:ea typeface="+mn-ea"/>
          <a:cs typeface="Kalinga" panose="020B0502040204020203" pitchFamily="34" charset="0"/>
        </a:defRPr>
      </a:lvl1pPr>
      <a:lvl2pPr marL="457200" indent="0"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800" b="1" i="0" kern="1200" spc="0">
          <a:solidFill>
            <a:schemeClr val="bg1"/>
          </a:solidFill>
          <a:effectLst/>
          <a:latin typeface="+mn-lt"/>
          <a:ea typeface="+mn-ea"/>
          <a:cs typeface="Kalinga" panose="020B0502040204020203" pitchFamily="34" charset="0"/>
        </a:defRPr>
      </a:lvl2pPr>
      <a:lvl3pPr marL="914400" indent="0"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600" b="1" i="0" kern="1200" spc="0">
          <a:solidFill>
            <a:schemeClr val="bg1"/>
          </a:solidFill>
          <a:effectLst/>
          <a:latin typeface="+mn-lt"/>
          <a:ea typeface="+mn-ea"/>
          <a:cs typeface="Kalinga" panose="020B0502040204020203" pitchFamily="34" charset="0"/>
        </a:defRPr>
      </a:lvl3pPr>
      <a:lvl4pPr marL="1371600" indent="0"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400" b="1" i="0" kern="1200" spc="0">
          <a:solidFill>
            <a:schemeClr val="bg1"/>
          </a:solidFill>
          <a:effectLst/>
          <a:latin typeface="+mn-lt"/>
          <a:ea typeface="+mn-ea"/>
          <a:cs typeface="Kalinga" panose="020B0502040204020203" pitchFamily="34" charset="0"/>
        </a:defRPr>
      </a:lvl4pPr>
      <a:lvl5pPr marL="1828800" indent="0"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None/>
        <a:defRPr sz="1200" b="1" i="0" kern="1200" spc="0">
          <a:solidFill>
            <a:schemeClr val="bg1"/>
          </a:solidFill>
          <a:effectLst/>
          <a:latin typeface="+mn-lt"/>
          <a:ea typeface="+mn-ea"/>
          <a:cs typeface="Kalinga" panose="020B0502040204020203" pitchFamily="34" charset="0"/>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hyperlink" Target="https://www.leadership-matters.org/unveiling-job-stress-empower-well-being/" TargetMode="External"/></Relationships>
</file>

<file path=ppt/slides/_rels/slide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9.xml"/><Relationship Id="rId4" Type="http://schemas.openxmlformats.org/officeDocument/2006/relationships/image" Target="../media/image28.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BBDD8-0A72-E913-2448-3BA8443C37E6}"/>
              </a:ext>
            </a:extLst>
          </p:cNvPr>
          <p:cNvSpPr>
            <a:spLocks noGrp="1"/>
          </p:cNvSpPr>
          <p:nvPr>
            <p:ph type="title"/>
          </p:nvPr>
        </p:nvSpPr>
        <p:spPr>
          <a:xfrm>
            <a:off x="3330801" y="1140460"/>
            <a:ext cx="8001256" cy="5166360"/>
          </a:xfrm>
        </p:spPr>
        <p:txBody>
          <a:bodyPr/>
          <a:lstStyle/>
          <a:p>
            <a:pPr algn="r"/>
            <a:r>
              <a:rPr lang="en-US" dirty="0"/>
              <a:t>Stress</a:t>
            </a:r>
            <a:br>
              <a:rPr lang="en-US"/>
            </a:br>
            <a:endParaRPr lang="en-US" sz="4400" dirty="0"/>
          </a:p>
        </p:txBody>
      </p:sp>
    </p:spTree>
    <p:extLst>
      <p:ext uri="{BB962C8B-B14F-4D97-AF65-F5344CB8AC3E}">
        <p14:creationId xmlns:p14="http://schemas.microsoft.com/office/powerpoint/2010/main" val="18179454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74B515DA-B5BA-1D54-0138-5A9DBF40B1D4}"/>
              </a:ext>
            </a:extLst>
          </p:cNvPr>
          <p:cNvSpPr>
            <a:spLocks noGrp="1"/>
          </p:cNvSpPr>
          <p:nvPr>
            <p:ph type="title"/>
          </p:nvPr>
        </p:nvSpPr>
        <p:spPr>
          <a:xfrm>
            <a:off x="566726" y="1097238"/>
            <a:ext cx="5011113" cy="5048974"/>
          </a:xfrm>
        </p:spPr>
        <p:txBody>
          <a:bodyPr/>
          <a:lstStyle/>
          <a:p>
            <a:r>
              <a:rPr lang="en-US" dirty="0"/>
              <a:t>Agenda</a:t>
            </a:r>
          </a:p>
        </p:txBody>
      </p:sp>
      <p:sp>
        <p:nvSpPr>
          <p:cNvPr id="4" name="Slide Number Placeholder 3">
            <a:extLst>
              <a:ext uri="{FF2B5EF4-FFF2-40B4-BE49-F238E27FC236}">
                <a16:creationId xmlns:a16="http://schemas.microsoft.com/office/drawing/2014/main" id="{205010E8-1DAC-D1A8-367B-24A839DD6B72}"/>
              </a:ext>
            </a:extLst>
          </p:cNvPr>
          <p:cNvSpPr>
            <a:spLocks noGrp="1"/>
          </p:cNvSpPr>
          <p:nvPr>
            <p:ph type="sldNum" sz="quarter" idx="4"/>
          </p:nvPr>
        </p:nvSpPr>
        <p:spPr>
          <a:xfrm>
            <a:off x="10342880" y="517325"/>
            <a:ext cx="911963" cy="480364"/>
          </a:xfrm>
        </p:spPr>
        <p:txBody>
          <a:bodyPr/>
          <a:lstStyle/>
          <a:p>
            <a:fld id="{6D22F896-40B5-4ADD-8801-0D06FADFA095}" type="slidenum">
              <a:rPr lang="en-US" smtClean="0"/>
              <a:pPr/>
              <a:t>2</a:t>
            </a:fld>
            <a:endParaRPr lang="en-US" dirty="0"/>
          </a:p>
        </p:txBody>
      </p:sp>
      <p:sp>
        <p:nvSpPr>
          <p:cNvPr id="14" name="Content Placeholder 13">
            <a:extLst>
              <a:ext uri="{FF2B5EF4-FFF2-40B4-BE49-F238E27FC236}">
                <a16:creationId xmlns:a16="http://schemas.microsoft.com/office/drawing/2014/main" id="{61E1C258-AF5E-ED50-CD59-2A56B80D3647}"/>
              </a:ext>
            </a:extLst>
          </p:cNvPr>
          <p:cNvSpPr>
            <a:spLocks noGrp="1"/>
          </p:cNvSpPr>
          <p:nvPr>
            <p:ph sz="quarter" idx="10"/>
          </p:nvPr>
        </p:nvSpPr>
        <p:spPr>
          <a:xfrm>
            <a:off x="6370317" y="1091885"/>
            <a:ext cx="5130734" cy="5048973"/>
          </a:xfrm>
        </p:spPr>
        <p:txBody>
          <a:bodyPr>
            <a:normAutofit fontScale="85000" lnSpcReduction="20000"/>
          </a:bodyPr>
          <a:lstStyle/>
          <a:p>
            <a:r>
              <a:rPr lang="en-US" dirty="0"/>
              <a:t>Exam Results</a:t>
            </a:r>
          </a:p>
          <a:p>
            <a:r>
              <a:rPr lang="en-US" dirty="0"/>
              <a:t>Important Terminology</a:t>
            </a:r>
          </a:p>
          <a:p>
            <a:r>
              <a:rPr lang="en-US" dirty="0"/>
              <a:t>Acute vs. Chronic Stress</a:t>
            </a:r>
          </a:p>
          <a:p>
            <a:r>
              <a:rPr lang="en-US" dirty="0"/>
              <a:t>Stress Response</a:t>
            </a:r>
          </a:p>
          <a:p>
            <a:r>
              <a:rPr lang="en-US" dirty="0"/>
              <a:t>Physiology of Stress</a:t>
            </a:r>
          </a:p>
          <a:p>
            <a:r>
              <a:rPr lang="en-US" dirty="0"/>
              <a:t>Impacts of Chronic Stress</a:t>
            </a:r>
          </a:p>
          <a:p>
            <a:r>
              <a:rPr lang="en-US" dirty="0"/>
              <a:t>Stressors</a:t>
            </a:r>
          </a:p>
          <a:p>
            <a:r>
              <a:rPr lang="en-US" dirty="0"/>
              <a:t>Workplace Stress</a:t>
            </a:r>
          </a:p>
          <a:p>
            <a:r>
              <a:rPr lang="en-US" dirty="0"/>
              <a:t>Stress Adaptation</a:t>
            </a:r>
          </a:p>
          <a:p>
            <a:r>
              <a:rPr lang="en-US" dirty="0"/>
              <a:t>Studying Stress</a:t>
            </a:r>
          </a:p>
        </p:txBody>
      </p:sp>
    </p:spTree>
    <p:extLst>
      <p:ext uri="{BB962C8B-B14F-4D97-AF65-F5344CB8AC3E}">
        <p14:creationId xmlns:p14="http://schemas.microsoft.com/office/powerpoint/2010/main" val="20813644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9D52B27-02F8-EBC5-95E8-FA2C9309CF92}"/>
              </a:ext>
            </a:extLst>
          </p:cNvPr>
          <p:cNvSpPr>
            <a:spLocks noGrp="1"/>
          </p:cNvSpPr>
          <p:nvPr>
            <p:ph type="title"/>
          </p:nvPr>
        </p:nvSpPr>
        <p:spPr/>
        <p:txBody>
          <a:bodyPr/>
          <a:lstStyle/>
          <a:p>
            <a:r>
              <a:rPr lang="en-US" dirty="0"/>
              <a:t>Important Terminology</a:t>
            </a:r>
          </a:p>
        </p:txBody>
      </p:sp>
      <p:sp>
        <p:nvSpPr>
          <p:cNvPr id="3" name="Slide Number Placeholder 2">
            <a:extLst>
              <a:ext uri="{FF2B5EF4-FFF2-40B4-BE49-F238E27FC236}">
                <a16:creationId xmlns:a16="http://schemas.microsoft.com/office/drawing/2014/main" id="{0506C7ED-17F5-ED13-FA36-7B9792E1B76F}"/>
              </a:ext>
            </a:extLst>
          </p:cNvPr>
          <p:cNvSpPr>
            <a:spLocks noGrp="1"/>
          </p:cNvSpPr>
          <p:nvPr>
            <p:ph type="sldNum" sz="quarter" idx="4"/>
          </p:nvPr>
        </p:nvSpPr>
        <p:spPr/>
        <p:txBody>
          <a:bodyPr/>
          <a:lstStyle/>
          <a:p>
            <a:fld id="{6D22F896-40B5-4ADD-8801-0D06FADFA095}" type="slidenum">
              <a:rPr lang="en-US" smtClean="0"/>
              <a:pPr/>
              <a:t>3</a:t>
            </a:fld>
            <a:endParaRPr lang="en-US" dirty="0"/>
          </a:p>
        </p:txBody>
      </p:sp>
      <p:sp>
        <p:nvSpPr>
          <p:cNvPr id="6" name="Content Placeholder 5">
            <a:extLst>
              <a:ext uri="{FF2B5EF4-FFF2-40B4-BE49-F238E27FC236}">
                <a16:creationId xmlns:a16="http://schemas.microsoft.com/office/drawing/2014/main" id="{F8309AD3-BA7B-1441-8C13-31CC66AF1FD8}"/>
              </a:ext>
            </a:extLst>
          </p:cNvPr>
          <p:cNvSpPr>
            <a:spLocks noGrp="1"/>
          </p:cNvSpPr>
          <p:nvPr>
            <p:ph sz="quarter" idx="10"/>
          </p:nvPr>
        </p:nvSpPr>
        <p:spPr>
          <a:xfrm>
            <a:off x="566726" y="2392441"/>
            <a:ext cx="11104270" cy="3967795"/>
          </a:xfrm>
        </p:spPr>
        <p:txBody>
          <a:bodyPr>
            <a:normAutofit fontScale="92500" lnSpcReduction="20000"/>
          </a:bodyPr>
          <a:lstStyle/>
          <a:p>
            <a:pPr marL="342900" indent="-342900">
              <a:buFont typeface="Arial" panose="020B0604020202020204" pitchFamily="34" charset="0"/>
              <a:buChar char="•"/>
            </a:pPr>
            <a:r>
              <a:rPr lang="en-US" b="1" u="sng" dirty="0"/>
              <a:t>Acute stress</a:t>
            </a:r>
            <a:r>
              <a:rPr lang="en-US" b="1" dirty="0"/>
              <a:t> </a:t>
            </a:r>
            <a:r>
              <a:rPr lang="en-US" dirty="0"/>
              <a:t>– a short-term exposure to stress that can be intense</a:t>
            </a:r>
          </a:p>
          <a:p>
            <a:pPr marL="342900" indent="-342900">
              <a:buFont typeface="Arial" panose="020B0604020202020204" pitchFamily="34" charset="0"/>
              <a:buChar char="•"/>
            </a:pPr>
            <a:r>
              <a:rPr lang="en-US" b="1" u="sng" dirty="0"/>
              <a:t>Chronic stress</a:t>
            </a:r>
            <a:r>
              <a:rPr lang="en-US" dirty="0"/>
              <a:t> – a long-term form of stress characterized by substantial physical and psychological strain</a:t>
            </a:r>
          </a:p>
          <a:p>
            <a:pPr marL="342900" indent="-342900">
              <a:buFont typeface="Arial" panose="020B0604020202020204" pitchFamily="34" charset="0"/>
              <a:buChar char="•"/>
            </a:pPr>
            <a:r>
              <a:rPr lang="en-US" b="1" u="sng" dirty="0"/>
              <a:t>Fight-or-flight response </a:t>
            </a:r>
            <a:r>
              <a:rPr lang="en-US" dirty="0"/>
              <a:t>– the instinctual and instantaneous response to escape a stressor</a:t>
            </a:r>
          </a:p>
          <a:p>
            <a:pPr marL="342900" indent="-342900">
              <a:buFont typeface="Arial" panose="020B0604020202020204" pitchFamily="34" charset="0"/>
              <a:buChar char="•"/>
            </a:pPr>
            <a:r>
              <a:rPr lang="en-US" b="1" u="sng" dirty="0"/>
              <a:t>Reactivity</a:t>
            </a:r>
            <a:r>
              <a:rPr lang="en-US" dirty="0"/>
              <a:t> – the degree of change that occurs in autonomic, endocrine, and/or immune responses as a result of stress</a:t>
            </a:r>
            <a:endParaRPr lang="en-US" b="1" u="sng" dirty="0"/>
          </a:p>
          <a:p>
            <a:pPr marL="342900" indent="-342900">
              <a:buFont typeface="Arial" panose="020B0604020202020204" pitchFamily="34" charset="0"/>
              <a:buChar char="•"/>
            </a:pPr>
            <a:r>
              <a:rPr lang="en-US" b="1" u="sng" dirty="0"/>
              <a:t>Allostatic load</a:t>
            </a:r>
            <a:r>
              <a:rPr lang="en-US" dirty="0"/>
              <a:t> – the cumulative physiological and psychological cost of long-term chronic stress exposure</a:t>
            </a:r>
            <a:endParaRPr lang="en-US" b="1" u="sng" dirty="0"/>
          </a:p>
          <a:p>
            <a:pPr marL="342900" indent="-342900">
              <a:buFont typeface="Arial" panose="020B0604020202020204" pitchFamily="34" charset="0"/>
              <a:buChar char="•"/>
            </a:pPr>
            <a:r>
              <a:rPr lang="en-US" b="1" u="sng" dirty="0"/>
              <a:t>Hypothalamic-Pituitary-Adrenal (HPA) axis </a:t>
            </a:r>
            <a:r>
              <a:rPr lang="en-US" dirty="0"/>
              <a:t>– endocrine system that regulates stress response</a:t>
            </a:r>
          </a:p>
          <a:p>
            <a:pPr marL="342900" indent="-342900">
              <a:buFont typeface="Arial" panose="020B0604020202020204" pitchFamily="34" charset="0"/>
              <a:buChar char="•"/>
            </a:pPr>
            <a:r>
              <a:rPr lang="en-US" b="1" u="sng" dirty="0"/>
              <a:t>Cortisol</a:t>
            </a:r>
            <a:r>
              <a:rPr lang="en-US" dirty="0"/>
              <a:t> – the “stress hormone”</a:t>
            </a:r>
          </a:p>
        </p:txBody>
      </p:sp>
    </p:spTree>
    <p:extLst>
      <p:ext uri="{BB962C8B-B14F-4D97-AF65-F5344CB8AC3E}">
        <p14:creationId xmlns:p14="http://schemas.microsoft.com/office/powerpoint/2010/main" val="17217163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3AD16FF-BF69-76C7-6A77-5183B7AA5AAA}"/>
              </a:ext>
            </a:extLst>
          </p:cNvPr>
          <p:cNvSpPr>
            <a:spLocks noGrp="1"/>
          </p:cNvSpPr>
          <p:nvPr>
            <p:ph type="title"/>
          </p:nvPr>
        </p:nvSpPr>
        <p:spPr/>
        <p:txBody>
          <a:bodyPr/>
          <a:lstStyle/>
          <a:p>
            <a:r>
              <a:rPr lang="en-US" dirty="0"/>
              <a:t>Acute Stress vs. </a:t>
            </a:r>
            <a:br>
              <a:rPr lang="en-US" dirty="0"/>
            </a:br>
            <a:r>
              <a:rPr lang="en-US" dirty="0"/>
              <a:t>Chronic Stress</a:t>
            </a:r>
          </a:p>
        </p:txBody>
      </p:sp>
      <p:sp>
        <p:nvSpPr>
          <p:cNvPr id="3" name="Slide Number Placeholder 2">
            <a:extLst>
              <a:ext uri="{FF2B5EF4-FFF2-40B4-BE49-F238E27FC236}">
                <a16:creationId xmlns:a16="http://schemas.microsoft.com/office/drawing/2014/main" id="{6DC3650A-4E45-AC18-3852-631FFB67D346}"/>
              </a:ext>
            </a:extLst>
          </p:cNvPr>
          <p:cNvSpPr>
            <a:spLocks noGrp="1"/>
          </p:cNvSpPr>
          <p:nvPr>
            <p:ph type="sldNum" sz="quarter" idx="4"/>
          </p:nvPr>
        </p:nvSpPr>
        <p:spPr/>
        <p:txBody>
          <a:bodyPr/>
          <a:lstStyle/>
          <a:p>
            <a:fld id="{6D22F896-40B5-4ADD-8801-0D06FADFA095}" type="slidenum">
              <a:rPr lang="en-US" smtClean="0"/>
              <a:pPr/>
              <a:t>4</a:t>
            </a:fld>
            <a:endParaRPr lang="en-US" dirty="0"/>
          </a:p>
        </p:txBody>
      </p:sp>
      <p:sp>
        <p:nvSpPr>
          <p:cNvPr id="9" name="Content Placeholder 8">
            <a:extLst>
              <a:ext uri="{FF2B5EF4-FFF2-40B4-BE49-F238E27FC236}">
                <a16:creationId xmlns:a16="http://schemas.microsoft.com/office/drawing/2014/main" id="{3D1CEDE8-6E72-6543-C9AB-D10DC2336D74}"/>
              </a:ext>
            </a:extLst>
          </p:cNvPr>
          <p:cNvSpPr>
            <a:spLocks noGrp="1"/>
          </p:cNvSpPr>
          <p:nvPr>
            <p:ph sz="quarter" idx="10"/>
          </p:nvPr>
        </p:nvSpPr>
        <p:spPr/>
        <p:txBody>
          <a:bodyPr/>
          <a:lstStyle/>
          <a:p>
            <a:pPr marL="457200" indent="-457200">
              <a:buFont typeface="Arial" panose="020B0604020202020204" pitchFamily="34" charset="0"/>
              <a:buChar char="•"/>
            </a:pPr>
            <a:r>
              <a:rPr lang="en-US" dirty="0"/>
              <a:t>How are they similar?</a:t>
            </a:r>
          </a:p>
          <a:p>
            <a:pPr marL="457200" indent="-457200">
              <a:buFont typeface="Arial" panose="020B0604020202020204" pitchFamily="34" charset="0"/>
              <a:buChar char="•"/>
            </a:pPr>
            <a:r>
              <a:rPr lang="en-US" dirty="0"/>
              <a:t>How are they different? </a:t>
            </a:r>
          </a:p>
          <a:p>
            <a:pPr marL="457200" indent="-457200">
              <a:buFont typeface="Arial" panose="020B0604020202020204" pitchFamily="34" charset="0"/>
              <a:buChar char="•"/>
            </a:pPr>
            <a:r>
              <a:rPr lang="en-US" dirty="0"/>
              <a:t>How do they effect the body differently?</a:t>
            </a:r>
          </a:p>
          <a:p>
            <a:pPr marL="457200" indent="-457200">
              <a:buFont typeface="Arial" panose="020B0604020202020204" pitchFamily="34" charset="0"/>
              <a:buChar char="•"/>
            </a:pPr>
            <a:r>
              <a:rPr lang="en-US" dirty="0"/>
              <a:t>How do we study them?</a:t>
            </a:r>
          </a:p>
        </p:txBody>
      </p:sp>
      <p:pic>
        <p:nvPicPr>
          <p:cNvPr id="14" name="Picture Placeholder 13">
            <a:extLst>
              <a:ext uri="{FF2B5EF4-FFF2-40B4-BE49-F238E27FC236}">
                <a16:creationId xmlns:a16="http://schemas.microsoft.com/office/drawing/2014/main" id="{ED5A00E9-A51E-67E0-F0EB-6549A9371F31}"/>
              </a:ext>
            </a:extLst>
          </p:cNvPr>
          <p:cNvPicPr>
            <a:picLocks noGrp="1" noChangeAspect="1"/>
          </p:cNvPicPr>
          <p:nvPr>
            <p:ph type="pic" sz="quarter" idx="11"/>
          </p:nvPr>
        </p:nvPicPr>
        <p:blipFill>
          <a:blip r:embed="rId3">
            <a:extLst>
              <a:ext uri="{837473B0-CC2E-450A-ABE3-18F120FF3D39}">
                <a1611:picAttrSrcUrl xmlns:a1611="http://schemas.microsoft.com/office/drawing/2016/11/main" r:id="rId4"/>
              </a:ext>
            </a:extLst>
          </a:blip>
          <a:srcRect l="6976" r="25984"/>
          <a:stretch>
            <a:fillRect/>
          </a:stretch>
        </p:blipFill>
        <p:spPr>
          <a:xfrm>
            <a:off x="7271340" y="997689"/>
            <a:ext cx="4607151" cy="5761037"/>
          </a:xfrm>
        </p:spPr>
      </p:pic>
    </p:spTree>
    <p:extLst>
      <p:ext uri="{BB962C8B-B14F-4D97-AF65-F5344CB8AC3E}">
        <p14:creationId xmlns:p14="http://schemas.microsoft.com/office/powerpoint/2010/main" val="2375841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E430E-DC38-3E30-FC7F-2F6AE289880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36A7674-AB04-7463-68A1-87073DB30220}"/>
              </a:ext>
            </a:extLst>
          </p:cNvPr>
          <p:cNvSpPr>
            <a:spLocks noGrp="1"/>
          </p:cNvSpPr>
          <p:nvPr>
            <p:ph type="title"/>
          </p:nvPr>
        </p:nvSpPr>
        <p:spPr/>
        <p:txBody>
          <a:bodyPr/>
          <a:lstStyle/>
          <a:p>
            <a:r>
              <a:rPr lang="en-US" dirty="0"/>
              <a:t>Responding to Stress</a:t>
            </a:r>
          </a:p>
        </p:txBody>
      </p:sp>
      <p:sp>
        <p:nvSpPr>
          <p:cNvPr id="3" name="Slide Number Placeholder 2">
            <a:extLst>
              <a:ext uri="{FF2B5EF4-FFF2-40B4-BE49-F238E27FC236}">
                <a16:creationId xmlns:a16="http://schemas.microsoft.com/office/drawing/2014/main" id="{9C2A82EC-8084-3868-577E-BC9D06C5C93E}"/>
              </a:ext>
            </a:extLst>
          </p:cNvPr>
          <p:cNvSpPr>
            <a:spLocks noGrp="1"/>
          </p:cNvSpPr>
          <p:nvPr>
            <p:ph type="sldNum" sz="quarter" idx="4"/>
          </p:nvPr>
        </p:nvSpPr>
        <p:spPr/>
        <p:txBody>
          <a:bodyPr/>
          <a:lstStyle/>
          <a:p>
            <a:fld id="{6D22F896-40B5-4ADD-8801-0D06FADFA095}" type="slidenum">
              <a:rPr lang="en-US" smtClean="0"/>
              <a:pPr/>
              <a:t>5</a:t>
            </a:fld>
            <a:endParaRPr lang="en-US" dirty="0"/>
          </a:p>
        </p:txBody>
      </p:sp>
      <p:pic>
        <p:nvPicPr>
          <p:cNvPr id="1026" name="Picture 2" descr="Understanding the 5 Trauma Responses: Fight, Flight, Freeze, Fawn, and Flop">
            <a:extLst>
              <a:ext uri="{FF2B5EF4-FFF2-40B4-BE49-F238E27FC236}">
                <a16:creationId xmlns:a16="http://schemas.microsoft.com/office/drawing/2014/main" id="{70D33BE6-05A5-5660-A397-3F7875CA49BE}"/>
              </a:ext>
            </a:extLst>
          </p:cNvPr>
          <p:cNvPicPr>
            <a:picLocks noGrp="1" noChangeAspect="1" noChangeArrowheads="1"/>
          </p:cNvPicPr>
          <p:nvPr>
            <p:ph sz="quarter" idx="10"/>
          </p:nvPr>
        </p:nvPicPr>
        <p:blipFill>
          <a:blip r:embed="rId2">
            <a:extLst>
              <a:ext uri="{28A0092B-C50C-407E-A947-70E740481C1C}">
                <a14:useLocalDpi xmlns:a14="http://schemas.microsoft.com/office/drawing/2010/main" val="0"/>
              </a:ext>
            </a:extLst>
          </a:blip>
          <a:stretch>
            <a:fillRect/>
          </a:stretch>
        </p:blipFill>
        <p:spPr bwMode="auto">
          <a:xfrm>
            <a:off x="5168536" y="854440"/>
            <a:ext cx="5534569" cy="55345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9665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5CF11-BA09-C452-32A4-389019D11B9D}"/>
              </a:ext>
            </a:extLst>
          </p:cNvPr>
          <p:cNvSpPr>
            <a:spLocks noGrp="1"/>
          </p:cNvSpPr>
          <p:nvPr>
            <p:ph type="title"/>
          </p:nvPr>
        </p:nvSpPr>
        <p:spPr/>
        <p:txBody>
          <a:bodyPr/>
          <a:lstStyle/>
          <a:p>
            <a:r>
              <a:rPr lang="en-US" dirty="0"/>
              <a:t>Selye’s General Adaptation Syndrome</a:t>
            </a:r>
          </a:p>
        </p:txBody>
      </p:sp>
      <p:sp>
        <p:nvSpPr>
          <p:cNvPr id="3" name="Slide Number Placeholder 2">
            <a:extLst>
              <a:ext uri="{FF2B5EF4-FFF2-40B4-BE49-F238E27FC236}">
                <a16:creationId xmlns:a16="http://schemas.microsoft.com/office/drawing/2014/main" id="{D5C38AA7-8341-F9B2-866E-D1571FD222AE}"/>
              </a:ext>
            </a:extLst>
          </p:cNvPr>
          <p:cNvSpPr>
            <a:spLocks noGrp="1"/>
          </p:cNvSpPr>
          <p:nvPr>
            <p:ph type="sldNum" sz="quarter" idx="4"/>
          </p:nvPr>
        </p:nvSpPr>
        <p:spPr/>
        <p:txBody>
          <a:bodyPr/>
          <a:lstStyle/>
          <a:p>
            <a:fld id="{6D22F896-40B5-4ADD-8801-0D06FADFA095}" type="slidenum">
              <a:rPr lang="en-US" smtClean="0"/>
              <a:pPr/>
              <a:t>6</a:t>
            </a:fld>
            <a:endParaRPr lang="en-US" dirty="0"/>
          </a:p>
        </p:txBody>
      </p:sp>
      <p:sp>
        <p:nvSpPr>
          <p:cNvPr id="4" name="Content Placeholder 3">
            <a:extLst>
              <a:ext uri="{FF2B5EF4-FFF2-40B4-BE49-F238E27FC236}">
                <a16:creationId xmlns:a16="http://schemas.microsoft.com/office/drawing/2014/main" id="{6CAE9FF9-CDA5-2A14-BF20-C69C6B7C7CB8}"/>
              </a:ext>
            </a:extLst>
          </p:cNvPr>
          <p:cNvSpPr>
            <a:spLocks noGrp="1"/>
          </p:cNvSpPr>
          <p:nvPr>
            <p:ph sz="quarter" idx="11"/>
          </p:nvPr>
        </p:nvSpPr>
        <p:spPr>
          <a:xfrm>
            <a:off x="551486" y="2392441"/>
            <a:ext cx="4786867" cy="3967795"/>
          </a:xfrm>
        </p:spPr>
        <p:txBody>
          <a:bodyPr>
            <a:normAutofit fontScale="92500" lnSpcReduction="20000"/>
          </a:bodyPr>
          <a:lstStyle/>
          <a:p>
            <a:pPr>
              <a:spcBef>
                <a:spcPts val="600"/>
              </a:spcBef>
              <a:spcAft>
                <a:spcPts val="0"/>
              </a:spcAft>
            </a:pPr>
            <a:r>
              <a:rPr lang="en-US" dirty="0"/>
              <a:t>Believed that all stress responses followed same pattern of alarm, resistance, exhaustion</a:t>
            </a:r>
          </a:p>
          <a:p>
            <a:pPr>
              <a:spcBef>
                <a:spcPts val="600"/>
              </a:spcBef>
              <a:spcAft>
                <a:spcPts val="0"/>
              </a:spcAft>
            </a:pPr>
            <a:r>
              <a:rPr lang="en-US" dirty="0"/>
              <a:t>Critiques:</a:t>
            </a:r>
          </a:p>
          <a:p>
            <a:pPr lvl="1">
              <a:spcBef>
                <a:spcPts val="600"/>
              </a:spcBef>
              <a:spcAft>
                <a:spcPts val="0"/>
              </a:spcAft>
            </a:pPr>
            <a:r>
              <a:rPr lang="en-US" dirty="0"/>
              <a:t>Minimal psychological role</a:t>
            </a:r>
          </a:p>
          <a:p>
            <a:pPr lvl="1">
              <a:spcBef>
                <a:spcPts val="600"/>
              </a:spcBef>
              <a:spcAft>
                <a:spcPts val="0"/>
              </a:spcAft>
            </a:pPr>
            <a:r>
              <a:rPr lang="en-US" dirty="0"/>
              <a:t>Not all stressors produce the same response, nor do all people</a:t>
            </a:r>
          </a:p>
          <a:p>
            <a:pPr lvl="1">
              <a:spcBef>
                <a:spcPts val="600"/>
              </a:spcBef>
              <a:spcAft>
                <a:spcPts val="0"/>
              </a:spcAft>
            </a:pPr>
            <a:r>
              <a:rPr lang="en-US" dirty="0"/>
              <a:t>Doesn’t address accumulating damage aspect well</a:t>
            </a:r>
          </a:p>
          <a:p>
            <a:pPr lvl="1">
              <a:spcBef>
                <a:spcPts val="600"/>
              </a:spcBef>
              <a:spcAft>
                <a:spcPts val="0"/>
              </a:spcAft>
            </a:pPr>
            <a:r>
              <a:rPr lang="en-US" dirty="0"/>
              <a:t>Focuses on stress as an outcome, ignoring pre-event stress, or post-event deliberations </a:t>
            </a:r>
          </a:p>
        </p:txBody>
      </p:sp>
      <p:pic>
        <p:nvPicPr>
          <p:cNvPr id="6" name="Picture Placeholder 12" descr="The three phases of Selye’s general adaptation syndrome are depicted.">
            <a:extLst>
              <a:ext uri="{FF2B5EF4-FFF2-40B4-BE49-F238E27FC236}">
                <a16:creationId xmlns:a16="http://schemas.microsoft.com/office/drawing/2014/main" id="{7EBA22DD-4C3E-FCCF-7A3A-D51C6CEFC9E3}"/>
              </a:ext>
            </a:extLst>
          </p:cNvPr>
          <p:cNvPicPr>
            <a:picLocks noGrp="1" noChangeAspect="1"/>
          </p:cNvPicPr>
          <p:nvPr>
            <p:ph sz="quarter" idx="10"/>
          </p:nvPr>
        </p:nvPicPr>
        <p:blipFill rotWithShape="1">
          <a:blip r:embed="rId3">
            <a:extLst>
              <a:ext uri="{28A0092B-C50C-407E-A947-70E740481C1C}">
                <a14:useLocalDpi xmlns:a14="http://schemas.microsoft.com/office/drawing/2010/main" val="0"/>
              </a:ext>
            </a:extLst>
          </a:blip>
          <a:srcRect t="-93" b="211"/>
          <a:stretch/>
        </p:blipFill>
        <p:spPr>
          <a:xfrm>
            <a:off x="5676733" y="2392363"/>
            <a:ext cx="5020009" cy="3967162"/>
          </a:xfrm>
        </p:spPr>
      </p:pic>
    </p:spTree>
    <p:extLst>
      <p:ext uri="{BB962C8B-B14F-4D97-AF65-F5344CB8AC3E}">
        <p14:creationId xmlns:p14="http://schemas.microsoft.com/office/powerpoint/2010/main" val="2106586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32704D71-970A-73DB-E581-4A717873B3A6}"/>
              </a:ext>
            </a:extLst>
          </p:cNvPr>
          <p:cNvSpPr>
            <a:spLocks noGrp="1"/>
          </p:cNvSpPr>
          <p:nvPr>
            <p:ph type="title"/>
          </p:nvPr>
        </p:nvSpPr>
        <p:spPr/>
        <p:txBody>
          <a:bodyPr/>
          <a:lstStyle/>
          <a:p>
            <a:r>
              <a:rPr lang="en-US" dirty="0"/>
              <a:t>So, what is happening during a stress response?</a:t>
            </a:r>
          </a:p>
        </p:txBody>
      </p:sp>
      <p:sp>
        <p:nvSpPr>
          <p:cNvPr id="3" name="Slide Number Placeholder 2">
            <a:extLst>
              <a:ext uri="{FF2B5EF4-FFF2-40B4-BE49-F238E27FC236}">
                <a16:creationId xmlns:a16="http://schemas.microsoft.com/office/drawing/2014/main" id="{50BDF340-7588-D5AB-CDE8-A000F9EC0EC7}"/>
              </a:ext>
            </a:extLst>
          </p:cNvPr>
          <p:cNvSpPr>
            <a:spLocks noGrp="1"/>
          </p:cNvSpPr>
          <p:nvPr>
            <p:ph type="sldNum" sz="quarter" idx="4294967295"/>
          </p:nvPr>
        </p:nvSpPr>
        <p:spPr>
          <a:xfrm>
            <a:off x="11279188" y="517525"/>
            <a:ext cx="912812" cy="479425"/>
          </a:xfrm>
        </p:spPr>
        <p:txBody>
          <a:bodyPr/>
          <a:lstStyle/>
          <a:p>
            <a:fld id="{6D22F896-40B5-4ADD-8801-0D06FADFA095}" type="slidenum">
              <a:rPr lang="en-US" smtClean="0"/>
              <a:pPr/>
              <a:t>7</a:t>
            </a:fld>
            <a:endParaRPr lang="en-US" dirty="0"/>
          </a:p>
        </p:txBody>
      </p:sp>
    </p:spTree>
    <p:extLst>
      <p:ext uri="{BB962C8B-B14F-4D97-AF65-F5344CB8AC3E}">
        <p14:creationId xmlns:p14="http://schemas.microsoft.com/office/powerpoint/2010/main" val="28491216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A0BD5-FB6E-8858-B9B2-D7AAAB2C7FF2}"/>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7A0A5A0-2F4F-24CE-4CAC-C077F961957A}"/>
              </a:ext>
            </a:extLst>
          </p:cNvPr>
          <p:cNvSpPr>
            <a:spLocks noGrp="1"/>
          </p:cNvSpPr>
          <p:nvPr>
            <p:ph type="title"/>
          </p:nvPr>
        </p:nvSpPr>
        <p:spPr/>
        <p:txBody>
          <a:bodyPr/>
          <a:lstStyle/>
          <a:p>
            <a:r>
              <a:rPr lang="en-US" dirty="0"/>
              <a:t>The Physiology of Stress</a:t>
            </a:r>
          </a:p>
        </p:txBody>
      </p:sp>
      <p:sp>
        <p:nvSpPr>
          <p:cNvPr id="3" name="Slide Number Placeholder 2">
            <a:extLst>
              <a:ext uri="{FF2B5EF4-FFF2-40B4-BE49-F238E27FC236}">
                <a16:creationId xmlns:a16="http://schemas.microsoft.com/office/drawing/2014/main" id="{F6A7BCC9-F138-C9B2-631F-AB4C537EA3CA}"/>
              </a:ext>
            </a:extLst>
          </p:cNvPr>
          <p:cNvSpPr>
            <a:spLocks noGrp="1"/>
          </p:cNvSpPr>
          <p:nvPr>
            <p:ph type="sldNum" sz="quarter" idx="4"/>
          </p:nvPr>
        </p:nvSpPr>
        <p:spPr/>
        <p:txBody>
          <a:bodyPr/>
          <a:lstStyle/>
          <a:p>
            <a:fld id="{6D22F896-40B5-4ADD-8801-0D06FADFA095}" type="slidenum">
              <a:rPr lang="en-US" smtClean="0"/>
              <a:pPr/>
              <a:t>8</a:t>
            </a:fld>
            <a:endParaRPr lang="en-US" dirty="0"/>
          </a:p>
        </p:txBody>
      </p:sp>
      <p:pic>
        <p:nvPicPr>
          <p:cNvPr id="2" name="Content Placeholder 1" descr="A picture containing text, screenshot&#10;&#10;Description automatically generated">
            <a:extLst>
              <a:ext uri="{FF2B5EF4-FFF2-40B4-BE49-F238E27FC236}">
                <a16:creationId xmlns:a16="http://schemas.microsoft.com/office/drawing/2014/main" id="{32ECA44D-12D7-29F0-F593-7813083657CB}"/>
              </a:ext>
            </a:extLst>
          </p:cNvPr>
          <p:cNvPicPr>
            <a:picLocks noGrp="1" noChangeAspect="1"/>
          </p:cNvPicPr>
          <p:nvPr>
            <p:ph sz="quarter" idx="10"/>
          </p:nvPr>
        </p:nvPicPr>
        <p:blipFill rotWithShape="1">
          <a:blip r:embed="rId3" cstate="print">
            <a:extLst>
              <a:ext uri="{28A0092B-C50C-407E-A947-70E740481C1C}">
                <a14:useLocalDpi xmlns:a14="http://schemas.microsoft.com/office/drawing/2010/main" val="0"/>
              </a:ext>
            </a:extLst>
          </a:blip>
          <a:srcRect l="3646" t="17448" r="5208" b="11719"/>
          <a:stretch/>
        </p:blipFill>
        <p:spPr bwMode="auto">
          <a:xfrm>
            <a:off x="1983477" y="2098964"/>
            <a:ext cx="8225045" cy="4261330"/>
          </a:xfrm>
          <a:prstGeom prst="rect">
            <a:avLst/>
          </a:prstGeom>
          <a:noFill/>
          <a:ln>
            <a:noFill/>
          </a:ln>
          <a:extLst>
            <a:ext uri="{53640926-AAD7-44D8-BBD7-CCE9431645EC}">
              <a14:shadowObscured xmlns:a14="http://schemas.microsoft.com/office/drawing/2010/main"/>
            </a:ext>
          </a:extLst>
        </p:spPr>
      </p:pic>
      <p:sp>
        <p:nvSpPr>
          <p:cNvPr id="4" name="TextBox 3">
            <a:extLst>
              <a:ext uri="{FF2B5EF4-FFF2-40B4-BE49-F238E27FC236}">
                <a16:creationId xmlns:a16="http://schemas.microsoft.com/office/drawing/2014/main" id="{ABA97AB6-A466-F999-6B07-3FA208A2F904}"/>
              </a:ext>
            </a:extLst>
          </p:cNvPr>
          <p:cNvSpPr txBox="1"/>
          <p:nvPr/>
        </p:nvSpPr>
        <p:spPr>
          <a:xfrm>
            <a:off x="8011391" y="997688"/>
            <a:ext cx="3243452" cy="1015663"/>
          </a:xfrm>
          <a:prstGeom prst="rect">
            <a:avLst/>
          </a:prstGeom>
          <a:noFill/>
          <a:ln w="38100">
            <a:solidFill>
              <a:srgbClr val="00B0F0"/>
            </a:solidFill>
          </a:ln>
        </p:spPr>
        <p:txBody>
          <a:bodyPr wrap="square" rtlCol="0">
            <a:spAutoFit/>
          </a:bodyPr>
          <a:lstStyle/>
          <a:p>
            <a:r>
              <a:rPr lang="en-US" sz="2000" b="1" dirty="0">
                <a:solidFill>
                  <a:schemeClr val="bg1"/>
                </a:solidFill>
              </a:rPr>
              <a:t>Step 1: </a:t>
            </a:r>
            <a:r>
              <a:rPr lang="en-US" sz="2000" dirty="0">
                <a:solidFill>
                  <a:schemeClr val="bg1"/>
                </a:solidFill>
              </a:rPr>
              <a:t>Hypothalamus releases CRF at a higher-than-usual rate</a:t>
            </a:r>
          </a:p>
        </p:txBody>
      </p:sp>
      <p:sp>
        <p:nvSpPr>
          <p:cNvPr id="7" name="TextBox 6">
            <a:extLst>
              <a:ext uri="{FF2B5EF4-FFF2-40B4-BE49-F238E27FC236}">
                <a16:creationId xmlns:a16="http://schemas.microsoft.com/office/drawing/2014/main" id="{F71B6051-B6D8-3C02-294E-97932ACD88DA}"/>
              </a:ext>
            </a:extLst>
          </p:cNvPr>
          <p:cNvSpPr txBox="1"/>
          <p:nvPr/>
        </p:nvSpPr>
        <p:spPr>
          <a:xfrm>
            <a:off x="7034645" y="6360294"/>
            <a:ext cx="5044240" cy="369332"/>
          </a:xfrm>
          <a:prstGeom prst="rect">
            <a:avLst/>
          </a:prstGeom>
          <a:noFill/>
        </p:spPr>
        <p:txBody>
          <a:bodyPr wrap="square" rtlCol="0">
            <a:spAutoFit/>
          </a:bodyPr>
          <a:lstStyle/>
          <a:p>
            <a:r>
              <a:rPr lang="en-US" dirty="0">
                <a:solidFill>
                  <a:schemeClr val="bg1"/>
                </a:solidFill>
              </a:rPr>
              <a:t>Note: CRF = corticotropin-releasing factor</a:t>
            </a:r>
          </a:p>
        </p:txBody>
      </p:sp>
      <p:sp>
        <p:nvSpPr>
          <p:cNvPr id="8" name="Oval 7">
            <a:extLst>
              <a:ext uri="{FF2B5EF4-FFF2-40B4-BE49-F238E27FC236}">
                <a16:creationId xmlns:a16="http://schemas.microsoft.com/office/drawing/2014/main" id="{A1546DBB-2947-D120-90A4-967BC29B6CE2}"/>
              </a:ext>
            </a:extLst>
          </p:cNvPr>
          <p:cNvSpPr/>
          <p:nvPr/>
        </p:nvSpPr>
        <p:spPr>
          <a:xfrm>
            <a:off x="3896590" y="2013351"/>
            <a:ext cx="2919845" cy="2288485"/>
          </a:xfrm>
          <a:prstGeom prst="ellipse">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960594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DAD16-A9B2-DD7C-16D3-C9F5E41586B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7109295-A8F9-37FD-8888-0F03A51389F0}"/>
              </a:ext>
            </a:extLst>
          </p:cNvPr>
          <p:cNvSpPr>
            <a:spLocks noGrp="1"/>
          </p:cNvSpPr>
          <p:nvPr>
            <p:ph type="title"/>
          </p:nvPr>
        </p:nvSpPr>
        <p:spPr/>
        <p:txBody>
          <a:bodyPr/>
          <a:lstStyle/>
          <a:p>
            <a:r>
              <a:rPr lang="en-US" dirty="0"/>
              <a:t>The Physiology of Stress</a:t>
            </a:r>
          </a:p>
        </p:txBody>
      </p:sp>
      <p:sp>
        <p:nvSpPr>
          <p:cNvPr id="3" name="Slide Number Placeholder 2">
            <a:extLst>
              <a:ext uri="{FF2B5EF4-FFF2-40B4-BE49-F238E27FC236}">
                <a16:creationId xmlns:a16="http://schemas.microsoft.com/office/drawing/2014/main" id="{65194D99-A53A-3D01-975B-881F2728D0AA}"/>
              </a:ext>
            </a:extLst>
          </p:cNvPr>
          <p:cNvSpPr>
            <a:spLocks noGrp="1"/>
          </p:cNvSpPr>
          <p:nvPr>
            <p:ph type="sldNum" sz="quarter" idx="4"/>
          </p:nvPr>
        </p:nvSpPr>
        <p:spPr/>
        <p:txBody>
          <a:bodyPr/>
          <a:lstStyle/>
          <a:p>
            <a:fld id="{6D22F896-40B5-4ADD-8801-0D06FADFA095}" type="slidenum">
              <a:rPr lang="en-US" smtClean="0"/>
              <a:pPr/>
              <a:t>9</a:t>
            </a:fld>
            <a:endParaRPr lang="en-US" dirty="0"/>
          </a:p>
        </p:txBody>
      </p:sp>
      <p:pic>
        <p:nvPicPr>
          <p:cNvPr id="2" name="Content Placeholder 1" descr="A picture containing text, screenshot&#10;&#10;Description automatically generated">
            <a:extLst>
              <a:ext uri="{FF2B5EF4-FFF2-40B4-BE49-F238E27FC236}">
                <a16:creationId xmlns:a16="http://schemas.microsoft.com/office/drawing/2014/main" id="{BC6C2D3B-E834-6A20-B105-EFEF759B14E5}"/>
              </a:ext>
            </a:extLst>
          </p:cNvPr>
          <p:cNvPicPr>
            <a:picLocks noGrp="1" noChangeAspect="1"/>
          </p:cNvPicPr>
          <p:nvPr>
            <p:ph sz="quarter" idx="10"/>
          </p:nvPr>
        </p:nvPicPr>
        <p:blipFill rotWithShape="1">
          <a:blip r:embed="rId3" cstate="print">
            <a:extLst>
              <a:ext uri="{28A0092B-C50C-407E-A947-70E740481C1C}">
                <a14:useLocalDpi xmlns:a14="http://schemas.microsoft.com/office/drawing/2010/main" val="0"/>
              </a:ext>
            </a:extLst>
          </a:blip>
          <a:srcRect l="3646" t="17448" r="5208" b="11719"/>
          <a:stretch/>
        </p:blipFill>
        <p:spPr bwMode="auto">
          <a:xfrm>
            <a:off x="1983477" y="2098964"/>
            <a:ext cx="8225045" cy="4261330"/>
          </a:xfrm>
          <a:prstGeom prst="rect">
            <a:avLst/>
          </a:prstGeom>
          <a:noFill/>
          <a:ln>
            <a:noFill/>
          </a:ln>
          <a:extLst>
            <a:ext uri="{53640926-AAD7-44D8-BBD7-CCE9431645EC}">
              <a14:shadowObscured xmlns:a14="http://schemas.microsoft.com/office/drawing/2010/main"/>
            </a:ext>
          </a:extLst>
        </p:spPr>
      </p:pic>
      <p:sp>
        <p:nvSpPr>
          <p:cNvPr id="4" name="TextBox 3">
            <a:extLst>
              <a:ext uri="{FF2B5EF4-FFF2-40B4-BE49-F238E27FC236}">
                <a16:creationId xmlns:a16="http://schemas.microsoft.com/office/drawing/2014/main" id="{A055BF40-7072-61F0-DE00-478DC3323DE5}"/>
              </a:ext>
            </a:extLst>
          </p:cNvPr>
          <p:cNvSpPr txBox="1"/>
          <p:nvPr/>
        </p:nvSpPr>
        <p:spPr>
          <a:xfrm>
            <a:off x="8011391" y="997688"/>
            <a:ext cx="3243452" cy="1015663"/>
          </a:xfrm>
          <a:prstGeom prst="rect">
            <a:avLst/>
          </a:prstGeom>
          <a:noFill/>
          <a:ln w="38100">
            <a:solidFill>
              <a:srgbClr val="00B0F0"/>
            </a:solidFill>
          </a:ln>
        </p:spPr>
        <p:txBody>
          <a:bodyPr wrap="square" rtlCol="0">
            <a:spAutoFit/>
          </a:bodyPr>
          <a:lstStyle/>
          <a:p>
            <a:r>
              <a:rPr lang="en-US" sz="2000" b="1" dirty="0">
                <a:solidFill>
                  <a:schemeClr val="bg1"/>
                </a:solidFill>
              </a:rPr>
              <a:t>Step 2: </a:t>
            </a:r>
            <a:r>
              <a:rPr lang="en-US" sz="2000" dirty="0">
                <a:solidFill>
                  <a:schemeClr val="bg1"/>
                </a:solidFill>
              </a:rPr>
              <a:t>Pituitary gland is hit with CRF, triggering it to release ACTH</a:t>
            </a:r>
          </a:p>
        </p:txBody>
      </p:sp>
      <p:sp>
        <p:nvSpPr>
          <p:cNvPr id="7" name="TextBox 6">
            <a:extLst>
              <a:ext uri="{FF2B5EF4-FFF2-40B4-BE49-F238E27FC236}">
                <a16:creationId xmlns:a16="http://schemas.microsoft.com/office/drawing/2014/main" id="{D06E8000-1084-A9E0-59BC-9F5F2229099C}"/>
              </a:ext>
            </a:extLst>
          </p:cNvPr>
          <p:cNvSpPr txBox="1"/>
          <p:nvPr/>
        </p:nvSpPr>
        <p:spPr>
          <a:xfrm>
            <a:off x="7034645" y="6360294"/>
            <a:ext cx="5044240" cy="369332"/>
          </a:xfrm>
          <a:prstGeom prst="rect">
            <a:avLst/>
          </a:prstGeom>
          <a:noFill/>
        </p:spPr>
        <p:txBody>
          <a:bodyPr wrap="square" rtlCol="0">
            <a:spAutoFit/>
          </a:bodyPr>
          <a:lstStyle/>
          <a:p>
            <a:r>
              <a:rPr lang="en-US" dirty="0">
                <a:solidFill>
                  <a:schemeClr val="bg1"/>
                </a:solidFill>
              </a:rPr>
              <a:t>Note: ACTH = adrenocorticotropic hormone</a:t>
            </a:r>
          </a:p>
        </p:txBody>
      </p:sp>
      <p:sp>
        <p:nvSpPr>
          <p:cNvPr id="8" name="Oval 7">
            <a:extLst>
              <a:ext uri="{FF2B5EF4-FFF2-40B4-BE49-F238E27FC236}">
                <a16:creationId xmlns:a16="http://schemas.microsoft.com/office/drawing/2014/main" id="{14A44C4E-A970-6B47-7E4E-5E0CBF560DA4}"/>
              </a:ext>
            </a:extLst>
          </p:cNvPr>
          <p:cNvSpPr/>
          <p:nvPr/>
        </p:nvSpPr>
        <p:spPr>
          <a:xfrm>
            <a:off x="2670462" y="3209563"/>
            <a:ext cx="2919845" cy="2288485"/>
          </a:xfrm>
          <a:prstGeom prst="ellipse">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014718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28EFE-1D86-A50C-D694-A01EDE578F0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1E0E540-7BDA-B533-476F-5154D0E19138}"/>
              </a:ext>
            </a:extLst>
          </p:cNvPr>
          <p:cNvSpPr>
            <a:spLocks noGrp="1"/>
          </p:cNvSpPr>
          <p:nvPr>
            <p:ph type="title"/>
          </p:nvPr>
        </p:nvSpPr>
        <p:spPr/>
        <p:txBody>
          <a:bodyPr/>
          <a:lstStyle/>
          <a:p>
            <a:r>
              <a:rPr lang="en-US" dirty="0"/>
              <a:t>The Physiology of Stress</a:t>
            </a:r>
          </a:p>
        </p:txBody>
      </p:sp>
      <p:sp>
        <p:nvSpPr>
          <p:cNvPr id="3" name="Slide Number Placeholder 2">
            <a:extLst>
              <a:ext uri="{FF2B5EF4-FFF2-40B4-BE49-F238E27FC236}">
                <a16:creationId xmlns:a16="http://schemas.microsoft.com/office/drawing/2014/main" id="{969D913C-DB19-C640-C60A-9A9A135948F3}"/>
              </a:ext>
            </a:extLst>
          </p:cNvPr>
          <p:cNvSpPr>
            <a:spLocks noGrp="1"/>
          </p:cNvSpPr>
          <p:nvPr>
            <p:ph type="sldNum" sz="quarter" idx="4"/>
          </p:nvPr>
        </p:nvSpPr>
        <p:spPr/>
        <p:txBody>
          <a:bodyPr/>
          <a:lstStyle/>
          <a:p>
            <a:fld id="{6D22F896-40B5-4ADD-8801-0D06FADFA095}" type="slidenum">
              <a:rPr lang="en-US" smtClean="0"/>
              <a:pPr/>
              <a:t>10</a:t>
            </a:fld>
            <a:endParaRPr lang="en-US" dirty="0"/>
          </a:p>
        </p:txBody>
      </p:sp>
      <p:pic>
        <p:nvPicPr>
          <p:cNvPr id="2" name="Content Placeholder 1" descr="A picture containing text, screenshot&#10;&#10;Description automatically generated">
            <a:extLst>
              <a:ext uri="{FF2B5EF4-FFF2-40B4-BE49-F238E27FC236}">
                <a16:creationId xmlns:a16="http://schemas.microsoft.com/office/drawing/2014/main" id="{E1AC6667-3B06-E882-7F43-8CE478ADF75E}"/>
              </a:ext>
            </a:extLst>
          </p:cNvPr>
          <p:cNvPicPr>
            <a:picLocks noGrp="1" noChangeAspect="1"/>
          </p:cNvPicPr>
          <p:nvPr>
            <p:ph sz="quarter" idx="10"/>
          </p:nvPr>
        </p:nvPicPr>
        <p:blipFill rotWithShape="1">
          <a:blip r:embed="rId3" cstate="print">
            <a:extLst>
              <a:ext uri="{28A0092B-C50C-407E-A947-70E740481C1C}">
                <a14:useLocalDpi xmlns:a14="http://schemas.microsoft.com/office/drawing/2010/main" val="0"/>
              </a:ext>
            </a:extLst>
          </a:blip>
          <a:srcRect l="3646" t="17448" r="5208" b="11719"/>
          <a:stretch/>
        </p:blipFill>
        <p:spPr bwMode="auto">
          <a:xfrm>
            <a:off x="1983477" y="2098964"/>
            <a:ext cx="8225045" cy="4261330"/>
          </a:xfrm>
          <a:prstGeom prst="rect">
            <a:avLst/>
          </a:prstGeom>
          <a:noFill/>
          <a:ln>
            <a:noFill/>
          </a:ln>
          <a:extLst>
            <a:ext uri="{53640926-AAD7-44D8-BBD7-CCE9431645EC}">
              <a14:shadowObscured xmlns:a14="http://schemas.microsoft.com/office/drawing/2010/main"/>
            </a:ext>
          </a:extLst>
        </p:spPr>
      </p:pic>
      <p:sp>
        <p:nvSpPr>
          <p:cNvPr id="4" name="TextBox 3">
            <a:extLst>
              <a:ext uri="{FF2B5EF4-FFF2-40B4-BE49-F238E27FC236}">
                <a16:creationId xmlns:a16="http://schemas.microsoft.com/office/drawing/2014/main" id="{39C9616D-2964-D42D-EF5C-D6D1EC1E4663}"/>
              </a:ext>
            </a:extLst>
          </p:cNvPr>
          <p:cNvSpPr txBox="1"/>
          <p:nvPr/>
        </p:nvSpPr>
        <p:spPr>
          <a:xfrm>
            <a:off x="7616536" y="997688"/>
            <a:ext cx="4044913" cy="1015663"/>
          </a:xfrm>
          <a:prstGeom prst="rect">
            <a:avLst/>
          </a:prstGeom>
          <a:noFill/>
          <a:ln w="38100">
            <a:solidFill>
              <a:srgbClr val="00B0F0"/>
            </a:solidFill>
          </a:ln>
        </p:spPr>
        <p:txBody>
          <a:bodyPr wrap="square" rtlCol="0">
            <a:spAutoFit/>
          </a:bodyPr>
          <a:lstStyle/>
          <a:p>
            <a:r>
              <a:rPr lang="en-US" sz="2000" b="1" dirty="0">
                <a:solidFill>
                  <a:schemeClr val="bg1"/>
                </a:solidFill>
              </a:rPr>
              <a:t>Step 3: </a:t>
            </a:r>
            <a:r>
              <a:rPr lang="en-US" sz="2000" dirty="0">
                <a:solidFill>
                  <a:schemeClr val="bg1"/>
                </a:solidFill>
              </a:rPr>
              <a:t>Adrenal gland is triggered by both the HPA axis and the SNS, at the same time</a:t>
            </a:r>
          </a:p>
        </p:txBody>
      </p:sp>
      <p:sp>
        <p:nvSpPr>
          <p:cNvPr id="7" name="TextBox 6">
            <a:extLst>
              <a:ext uri="{FF2B5EF4-FFF2-40B4-BE49-F238E27FC236}">
                <a16:creationId xmlns:a16="http://schemas.microsoft.com/office/drawing/2014/main" id="{00EBF94F-3C6E-8798-EB97-D3F1A2F25550}"/>
              </a:ext>
            </a:extLst>
          </p:cNvPr>
          <p:cNvSpPr txBox="1"/>
          <p:nvPr/>
        </p:nvSpPr>
        <p:spPr>
          <a:xfrm>
            <a:off x="1808017" y="6360294"/>
            <a:ext cx="10270867" cy="369332"/>
          </a:xfrm>
          <a:prstGeom prst="rect">
            <a:avLst/>
          </a:prstGeom>
          <a:noFill/>
        </p:spPr>
        <p:txBody>
          <a:bodyPr wrap="square" rtlCol="0">
            <a:spAutoFit/>
          </a:bodyPr>
          <a:lstStyle/>
          <a:p>
            <a:r>
              <a:rPr lang="en-US" dirty="0">
                <a:solidFill>
                  <a:schemeClr val="bg1"/>
                </a:solidFill>
              </a:rPr>
              <a:t>Note: HPA axis = hypothalamic-pituitary-adrenal axis; SNS = sympathetic nervous system</a:t>
            </a:r>
          </a:p>
        </p:txBody>
      </p:sp>
      <p:sp>
        <p:nvSpPr>
          <p:cNvPr id="8" name="Oval 7">
            <a:extLst>
              <a:ext uri="{FF2B5EF4-FFF2-40B4-BE49-F238E27FC236}">
                <a16:creationId xmlns:a16="http://schemas.microsoft.com/office/drawing/2014/main" id="{1A7A957F-B346-CC21-4FA6-D82BE7EC03E0}"/>
              </a:ext>
            </a:extLst>
          </p:cNvPr>
          <p:cNvSpPr/>
          <p:nvPr/>
        </p:nvSpPr>
        <p:spPr>
          <a:xfrm>
            <a:off x="2556164" y="4208318"/>
            <a:ext cx="4946071" cy="2006702"/>
          </a:xfrm>
          <a:prstGeom prst="ellipse">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598298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E1804-CF6D-B054-36D7-FF521AD9F33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A079E2D5-966C-4218-339B-0FCC4CCCDEA6}"/>
              </a:ext>
            </a:extLst>
          </p:cNvPr>
          <p:cNvSpPr>
            <a:spLocks noGrp="1"/>
          </p:cNvSpPr>
          <p:nvPr>
            <p:ph type="title"/>
          </p:nvPr>
        </p:nvSpPr>
        <p:spPr/>
        <p:txBody>
          <a:bodyPr/>
          <a:lstStyle/>
          <a:p>
            <a:r>
              <a:rPr lang="en-US" dirty="0"/>
              <a:t>The Physiology of Stress</a:t>
            </a:r>
          </a:p>
        </p:txBody>
      </p:sp>
      <p:sp>
        <p:nvSpPr>
          <p:cNvPr id="3" name="Slide Number Placeholder 2">
            <a:extLst>
              <a:ext uri="{FF2B5EF4-FFF2-40B4-BE49-F238E27FC236}">
                <a16:creationId xmlns:a16="http://schemas.microsoft.com/office/drawing/2014/main" id="{96267045-6643-68A1-0052-BFA27CF36680}"/>
              </a:ext>
            </a:extLst>
          </p:cNvPr>
          <p:cNvSpPr>
            <a:spLocks noGrp="1"/>
          </p:cNvSpPr>
          <p:nvPr>
            <p:ph type="sldNum" sz="quarter" idx="4"/>
          </p:nvPr>
        </p:nvSpPr>
        <p:spPr/>
        <p:txBody>
          <a:bodyPr/>
          <a:lstStyle/>
          <a:p>
            <a:fld id="{6D22F896-40B5-4ADD-8801-0D06FADFA095}" type="slidenum">
              <a:rPr lang="en-US" smtClean="0"/>
              <a:pPr/>
              <a:t>11</a:t>
            </a:fld>
            <a:endParaRPr lang="en-US" dirty="0"/>
          </a:p>
        </p:txBody>
      </p:sp>
      <p:pic>
        <p:nvPicPr>
          <p:cNvPr id="2" name="Content Placeholder 1" descr="A picture containing text, screenshot&#10;&#10;Description automatically generated">
            <a:extLst>
              <a:ext uri="{FF2B5EF4-FFF2-40B4-BE49-F238E27FC236}">
                <a16:creationId xmlns:a16="http://schemas.microsoft.com/office/drawing/2014/main" id="{E8355714-53BE-455C-FA9C-AE1693D5923A}"/>
              </a:ext>
            </a:extLst>
          </p:cNvPr>
          <p:cNvPicPr>
            <a:picLocks noGrp="1" noChangeAspect="1"/>
          </p:cNvPicPr>
          <p:nvPr>
            <p:ph sz="quarter" idx="10"/>
          </p:nvPr>
        </p:nvPicPr>
        <p:blipFill rotWithShape="1">
          <a:blip r:embed="rId3" cstate="print">
            <a:extLst>
              <a:ext uri="{28A0092B-C50C-407E-A947-70E740481C1C}">
                <a14:useLocalDpi xmlns:a14="http://schemas.microsoft.com/office/drawing/2010/main" val="0"/>
              </a:ext>
            </a:extLst>
          </a:blip>
          <a:srcRect l="3646" t="17448" r="5208" b="11719"/>
          <a:stretch/>
        </p:blipFill>
        <p:spPr bwMode="auto">
          <a:xfrm>
            <a:off x="1983477" y="2098964"/>
            <a:ext cx="8225045" cy="4261330"/>
          </a:xfrm>
          <a:prstGeom prst="rect">
            <a:avLst/>
          </a:prstGeom>
          <a:noFill/>
          <a:ln>
            <a:noFill/>
          </a:ln>
          <a:extLst>
            <a:ext uri="{53640926-AAD7-44D8-BBD7-CCE9431645EC}">
              <a14:shadowObscured xmlns:a14="http://schemas.microsoft.com/office/drawing/2010/main"/>
            </a:ext>
          </a:extLst>
        </p:spPr>
      </p:pic>
      <p:sp>
        <p:nvSpPr>
          <p:cNvPr id="4" name="TextBox 3">
            <a:extLst>
              <a:ext uri="{FF2B5EF4-FFF2-40B4-BE49-F238E27FC236}">
                <a16:creationId xmlns:a16="http://schemas.microsoft.com/office/drawing/2014/main" id="{818C8D6D-47A1-8258-84FF-782F4DC310E3}"/>
              </a:ext>
            </a:extLst>
          </p:cNvPr>
          <p:cNvSpPr txBox="1"/>
          <p:nvPr/>
        </p:nvSpPr>
        <p:spPr>
          <a:xfrm>
            <a:off x="7678882" y="997688"/>
            <a:ext cx="3982567" cy="707886"/>
          </a:xfrm>
          <a:prstGeom prst="rect">
            <a:avLst/>
          </a:prstGeom>
          <a:noFill/>
          <a:ln w="38100">
            <a:solidFill>
              <a:srgbClr val="00B0F0"/>
            </a:solidFill>
          </a:ln>
        </p:spPr>
        <p:txBody>
          <a:bodyPr wrap="square" rtlCol="0">
            <a:spAutoFit/>
          </a:bodyPr>
          <a:lstStyle/>
          <a:p>
            <a:r>
              <a:rPr lang="en-US" sz="2000" b="1" dirty="0">
                <a:solidFill>
                  <a:schemeClr val="bg1"/>
                </a:solidFill>
              </a:rPr>
              <a:t>Step 4: </a:t>
            </a:r>
            <a:r>
              <a:rPr lang="en-US" sz="2000" dirty="0">
                <a:solidFill>
                  <a:schemeClr val="bg1"/>
                </a:solidFill>
              </a:rPr>
              <a:t>Adrenal gland releases a bunch of hormones</a:t>
            </a:r>
          </a:p>
        </p:txBody>
      </p:sp>
      <p:sp>
        <p:nvSpPr>
          <p:cNvPr id="8" name="Oval 7">
            <a:extLst>
              <a:ext uri="{FF2B5EF4-FFF2-40B4-BE49-F238E27FC236}">
                <a16:creationId xmlns:a16="http://schemas.microsoft.com/office/drawing/2014/main" id="{25C5CC0F-1C29-E131-8F17-60A703E6EA21}"/>
              </a:ext>
            </a:extLst>
          </p:cNvPr>
          <p:cNvSpPr/>
          <p:nvPr/>
        </p:nvSpPr>
        <p:spPr>
          <a:xfrm>
            <a:off x="5091546" y="4278514"/>
            <a:ext cx="4333009" cy="2288485"/>
          </a:xfrm>
          <a:prstGeom prst="ellipse">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773004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238E3-7469-9991-049C-F221C37723B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40B2DD7-412D-C90D-9E64-0B3E614BE0CC}"/>
              </a:ext>
            </a:extLst>
          </p:cNvPr>
          <p:cNvSpPr>
            <a:spLocks noGrp="1"/>
          </p:cNvSpPr>
          <p:nvPr>
            <p:ph type="title"/>
          </p:nvPr>
        </p:nvSpPr>
        <p:spPr/>
        <p:txBody>
          <a:bodyPr/>
          <a:lstStyle/>
          <a:p>
            <a:r>
              <a:rPr lang="en-US" dirty="0"/>
              <a:t>The Physiology of Stress</a:t>
            </a:r>
          </a:p>
        </p:txBody>
      </p:sp>
      <p:sp>
        <p:nvSpPr>
          <p:cNvPr id="3" name="Slide Number Placeholder 2">
            <a:extLst>
              <a:ext uri="{FF2B5EF4-FFF2-40B4-BE49-F238E27FC236}">
                <a16:creationId xmlns:a16="http://schemas.microsoft.com/office/drawing/2014/main" id="{C4B47257-A89F-B114-CBB7-F76074129EA4}"/>
              </a:ext>
            </a:extLst>
          </p:cNvPr>
          <p:cNvSpPr>
            <a:spLocks noGrp="1"/>
          </p:cNvSpPr>
          <p:nvPr>
            <p:ph type="sldNum" sz="quarter" idx="4"/>
          </p:nvPr>
        </p:nvSpPr>
        <p:spPr/>
        <p:txBody>
          <a:bodyPr/>
          <a:lstStyle/>
          <a:p>
            <a:fld id="{6D22F896-40B5-4ADD-8801-0D06FADFA095}" type="slidenum">
              <a:rPr lang="en-US" smtClean="0"/>
              <a:pPr/>
              <a:t>12</a:t>
            </a:fld>
            <a:endParaRPr lang="en-US" dirty="0"/>
          </a:p>
        </p:txBody>
      </p:sp>
      <p:pic>
        <p:nvPicPr>
          <p:cNvPr id="2" name="Content Placeholder 1" descr="A picture containing text, screenshot&#10;&#10;Description automatically generated">
            <a:extLst>
              <a:ext uri="{FF2B5EF4-FFF2-40B4-BE49-F238E27FC236}">
                <a16:creationId xmlns:a16="http://schemas.microsoft.com/office/drawing/2014/main" id="{C0FFD6E4-1895-E93B-BB26-0A36BB9E3CC7}"/>
              </a:ext>
            </a:extLst>
          </p:cNvPr>
          <p:cNvPicPr>
            <a:picLocks noGrp="1" noChangeAspect="1"/>
          </p:cNvPicPr>
          <p:nvPr>
            <p:ph sz="quarter" idx="10"/>
          </p:nvPr>
        </p:nvPicPr>
        <p:blipFill rotWithShape="1">
          <a:blip r:embed="rId3" cstate="print">
            <a:extLst>
              <a:ext uri="{28A0092B-C50C-407E-A947-70E740481C1C}">
                <a14:useLocalDpi xmlns:a14="http://schemas.microsoft.com/office/drawing/2010/main" val="0"/>
              </a:ext>
            </a:extLst>
          </a:blip>
          <a:srcRect l="3646" t="17448" r="5208" b="11719"/>
          <a:stretch/>
        </p:blipFill>
        <p:spPr bwMode="auto">
          <a:xfrm>
            <a:off x="1983477" y="2098964"/>
            <a:ext cx="8225045" cy="4261330"/>
          </a:xfrm>
          <a:prstGeom prst="rect">
            <a:avLst/>
          </a:prstGeom>
          <a:noFill/>
          <a:ln>
            <a:noFill/>
          </a:ln>
          <a:extLst>
            <a:ext uri="{53640926-AAD7-44D8-BBD7-CCE9431645EC}">
              <a14:shadowObscured xmlns:a14="http://schemas.microsoft.com/office/drawing/2010/main"/>
            </a:ext>
          </a:extLst>
        </p:spPr>
      </p:pic>
      <p:sp>
        <p:nvSpPr>
          <p:cNvPr id="4" name="TextBox 3">
            <a:extLst>
              <a:ext uri="{FF2B5EF4-FFF2-40B4-BE49-F238E27FC236}">
                <a16:creationId xmlns:a16="http://schemas.microsoft.com/office/drawing/2014/main" id="{8EF1910A-8DD0-13FA-A001-4A751A38E919}"/>
              </a:ext>
            </a:extLst>
          </p:cNvPr>
          <p:cNvSpPr txBox="1"/>
          <p:nvPr/>
        </p:nvSpPr>
        <p:spPr>
          <a:xfrm>
            <a:off x="7024256" y="997688"/>
            <a:ext cx="4810990" cy="1015663"/>
          </a:xfrm>
          <a:prstGeom prst="rect">
            <a:avLst/>
          </a:prstGeom>
          <a:noFill/>
          <a:ln w="38100">
            <a:solidFill>
              <a:srgbClr val="00B0F0"/>
            </a:solidFill>
          </a:ln>
        </p:spPr>
        <p:txBody>
          <a:bodyPr wrap="square" rtlCol="0">
            <a:spAutoFit/>
          </a:bodyPr>
          <a:lstStyle/>
          <a:p>
            <a:r>
              <a:rPr lang="en-US" sz="2000" b="1" dirty="0">
                <a:solidFill>
                  <a:schemeClr val="bg1"/>
                </a:solidFill>
              </a:rPr>
              <a:t>Step 5: </a:t>
            </a:r>
            <a:r>
              <a:rPr lang="en-US" sz="2000" dirty="0">
                <a:solidFill>
                  <a:schemeClr val="bg1"/>
                </a:solidFill>
              </a:rPr>
              <a:t>In a </a:t>
            </a:r>
            <a:r>
              <a:rPr lang="en-US" sz="2000" b="1" dirty="0">
                <a:solidFill>
                  <a:schemeClr val="bg1"/>
                </a:solidFill>
              </a:rPr>
              <a:t>healthy</a:t>
            </a:r>
            <a:r>
              <a:rPr lang="en-US" sz="2000" dirty="0">
                <a:solidFill>
                  <a:schemeClr val="bg1"/>
                </a:solidFill>
              </a:rPr>
              <a:t> system, hormones like cortisol tell the hypothalamus to stop CRF production</a:t>
            </a:r>
          </a:p>
        </p:txBody>
      </p:sp>
      <p:sp>
        <p:nvSpPr>
          <p:cNvPr id="8" name="Oval 7">
            <a:extLst>
              <a:ext uri="{FF2B5EF4-FFF2-40B4-BE49-F238E27FC236}">
                <a16:creationId xmlns:a16="http://schemas.microsoft.com/office/drawing/2014/main" id="{9326DD9D-B920-13BA-AF93-C2E3BD22D22B}"/>
              </a:ext>
            </a:extLst>
          </p:cNvPr>
          <p:cNvSpPr/>
          <p:nvPr/>
        </p:nvSpPr>
        <p:spPr>
          <a:xfrm rot="2359356">
            <a:off x="5424056" y="3603105"/>
            <a:ext cx="4333009" cy="2288485"/>
          </a:xfrm>
          <a:prstGeom prst="ellipse">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156560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4BFFF-7F4F-10BD-080A-1AF28E99893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9DCE2A7-3E49-9344-8DAF-531B4F38F502}"/>
              </a:ext>
            </a:extLst>
          </p:cNvPr>
          <p:cNvSpPr>
            <a:spLocks noGrp="1"/>
          </p:cNvSpPr>
          <p:nvPr>
            <p:ph type="title"/>
          </p:nvPr>
        </p:nvSpPr>
        <p:spPr>
          <a:xfrm>
            <a:off x="381178" y="1125495"/>
            <a:ext cx="10873665" cy="1207457"/>
          </a:xfrm>
        </p:spPr>
        <p:txBody>
          <a:bodyPr/>
          <a:lstStyle/>
          <a:p>
            <a:r>
              <a:rPr lang="en-US" dirty="0"/>
              <a:t>The Physiology of Stress</a:t>
            </a:r>
          </a:p>
        </p:txBody>
      </p:sp>
      <p:sp>
        <p:nvSpPr>
          <p:cNvPr id="3" name="Slide Number Placeholder 2">
            <a:extLst>
              <a:ext uri="{FF2B5EF4-FFF2-40B4-BE49-F238E27FC236}">
                <a16:creationId xmlns:a16="http://schemas.microsoft.com/office/drawing/2014/main" id="{48394B97-30C7-1B10-1CA3-78B8E214542A}"/>
              </a:ext>
            </a:extLst>
          </p:cNvPr>
          <p:cNvSpPr>
            <a:spLocks noGrp="1"/>
          </p:cNvSpPr>
          <p:nvPr>
            <p:ph type="sldNum" sz="quarter" idx="4"/>
          </p:nvPr>
        </p:nvSpPr>
        <p:spPr/>
        <p:txBody>
          <a:bodyPr/>
          <a:lstStyle/>
          <a:p>
            <a:fld id="{6D22F896-40B5-4ADD-8801-0D06FADFA095}" type="slidenum">
              <a:rPr lang="en-US" smtClean="0"/>
              <a:pPr/>
              <a:t>13</a:t>
            </a:fld>
            <a:endParaRPr lang="en-US" dirty="0"/>
          </a:p>
        </p:txBody>
      </p:sp>
      <p:pic>
        <p:nvPicPr>
          <p:cNvPr id="2" name="Content Placeholder 1" descr="A picture containing text, screenshot&#10;&#10;Description automatically generated">
            <a:extLst>
              <a:ext uri="{FF2B5EF4-FFF2-40B4-BE49-F238E27FC236}">
                <a16:creationId xmlns:a16="http://schemas.microsoft.com/office/drawing/2014/main" id="{26F09D01-512A-9861-F494-09B8C11AD19F}"/>
              </a:ext>
            </a:extLst>
          </p:cNvPr>
          <p:cNvPicPr>
            <a:picLocks noGrp="1" noChangeAspect="1"/>
          </p:cNvPicPr>
          <p:nvPr>
            <p:ph sz="quarter" idx="10"/>
          </p:nvPr>
        </p:nvPicPr>
        <p:blipFill rotWithShape="1">
          <a:blip r:embed="rId3" cstate="print">
            <a:extLst>
              <a:ext uri="{28A0092B-C50C-407E-A947-70E740481C1C}">
                <a14:useLocalDpi xmlns:a14="http://schemas.microsoft.com/office/drawing/2010/main" val="0"/>
              </a:ext>
            </a:extLst>
          </a:blip>
          <a:srcRect l="3646" t="17448" r="5208" b="11719"/>
          <a:stretch/>
        </p:blipFill>
        <p:spPr bwMode="auto">
          <a:xfrm>
            <a:off x="1983477" y="2098964"/>
            <a:ext cx="8225045" cy="4261330"/>
          </a:xfrm>
          <a:prstGeom prst="rect">
            <a:avLst/>
          </a:prstGeom>
          <a:noFill/>
          <a:ln>
            <a:noFill/>
          </a:ln>
          <a:extLst>
            <a:ext uri="{53640926-AAD7-44D8-BBD7-CCE9431645EC}">
              <a14:shadowObscured xmlns:a14="http://schemas.microsoft.com/office/drawing/2010/main"/>
            </a:ext>
          </a:extLst>
        </p:spPr>
      </p:pic>
      <p:sp>
        <p:nvSpPr>
          <p:cNvPr id="4" name="TextBox 3">
            <a:extLst>
              <a:ext uri="{FF2B5EF4-FFF2-40B4-BE49-F238E27FC236}">
                <a16:creationId xmlns:a16="http://schemas.microsoft.com/office/drawing/2014/main" id="{CB1BD972-B381-1ED8-9C21-193E9DF48B75}"/>
              </a:ext>
            </a:extLst>
          </p:cNvPr>
          <p:cNvSpPr txBox="1"/>
          <p:nvPr/>
        </p:nvSpPr>
        <p:spPr>
          <a:xfrm>
            <a:off x="6702137" y="913615"/>
            <a:ext cx="5216237" cy="1631216"/>
          </a:xfrm>
          <a:prstGeom prst="rect">
            <a:avLst/>
          </a:prstGeom>
          <a:noFill/>
          <a:ln w="38100">
            <a:solidFill>
              <a:srgbClr val="00B0F0"/>
            </a:solidFill>
          </a:ln>
        </p:spPr>
        <p:txBody>
          <a:bodyPr wrap="square" rtlCol="0">
            <a:spAutoFit/>
          </a:bodyPr>
          <a:lstStyle/>
          <a:p>
            <a:r>
              <a:rPr lang="en-US" sz="2000" b="1" dirty="0">
                <a:solidFill>
                  <a:schemeClr val="bg1"/>
                </a:solidFill>
              </a:rPr>
              <a:t>Step 5b:</a:t>
            </a:r>
            <a:r>
              <a:rPr lang="en-US" sz="2000" dirty="0">
                <a:solidFill>
                  <a:schemeClr val="bg1"/>
                </a:solidFill>
              </a:rPr>
              <a:t> In a</a:t>
            </a:r>
            <a:r>
              <a:rPr lang="en-US" sz="2000" b="1" dirty="0">
                <a:solidFill>
                  <a:schemeClr val="bg1"/>
                </a:solidFill>
              </a:rPr>
              <a:t> chronically stressed </a:t>
            </a:r>
            <a:r>
              <a:rPr lang="en-US" sz="2000" dirty="0">
                <a:solidFill>
                  <a:schemeClr val="bg1"/>
                </a:solidFill>
              </a:rPr>
              <a:t>system, hypothalamus desensitizes to cortisol, while corticosteroids mass produce pro-inflammatory cytokines (which can also activate hypothalamus)</a:t>
            </a:r>
          </a:p>
        </p:txBody>
      </p:sp>
      <p:sp>
        <p:nvSpPr>
          <p:cNvPr id="8" name="Oval 7">
            <a:extLst>
              <a:ext uri="{FF2B5EF4-FFF2-40B4-BE49-F238E27FC236}">
                <a16:creationId xmlns:a16="http://schemas.microsoft.com/office/drawing/2014/main" id="{88427A66-E8FC-6CE0-10F9-2B2CE47CF2D6}"/>
              </a:ext>
            </a:extLst>
          </p:cNvPr>
          <p:cNvSpPr/>
          <p:nvPr/>
        </p:nvSpPr>
        <p:spPr>
          <a:xfrm rot="2359356">
            <a:off x="5424056" y="3603105"/>
            <a:ext cx="4333009" cy="2288485"/>
          </a:xfrm>
          <a:prstGeom prst="ellipse">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768A72E7-DB42-729E-45EA-C0542AA4EBAD}"/>
              </a:ext>
            </a:extLst>
          </p:cNvPr>
          <p:cNvSpPr txBox="1"/>
          <p:nvPr/>
        </p:nvSpPr>
        <p:spPr>
          <a:xfrm>
            <a:off x="1808017" y="6360294"/>
            <a:ext cx="10270867" cy="369332"/>
          </a:xfrm>
          <a:prstGeom prst="rect">
            <a:avLst/>
          </a:prstGeom>
          <a:noFill/>
        </p:spPr>
        <p:txBody>
          <a:bodyPr wrap="square" rtlCol="0">
            <a:spAutoFit/>
          </a:bodyPr>
          <a:lstStyle/>
          <a:p>
            <a:r>
              <a:rPr lang="en-US" dirty="0">
                <a:solidFill>
                  <a:schemeClr val="bg1"/>
                </a:solidFill>
              </a:rPr>
              <a:t>Note: cytokines = potent signaling molecules; the immune system’s version of a hormone</a:t>
            </a:r>
          </a:p>
        </p:txBody>
      </p:sp>
    </p:spTree>
    <p:extLst>
      <p:ext uri="{BB962C8B-B14F-4D97-AF65-F5344CB8AC3E}">
        <p14:creationId xmlns:p14="http://schemas.microsoft.com/office/powerpoint/2010/main" val="7800110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5DD78-54C3-00F6-B7BD-423C4596C0DC}"/>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2C63C16-43A0-2940-AAC2-430E46085E22}"/>
              </a:ext>
            </a:extLst>
          </p:cNvPr>
          <p:cNvSpPr>
            <a:spLocks noGrp="1"/>
          </p:cNvSpPr>
          <p:nvPr>
            <p:ph type="title"/>
          </p:nvPr>
        </p:nvSpPr>
        <p:spPr>
          <a:xfrm>
            <a:off x="381178" y="1125495"/>
            <a:ext cx="10873665" cy="1207457"/>
          </a:xfrm>
        </p:spPr>
        <p:txBody>
          <a:bodyPr/>
          <a:lstStyle/>
          <a:p>
            <a:r>
              <a:rPr lang="en-US" dirty="0"/>
              <a:t>The Physiology of Stress</a:t>
            </a:r>
          </a:p>
        </p:txBody>
      </p:sp>
      <p:sp>
        <p:nvSpPr>
          <p:cNvPr id="3" name="Slide Number Placeholder 2">
            <a:extLst>
              <a:ext uri="{FF2B5EF4-FFF2-40B4-BE49-F238E27FC236}">
                <a16:creationId xmlns:a16="http://schemas.microsoft.com/office/drawing/2014/main" id="{B5EDCA37-4BA4-7678-5AFA-3BD6A598145B}"/>
              </a:ext>
            </a:extLst>
          </p:cNvPr>
          <p:cNvSpPr>
            <a:spLocks noGrp="1"/>
          </p:cNvSpPr>
          <p:nvPr>
            <p:ph type="sldNum" sz="quarter" idx="4"/>
          </p:nvPr>
        </p:nvSpPr>
        <p:spPr/>
        <p:txBody>
          <a:bodyPr/>
          <a:lstStyle/>
          <a:p>
            <a:fld id="{6D22F896-40B5-4ADD-8801-0D06FADFA095}" type="slidenum">
              <a:rPr lang="en-US" smtClean="0"/>
              <a:pPr/>
              <a:t>14</a:t>
            </a:fld>
            <a:endParaRPr lang="en-US" dirty="0"/>
          </a:p>
        </p:txBody>
      </p:sp>
      <p:pic>
        <p:nvPicPr>
          <p:cNvPr id="2" name="Content Placeholder 1" descr="A picture containing text, screenshot&#10;&#10;Description automatically generated">
            <a:extLst>
              <a:ext uri="{FF2B5EF4-FFF2-40B4-BE49-F238E27FC236}">
                <a16:creationId xmlns:a16="http://schemas.microsoft.com/office/drawing/2014/main" id="{51AFD4ED-80C2-6CA3-EE78-3182850BEBAD}"/>
              </a:ext>
            </a:extLst>
          </p:cNvPr>
          <p:cNvPicPr>
            <a:picLocks noGrp="1" noChangeAspect="1"/>
          </p:cNvPicPr>
          <p:nvPr>
            <p:ph sz="quarter" idx="10"/>
          </p:nvPr>
        </p:nvPicPr>
        <p:blipFill rotWithShape="1">
          <a:blip r:embed="rId3" cstate="print">
            <a:extLst>
              <a:ext uri="{28A0092B-C50C-407E-A947-70E740481C1C}">
                <a14:useLocalDpi xmlns:a14="http://schemas.microsoft.com/office/drawing/2010/main" val="0"/>
              </a:ext>
            </a:extLst>
          </a:blip>
          <a:srcRect l="3646" t="17448" r="5208" b="11719"/>
          <a:stretch/>
        </p:blipFill>
        <p:spPr bwMode="auto">
          <a:xfrm>
            <a:off x="1983477" y="2098964"/>
            <a:ext cx="8225045" cy="4261330"/>
          </a:xfrm>
          <a:prstGeom prst="rect">
            <a:avLst/>
          </a:prstGeom>
          <a:noFill/>
          <a:ln>
            <a:noFill/>
          </a:ln>
          <a:extLst>
            <a:ext uri="{53640926-AAD7-44D8-BBD7-CCE9431645EC}">
              <a14:shadowObscured xmlns:a14="http://schemas.microsoft.com/office/drawing/2010/main"/>
            </a:ext>
          </a:extLst>
        </p:spPr>
      </p:pic>
      <p:sp>
        <p:nvSpPr>
          <p:cNvPr id="4" name="TextBox 3">
            <a:extLst>
              <a:ext uri="{FF2B5EF4-FFF2-40B4-BE49-F238E27FC236}">
                <a16:creationId xmlns:a16="http://schemas.microsoft.com/office/drawing/2014/main" id="{F9045A65-B972-12E1-6764-3859B98AAD1D}"/>
              </a:ext>
            </a:extLst>
          </p:cNvPr>
          <p:cNvSpPr txBox="1"/>
          <p:nvPr/>
        </p:nvSpPr>
        <p:spPr>
          <a:xfrm>
            <a:off x="6702137" y="913615"/>
            <a:ext cx="5216237" cy="1015663"/>
          </a:xfrm>
          <a:prstGeom prst="rect">
            <a:avLst/>
          </a:prstGeom>
          <a:noFill/>
          <a:ln w="38100">
            <a:solidFill>
              <a:srgbClr val="00B0F0"/>
            </a:solidFill>
          </a:ln>
        </p:spPr>
        <p:txBody>
          <a:bodyPr wrap="square" rtlCol="0">
            <a:spAutoFit/>
          </a:bodyPr>
          <a:lstStyle/>
          <a:p>
            <a:r>
              <a:rPr lang="en-US" sz="2000" b="1" dirty="0">
                <a:solidFill>
                  <a:schemeClr val="bg1"/>
                </a:solidFill>
              </a:rPr>
              <a:t>Step 6: </a:t>
            </a:r>
            <a:r>
              <a:rPr lang="en-US" sz="2000" dirty="0">
                <a:solidFill>
                  <a:schemeClr val="bg1"/>
                </a:solidFill>
              </a:rPr>
              <a:t>Hypothalamus never turns “off”, and continually releases CRF into bloodstream</a:t>
            </a:r>
          </a:p>
        </p:txBody>
      </p:sp>
      <p:sp>
        <p:nvSpPr>
          <p:cNvPr id="8" name="Oval 7">
            <a:extLst>
              <a:ext uri="{FF2B5EF4-FFF2-40B4-BE49-F238E27FC236}">
                <a16:creationId xmlns:a16="http://schemas.microsoft.com/office/drawing/2014/main" id="{1CBC9F88-1787-8D0A-7CA2-4AD506E665A5}"/>
              </a:ext>
            </a:extLst>
          </p:cNvPr>
          <p:cNvSpPr/>
          <p:nvPr/>
        </p:nvSpPr>
        <p:spPr>
          <a:xfrm rot="21218365">
            <a:off x="3831386" y="2099756"/>
            <a:ext cx="3185338" cy="1938083"/>
          </a:xfrm>
          <a:prstGeom prst="ellipse">
            <a:avLst/>
          </a:prstGeom>
          <a:noFill/>
          <a:ln w="7620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94014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6FC36-CBB1-071D-1CF7-DC9A3D0939C4}"/>
              </a:ext>
            </a:extLst>
          </p:cNvPr>
          <p:cNvSpPr>
            <a:spLocks noGrp="1"/>
          </p:cNvSpPr>
          <p:nvPr>
            <p:ph type="title"/>
          </p:nvPr>
        </p:nvSpPr>
        <p:spPr>
          <a:xfrm>
            <a:off x="566727" y="1097238"/>
            <a:ext cx="3895104" cy="1207457"/>
          </a:xfrm>
        </p:spPr>
        <p:txBody>
          <a:bodyPr anchor="t">
            <a:normAutofit fontScale="90000"/>
          </a:bodyPr>
          <a:lstStyle/>
          <a:p>
            <a:r>
              <a:rPr lang="en-US" dirty="0"/>
              <a:t>How much stress is too much?</a:t>
            </a:r>
          </a:p>
        </p:txBody>
      </p:sp>
      <p:sp>
        <p:nvSpPr>
          <p:cNvPr id="3" name="Slide Number Placeholder 2">
            <a:extLst>
              <a:ext uri="{FF2B5EF4-FFF2-40B4-BE49-F238E27FC236}">
                <a16:creationId xmlns:a16="http://schemas.microsoft.com/office/drawing/2014/main" id="{B11037E2-27BC-C0AF-7C00-1E2CAA548D7E}"/>
              </a:ext>
            </a:extLst>
          </p:cNvPr>
          <p:cNvSpPr>
            <a:spLocks noGrp="1"/>
          </p:cNvSpPr>
          <p:nvPr>
            <p:ph type="sldNum" sz="quarter" idx="4"/>
          </p:nvPr>
        </p:nvSpPr>
        <p:spPr>
          <a:xfrm>
            <a:off x="10342880" y="517325"/>
            <a:ext cx="911963" cy="480364"/>
          </a:xfrm>
        </p:spPr>
        <p:txBody>
          <a:bodyPr anchor="t">
            <a:normAutofit/>
          </a:bodyPr>
          <a:lstStyle/>
          <a:p>
            <a:pPr>
              <a:lnSpc>
                <a:spcPct val="90000"/>
              </a:lnSpc>
              <a:spcAft>
                <a:spcPts val="600"/>
              </a:spcAft>
            </a:pPr>
            <a:fld id="{6D22F896-40B5-4ADD-8801-0D06FADFA095}" type="slidenum">
              <a:rPr lang="en-US" smtClean="0"/>
              <a:pPr>
                <a:lnSpc>
                  <a:spcPct val="90000"/>
                </a:lnSpc>
                <a:spcAft>
                  <a:spcPts val="600"/>
                </a:spcAft>
              </a:pPr>
              <a:t>15</a:t>
            </a:fld>
            <a:endParaRPr lang="en-US"/>
          </a:p>
        </p:txBody>
      </p:sp>
      <p:sp>
        <p:nvSpPr>
          <p:cNvPr id="4" name="Content Placeholder 3">
            <a:extLst>
              <a:ext uri="{FF2B5EF4-FFF2-40B4-BE49-F238E27FC236}">
                <a16:creationId xmlns:a16="http://schemas.microsoft.com/office/drawing/2014/main" id="{80350161-9921-C130-D0BA-92BD193941CC}"/>
              </a:ext>
            </a:extLst>
          </p:cNvPr>
          <p:cNvSpPr>
            <a:spLocks noGrp="1"/>
          </p:cNvSpPr>
          <p:nvPr>
            <p:ph sz="quarter" idx="11"/>
          </p:nvPr>
        </p:nvSpPr>
        <p:spPr>
          <a:xfrm>
            <a:off x="566726" y="2864386"/>
            <a:ext cx="4115443" cy="3495850"/>
          </a:xfrm>
        </p:spPr>
        <p:txBody>
          <a:bodyPr>
            <a:normAutofit/>
          </a:bodyPr>
          <a:lstStyle/>
          <a:p>
            <a:r>
              <a:rPr lang="en-US" dirty="0"/>
              <a:t>It depends on your capacity to carry stress</a:t>
            </a:r>
          </a:p>
        </p:txBody>
      </p:sp>
      <p:pic>
        <p:nvPicPr>
          <p:cNvPr id="1028" name="Picture 4" descr="Long term chronic stress and the effect on our allostatic load - True North  Wellness">
            <a:extLst>
              <a:ext uri="{FF2B5EF4-FFF2-40B4-BE49-F238E27FC236}">
                <a16:creationId xmlns:a16="http://schemas.microsoft.com/office/drawing/2014/main" id="{3DD06463-308C-97D7-1DAD-22D214B05B21}"/>
              </a:ext>
            </a:extLst>
          </p:cNvPr>
          <p:cNvPicPr>
            <a:picLocks noGrp="1" noChangeAspect="1" noChangeArrowheads="1"/>
          </p:cNvPicPr>
          <p:nvPr>
            <p:ph sz="quarter" idx="10"/>
          </p:nvPr>
        </p:nvPicPr>
        <p:blipFill>
          <a:blip r:embed="rId2">
            <a:extLst>
              <a:ext uri="{28A0092B-C50C-407E-A947-70E740481C1C}">
                <a14:useLocalDpi xmlns:a14="http://schemas.microsoft.com/office/drawing/2010/main" val="0"/>
              </a:ext>
            </a:extLst>
          </a:blip>
          <a:stretch>
            <a:fillRect/>
          </a:stretch>
        </p:blipFill>
        <p:spPr bwMode="auto">
          <a:xfrm>
            <a:off x="5552501" y="926941"/>
            <a:ext cx="5460599" cy="5433296"/>
          </a:xfrm>
          <a:prstGeom prst="rect">
            <a:avLst/>
          </a:prstGeom>
          <a:solidFill>
            <a:srgbClr val="FFFFFF"/>
          </a:solidFill>
        </p:spPr>
      </p:pic>
    </p:spTree>
    <p:extLst>
      <p:ext uri="{BB962C8B-B14F-4D97-AF65-F5344CB8AC3E}">
        <p14:creationId xmlns:p14="http://schemas.microsoft.com/office/powerpoint/2010/main" val="30303410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85C0BFC-69D0-4B63-1C93-00E5FB12FF26}"/>
              </a:ext>
            </a:extLst>
          </p:cNvPr>
          <p:cNvSpPr>
            <a:spLocks noGrp="1"/>
          </p:cNvSpPr>
          <p:nvPr>
            <p:ph type="title"/>
          </p:nvPr>
        </p:nvSpPr>
        <p:spPr>
          <a:xfrm>
            <a:off x="444807" y="1049447"/>
            <a:ext cx="4622952" cy="5094386"/>
          </a:xfrm>
        </p:spPr>
        <p:txBody>
          <a:bodyPr anchor="ctr">
            <a:normAutofit/>
          </a:bodyPr>
          <a:lstStyle/>
          <a:p>
            <a:r>
              <a:rPr lang="en-US" dirty="0"/>
              <a:t>Indicators of Allostatic Load</a:t>
            </a:r>
          </a:p>
        </p:txBody>
      </p:sp>
      <p:sp>
        <p:nvSpPr>
          <p:cNvPr id="7" name="Content Placeholder 6">
            <a:extLst>
              <a:ext uri="{FF2B5EF4-FFF2-40B4-BE49-F238E27FC236}">
                <a16:creationId xmlns:a16="http://schemas.microsoft.com/office/drawing/2014/main" id="{C16EA95E-627E-C807-F6F4-FD934B6E476A}"/>
              </a:ext>
            </a:extLst>
          </p:cNvPr>
          <p:cNvSpPr>
            <a:spLocks noGrp="1"/>
          </p:cNvSpPr>
          <p:nvPr>
            <p:ph sz="quarter" idx="10"/>
          </p:nvPr>
        </p:nvSpPr>
        <p:spPr>
          <a:xfrm>
            <a:off x="4825389" y="714167"/>
            <a:ext cx="6921804" cy="5719684"/>
          </a:xfrm>
        </p:spPr>
        <p:txBody>
          <a:bodyPr anchor="ctr">
            <a:normAutofit/>
          </a:bodyPr>
          <a:lstStyle/>
          <a:p>
            <a:pPr>
              <a:lnSpc>
                <a:spcPct val="90000"/>
              </a:lnSpc>
            </a:pPr>
            <a:r>
              <a:rPr lang="en-US" sz="2400" dirty="0"/>
              <a:t>Decreases in cell-mediated immunity.</a:t>
            </a:r>
          </a:p>
          <a:p>
            <a:pPr>
              <a:lnSpc>
                <a:spcPct val="90000"/>
              </a:lnSpc>
            </a:pPr>
            <a:r>
              <a:rPr lang="en-US" sz="2400" dirty="0"/>
              <a:t>Inability to shut off cortisol in response to stress.</a:t>
            </a:r>
          </a:p>
          <a:p>
            <a:pPr>
              <a:lnSpc>
                <a:spcPct val="90000"/>
              </a:lnSpc>
            </a:pPr>
            <a:r>
              <a:rPr lang="en-US" sz="2400" dirty="0"/>
              <a:t>Lowered heart rate variability.</a:t>
            </a:r>
          </a:p>
          <a:p>
            <a:pPr>
              <a:lnSpc>
                <a:spcPct val="90000"/>
              </a:lnSpc>
            </a:pPr>
            <a:r>
              <a:rPr lang="en-US" sz="2400" dirty="0"/>
              <a:t>Elevated epinephrine levels.</a:t>
            </a:r>
          </a:p>
          <a:p>
            <a:pPr>
              <a:lnSpc>
                <a:spcPct val="90000"/>
              </a:lnSpc>
            </a:pPr>
            <a:r>
              <a:rPr lang="en-US" sz="2400" dirty="0"/>
              <a:t>A high waist-to-hip ratio, reflecting abdominal fat.</a:t>
            </a:r>
          </a:p>
          <a:p>
            <a:pPr>
              <a:lnSpc>
                <a:spcPct val="90000"/>
              </a:lnSpc>
            </a:pPr>
            <a:r>
              <a:rPr lang="en-US" sz="2400" dirty="0"/>
              <a:t>Hippocampal volume, which can decrease with repeated stimulation of the HPA axis.</a:t>
            </a:r>
          </a:p>
          <a:p>
            <a:pPr>
              <a:lnSpc>
                <a:spcPct val="90000"/>
              </a:lnSpc>
            </a:pPr>
            <a:r>
              <a:rPr lang="en-US" sz="2400" dirty="0"/>
              <a:t>Problems with memory, an indirect measure of hippocampal functioning.</a:t>
            </a:r>
          </a:p>
          <a:p>
            <a:pPr>
              <a:lnSpc>
                <a:spcPct val="90000"/>
              </a:lnSpc>
            </a:pPr>
            <a:r>
              <a:rPr lang="en-US" sz="2400" dirty="0"/>
              <a:t>Elevated blood pressure.</a:t>
            </a:r>
          </a:p>
        </p:txBody>
      </p:sp>
      <p:sp>
        <p:nvSpPr>
          <p:cNvPr id="3" name="Slide Number Placeholder 2" hidden="1">
            <a:extLst>
              <a:ext uri="{FF2B5EF4-FFF2-40B4-BE49-F238E27FC236}">
                <a16:creationId xmlns:a16="http://schemas.microsoft.com/office/drawing/2014/main" id="{4FACD1C1-7BDB-C9D6-15BB-C6445D659065}"/>
              </a:ext>
            </a:extLst>
          </p:cNvPr>
          <p:cNvSpPr>
            <a:spLocks noGrp="1"/>
          </p:cNvSpPr>
          <p:nvPr>
            <p:ph type="sldNum" sz="quarter" idx="4294967295"/>
          </p:nvPr>
        </p:nvSpPr>
        <p:spPr>
          <a:xfrm>
            <a:off x="10342880" y="517325"/>
            <a:ext cx="911963" cy="480364"/>
          </a:xfrm>
        </p:spPr>
        <p:txBody>
          <a:bodyPr/>
          <a:lstStyle/>
          <a:p>
            <a:pPr>
              <a:spcAft>
                <a:spcPts val="600"/>
              </a:spcAft>
            </a:pPr>
            <a:fld id="{6D22F896-40B5-4ADD-8801-0D06FADFA095}" type="slidenum">
              <a:rPr lang="en-US" smtClean="0"/>
              <a:pPr>
                <a:spcAft>
                  <a:spcPts val="600"/>
                </a:spcAft>
              </a:pPr>
              <a:t>16</a:t>
            </a:fld>
            <a:endParaRPr lang="en-US"/>
          </a:p>
        </p:txBody>
      </p:sp>
    </p:spTree>
    <p:extLst>
      <p:ext uri="{BB962C8B-B14F-4D97-AF65-F5344CB8AC3E}">
        <p14:creationId xmlns:p14="http://schemas.microsoft.com/office/powerpoint/2010/main" val="24084883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B78F5-690F-C0D6-D196-6A1794072313}"/>
              </a:ext>
            </a:extLst>
          </p:cNvPr>
          <p:cNvSpPr>
            <a:spLocks noGrp="1"/>
          </p:cNvSpPr>
          <p:nvPr>
            <p:ph type="title"/>
          </p:nvPr>
        </p:nvSpPr>
        <p:spPr/>
        <p:txBody>
          <a:bodyPr/>
          <a:lstStyle/>
          <a:p>
            <a:r>
              <a:rPr lang="en-US" dirty="0"/>
              <a:t>Impact of Chronic Stress</a:t>
            </a:r>
          </a:p>
        </p:txBody>
      </p:sp>
      <p:sp>
        <p:nvSpPr>
          <p:cNvPr id="3" name="Slide Number Placeholder 2">
            <a:extLst>
              <a:ext uri="{FF2B5EF4-FFF2-40B4-BE49-F238E27FC236}">
                <a16:creationId xmlns:a16="http://schemas.microsoft.com/office/drawing/2014/main" id="{F714548B-71C9-9660-38E8-35D2B641D675}"/>
              </a:ext>
            </a:extLst>
          </p:cNvPr>
          <p:cNvSpPr>
            <a:spLocks noGrp="1"/>
          </p:cNvSpPr>
          <p:nvPr>
            <p:ph type="sldNum" sz="quarter" idx="4"/>
          </p:nvPr>
        </p:nvSpPr>
        <p:spPr/>
        <p:txBody>
          <a:bodyPr/>
          <a:lstStyle/>
          <a:p>
            <a:fld id="{6D22F896-40B5-4ADD-8801-0D06FADFA095}" type="slidenum">
              <a:rPr lang="en-US" smtClean="0"/>
              <a:pPr/>
              <a:t>17</a:t>
            </a:fld>
            <a:endParaRPr lang="en-US" dirty="0"/>
          </a:p>
        </p:txBody>
      </p:sp>
      <p:sp>
        <p:nvSpPr>
          <p:cNvPr id="7" name="Content Placeholder 6">
            <a:extLst>
              <a:ext uri="{FF2B5EF4-FFF2-40B4-BE49-F238E27FC236}">
                <a16:creationId xmlns:a16="http://schemas.microsoft.com/office/drawing/2014/main" id="{2E185272-16ED-644A-8D57-7BCA42224328}"/>
              </a:ext>
            </a:extLst>
          </p:cNvPr>
          <p:cNvSpPr>
            <a:spLocks noGrp="1"/>
          </p:cNvSpPr>
          <p:nvPr>
            <p:ph sz="quarter" idx="11"/>
          </p:nvPr>
        </p:nvSpPr>
        <p:spPr/>
        <p:txBody>
          <a:bodyPr/>
          <a:lstStyle/>
          <a:p>
            <a:r>
              <a:rPr lang="en-US" dirty="0"/>
              <a:t>Direct physiological effects.</a:t>
            </a:r>
          </a:p>
          <a:p>
            <a:pPr lvl="1"/>
            <a:r>
              <a:rPr lang="en-US" dirty="0"/>
              <a:t>Elevated lipids.</a:t>
            </a:r>
          </a:p>
          <a:p>
            <a:pPr lvl="1"/>
            <a:r>
              <a:rPr lang="en-US" dirty="0"/>
              <a:t>Elevated blood pressure.</a:t>
            </a:r>
          </a:p>
          <a:p>
            <a:pPr lvl="1"/>
            <a:r>
              <a:rPr lang="en-US" dirty="0"/>
              <a:t>Decreased immunity.</a:t>
            </a:r>
          </a:p>
          <a:p>
            <a:pPr lvl="1"/>
            <a:r>
              <a:rPr lang="en-US" dirty="0"/>
              <a:t>Increased hormonal activity.</a:t>
            </a:r>
          </a:p>
          <a:p>
            <a:endParaRPr lang="en-US" dirty="0"/>
          </a:p>
        </p:txBody>
      </p:sp>
      <p:sp>
        <p:nvSpPr>
          <p:cNvPr id="6" name="Content Placeholder 5">
            <a:extLst>
              <a:ext uri="{FF2B5EF4-FFF2-40B4-BE49-F238E27FC236}">
                <a16:creationId xmlns:a16="http://schemas.microsoft.com/office/drawing/2014/main" id="{A7CFB629-D9C4-2841-DE92-F7242D5884DB}"/>
              </a:ext>
            </a:extLst>
          </p:cNvPr>
          <p:cNvSpPr>
            <a:spLocks noGrp="1"/>
          </p:cNvSpPr>
          <p:nvPr>
            <p:ph sz="quarter" idx="10"/>
          </p:nvPr>
        </p:nvSpPr>
        <p:spPr/>
        <p:txBody>
          <a:bodyPr/>
          <a:lstStyle/>
          <a:p>
            <a:pPr marL="342900" indent="-342900">
              <a:buFont typeface="Arial" panose="020B0604020202020204" pitchFamily="34" charset="0"/>
              <a:buChar char="•"/>
            </a:pPr>
            <a:r>
              <a:rPr lang="en-US" dirty="0"/>
              <a:t>Health behavior changes.</a:t>
            </a:r>
          </a:p>
          <a:p>
            <a:pPr marL="690372" lvl="1"/>
            <a:r>
              <a:rPr lang="en-US" sz="1800" dirty="0"/>
              <a:t>Increased smoking and alcohol use.</a:t>
            </a:r>
          </a:p>
          <a:p>
            <a:pPr marL="690372" lvl="1"/>
            <a:r>
              <a:rPr lang="en-US" sz="1800" dirty="0"/>
              <a:t>Decreased nutrition.</a:t>
            </a:r>
          </a:p>
          <a:p>
            <a:pPr marL="690372" lvl="1"/>
            <a:r>
              <a:rPr lang="en-US" sz="1800" dirty="0"/>
              <a:t>Decreased sleep.</a:t>
            </a:r>
          </a:p>
          <a:p>
            <a:pPr marL="690372" lvl="1"/>
            <a:r>
              <a:rPr lang="en-US" sz="1800" dirty="0"/>
              <a:t>Increased drug use.</a:t>
            </a:r>
          </a:p>
          <a:p>
            <a:pPr marL="690372" lvl="1"/>
            <a:r>
              <a:rPr lang="en-US" sz="1800" dirty="0"/>
              <a:t>Poor diet, little exercise.</a:t>
            </a:r>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8486255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DFC478-73F3-B295-B980-A4302F3A84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286DC3-2840-BE36-A151-56AE86EB4C3D}"/>
              </a:ext>
            </a:extLst>
          </p:cNvPr>
          <p:cNvSpPr>
            <a:spLocks noGrp="1"/>
          </p:cNvSpPr>
          <p:nvPr>
            <p:ph type="title"/>
          </p:nvPr>
        </p:nvSpPr>
        <p:spPr/>
        <p:txBody>
          <a:bodyPr/>
          <a:lstStyle/>
          <a:p>
            <a:r>
              <a:rPr lang="en-US" dirty="0"/>
              <a:t>Impact of Chronic Stress</a:t>
            </a:r>
          </a:p>
        </p:txBody>
      </p:sp>
      <p:sp>
        <p:nvSpPr>
          <p:cNvPr id="3" name="Slide Number Placeholder 2">
            <a:extLst>
              <a:ext uri="{FF2B5EF4-FFF2-40B4-BE49-F238E27FC236}">
                <a16:creationId xmlns:a16="http://schemas.microsoft.com/office/drawing/2014/main" id="{009A8ADD-42AE-412C-80D5-ED4839A32CBF}"/>
              </a:ext>
            </a:extLst>
          </p:cNvPr>
          <p:cNvSpPr>
            <a:spLocks noGrp="1"/>
          </p:cNvSpPr>
          <p:nvPr>
            <p:ph type="sldNum" sz="quarter" idx="4"/>
          </p:nvPr>
        </p:nvSpPr>
        <p:spPr/>
        <p:txBody>
          <a:bodyPr/>
          <a:lstStyle/>
          <a:p>
            <a:fld id="{6D22F896-40B5-4ADD-8801-0D06FADFA095}" type="slidenum">
              <a:rPr lang="en-US" smtClean="0"/>
              <a:pPr/>
              <a:t>18</a:t>
            </a:fld>
            <a:endParaRPr lang="en-US" dirty="0"/>
          </a:p>
        </p:txBody>
      </p:sp>
      <p:sp>
        <p:nvSpPr>
          <p:cNvPr id="7" name="Content Placeholder 6">
            <a:extLst>
              <a:ext uri="{FF2B5EF4-FFF2-40B4-BE49-F238E27FC236}">
                <a16:creationId xmlns:a16="http://schemas.microsoft.com/office/drawing/2014/main" id="{25E17361-5DC0-C2AD-F03D-40C8FAC79095}"/>
              </a:ext>
            </a:extLst>
          </p:cNvPr>
          <p:cNvSpPr>
            <a:spLocks noGrp="1"/>
          </p:cNvSpPr>
          <p:nvPr>
            <p:ph sz="quarter" idx="11"/>
          </p:nvPr>
        </p:nvSpPr>
        <p:spPr/>
        <p:txBody>
          <a:bodyPr/>
          <a:lstStyle/>
          <a:p>
            <a:r>
              <a:rPr lang="en-US" dirty="0"/>
              <a:t>Psychosocial resources.</a:t>
            </a:r>
          </a:p>
          <a:p>
            <a:pPr lvl="1"/>
            <a:r>
              <a:rPr lang="en-US" dirty="0"/>
              <a:t>Threatened social support.</a:t>
            </a:r>
          </a:p>
          <a:p>
            <a:pPr lvl="1"/>
            <a:r>
              <a:rPr lang="en-US" dirty="0"/>
              <a:t>Reduced optimism.</a:t>
            </a:r>
          </a:p>
          <a:p>
            <a:pPr lvl="1"/>
            <a:r>
              <a:rPr lang="en-US" dirty="0"/>
              <a:t>Threats to self-esteem.</a:t>
            </a:r>
          </a:p>
          <a:p>
            <a:pPr lvl="1"/>
            <a:r>
              <a:rPr lang="en-US" dirty="0"/>
              <a:t>Lower sense of mastery.</a:t>
            </a:r>
          </a:p>
          <a:p>
            <a:endParaRPr lang="en-US" dirty="0"/>
          </a:p>
        </p:txBody>
      </p:sp>
      <p:sp>
        <p:nvSpPr>
          <p:cNvPr id="6" name="Content Placeholder 5">
            <a:extLst>
              <a:ext uri="{FF2B5EF4-FFF2-40B4-BE49-F238E27FC236}">
                <a16:creationId xmlns:a16="http://schemas.microsoft.com/office/drawing/2014/main" id="{E565BDC8-8823-7386-6A93-002B62EBC2E0}"/>
              </a:ext>
            </a:extLst>
          </p:cNvPr>
          <p:cNvSpPr>
            <a:spLocks noGrp="1"/>
          </p:cNvSpPr>
          <p:nvPr>
            <p:ph sz="quarter" idx="10"/>
          </p:nvPr>
        </p:nvSpPr>
        <p:spPr/>
        <p:txBody>
          <a:bodyPr/>
          <a:lstStyle/>
          <a:p>
            <a:pPr marL="342900" indent="-342900">
              <a:buFont typeface="Arial" panose="020B0604020202020204" pitchFamily="34" charset="0"/>
              <a:buChar char="•"/>
            </a:pPr>
            <a:r>
              <a:rPr lang="en-US" dirty="0"/>
              <a:t>Health care.</a:t>
            </a:r>
          </a:p>
          <a:p>
            <a:pPr marL="690372" lvl="1"/>
            <a:r>
              <a:rPr lang="en-US" sz="1800" dirty="0"/>
              <a:t>Decreased adherence to treatment.</a:t>
            </a:r>
          </a:p>
          <a:p>
            <a:pPr marL="690372" lvl="1"/>
            <a:r>
              <a:rPr lang="en-US" sz="1800" dirty="0"/>
              <a:t>Delay in seeking care.</a:t>
            </a:r>
          </a:p>
          <a:p>
            <a:pPr marL="690372" lvl="1"/>
            <a:r>
              <a:rPr lang="en-US" sz="1800" dirty="0"/>
              <a:t>Obscured symptom profile.</a:t>
            </a:r>
          </a:p>
          <a:p>
            <a:pPr marL="690372" lvl="1"/>
            <a:r>
              <a:rPr lang="en-US" sz="1800" dirty="0"/>
              <a:t>Decreased likelihood of seeking care.</a:t>
            </a:r>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36536414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9D52B27-02F8-EBC5-95E8-FA2C9309CF92}"/>
              </a:ext>
            </a:extLst>
          </p:cNvPr>
          <p:cNvSpPr>
            <a:spLocks noGrp="1"/>
          </p:cNvSpPr>
          <p:nvPr>
            <p:ph type="title"/>
          </p:nvPr>
        </p:nvSpPr>
        <p:spPr/>
        <p:txBody>
          <a:bodyPr/>
          <a:lstStyle/>
          <a:p>
            <a:r>
              <a:rPr lang="en-US" dirty="0"/>
              <a:t>Stressors</a:t>
            </a:r>
          </a:p>
        </p:txBody>
      </p:sp>
      <p:sp>
        <p:nvSpPr>
          <p:cNvPr id="3" name="Slide Number Placeholder 2">
            <a:extLst>
              <a:ext uri="{FF2B5EF4-FFF2-40B4-BE49-F238E27FC236}">
                <a16:creationId xmlns:a16="http://schemas.microsoft.com/office/drawing/2014/main" id="{0506C7ED-17F5-ED13-FA36-7B9792E1B76F}"/>
              </a:ext>
            </a:extLst>
          </p:cNvPr>
          <p:cNvSpPr>
            <a:spLocks noGrp="1"/>
          </p:cNvSpPr>
          <p:nvPr>
            <p:ph type="sldNum" sz="quarter" idx="4"/>
          </p:nvPr>
        </p:nvSpPr>
        <p:spPr/>
        <p:txBody>
          <a:bodyPr/>
          <a:lstStyle/>
          <a:p>
            <a:fld id="{6D22F896-40B5-4ADD-8801-0D06FADFA095}" type="slidenum">
              <a:rPr lang="en-US" smtClean="0"/>
              <a:pPr/>
              <a:t>19</a:t>
            </a:fld>
            <a:endParaRPr lang="en-US" dirty="0"/>
          </a:p>
        </p:txBody>
      </p:sp>
      <p:sp>
        <p:nvSpPr>
          <p:cNvPr id="6" name="Content Placeholder 5">
            <a:extLst>
              <a:ext uri="{FF2B5EF4-FFF2-40B4-BE49-F238E27FC236}">
                <a16:creationId xmlns:a16="http://schemas.microsoft.com/office/drawing/2014/main" id="{F8309AD3-BA7B-1441-8C13-31CC66AF1FD8}"/>
              </a:ext>
            </a:extLst>
          </p:cNvPr>
          <p:cNvSpPr>
            <a:spLocks noGrp="1"/>
          </p:cNvSpPr>
          <p:nvPr>
            <p:ph sz="quarter" idx="10"/>
          </p:nvPr>
        </p:nvSpPr>
        <p:spPr>
          <a:xfrm>
            <a:off x="566726" y="2392441"/>
            <a:ext cx="11104270" cy="3967795"/>
          </a:xfrm>
        </p:spPr>
        <p:txBody>
          <a:bodyPr>
            <a:normAutofit/>
          </a:bodyPr>
          <a:lstStyle/>
          <a:p>
            <a:pPr marL="342900" indent="-342900">
              <a:buFont typeface="Arial" panose="020B0604020202020204" pitchFamily="34" charset="0"/>
              <a:buChar char="•"/>
            </a:pPr>
            <a:r>
              <a:rPr lang="en-US" dirty="0"/>
              <a:t>Negative, uncontrollable, or ambiguous events</a:t>
            </a:r>
          </a:p>
          <a:p>
            <a:pPr marL="342900" indent="-342900">
              <a:buFont typeface="Arial" panose="020B0604020202020204" pitchFamily="34" charset="0"/>
              <a:buChar char="•"/>
            </a:pPr>
            <a:r>
              <a:rPr lang="en-US" dirty="0"/>
              <a:t>Life events (both negative and positive life events)</a:t>
            </a:r>
          </a:p>
          <a:p>
            <a:pPr marL="342900" indent="-342900">
              <a:buFont typeface="Arial" panose="020B0604020202020204" pitchFamily="34" charset="0"/>
              <a:buChar char="•"/>
            </a:pPr>
            <a:r>
              <a:rPr lang="en-US" dirty="0"/>
              <a:t>Daily hassles</a:t>
            </a:r>
          </a:p>
          <a:p>
            <a:pPr marL="342900" indent="-342900">
              <a:buFont typeface="Arial" panose="020B0604020202020204" pitchFamily="34" charset="0"/>
              <a:buChar char="•"/>
            </a:pPr>
            <a:r>
              <a:rPr lang="en-US" dirty="0"/>
              <a:t>Home life/ work life balance</a:t>
            </a:r>
          </a:p>
          <a:p>
            <a:pPr marL="690372" lvl="1"/>
            <a:r>
              <a:rPr lang="en-US" dirty="0"/>
              <a:t>Roles can be protective or cause conflict</a:t>
            </a:r>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19498783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67D31-F64B-D97A-E515-4C3505FD98F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CA90CBEE-DA55-06EC-525C-6761C8019A1C}"/>
              </a:ext>
            </a:extLst>
          </p:cNvPr>
          <p:cNvSpPr>
            <a:spLocks noGrp="1"/>
          </p:cNvSpPr>
          <p:nvPr>
            <p:ph type="title"/>
          </p:nvPr>
        </p:nvSpPr>
        <p:spPr/>
        <p:txBody>
          <a:bodyPr/>
          <a:lstStyle/>
          <a:p>
            <a:r>
              <a:rPr lang="en-US" dirty="0"/>
              <a:t>Stressors</a:t>
            </a:r>
          </a:p>
        </p:txBody>
      </p:sp>
      <p:sp>
        <p:nvSpPr>
          <p:cNvPr id="3" name="Slide Number Placeholder 2">
            <a:extLst>
              <a:ext uri="{FF2B5EF4-FFF2-40B4-BE49-F238E27FC236}">
                <a16:creationId xmlns:a16="http://schemas.microsoft.com/office/drawing/2014/main" id="{211E95D2-D45D-3AE2-ADBB-A28A6FAF3A8F}"/>
              </a:ext>
            </a:extLst>
          </p:cNvPr>
          <p:cNvSpPr>
            <a:spLocks noGrp="1"/>
          </p:cNvSpPr>
          <p:nvPr>
            <p:ph type="sldNum" sz="quarter" idx="4"/>
          </p:nvPr>
        </p:nvSpPr>
        <p:spPr/>
        <p:txBody>
          <a:bodyPr/>
          <a:lstStyle/>
          <a:p>
            <a:fld id="{6D22F896-40B5-4ADD-8801-0D06FADFA095}" type="slidenum">
              <a:rPr lang="en-US" smtClean="0"/>
              <a:pPr/>
              <a:t>20</a:t>
            </a:fld>
            <a:endParaRPr lang="en-US" dirty="0"/>
          </a:p>
        </p:txBody>
      </p:sp>
      <p:pic>
        <p:nvPicPr>
          <p:cNvPr id="8" name="Picture 7">
            <a:extLst>
              <a:ext uri="{FF2B5EF4-FFF2-40B4-BE49-F238E27FC236}">
                <a16:creationId xmlns:a16="http://schemas.microsoft.com/office/drawing/2014/main" id="{209031A0-7FB3-9428-C5AD-6C181CE3733C}"/>
              </a:ext>
            </a:extLst>
          </p:cNvPr>
          <p:cNvPicPr>
            <a:picLocks noChangeAspect="1"/>
          </p:cNvPicPr>
          <p:nvPr/>
        </p:nvPicPr>
        <p:blipFill>
          <a:blip r:embed="rId3"/>
          <a:stretch>
            <a:fillRect/>
          </a:stretch>
        </p:blipFill>
        <p:spPr>
          <a:xfrm>
            <a:off x="3676858" y="997689"/>
            <a:ext cx="7577985" cy="2749534"/>
          </a:xfrm>
          <a:prstGeom prst="rect">
            <a:avLst/>
          </a:prstGeom>
        </p:spPr>
      </p:pic>
      <p:pic>
        <p:nvPicPr>
          <p:cNvPr id="10" name="Picture 9">
            <a:extLst>
              <a:ext uri="{FF2B5EF4-FFF2-40B4-BE49-F238E27FC236}">
                <a16:creationId xmlns:a16="http://schemas.microsoft.com/office/drawing/2014/main" id="{257C3AD0-AD3B-E859-D115-4349186FC2B3}"/>
              </a:ext>
            </a:extLst>
          </p:cNvPr>
          <p:cNvPicPr>
            <a:picLocks noChangeAspect="1"/>
          </p:cNvPicPr>
          <p:nvPr/>
        </p:nvPicPr>
        <p:blipFill>
          <a:blip r:embed="rId4"/>
          <a:stretch>
            <a:fillRect/>
          </a:stretch>
        </p:blipFill>
        <p:spPr>
          <a:xfrm>
            <a:off x="3676858" y="4143019"/>
            <a:ext cx="7577985" cy="1781745"/>
          </a:xfrm>
          <a:prstGeom prst="rect">
            <a:avLst/>
          </a:prstGeom>
        </p:spPr>
      </p:pic>
      <p:sp>
        <p:nvSpPr>
          <p:cNvPr id="11" name="TextBox 10">
            <a:extLst>
              <a:ext uri="{FF2B5EF4-FFF2-40B4-BE49-F238E27FC236}">
                <a16:creationId xmlns:a16="http://schemas.microsoft.com/office/drawing/2014/main" id="{C7B79EF1-D497-7646-49EA-9B110BDAD6F7}"/>
              </a:ext>
            </a:extLst>
          </p:cNvPr>
          <p:cNvSpPr txBox="1"/>
          <p:nvPr/>
        </p:nvSpPr>
        <p:spPr>
          <a:xfrm>
            <a:off x="3553097" y="6109842"/>
            <a:ext cx="8399809" cy="461665"/>
          </a:xfrm>
          <a:prstGeom prst="rect">
            <a:avLst/>
          </a:prstGeom>
          <a:noFill/>
        </p:spPr>
        <p:txBody>
          <a:bodyPr wrap="square" rtlCol="0">
            <a:spAutoFit/>
          </a:bodyPr>
          <a:lstStyle/>
          <a:p>
            <a:r>
              <a:rPr lang="en-US" sz="1200" dirty="0">
                <a:solidFill>
                  <a:schemeClr val="bg1"/>
                </a:solidFill>
              </a:rPr>
              <a:t>Source: Acuna, Laura, and Diana Alejandra González-García. “The Social Readjustment Rating Scale of Holmes and Rahe in Mexico: A Rescaling after 16 Years.” Journal of Psychosomatic Research 11 (January 2012): 213–218.</a:t>
            </a:r>
          </a:p>
        </p:txBody>
      </p:sp>
    </p:spTree>
    <p:extLst>
      <p:ext uri="{BB962C8B-B14F-4D97-AF65-F5344CB8AC3E}">
        <p14:creationId xmlns:p14="http://schemas.microsoft.com/office/powerpoint/2010/main" val="9676546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8C94AC-9C10-D879-9EA9-64BB00BFBD9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3DFEB96-437F-622C-173A-6F6876E8B123}"/>
              </a:ext>
            </a:extLst>
          </p:cNvPr>
          <p:cNvSpPr>
            <a:spLocks noGrp="1"/>
          </p:cNvSpPr>
          <p:nvPr>
            <p:ph type="title"/>
          </p:nvPr>
        </p:nvSpPr>
        <p:spPr/>
        <p:txBody>
          <a:bodyPr/>
          <a:lstStyle/>
          <a:p>
            <a:r>
              <a:rPr lang="en-US" dirty="0"/>
              <a:t>Workplace Stress</a:t>
            </a:r>
          </a:p>
        </p:txBody>
      </p:sp>
      <p:sp>
        <p:nvSpPr>
          <p:cNvPr id="3" name="Slide Number Placeholder 2">
            <a:extLst>
              <a:ext uri="{FF2B5EF4-FFF2-40B4-BE49-F238E27FC236}">
                <a16:creationId xmlns:a16="http://schemas.microsoft.com/office/drawing/2014/main" id="{2D1E9644-076C-55B2-817D-05D98A2504BA}"/>
              </a:ext>
            </a:extLst>
          </p:cNvPr>
          <p:cNvSpPr>
            <a:spLocks noGrp="1"/>
          </p:cNvSpPr>
          <p:nvPr>
            <p:ph type="sldNum" sz="quarter" idx="4"/>
          </p:nvPr>
        </p:nvSpPr>
        <p:spPr/>
        <p:txBody>
          <a:bodyPr/>
          <a:lstStyle/>
          <a:p>
            <a:fld id="{6D22F896-40B5-4ADD-8801-0D06FADFA095}" type="slidenum">
              <a:rPr lang="en-US" smtClean="0"/>
              <a:pPr/>
              <a:t>21</a:t>
            </a:fld>
            <a:endParaRPr lang="en-US" dirty="0"/>
          </a:p>
        </p:txBody>
      </p:sp>
      <p:sp>
        <p:nvSpPr>
          <p:cNvPr id="6" name="Content Placeholder 5">
            <a:extLst>
              <a:ext uri="{FF2B5EF4-FFF2-40B4-BE49-F238E27FC236}">
                <a16:creationId xmlns:a16="http://schemas.microsoft.com/office/drawing/2014/main" id="{89AD9637-D187-1A38-0BAC-79EA9745FE7E}"/>
              </a:ext>
            </a:extLst>
          </p:cNvPr>
          <p:cNvSpPr>
            <a:spLocks noGrp="1"/>
          </p:cNvSpPr>
          <p:nvPr>
            <p:ph sz="quarter" idx="10"/>
          </p:nvPr>
        </p:nvSpPr>
        <p:spPr>
          <a:xfrm>
            <a:off x="566726" y="1959429"/>
            <a:ext cx="11104270" cy="4400807"/>
          </a:xfrm>
        </p:spPr>
        <p:txBody>
          <a:bodyPr>
            <a:normAutofit fontScale="92500" lnSpcReduction="10000"/>
          </a:bodyPr>
          <a:lstStyle/>
          <a:p>
            <a:pPr marL="342900" indent="-342900">
              <a:buFont typeface="Arial" panose="020B0604020202020204" pitchFamily="34" charset="0"/>
              <a:buChar char="•"/>
            </a:pPr>
            <a:r>
              <a:rPr lang="en-US" dirty="0"/>
              <a:t>Workplace stress is estimated to cost $300 billion a year (in the U.S.)</a:t>
            </a:r>
          </a:p>
          <a:p>
            <a:pPr marL="342900" indent="-342900">
              <a:buFont typeface="Arial" panose="020B0604020202020204" pitchFamily="34" charset="0"/>
              <a:buChar char="•"/>
            </a:pPr>
            <a:r>
              <a:rPr lang="en-US" dirty="0"/>
              <a:t>Multiple factors lead to workplace stress:</a:t>
            </a:r>
          </a:p>
          <a:p>
            <a:pPr marL="690372" lvl="1"/>
            <a:r>
              <a:rPr lang="en-US" dirty="0"/>
              <a:t>Sedentary lifestyle</a:t>
            </a:r>
          </a:p>
          <a:p>
            <a:pPr marL="690372" lvl="1"/>
            <a:r>
              <a:rPr lang="en-US" dirty="0"/>
              <a:t>Overload of expectations</a:t>
            </a:r>
          </a:p>
          <a:p>
            <a:pPr marL="690372" lvl="1"/>
            <a:r>
              <a:rPr lang="en-US" dirty="0"/>
              <a:t>Role conflict</a:t>
            </a:r>
          </a:p>
          <a:p>
            <a:pPr marL="690372" lvl="1"/>
            <a:r>
              <a:rPr lang="en-US" dirty="0"/>
              <a:t>Social dynamics</a:t>
            </a:r>
          </a:p>
          <a:p>
            <a:pPr marL="690372" lvl="1"/>
            <a:r>
              <a:rPr lang="en-US" dirty="0"/>
              <a:t>Unemployment (or risk of unemployment)</a:t>
            </a:r>
          </a:p>
          <a:p>
            <a:pPr marL="342900" indent="-342900">
              <a:buFont typeface="Arial" panose="020B0604020202020204" pitchFamily="34" charset="0"/>
              <a:buChar char="•"/>
            </a:pPr>
            <a:r>
              <a:rPr lang="en-US" b="1" u="sng" dirty="0"/>
              <a:t>Demand-control-support model</a:t>
            </a:r>
            <a:r>
              <a:rPr lang="en-US" dirty="0"/>
              <a:t> – High demands and low control are combined with little social support at work.</a:t>
            </a:r>
          </a:p>
          <a:p>
            <a:pPr marL="690372" lvl="1"/>
            <a:r>
              <a:rPr lang="en-US" dirty="0"/>
              <a:t>Linked to risk or coronary artery disease</a:t>
            </a:r>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42205726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F98FD-7E0A-0FC0-150D-3E9D48D7ECB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D56CA71-3197-944C-1658-268FEA36923D}"/>
              </a:ext>
            </a:extLst>
          </p:cNvPr>
          <p:cNvSpPr>
            <a:spLocks noGrp="1"/>
          </p:cNvSpPr>
          <p:nvPr>
            <p:ph type="title"/>
          </p:nvPr>
        </p:nvSpPr>
        <p:spPr/>
        <p:txBody>
          <a:bodyPr/>
          <a:lstStyle/>
          <a:p>
            <a:r>
              <a:rPr lang="en-US" dirty="0"/>
              <a:t>Stress Adaptation</a:t>
            </a:r>
          </a:p>
        </p:txBody>
      </p:sp>
      <p:sp>
        <p:nvSpPr>
          <p:cNvPr id="3" name="Slide Number Placeholder 2">
            <a:extLst>
              <a:ext uri="{FF2B5EF4-FFF2-40B4-BE49-F238E27FC236}">
                <a16:creationId xmlns:a16="http://schemas.microsoft.com/office/drawing/2014/main" id="{7CE52F49-AA84-18A2-6958-3F9DAB24120F}"/>
              </a:ext>
            </a:extLst>
          </p:cNvPr>
          <p:cNvSpPr>
            <a:spLocks noGrp="1"/>
          </p:cNvSpPr>
          <p:nvPr>
            <p:ph type="sldNum" sz="quarter" idx="4"/>
          </p:nvPr>
        </p:nvSpPr>
        <p:spPr/>
        <p:txBody>
          <a:bodyPr/>
          <a:lstStyle/>
          <a:p>
            <a:fld id="{6D22F896-40B5-4ADD-8801-0D06FADFA095}" type="slidenum">
              <a:rPr lang="en-US" smtClean="0"/>
              <a:pPr/>
              <a:t>22</a:t>
            </a:fld>
            <a:endParaRPr lang="en-US" dirty="0"/>
          </a:p>
        </p:txBody>
      </p:sp>
      <p:sp>
        <p:nvSpPr>
          <p:cNvPr id="6" name="Content Placeholder 5">
            <a:extLst>
              <a:ext uri="{FF2B5EF4-FFF2-40B4-BE49-F238E27FC236}">
                <a16:creationId xmlns:a16="http://schemas.microsoft.com/office/drawing/2014/main" id="{FBA091FB-F165-DE59-E6A7-6BB36AB11030}"/>
              </a:ext>
            </a:extLst>
          </p:cNvPr>
          <p:cNvSpPr>
            <a:spLocks noGrp="1"/>
          </p:cNvSpPr>
          <p:nvPr>
            <p:ph sz="quarter" idx="10"/>
          </p:nvPr>
        </p:nvSpPr>
        <p:spPr>
          <a:xfrm>
            <a:off x="566726" y="1915887"/>
            <a:ext cx="11104270" cy="4444350"/>
          </a:xfrm>
        </p:spPr>
        <p:txBody>
          <a:bodyPr>
            <a:normAutofit lnSpcReduction="10000"/>
          </a:bodyPr>
          <a:lstStyle/>
          <a:p>
            <a:pPr marL="342900" indent="-342900">
              <a:buFont typeface="Arial" panose="020B0604020202020204" pitchFamily="34" charset="0"/>
              <a:buChar char="•"/>
            </a:pPr>
            <a:r>
              <a:rPr lang="en-US" dirty="0"/>
              <a:t>Stress is known to cause a series of after effects, including (but not limited to):</a:t>
            </a:r>
          </a:p>
          <a:p>
            <a:pPr marL="690372" lvl="1"/>
            <a:r>
              <a:rPr lang="en-US" dirty="0"/>
              <a:t>Shortened attention span</a:t>
            </a:r>
          </a:p>
          <a:p>
            <a:pPr marL="690372" lvl="1"/>
            <a:r>
              <a:rPr lang="en-US" dirty="0"/>
              <a:t>Poor performance on intellectual tasks</a:t>
            </a:r>
          </a:p>
          <a:p>
            <a:pPr marL="690372" lvl="1"/>
            <a:r>
              <a:rPr lang="en-US" dirty="0"/>
              <a:t>Ongoing psychological distress</a:t>
            </a:r>
          </a:p>
          <a:p>
            <a:pPr marL="690372" lvl="1"/>
            <a:r>
              <a:rPr lang="en-US" dirty="0"/>
              <a:t>Physiological arousal</a:t>
            </a:r>
          </a:p>
          <a:p>
            <a:pPr marL="342900" indent="-342900">
              <a:buFont typeface="Arial" panose="020B0604020202020204" pitchFamily="34" charset="0"/>
              <a:buChar char="•"/>
            </a:pPr>
            <a:r>
              <a:rPr lang="en-US" dirty="0"/>
              <a:t>Can we adapt to stress?</a:t>
            </a:r>
          </a:p>
          <a:p>
            <a:pPr marL="690372" lvl="1"/>
            <a:r>
              <a:rPr lang="en-US" dirty="0"/>
              <a:t>Yes, but…</a:t>
            </a:r>
          </a:p>
          <a:p>
            <a:pPr marL="1056132" lvl="2"/>
            <a:r>
              <a:rPr lang="en-US" dirty="0"/>
              <a:t>Only to a certain amount of stress</a:t>
            </a:r>
          </a:p>
          <a:p>
            <a:pPr marL="1056132" lvl="2"/>
            <a:r>
              <a:rPr lang="en-US" dirty="0"/>
              <a:t>Vulnerable populations (older adults, children, lower SES, etc.) may not be able to</a:t>
            </a:r>
          </a:p>
          <a:p>
            <a:pPr marL="690372" lvl="1"/>
            <a:endParaRPr lang="en-US" dirty="0"/>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11945447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C0DE5-C259-4563-1C44-396A2A061C45}"/>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B4BE495-8896-B4B0-610B-44B7720AEC0C}"/>
              </a:ext>
            </a:extLst>
          </p:cNvPr>
          <p:cNvSpPr>
            <a:spLocks noGrp="1"/>
          </p:cNvSpPr>
          <p:nvPr>
            <p:ph type="title"/>
          </p:nvPr>
        </p:nvSpPr>
        <p:spPr/>
        <p:txBody>
          <a:bodyPr/>
          <a:lstStyle/>
          <a:p>
            <a:r>
              <a:rPr lang="en-US" dirty="0"/>
              <a:t>Studying Stress</a:t>
            </a:r>
          </a:p>
        </p:txBody>
      </p:sp>
      <p:sp>
        <p:nvSpPr>
          <p:cNvPr id="3" name="Slide Number Placeholder 2">
            <a:extLst>
              <a:ext uri="{FF2B5EF4-FFF2-40B4-BE49-F238E27FC236}">
                <a16:creationId xmlns:a16="http://schemas.microsoft.com/office/drawing/2014/main" id="{F6C2FEC3-B450-79FA-5D98-ECD1392B0940}"/>
              </a:ext>
            </a:extLst>
          </p:cNvPr>
          <p:cNvSpPr>
            <a:spLocks noGrp="1"/>
          </p:cNvSpPr>
          <p:nvPr>
            <p:ph type="sldNum" sz="quarter" idx="4"/>
          </p:nvPr>
        </p:nvSpPr>
        <p:spPr/>
        <p:txBody>
          <a:bodyPr/>
          <a:lstStyle/>
          <a:p>
            <a:fld id="{6D22F896-40B5-4ADD-8801-0D06FADFA095}" type="slidenum">
              <a:rPr lang="en-US" smtClean="0"/>
              <a:pPr/>
              <a:t>23</a:t>
            </a:fld>
            <a:endParaRPr lang="en-US" dirty="0"/>
          </a:p>
        </p:txBody>
      </p:sp>
      <p:sp>
        <p:nvSpPr>
          <p:cNvPr id="6" name="Content Placeholder 5">
            <a:extLst>
              <a:ext uri="{FF2B5EF4-FFF2-40B4-BE49-F238E27FC236}">
                <a16:creationId xmlns:a16="http://schemas.microsoft.com/office/drawing/2014/main" id="{092741FE-BAA4-39C0-875A-BD36AC398D1D}"/>
              </a:ext>
            </a:extLst>
          </p:cNvPr>
          <p:cNvSpPr>
            <a:spLocks noGrp="1"/>
          </p:cNvSpPr>
          <p:nvPr>
            <p:ph sz="quarter" idx="10"/>
          </p:nvPr>
        </p:nvSpPr>
        <p:spPr>
          <a:xfrm>
            <a:off x="566726" y="1915887"/>
            <a:ext cx="11104270" cy="4444350"/>
          </a:xfrm>
        </p:spPr>
        <p:txBody>
          <a:bodyPr>
            <a:normAutofit lnSpcReduction="10000"/>
          </a:bodyPr>
          <a:lstStyle/>
          <a:p>
            <a:pPr marL="342900" indent="-342900">
              <a:buFont typeface="Arial" panose="020B0604020202020204" pitchFamily="34" charset="0"/>
              <a:buChar char="•"/>
            </a:pPr>
            <a:r>
              <a:rPr lang="en-US" dirty="0"/>
              <a:t>Ethical concern: should we induce stress in order to study it, when we know it has negative outcomes for health?</a:t>
            </a:r>
          </a:p>
          <a:p>
            <a:pPr marL="342900" indent="-342900">
              <a:buFont typeface="Arial" panose="020B0604020202020204" pitchFamily="34" charset="0"/>
              <a:buChar char="•"/>
            </a:pPr>
            <a:r>
              <a:rPr lang="en-US" dirty="0"/>
              <a:t>Acute stress paradigm</a:t>
            </a:r>
          </a:p>
          <a:p>
            <a:pPr marL="690372" lvl="1"/>
            <a:r>
              <a:rPr lang="en-US" dirty="0"/>
              <a:t>Unplanned presentation</a:t>
            </a:r>
          </a:p>
          <a:p>
            <a:pPr marL="690372" lvl="1"/>
            <a:r>
              <a:rPr lang="en-US" dirty="0"/>
              <a:t>Counting backwards, by difficult sets (e.g., count backwards quickly from 100 by 7s)</a:t>
            </a:r>
          </a:p>
          <a:p>
            <a:pPr marL="690372" lvl="1"/>
            <a:r>
              <a:rPr lang="en-US" dirty="0"/>
              <a:t>Cold pressor</a:t>
            </a:r>
          </a:p>
          <a:p>
            <a:pPr marL="342900" indent="-342900">
              <a:buFont typeface="Arial" panose="020B0604020202020204" pitchFamily="34" charset="0"/>
              <a:buChar char="•"/>
            </a:pPr>
            <a:r>
              <a:rPr lang="en-US" dirty="0"/>
              <a:t>Flu shots/ vaccines</a:t>
            </a:r>
          </a:p>
          <a:p>
            <a:pPr marL="342900" indent="-342900">
              <a:buFont typeface="Arial" panose="020B0604020202020204" pitchFamily="34" charset="0"/>
              <a:buChar char="•"/>
            </a:pPr>
            <a:r>
              <a:rPr lang="en-US" dirty="0"/>
              <a:t>Quasi-experiments</a:t>
            </a:r>
          </a:p>
          <a:p>
            <a:pPr marL="342900" indent="-342900">
              <a:buFont typeface="Arial" panose="020B0604020202020204" pitchFamily="34" charset="0"/>
              <a:buChar char="•"/>
            </a:pPr>
            <a:r>
              <a:rPr lang="en-US" dirty="0"/>
              <a:t>Stress can be assessed with qualitative measures (surveys, interviews, etc.) and quantitative measures (cortisol, blood pressure, heart rate variability, etc.)</a:t>
            </a:r>
          </a:p>
          <a:p>
            <a:pPr marL="690372" lvl="1"/>
            <a:endParaRPr lang="en-US" dirty="0"/>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14269913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A7FAD2-E764-A293-303C-7B859B6FF6E2}"/>
              </a:ext>
            </a:extLst>
          </p:cNvPr>
          <p:cNvSpPr>
            <a:spLocks noGrp="1"/>
          </p:cNvSpPr>
          <p:nvPr>
            <p:ph type="title"/>
          </p:nvPr>
        </p:nvSpPr>
        <p:spPr/>
        <p:txBody>
          <a:bodyPr/>
          <a:lstStyle/>
          <a:p>
            <a:r>
              <a:rPr lang="en-US" dirty="0"/>
              <a:t>Next Time on PSY 440…</a:t>
            </a:r>
          </a:p>
        </p:txBody>
      </p:sp>
      <p:sp>
        <p:nvSpPr>
          <p:cNvPr id="3" name="Slide Number Placeholder 2">
            <a:extLst>
              <a:ext uri="{FF2B5EF4-FFF2-40B4-BE49-F238E27FC236}">
                <a16:creationId xmlns:a16="http://schemas.microsoft.com/office/drawing/2014/main" id="{C8541D32-D15B-C6A2-951F-4D7E6C4BF793}"/>
              </a:ext>
            </a:extLst>
          </p:cNvPr>
          <p:cNvSpPr>
            <a:spLocks noGrp="1"/>
          </p:cNvSpPr>
          <p:nvPr>
            <p:ph type="sldNum" sz="quarter" idx="4"/>
          </p:nvPr>
        </p:nvSpPr>
        <p:spPr/>
        <p:txBody>
          <a:bodyPr/>
          <a:lstStyle/>
          <a:p>
            <a:fld id="{6D22F896-40B5-4ADD-8801-0D06FADFA095}" type="slidenum">
              <a:rPr lang="en-US" smtClean="0"/>
              <a:pPr/>
              <a:t>24</a:t>
            </a:fld>
            <a:endParaRPr lang="en-US" dirty="0"/>
          </a:p>
        </p:txBody>
      </p:sp>
      <p:sp>
        <p:nvSpPr>
          <p:cNvPr id="7" name="Content Placeholder 6">
            <a:extLst>
              <a:ext uri="{FF2B5EF4-FFF2-40B4-BE49-F238E27FC236}">
                <a16:creationId xmlns:a16="http://schemas.microsoft.com/office/drawing/2014/main" id="{CD086B64-94DE-AF4E-22A3-E76EF672740B}"/>
              </a:ext>
            </a:extLst>
          </p:cNvPr>
          <p:cNvSpPr>
            <a:spLocks noGrp="1"/>
          </p:cNvSpPr>
          <p:nvPr>
            <p:ph sz="quarter" idx="11"/>
          </p:nvPr>
        </p:nvSpPr>
        <p:spPr/>
        <p:txBody>
          <a:bodyPr/>
          <a:lstStyle/>
          <a:p>
            <a:pPr marL="0" indent="0">
              <a:buNone/>
            </a:pPr>
            <a:r>
              <a:rPr lang="en-US" sz="2400" b="1" dirty="0"/>
              <a:t>Before Next Class:</a:t>
            </a:r>
          </a:p>
          <a:p>
            <a:r>
              <a:rPr lang="en-US"/>
              <a:t>Work </a:t>
            </a:r>
            <a:r>
              <a:rPr lang="en-US" dirty="0"/>
              <a:t>on Behavior Change Paper</a:t>
            </a:r>
          </a:p>
        </p:txBody>
      </p:sp>
      <p:sp>
        <p:nvSpPr>
          <p:cNvPr id="6" name="Content Placeholder 5">
            <a:extLst>
              <a:ext uri="{FF2B5EF4-FFF2-40B4-BE49-F238E27FC236}">
                <a16:creationId xmlns:a16="http://schemas.microsoft.com/office/drawing/2014/main" id="{55218FD0-6965-902B-EFD4-099460B3B3CB}"/>
              </a:ext>
            </a:extLst>
          </p:cNvPr>
          <p:cNvSpPr>
            <a:spLocks noGrp="1"/>
          </p:cNvSpPr>
          <p:nvPr>
            <p:ph sz="quarter" idx="10"/>
          </p:nvPr>
        </p:nvSpPr>
        <p:spPr/>
        <p:txBody>
          <a:bodyPr/>
          <a:lstStyle/>
          <a:p>
            <a:r>
              <a:rPr lang="en-US" sz="2400" b="1" dirty="0"/>
              <a:t>In Our Next Class:</a:t>
            </a:r>
          </a:p>
          <a:p>
            <a:pPr marL="342900" indent="-342900">
              <a:buFont typeface="Arial" panose="020B0604020202020204" pitchFamily="34" charset="0"/>
              <a:buChar char="•"/>
            </a:pPr>
            <a:r>
              <a:rPr lang="en-US" dirty="0"/>
              <a:t>Stress Activity</a:t>
            </a:r>
          </a:p>
        </p:txBody>
      </p:sp>
    </p:spTree>
    <p:extLst>
      <p:ext uri="{BB962C8B-B14F-4D97-AF65-F5344CB8AC3E}">
        <p14:creationId xmlns:p14="http://schemas.microsoft.com/office/powerpoint/2010/main" val="366891252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TM45439525">
      <a:dk1>
        <a:srgbClr val="000000"/>
      </a:dk1>
      <a:lt1>
        <a:srgbClr val="FFFFFF"/>
      </a:lt1>
      <a:dk2>
        <a:srgbClr val="1F2D29"/>
      </a:dk2>
      <a:lt2>
        <a:srgbClr val="E6B32E"/>
      </a:lt2>
      <a:accent1>
        <a:srgbClr val="9F9CD8"/>
      </a:accent1>
      <a:accent2>
        <a:srgbClr val="ED95A2"/>
      </a:accent2>
      <a:accent3>
        <a:srgbClr val="8BB9E1"/>
      </a:accent3>
      <a:accent4>
        <a:srgbClr val="C33F51"/>
      </a:accent4>
      <a:accent5>
        <a:srgbClr val="004048"/>
      </a:accent5>
      <a:accent6>
        <a:srgbClr val="8EC0C1"/>
      </a:accent6>
      <a:hlink>
        <a:srgbClr val="6D9D9B"/>
      </a:hlink>
      <a:folHlink>
        <a:srgbClr val="6D8583"/>
      </a:folHlink>
    </a:clrScheme>
    <a:fontScheme name="Custom 116">
      <a:majorFont>
        <a:latin typeface="Kalinga"/>
        <a:ea typeface=""/>
        <a:cs typeface=""/>
      </a:majorFont>
      <a:minorFont>
        <a:latin typeface="Kalinga"/>
        <a:ea typeface=""/>
        <a:cs typeface=""/>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TM45439525_Win32_SL_V9" id="{1C1685F1-2AF6-4AF8-B809-5763D0E52941}" vid="{50BDB98F-F06A-48E8-BE85-F709AAFF09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0FBC208-84B5-4BA7-8306-5BDC2F8CE14B}">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EF746E38-3E45-40EB-917C-6C82B8DF19AC}">
  <ds:schemaRefs>
    <ds:schemaRef ds:uri="http://schemas.microsoft.com/sharepoint/v3/contenttype/forms"/>
  </ds:schemaRefs>
</ds:datastoreItem>
</file>

<file path=customXml/itemProps3.xml><?xml version="1.0" encoding="utf-8"?>
<ds:datastoreItem xmlns:ds="http://schemas.openxmlformats.org/officeDocument/2006/customXml" ds:itemID="{FF058098-9A21-440B-BD1E-02659AABD2A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1a19d03a-48bc-4359-8038-5b5f6d5847c3}"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Pastels Presentation</Template>
  <TotalTime>236</TotalTime>
  <Words>3293</Words>
  <Application>Microsoft Office PowerPoint</Application>
  <PresentationFormat>Widescreen</PresentationFormat>
  <Paragraphs>181</Paragraphs>
  <Slides>24</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24</vt:i4>
      </vt:variant>
    </vt:vector>
  </HeadingPairs>
  <TitlesOfParts>
    <vt:vector size="29" baseType="lpstr">
      <vt:lpstr>Arial</vt:lpstr>
      <vt:lpstr>Calibri</vt:lpstr>
      <vt:lpstr>Kalinga</vt:lpstr>
      <vt:lpstr>Wingdings</vt:lpstr>
      <vt:lpstr>Madison</vt:lpstr>
      <vt:lpstr>Stress </vt:lpstr>
      <vt:lpstr>Agenda</vt:lpstr>
      <vt:lpstr>Important Terminology</vt:lpstr>
      <vt:lpstr>Acute Stress vs.  Chronic Stress</vt:lpstr>
      <vt:lpstr>Responding to Stress</vt:lpstr>
      <vt:lpstr>Selye’s General Adaptation Syndrome</vt:lpstr>
      <vt:lpstr>So, what is happening during a stress response?</vt:lpstr>
      <vt:lpstr>The Physiology of Stress</vt:lpstr>
      <vt:lpstr>The Physiology of Stress</vt:lpstr>
      <vt:lpstr>The Physiology of Stress</vt:lpstr>
      <vt:lpstr>The Physiology of Stress</vt:lpstr>
      <vt:lpstr>The Physiology of Stress</vt:lpstr>
      <vt:lpstr>The Physiology of Stress</vt:lpstr>
      <vt:lpstr>The Physiology of Stress</vt:lpstr>
      <vt:lpstr>How much stress is too much?</vt:lpstr>
      <vt:lpstr>Indicators of Allostatic Load</vt:lpstr>
      <vt:lpstr>Impact of Chronic Stress</vt:lpstr>
      <vt:lpstr>Impact of Chronic Stress</vt:lpstr>
      <vt:lpstr>Stressors</vt:lpstr>
      <vt:lpstr>Stressors</vt:lpstr>
      <vt:lpstr>Workplace Stress</vt:lpstr>
      <vt:lpstr>Stress Adaptation</vt:lpstr>
      <vt:lpstr>Studying Stress</vt:lpstr>
      <vt:lpstr>Next Time on PSY 440…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Scheuler, Bryanna</dc:creator>
  <cp:lastModifiedBy>Bryanna Scheuler</cp:lastModifiedBy>
  <cp:revision>11</cp:revision>
  <dcterms:created xsi:type="dcterms:W3CDTF">2025-09-26T07:06:03Z</dcterms:created>
  <dcterms:modified xsi:type="dcterms:W3CDTF">2026-02-13T23:31:29Z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