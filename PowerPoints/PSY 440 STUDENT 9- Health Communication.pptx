
<file path=[Content_Types].xml><?xml version="1.0" encoding="utf-8"?>
<Types xmlns="http://schemas.openxmlformats.org/package/2006/content-types">
  <Default Extension="1"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18"/>
  </p:notesMasterIdLst>
  <p:sldIdLst>
    <p:sldId id="333" r:id="rId5"/>
    <p:sldId id="334" r:id="rId6"/>
    <p:sldId id="338" r:id="rId7"/>
    <p:sldId id="347" r:id="rId8"/>
    <p:sldId id="341" r:id="rId9"/>
    <p:sldId id="342" r:id="rId10"/>
    <p:sldId id="339" r:id="rId11"/>
    <p:sldId id="340" r:id="rId12"/>
    <p:sldId id="345" r:id="rId13"/>
    <p:sldId id="343" r:id="rId14"/>
    <p:sldId id="344" r:id="rId15"/>
    <p:sldId id="346" r:id="rId16"/>
    <p:sldId id="33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88623" autoAdjust="0"/>
  </p:normalViewPr>
  <p:slideViewPr>
    <p:cSldViewPr snapToGrid="0">
      <p:cViewPr varScale="1">
        <p:scale>
          <a:sx n="96" d="100"/>
          <a:sy n="96" d="100"/>
        </p:scale>
        <p:origin x="2790"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2C6C6A-8751-4458-BDED-AFC28DEAE1D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C430F1D-ED92-4116-B1BB-909B1C611570}">
      <dgm:prSet/>
      <dgm:spPr/>
      <dgm:t>
        <a:bodyPr/>
        <a:lstStyle/>
        <a:p>
          <a:r>
            <a:rPr lang="en-US" b="0" i="0" dirty="0">
              <a:solidFill>
                <a:schemeClr val="bg1"/>
              </a:solidFill>
            </a:rPr>
            <a:t>Health care providers</a:t>
          </a:r>
          <a:endParaRPr lang="en-US" dirty="0">
            <a:solidFill>
              <a:schemeClr val="bg1"/>
            </a:solidFill>
          </a:endParaRPr>
        </a:p>
      </dgm:t>
    </dgm:pt>
    <dgm:pt modelId="{985B2D14-9BDA-4AD1-A32F-4A2840589BFF}" type="parTrans" cxnId="{610D30B3-E777-458B-8E28-55B5162F498A}">
      <dgm:prSet/>
      <dgm:spPr/>
      <dgm:t>
        <a:bodyPr/>
        <a:lstStyle/>
        <a:p>
          <a:endParaRPr lang="en-US">
            <a:solidFill>
              <a:schemeClr val="bg1"/>
            </a:solidFill>
          </a:endParaRPr>
        </a:p>
      </dgm:t>
    </dgm:pt>
    <dgm:pt modelId="{6D2AEE90-DC25-435A-994F-78E503CF6ADC}" type="sibTrans" cxnId="{610D30B3-E777-458B-8E28-55B5162F498A}">
      <dgm:prSet/>
      <dgm:spPr/>
      <dgm:t>
        <a:bodyPr/>
        <a:lstStyle/>
        <a:p>
          <a:endParaRPr lang="en-US">
            <a:solidFill>
              <a:schemeClr val="bg1"/>
            </a:solidFill>
          </a:endParaRPr>
        </a:p>
      </dgm:t>
    </dgm:pt>
    <dgm:pt modelId="{AB3DEE6A-9443-4CCD-B739-6CD0F319FA78}">
      <dgm:prSet/>
      <dgm:spPr/>
      <dgm:t>
        <a:bodyPr/>
        <a:lstStyle/>
        <a:p>
          <a:r>
            <a:rPr lang="en-US" b="0" i="0">
              <a:solidFill>
                <a:schemeClr val="bg1"/>
              </a:solidFill>
            </a:rPr>
            <a:t>Patient-provider communication</a:t>
          </a:r>
          <a:endParaRPr lang="en-US" dirty="0">
            <a:solidFill>
              <a:schemeClr val="bg1"/>
            </a:solidFill>
          </a:endParaRPr>
        </a:p>
      </dgm:t>
    </dgm:pt>
    <dgm:pt modelId="{40736A29-A3DD-4235-AAB0-3D3C5E26A46F}" type="parTrans" cxnId="{EEA191D9-D86C-43FA-B2B0-6A9E93AB89F5}">
      <dgm:prSet/>
      <dgm:spPr/>
      <dgm:t>
        <a:bodyPr/>
        <a:lstStyle/>
        <a:p>
          <a:endParaRPr lang="en-US">
            <a:solidFill>
              <a:schemeClr val="bg1"/>
            </a:solidFill>
          </a:endParaRPr>
        </a:p>
      </dgm:t>
    </dgm:pt>
    <dgm:pt modelId="{3F61F303-B202-4EC4-A218-1DE8EA1F75A4}" type="sibTrans" cxnId="{EEA191D9-D86C-43FA-B2B0-6A9E93AB89F5}">
      <dgm:prSet/>
      <dgm:spPr/>
      <dgm:t>
        <a:bodyPr/>
        <a:lstStyle/>
        <a:p>
          <a:endParaRPr lang="en-US">
            <a:solidFill>
              <a:schemeClr val="bg1"/>
            </a:solidFill>
          </a:endParaRPr>
        </a:p>
      </dgm:t>
    </dgm:pt>
    <dgm:pt modelId="{4EDB0A01-3E12-4DFB-9CF2-EE17B05E92F2}">
      <dgm:prSet/>
      <dgm:spPr/>
      <dgm:t>
        <a:bodyPr/>
        <a:lstStyle/>
        <a:p>
          <a:r>
            <a:rPr lang="en-US" dirty="0">
              <a:solidFill>
                <a:schemeClr val="bg1"/>
              </a:solidFill>
            </a:rPr>
            <a:t>Adherence &amp; placebos</a:t>
          </a:r>
        </a:p>
      </dgm:t>
    </dgm:pt>
    <dgm:pt modelId="{B6DA116F-0BDB-4CBF-AC27-663624D09EB8}" type="parTrans" cxnId="{8553ABFD-7E27-4328-B6BD-F14AB53D7565}">
      <dgm:prSet/>
      <dgm:spPr/>
      <dgm:t>
        <a:bodyPr/>
        <a:lstStyle/>
        <a:p>
          <a:endParaRPr lang="en-US">
            <a:solidFill>
              <a:schemeClr val="bg1"/>
            </a:solidFill>
          </a:endParaRPr>
        </a:p>
      </dgm:t>
    </dgm:pt>
    <dgm:pt modelId="{AFD0B3D2-1883-4271-91F2-72BABE9C9C6B}" type="sibTrans" cxnId="{8553ABFD-7E27-4328-B6BD-F14AB53D7565}">
      <dgm:prSet/>
      <dgm:spPr/>
      <dgm:t>
        <a:bodyPr/>
        <a:lstStyle/>
        <a:p>
          <a:endParaRPr lang="en-US">
            <a:solidFill>
              <a:schemeClr val="bg1"/>
            </a:solidFill>
          </a:endParaRPr>
        </a:p>
      </dgm:t>
    </dgm:pt>
    <dgm:pt modelId="{5A8D7842-0EEC-41C5-8286-9ADF23616987}">
      <dgm:prSet/>
      <dgm:spPr/>
      <dgm:t>
        <a:bodyPr/>
        <a:lstStyle/>
        <a:p>
          <a:r>
            <a:rPr lang="en-US" dirty="0">
              <a:solidFill>
                <a:schemeClr val="bg1"/>
              </a:solidFill>
            </a:rPr>
            <a:t>Alternative medicine</a:t>
          </a:r>
        </a:p>
      </dgm:t>
    </dgm:pt>
    <dgm:pt modelId="{7D0F8A6D-1912-4731-9B22-D9A68C6268C0}" type="parTrans" cxnId="{323627F8-152D-4C9A-8174-5B4ED582E67C}">
      <dgm:prSet/>
      <dgm:spPr/>
      <dgm:t>
        <a:bodyPr/>
        <a:lstStyle/>
        <a:p>
          <a:endParaRPr lang="en-US"/>
        </a:p>
      </dgm:t>
    </dgm:pt>
    <dgm:pt modelId="{D5604892-610B-47BE-A56A-2B9BC2047AEB}" type="sibTrans" cxnId="{323627F8-152D-4C9A-8174-5B4ED582E67C}">
      <dgm:prSet/>
      <dgm:spPr/>
      <dgm:t>
        <a:bodyPr/>
        <a:lstStyle/>
        <a:p>
          <a:endParaRPr lang="en-US"/>
        </a:p>
      </dgm:t>
    </dgm:pt>
    <dgm:pt modelId="{68B9429B-E702-4E5B-9054-B73BCBBBE9E6}" type="pres">
      <dgm:prSet presAssocID="{EE2C6C6A-8751-4458-BDED-AFC28DEAE1DA}" presName="vert0" presStyleCnt="0">
        <dgm:presLayoutVars>
          <dgm:dir/>
          <dgm:animOne val="branch"/>
          <dgm:animLvl val="lvl"/>
        </dgm:presLayoutVars>
      </dgm:prSet>
      <dgm:spPr/>
    </dgm:pt>
    <dgm:pt modelId="{6CEEE6F6-E91E-4FFE-80ED-D960FB6E38F1}" type="pres">
      <dgm:prSet presAssocID="{5C430F1D-ED92-4116-B1BB-909B1C611570}" presName="thickLine" presStyleLbl="alignNode1" presStyleIdx="0" presStyleCnt="4"/>
      <dgm:spPr/>
    </dgm:pt>
    <dgm:pt modelId="{B50ACC70-43CE-46E4-94F3-68BBBD7C1B68}" type="pres">
      <dgm:prSet presAssocID="{5C430F1D-ED92-4116-B1BB-909B1C611570}" presName="horz1" presStyleCnt="0"/>
      <dgm:spPr/>
    </dgm:pt>
    <dgm:pt modelId="{5FE6C51C-D2D0-4444-AE76-0367B6351768}" type="pres">
      <dgm:prSet presAssocID="{5C430F1D-ED92-4116-B1BB-909B1C611570}" presName="tx1" presStyleLbl="revTx" presStyleIdx="0" presStyleCnt="4"/>
      <dgm:spPr/>
    </dgm:pt>
    <dgm:pt modelId="{93CF9150-172A-476D-8486-26252FD095F0}" type="pres">
      <dgm:prSet presAssocID="{5C430F1D-ED92-4116-B1BB-909B1C611570}" presName="vert1" presStyleCnt="0"/>
      <dgm:spPr/>
    </dgm:pt>
    <dgm:pt modelId="{70B3B2E2-F8C2-48BF-8855-4B95C80DA0C3}" type="pres">
      <dgm:prSet presAssocID="{5A8D7842-0EEC-41C5-8286-9ADF23616987}" presName="thickLine" presStyleLbl="alignNode1" presStyleIdx="1" presStyleCnt="4"/>
      <dgm:spPr/>
    </dgm:pt>
    <dgm:pt modelId="{53E87F62-FEE0-4F8B-8034-360157CBA643}" type="pres">
      <dgm:prSet presAssocID="{5A8D7842-0EEC-41C5-8286-9ADF23616987}" presName="horz1" presStyleCnt="0"/>
      <dgm:spPr/>
    </dgm:pt>
    <dgm:pt modelId="{1EA0E576-D8F2-4D76-BE13-CF7E0679B424}" type="pres">
      <dgm:prSet presAssocID="{5A8D7842-0EEC-41C5-8286-9ADF23616987}" presName="tx1" presStyleLbl="revTx" presStyleIdx="1" presStyleCnt="4"/>
      <dgm:spPr/>
    </dgm:pt>
    <dgm:pt modelId="{8542AFC7-2FBF-44BC-A7ED-817B310439C7}" type="pres">
      <dgm:prSet presAssocID="{5A8D7842-0EEC-41C5-8286-9ADF23616987}" presName="vert1" presStyleCnt="0"/>
      <dgm:spPr/>
    </dgm:pt>
    <dgm:pt modelId="{5524CBFF-30BB-45F5-A3DA-09328A7690AA}" type="pres">
      <dgm:prSet presAssocID="{AB3DEE6A-9443-4CCD-B739-6CD0F319FA78}" presName="thickLine" presStyleLbl="alignNode1" presStyleIdx="2" presStyleCnt="4"/>
      <dgm:spPr/>
    </dgm:pt>
    <dgm:pt modelId="{9282E43D-7618-48E3-846D-D40885F82314}" type="pres">
      <dgm:prSet presAssocID="{AB3DEE6A-9443-4CCD-B739-6CD0F319FA78}" presName="horz1" presStyleCnt="0"/>
      <dgm:spPr/>
    </dgm:pt>
    <dgm:pt modelId="{5E769828-8005-4808-9035-67D60980F849}" type="pres">
      <dgm:prSet presAssocID="{AB3DEE6A-9443-4CCD-B739-6CD0F319FA78}" presName="tx1" presStyleLbl="revTx" presStyleIdx="2" presStyleCnt="4"/>
      <dgm:spPr/>
    </dgm:pt>
    <dgm:pt modelId="{CB80DF9D-B9C4-4CB1-A603-604426AA113D}" type="pres">
      <dgm:prSet presAssocID="{AB3DEE6A-9443-4CCD-B739-6CD0F319FA78}" presName="vert1" presStyleCnt="0"/>
      <dgm:spPr/>
    </dgm:pt>
    <dgm:pt modelId="{DCE51856-DD7C-4087-B478-95D03CA5E1C4}" type="pres">
      <dgm:prSet presAssocID="{4EDB0A01-3E12-4DFB-9CF2-EE17B05E92F2}" presName="thickLine" presStyleLbl="alignNode1" presStyleIdx="3" presStyleCnt="4"/>
      <dgm:spPr/>
    </dgm:pt>
    <dgm:pt modelId="{EFC3AC28-2914-4BDE-BD15-F62315DE6B06}" type="pres">
      <dgm:prSet presAssocID="{4EDB0A01-3E12-4DFB-9CF2-EE17B05E92F2}" presName="horz1" presStyleCnt="0"/>
      <dgm:spPr/>
    </dgm:pt>
    <dgm:pt modelId="{5F4C4087-1F8E-479D-B6FD-4C84D9FB3A6E}" type="pres">
      <dgm:prSet presAssocID="{4EDB0A01-3E12-4DFB-9CF2-EE17B05E92F2}" presName="tx1" presStyleLbl="revTx" presStyleIdx="3" presStyleCnt="4"/>
      <dgm:spPr/>
    </dgm:pt>
    <dgm:pt modelId="{39460692-81E9-48A7-BDEE-B6E6555F1F5B}" type="pres">
      <dgm:prSet presAssocID="{4EDB0A01-3E12-4DFB-9CF2-EE17B05E92F2}" presName="vert1" presStyleCnt="0"/>
      <dgm:spPr/>
    </dgm:pt>
  </dgm:ptLst>
  <dgm:cxnLst>
    <dgm:cxn modelId="{F8B22A1B-4384-4BCA-9692-9B6EE72C13C7}" type="presOf" srcId="{EE2C6C6A-8751-4458-BDED-AFC28DEAE1DA}" destId="{68B9429B-E702-4E5B-9054-B73BCBBBE9E6}" srcOrd="0" destOrd="0" presId="urn:microsoft.com/office/officeart/2008/layout/LinedList"/>
    <dgm:cxn modelId="{898C8DA8-8B48-4899-9668-582B625E3F48}" type="presOf" srcId="{AB3DEE6A-9443-4CCD-B739-6CD0F319FA78}" destId="{5E769828-8005-4808-9035-67D60980F849}" srcOrd="0" destOrd="0" presId="urn:microsoft.com/office/officeart/2008/layout/LinedList"/>
    <dgm:cxn modelId="{89B20FB0-2CD3-4376-9DB5-C6D79D76F6F2}" type="presOf" srcId="{4EDB0A01-3E12-4DFB-9CF2-EE17B05E92F2}" destId="{5F4C4087-1F8E-479D-B6FD-4C84D9FB3A6E}" srcOrd="0" destOrd="0" presId="urn:microsoft.com/office/officeart/2008/layout/LinedList"/>
    <dgm:cxn modelId="{610D30B3-E777-458B-8E28-55B5162F498A}" srcId="{EE2C6C6A-8751-4458-BDED-AFC28DEAE1DA}" destId="{5C430F1D-ED92-4116-B1BB-909B1C611570}" srcOrd="0" destOrd="0" parTransId="{985B2D14-9BDA-4AD1-A32F-4A2840589BFF}" sibTransId="{6D2AEE90-DC25-435A-994F-78E503CF6ADC}"/>
    <dgm:cxn modelId="{EEA191D9-D86C-43FA-B2B0-6A9E93AB89F5}" srcId="{EE2C6C6A-8751-4458-BDED-AFC28DEAE1DA}" destId="{AB3DEE6A-9443-4CCD-B739-6CD0F319FA78}" srcOrd="2" destOrd="0" parTransId="{40736A29-A3DD-4235-AAB0-3D3C5E26A46F}" sibTransId="{3F61F303-B202-4EC4-A218-1DE8EA1F75A4}"/>
    <dgm:cxn modelId="{357906E9-6333-408E-8181-C2D000A60C5B}" type="presOf" srcId="{5C430F1D-ED92-4116-B1BB-909B1C611570}" destId="{5FE6C51C-D2D0-4444-AE76-0367B6351768}" srcOrd="0" destOrd="0" presId="urn:microsoft.com/office/officeart/2008/layout/LinedList"/>
    <dgm:cxn modelId="{323627F8-152D-4C9A-8174-5B4ED582E67C}" srcId="{EE2C6C6A-8751-4458-BDED-AFC28DEAE1DA}" destId="{5A8D7842-0EEC-41C5-8286-9ADF23616987}" srcOrd="1" destOrd="0" parTransId="{7D0F8A6D-1912-4731-9B22-D9A68C6268C0}" sibTransId="{D5604892-610B-47BE-A56A-2B9BC2047AEB}"/>
    <dgm:cxn modelId="{8553ABFD-7E27-4328-B6BD-F14AB53D7565}" srcId="{EE2C6C6A-8751-4458-BDED-AFC28DEAE1DA}" destId="{4EDB0A01-3E12-4DFB-9CF2-EE17B05E92F2}" srcOrd="3" destOrd="0" parTransId="{B6DA116F-0BDB-4CBF-AC27-663624D09EB8}" sibTransId="{AFD0B3D2-1883-4271-91F2-72BABE9C9C6B}"/>
    <dgm:cxn modelId="{FA2500FE-D930-4AE3-8200-2BC8A77EE1F1}" type="presOf" srcId="{5A8D7842-0EEC-41C5-8286-9ADF23616987}" destId="{1EA0E576-D8F2-4D76-BE13-CF7E0679B424}" srcOrd="0" destOrd="0" presId="urn:microsoft.com/office/officeart/2008/layout/LinedList"/>
    <dgm:cxn modelId="{28F8C39B-793E-4A4E-91E0-BF8C33CB5D41}" type="presParOf" srcId="{68B9429B-E702-4E5B-9054-B73BCBBBE9E6}" destId="{6CEEE6F6-E91E-4FFE-80ED-D960FB6E38F1}" srcOrd="0" destOrd="0" presId="urn:microsoft.com/office/officeart/2008/layout/LinedList"/>
    <dgm:cxn modelId="{460B870B-B439-475B-AADB-142A906E9676}" type="presParOf" srcId="{68B9429B-E702-4E5B-9054-B73BCBBBE9E6}" destId="{B50ACC70-43CE-46E4-94F3-68BBBD7C1B68}" srcOrd="1" destOrd="0" presId="urn:microsoft.com/office/officeart/2008/layout/LinedList"/>
    <dgm:cxn modelId="{D3C2462A-2CDD-4754-9261-75C027679FC2}" type="presParOf" srcId="{B50ACC70-43CE-46E4-94F3-68BBBD7C1B68}" destId="{5FE6C51C-D2D0-4444-AE76-0367B6351768}" srcOrd="0" destOrd="0" presId="urn:microsoft.com/office/officeart/2008/layout/LinedList"/>
    <dgm:cxn modelId="{8929FFFA-4EA5-4770-A1EC-12B5A55105D7}" type="presParOf" srcId="{B50ACC70-43CE-46E4-94F3-68BBBD7C1B68}" destId="{93CF9150-172A-476D-8486-26252FD095F0}" srcOrd="1" destOrd="0" presId="urn:microsoft.com/office/officeart/2008/layout/LinedList"/>
    <dgm:cxn modelId="{61DB2F77-3A8F-4E22-B33A-249E56D86A2C}" type="presParOf" srcId="{68B9429B-E702-4E5B-9054-B73BCBBBE9E6}" destId="{70B3B2E2-F8C2-48BF-8855-4B95C80DA0C3}" srcOrd="2" destOrd="0" presId="urn:microsoft.com/office/officeart/2008/layout/LinedList"/>
    <dgm:cxn modelId="{577FCAC7-73E6-49AB-9F4F-189CA6DE6A5E}" type="presParOf" srcId="{68B9429B-E702-4E5B-9054-B73BCBBBE9E6}" destId="{53E87F62-FEE0-4F8B-8034-360157CBA643}" srcOrd="3" destOrd="0" presId="urn:microsoft.com/office/officeart/2008/layout/LinedList"/>
    <dgm:cxn modelId="{9F5D0FB2-8068-4463-BFA9-A9EF41D2CD54}" type="presParOf" srcId="{53E87F62-FEE0-4F8B-8034-360157CBA643}" destId="{1EA0E576-D8F2-4D76-BE13-CF7E0679B424}" srcOrd="0" destOrd="0" presId="urn:microsoft.com/office/officeart/2008/layout/LinedList"/>
    <dgm:cxn modelId="{3C5F8FD7-B698-4F7E-B0A0-B23FCCBBAA14}" type="presParOf" srcId="{53E87F62-FEE0-4F8B-8034-360157CBA643}" destId="{8542AFC7-2FBF-44BC-A7ED-817B310439C7}" srcOrd="1" destOrd="0" presId="urn:microsoft.com/office/officeart/2008/layout/LinedList"/>
    <dgm:cxn modelId="{0D755701-5B84-4EAF-A5AB-2F2ABBA818A9}" type="presParOf" srcId="{68B9429B-E702-4E5B-9054-B73BCBBBE9E6}" destId="{5524CBFF-30BB-45F5-A3DA-09328A7690AA}" srcOrd="4" destOrd="0" presId="urn:microsoft.com/office/officeart/2008/layout/LinedList"/>
    <dgm:cxn modelId="{E146C001-BBF3-43A1-80A0-D6BC06D42241}" type="presParOf" srcId="{68B9429B-E702-4E5B-9054-B73BCBBBE9E6}" destId="{9282E43D-7618-48E3-846D-D40885F82314}" srcOrd="5" destOrd="0" presId="urn:microsoft.com/office/officeart/2008/layout/LinedList"/>
    <dgm:cxn modelId="{B2988A8B-5CBD-44CA-80BD-73C55503EC16}" type="presParOf" srcId="{9282E43D-7618-48E3-846D-D40885F82314}" destId="{5E769828-8005-4808-9035-67D60980F849}" srcOrd="0" destOrd="0" presId="urn:microsoft.com/office/officeart/2008/layout/LinedList"/>
    <dgm:cxn modelId="{F8387C8C-9707-4639-81AD-AD7695AA0133}" type="presParOf" srcId="{9282E43D-7618-48E3-846D-D40885F82314}" destId="{CB80DF9D-B9C4-4CB1-A603-604426AA113D}" srcOrd="1" destOrd="0" presId="urn:microsoft.com/office/officeart/2008/layout/LinedList"/>
    <dgm:cxn modelId="{0F502894-8C52-4F7A-AA9D-58BA48A7D064}" type="presParOf" srcId="{68B9429B-E702-4E5B-9054-B73BCBBBE9E6}" destId="{DCE51856-DD7C-4087-B478-95D03CA5E1C4}" srcOrd="6" destOrd="0" presId="urn:microsoft.com/office/officeart/2008/layout/LinedList"/>
    <dgm:cxn modelId="{F761C8DD-ED08-4C74-AF70-12ED5B8E72D9}" type="presParOf" srcId="{68B9429B-E702-4E5B-9054-B73BCBBBE9E6}" destId="{EFC3AC28-2914-4BDE-BD15-F62315DE6B06}" srcOrd="7" destOrd="0" presId="urn:microsoft.com/office/officeart/2008/layout/LinedList"/>
    <dgm:cxn modelId="{D01834E8-EDFF-468F-AEA0-5556919CF5C7}" type="presParOf" srcId="{EFC3AC28-2914-4BDE-BD15-F62315DE6B06}" destId="{5F4C4087-1F8E-479D-B6FD-4C84D9FB3A6E}" srcOrd="0" destOrd="0" presId="urn:microsoft.com/office/officeart/2008/layout/LinedList"/>
    <dgm:cxn modelId="{2535D32B-95B5-4AA8-A6C5-2E0EBA8611EA}" type="presParOf" srcId="{EFC3AC28-2914-4BDE-BD15-F62315DE6B06}" destId="{39460692-81E9-48A7-BDEE-B6E6555F1F5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EE6F6-E91E-4FFE-80ED-D960FB6E38F1}">
      <dsp:nvSpPr>
        <dsp:cNvPr id="0" name=""/>
        <dsp:cNvSpPr/>
      </dsp:nvSpPr>
      <dsp:spPr>
        <a:xfrm>
          <a:off x="0" y="0"/>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E6C51C-D2D0-4444-AE76-0367B6351768}">
      <dsp:nvSpPr>
        <dsp:cNvPr id="0" name=""/>
        <dsp:cNvSpPr/>
      </dsp:nvSpPr>
      <dsp:spPr>
        <a:xfrm>
          <a:off x="0" y="0"/>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dirty="0">
              <a:solidFill>
                <a:schemeClr val="bg1"/>
              </a:solidFill>
            </a:rPr>
            <a:t>Health care providers</a:t>
          </a:r>
          <a:endParaRPr lang="en-US" sz="3500" kern="1200" dirty="0">
            <a:solidFill>
              <a:schemeClr val="bg1"/>
            </a:solidFill>
          </a:endParaRPr>
        </a:p>
      </dsp:txBody>
      <dsp:txXfrm>
        <a:off x="0" y="0"/>
        <a:ext cx="7184570" cy="1245336"/>
      </dsp:txXfrm>
    </dsp:sp>
    <dsp:sp modelId="{70B3B2E2-F8C2-48BF-8855-4B95C80DA0C3}">
      <dsp:nvSpPr>
        <dsp:cNvPr id="0" name=""/>
        <dsp:cNvSpPr/>
      </dsp:nvSpPr>
      <dsp:spPr>
        <a:xfrm>
          <a:off x="0" y="1245336"/>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A0E576-D8F2-4D76-BE13-CF7E0679B424}">
      <dsp:nvSpPr>
        <dsp:cNvPr id="0" name=""/>
        <dsp:cNvSpPr/>
      </dsp:nvSpPr>
      <dsp:spPr>
        <a:xfrm>
          <a:off x="0" y="1245336"/>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Alternative medicine</a:t>
          </a:r>
        </a:p>
      </dsp:txBody>
      <dsp:txXfrm>
        <a:off x="0" y="1245336"/>
        <a:ext cx="7184570" cy="1245336"/>
      </dsp:txXfrm>
    </dsp:sp>
    <dsp:sp modelId="{5524CBFF-30BB-45F5-A3DA-09328A7690AA}">
      <dsp:nvSpPr>
        <dsp:cNvPr id="0" name=""/>
        <dsp:cNvSpPr/>
      </dsp:nvSpPr>
      <dsp:spPr>
        <a:xfrm>
          <a:off x="0" y="2490672"/>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769828-8005-4808-9035-67D60980F849}">
      <dsp:nvSpPr>
        <dsp:cNvPr id="0" name=""/>
        <dsp:cNvSpPr/>
      </dsp:nvSpPr>
      <dsp:spPr>
        <a:xfrm>
          <a:off x="0" y="2490673"/>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a:solidFill>
                <a:schemeClr val="bg1"/>
              </a:solidFill>
            </a:rPr>
            <a:t>Patient-provider communication</a:t>
          </a:r>
          <a:endParaRPr lang="en-US" sz="3500" kern="1200" dirty="0">
            <a:solidFill>
              <a:schemeClr val="bg1"/>
            </a:solidFill>
          </a:endParaRPr>
        </a:p>
      </dsp:txBody>
      <dsp:txXfrm>
        <a:off x="0" y="2490673"/>
        <a:ext cx="7184570" cy="1245336"/>
      </dsp:txXfrm>
    </dsp:sp>
    <dsp:sp modelId="{DCE51856-DD7C-4087-B478-95D03CA5E1C4}">
      <dsp:nvSpPr>
        <dsp:cNvPr id="0" name=""/>
        <dsp:cNvSpPr/>
      </dsp:nvSpPr>
      <dsp:spPr>
        <a:xfrm>
          <a:off x="0" y="3736009"/>
          <a:ext cx="718457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4C4087-1F8E-479D-B6FD-4C84D9FB3A6E}">
      <dsp:nvSpPr>
        <dsp:cNvPr id="0" name=""/>
        <dsp:cNvSpPr/>
      </dsp:nvSpPr>
      <dsp:spPr>
        <a:xfrm>
          <a:off x="0" y="3736009"/>
          <a:ext cx="7184570" cy="1245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Adherence &amp; placebos</a:t>
          </a:r>
        </a:p>
      </dsp:txBody>
      <dsp:txXfrm>
        <a:off x="0" y="3736009"/>
        <a:ext cx="7184570" cy="12453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3/2/2026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98114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597628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D811-69DC-B200-BE01-BEC2A0143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3A94C-39EB-38FC-A319-0937E3A2A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7BCCA-319C-A70A-F72C-DA649B35C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80E9D-6D45-EB7B-C550-EE85A96BED43}"/>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6232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67918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9638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325D0-F397-36E2-02A7-0617315DF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E2FA-0488-801B-01ED-0E3D237F1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E911B-2D87-DF01-906C-79C5293200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6E863D-A121-3374-F058-DFC1AF4413B3}"/>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58464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B4CE4-57BF-CAF7-34CF-CD83751C2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53400-E64A-2D95-45B4-FCBB47413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10FFF-D380-9E77-4158-50334290E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6F0E05-A551-35F2-B270-EAD1377BE77E}"/>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65748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AC7F4-A77F-613C-0FD2-CD6DD4AB9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E9E73-6420-34D9-5F4B-FA6A4EC96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0799B-5F72-E123-4663-270D590CF8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AA6E66-FCEE-EE01-0BA1-515D4C11B121}"/>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289143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16537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4D3BB-BB63-FB30-245D-8AE28EE8D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12897-3052-549B-4477-FAEA1D4F8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41361-E8CC-23D0-0801-3938A76453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AEB2E-1F85-D6BD-0184-38B06134751C}"/>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21568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7EC1-ACDD-4E89-5244-F6FF04140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E6B47-1544-B2F4-683D-48BACE9F4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43266-F3AA-C124-32F6-B8C70FD1C4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D80F0C-2512-537D-F418-3F2D19380FF0}"/>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66514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82C1-12A8-2B5E-DDA8-36378AA8B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9D187-2593-962B-85BB-5B4039428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1913A-FA2F-19C8-065E-FF0D3DACA6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C90801-BF07-128B-1F67-0B788CE318B7}"/>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64582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3445699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openaccesspub.org/ject/article/1186"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hyperlink" Target="https://www.rawpixel.com/image/380172/free-photo-image-doctor-medical-checklist" TargetMode="External"/><Relationship Id="rId5" Type="http://schemas.openxmlformats.org/officeDocument/2006/relationships/image" Target="../media/image26.1"/><Relationship Id="rId4" Type="http://schemas.openxmlformats.org/officeDocument/2006/relationships/hyperlink" Target="http://betterhealthwhileaging.net/4-steps-to-get-better-medical-advice/"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2595154" y="992777"/>
            <a:ext cx="8736903" cy="5314043"/>
          </a:xfrm>
        </p:spPr>
        <p:txBody>
          <a:bodyPr/>
          <a:lstStyle/>
          <a:p>
            <a:pPr algn="r"/>
            <a:r>
              <a:rPr lang="en-US" dirty="0"/>
              <a:t>Responsibilities of  Providers and Their Communication with Patients</a:t>
            </a:r>
            <a:endParaRPr lang="en-US" sz="4400" dirty="0"/>
          </a:p>
        </p:txBody>
      </p:sp>
    </p:spTree>
    <p:extLst>
      <p:ext uri="{BB962C8B-B14F-4D97-AF65-F5344CB8AC3E}">
        <p14:creationId xmlns:p14="http://schemas.microsoft.com/office/powerpoint/2010/main" val="3609250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4B515DA-B5BA-1D54-0138-5A9DBF40B1D4}"/>
              </a:ext>
            </a:extLst>
          </p:cNvPr>
          <p:cNvSpPr>
            <a:spLocks noGrp="1"/>
          </p:cNvSpPr>
          <p:nvPr>
            <p:ph type="title"/>
          </p:nvPr>
        </p:nvSpPr>
        <p:spPr>
          <a:xfrm>
            <a:off x="566726" y="1097238"/>
            <a:ext cx="5011113" cy="5048974"/>
          </a:xfrm>
        </p:spPr>
        <p:txBody>
          <a:bodyPr anchor="t">
            <a:normAutofit/>
          </a:bodyPr>
          <a:lstStyle/>
          <a:p>
            <a:r>
              <a:rPr lang="en-US" dirty="0"/>
              <a:t>Agenda</a:t>
            </a:r>
          </a:p>
        </p:txBody>
      </p:sp>
      <p:sp>
        <p:nvSpPr>
          <p:cNvPr id="4" name="Slide Number Placeholder 3">
            <a:extLst>
              <a:ext uri="{FF2B5EF4-FFF2-40B4-BE49-F238E27FC236}">
                <a16:creationId xmlns:a16="http://schemas.microsoft.com/office/drawing/2014/main" id="{205010E8-1DAC-D1A8-367B-24A839DD6B72}"/>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2</a:t>
            </a:fld>
            <a:endParaRPr lang="en-US"/>
          </a:p>
        </p:txBody>
      </p:sp>
      <p:graphicFrame>
        <p:nvGraphicFramePr>
          <p:cNvPr id="16" name="Content Placeholder 13">
            <a:extLst>
              <a:ext uri="{FF2B5EF4-FFF2-40B4-BE49-F238E27FC236}">
                <a16:creationId xmlns:a16="http://schemas.microsoft.com/office/drawing/2014/main" id="{92A48737-24FD-25CA-B0B3-CD766C0E55D5}"/>
              </a:ext>
            </a:extLst>
          </p:cNvPr>
          <p:cNvGraphicFramePr>
            <a:graphicFrameLocks noGrp="1"/>
          </p:cNvGraphicFramePr>
          <p:nvPr>
            <p:ph sz="quarter" idx="10"/>
            <p:extLst>
              <p:ext uri="{D42A27DB-BD31-4B8C-83A1-F6EECF244321}">
                <p14:modId xmlns:p14="http://schemas.microsoft.com/office/powerpoint/2010/main" val="4146693090"/>
              </p:ext>
            </p:extLst>
          </p:nvPr>
        </p:nvGraphicFramePr>
        <p:xfrm>
          <a:off x="4458790" y="1097238"/>
          <a:ext cx="7184570" cy="4981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602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8198D-8B86-C9AD-3685-7DAE867F461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FED7F9-16B9-87C1-750B-E3588F0FE3C5}"/>
              </a:ext>
            </a:extLst>
          </p:cNvPr>
          <p:cNvSpPr>
            <a:spLocks noGrp="1"/>
          </p:cNvSpPr>
          <p:nvPr>
            <p:ph type="title"/>
          </p:nvPr>
        </p:nvSpPr>
        <p:spPr>
          <a:xfrm>
            <a:off x="576273" y="863458"/>
            <a:ext cx="11094723" cy="480364"/>
          </a:xfrm>
        </p:spPr>
        <p:txBody>
          <a:bodyPr/>
          <a:lstStyle/>
          <a:p>
            <a:r>
              <a:rPr lang="en-US" sz="3600" dirty="0"/>
              <a:t>Health Care Providers</a:t>
            </a:r>
          </a:p>
        </p:txBody>
      </p:sp>
      <p:sp>
        <p:nvSpPr>
          <p:cNvPr id="3" name="Slide Number Placeholder 2">
            <a:extLst>
              <a:ext uri="{FF2B5EF4-FFF2-40B4-BE49-F238E27FC236}">
                <a16:creationId xmlns:a16="http://schemas.microsoft.com/office/drawing/2014/main" id="{0751C60C-E12D-1BA5-A144-B9D5D6009377}"/>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6" name="Content Placeholder 5">
            <a:extLst>
              <a:ext uri="{FF2B5EF4-FFF2-40B4-BE49-F238E27FC236}">
                <a16:creationId xmlns:a16="http://schemas.microsoft.com/office/drawing/2014/main" id="{A70EEA44-CD98-F6F5-0709-B3D7CB23E7D8}"/>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dirty="0"/>
              <a:t>Three aims of a typical health care facility: Cure, care, and core</a:t>
            </a:r>
          </a:p>
          <a:p>
            <a:pPr marL="690372" lvl="1">
              <a:lnSpc>
                <a:spcPct val="170000"/>
              </a:lnSpc>
              <a:spcBef>
                <a:spcPts val="0"/>
              </a:spcBef>
              <a:spcAft>
                <a:spcPts val="0"/>
              </a:spcAft>
            </a:pPr>
            <a:r>
              <a:rPr lang="en-US" sz="1600" dirty="0"/>
              <a:t>Cure: directly treating patient; typical focus of physicians</a:t>
            </a:r>
          </a:p>
          <a:p>
            <a:pPr marL="690372" lvl="1">
              <a:lnSpc>
                <a:spcPct val="170000"/>
              </a:lnSpc>
              <a:spcBef>
                <a:spcPts val="0"/>
              </a:spcBef>
              <a:spcAft>
                <a:spcPts val="0"/>
              </a:spcAft>
            </a:pPr>
            <a:r>
              <a:rPr lang="en-US" sz="1600" dirty="0"/>
              <a:t>Care: providing for the comfort and wellbeing of the patient; typical focus of nurses</a:t>
            </a:r>
          </a:p>
          <a:p>
            <a:pPr marL="690372" lvl="1">
              <a:lnSpc>
                <a:spcPct val="170000"/>
              </a:lnSpc>
              <a:spcBef>
                <a:spcPts val="0"/>
              </a:spcBef>
              <a:spcAft>
                <a:spcPts val="0"/>
              </a:spcAft>
            </a:pPr>
            <a:r>
              <a:rPr lang="en-US" sz="1600" dirty="0"/>
              <a:t>Core: ensure supplies and facilities continue to run; typical focus of administration</a:t>
            </a:r>
          </a:p>
          <a:p>
            <a:pPr marL="342900" indent="-342900">
              <a:lnSpc>
                <a:spcPct val="170000"/>
              </a:lnSpc>
              <a:spcBef>
                <a:spcPts val="0"/>
              </a:spcBef>
              <a:spcAft>
                <a:spcPts val="0"/>
              </a:spcAft>
              <a:buFont typeface="Arial" panose="020B0604020202020204" pitchFamily="34" charset="0"/>
              <a:buChar char="•"/>
            </a:pPr>
            <a:r>
              <a:rPr lang="en-US" sz="1600" dirty="0"/>
              <a:t>Goals of the three don’t always align</a:t>
            </a:r>
          </a:p>
          <a:p>
            <a:pPr marL="342900" indent="-342900">
              <a:lnSpc>
                <a:spcPct val="170000"/>
              </a:lnSpc>
              <a:spcBef>
                <a:spcPts val="0"/>
              </a:spcBef>
              <a:spcAft>
                <a:spcPts val="0"/>
              </a:spcAft>
              <a:buFont typeface="Arial" panose="020B0604020202020204" pitchFamily="34" charset="0"/>
              <a:buChar char="•"/>
            </a:pPr>
            <a:r>
              <a:rPr lang="en-US" sz="1600" dirty="0"/>
              <a:t>Aspects of a patient’s situation will influence which is prioritized</a:t>
            </a:r>
          </a:p>
          <a:p>
            <a:pPr marL="690372" lvl="1">
              <a:lnSpc>
                <a:spcPct val="170000"/>
              </a:lnSpc>
              <a:spcBef>
                <a:spcPts val="0"/>
              </a:spcBef>
              <a:spcAft>
                <a:spcPts val="0"/>
              </a:spcAft>
            </a:pPr>
            <a:r>
              <a:rPr lang="en-US" sz="1600" dirty="0"/>
              <a:t>Age</a:t>
            </a:r>
          </a:p>
          <a:p>
            <a:pPr marL="690372" lvl="1">
              <a:lnSpc>
                <a:spcPct val="170000"/>
              </a:lnSpc>
              <a:spcBef>
                <a:spcPts val="0"/>
              </a:spcBef>
              <a:spcAft>
                <a:spcPts val="0"/>
              </a:spcAft>
            </a:pPr>
            <a:r>
              <a:rPr lang="en-US" sz="1600" dirty="0"/>
              <a:t>Severity of illness</a:t>
            </a:r>
          </a:p>
          <a:p>
            <a:pPr marL="690372" lvl="1">
              <a:lnSpc>
                <a:spcPct val="170000"/>
              </a:lnSpc>
              <a:spcBef>
                <a:spcPts val="0"/>
              </a:spcBef>
              <a:spcAft>
                <a:spcPts val="0"/>
              </a:spcAft>
            </a:pPr>
            <a:r>
              <a:rPr lang="en-US" sz="1600" dirty="0"/>
              <a:t>Anxiety/ mental health</a:t>
            </a:r>
          </a:p>
          <a:p>
            <a:pPr marL="690372" lvl="1">
              <a:lnSpc>
                <a:spcPct val="170000"/>
              </a:lnSpc>
              <a:spcBef>
                <a:spcPts val="0"/>
              </a:spcBef>
              <a:spcAft>
                <a:spcPts val="0"/>
              </a:spcAft>
            </a:pPr>
            <a:r>
              <a:rPr lang="en-US" sz="1600" dirty="0"/>
              <a:t>Patient preference</a:t>
            </a:r>
          </a:p>
          <a:p>
            <a:pPr marL="690372" lvl="1">
              <a:lnSpc>
                <a:spcPct val="170000"/>
              </a:lnSpc>
              <a:spcBef>
                <a:spcPts val="0"/>
              </a:spcBef>
              <a:spcAft>
                <a:spcPts val="0"/>
              </a:spcAft>
            </a:pPr>
            <a:r>
              <a:rPr lang="en-US" sz="1600" dirty="0"/>
              <a:t>Cost</a:t>
            </a:r>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334469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6226B1-AC95-593F-9E17-E1D0CEACACC7}"/>
              </a:ext>
            </a:extLst>
          </p:cNvPr>
          <p:cNvSpPr>
            <a:spLocks noGrp="1"/>
          </p:cNvSpPr>
          <p:nvPr>
            <p:ph type="title"/>
          </p:nvPr>
        </p:nvSpPr>
        <p:spPr>
          <a:xfrm>
            <a:off x="517029" y="1604131"/>
            <a:ext cx="9581128" cy="3882269"/>
          </a:xfrm>
        </p:spPr>
        <p:txBody>
          <a:bodyPr/>
          <a:lstStyle/>
          <a:p>
            <a:r>
              <a:rPr lang="en-US" sz="6000" dirty="0"/>
              <a:t>We call them providers… So, what all should all health care providers provide?</a:t>
            </a:r>
          </a:p>
        </p:txBody>
      </p:sp>
      <p:sp>
        <p:nvSpPr>
          <p:cNvPr id="3" name="Slide Number Placeholder 2">
            <a:extLst>
              <a:ext uri="{FF2B5EF4-FFF2-40B4-BE49-F238E27FC236}">
                <a16:creationId xmlns:a16="http://schemas.microsoft.com/office/drawing/2014/main" id="{AE03B695-6CE3-D31D-12C3-926BF7C9C66E}"/>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4</a:t>
            </a:fld>
            <a:endParaRPr lang="en-US" dirty="0"/>
          </a:p>
        </p:txBody>
      </p:sp>
    </p:spTree>
    <p:extLst>
      <p:ext uri="{BB962C8B-B14F-4D97-AF65-F5344CB8AC3E}">
        <p14:creationId xmlns:p14="http://schemas.microsoft.com/office/powerpoint/2010/main" val="3594253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FDBA44-D603-4E75-82DB-6957A64CC834}"/>
              </a:ext>
            </a:extLst>
          </p:cNvPr>
          <p:cNvSpPr>
            <a:spLocks noGrp="1"/>
          </p:cNvSpPr>
          <p:nvPr>
            <p:ph type="title"/>
          </p:nvPr>
        </p:nvSpPr>
        <p:spPr>
          <a:xfrm>
            <a:off x="426940" y="3313612"/>
            <a:ext cx="5359458" cy="2941320"/>
          </a:xfrm>
        </p:spPr>
        <p:txBody>
          <a:bodyPr/>
          <a:lstStyle/>
          <a:p>
            <a:r>
              <a:rPr lang="en-US" sz="5400" dirty="0"/>
              <a:t>Traditional vs. Alternative Medicine</a:t>
            </a:r>
          </a:p>
        </p:txBody>
      </p:sp>
      <p:sp>
        <p:nvSpPr>
          <p:cNvPr id="3" name="Slide Number Placeholder 2">
            <a:extLst>
              <a:ext uri="{FF2B5EF4-FFF2-40B4-BE49-F238E27FC236}">
                <a16:creationId xmlns:a16="http://schemas.microsoft.com/office/drawing/2014/main" id="{3F078323-1E84-0BC0-C358-ACFA7EC76346}"/>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5</a:t>
            </a:fld>
            <a:endParaRPr lang="en-US" dirty="0"/>
          </a:p>
        </p:txBody>
      </p:sp>
      <p:pic>
        <p:nvPicPr>
          <p:cNvPr id="12" name="Picture 11">
            <a:extLst>
              <a:ext uri="{FF2B5EF4-FFF2-40B4-BE49-F238E27FC236}">
                <a16:creationId xmlns:a16="http://schemas.microsoft.com/office/drawing/2014/main" id="{6622DD3F-9EEE-D63C-CCBA-0F58750B1598}"/>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912224" y="1353479"/>
            <a:ext cx="6279776" cy="4901453"/>
          </a:xfrm>
          <a:prstGeom prst="rect">
            <a:avLst/>
          </a:prstGeom>
        </p:spPr>
      </p:pic>
    </p:spTree>
    <p:extLst>
      <p:ext uri="{BB962C8B-B14F-4D97-AF65-F5344CB8AC3E}">
        <p14:creationId xmlns:p14="http://schemas.microsoft.com/office/powerpoint/2010/main" val="247460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D2E6E-5BC8-D22F-49CF-8101FB90A4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647EA8-B8D1-66A6-192E-AF6BA0EAF123}"/>
              </a:ext>
            </a:extLst>
          </p:cNvPr>
          <p:cNvSpPr>
            <a:spLocks noGrp="1"/>
          </p:cNvSpPr>
          <p:nvPr>
            <p:ph type="title"/>
          </p:nvPr>
        </p:nvSpPr>
        <p:spPr>
          <a:xfrm>
            <a:off x="576273" y="863458"/>
            <a:ext cx="11094723" cy="480364"/>
          </a:xfrm>
        </p:spPr>
        <p:txBody>
          <a:bodyPr/>
          <a:lstStyle/>
          <a:p>
            <a:r>
              <a:rPr lang="en-US" sz="3600" dirty="0"/>
              <a:t>Clinical Trial Process</a:t>
            </a:r>
          </a:p>
        </p:txBody>
      </p:sp>
      <p:sp>
        <p:nvSpPr>
          <p:cNvPr id="3" name="Slide Number Placeholder 2">
            <a:extLst>
              <a:ext uri="{FF2B5EF4-FFF2-40B4-BE49-F238E27FC236}">
                <a16:creationId xmlns:a16="http://schemas.microsoft.com/office/drawing/2014/main" id="{7A205CE6-A40E-C1DB-11FE-B68EEEDEED28}"/>
              </a:ext>
            </a:extLst>
          </p:cNvPr>
          <p:cNvSpPr>
            <a:spLocks noGrp="1"/>
          </p:cNvSpPr>
          <p:nvPr>
            <p:ph type="sldNum" sz="quarter" idx="4"/>
          </p:nvPr>
        </p:nvSpPr>
        <p:spPr/>
        <p:txBody>
          <a:bodyPr/>
          <a:lstStyle/>
          <a:p>
            <a:fld id="{6D22F896-40B5-4ADD-8801-0D06FADFA095}" type="slidenum">
              <a:rPr lang="en-US" smtClean="0"/>
              <a:pPr/>
              <a:t>6</a:t>
            </a:fld>
            <a:endParaRPr lang="en-US" dirty="0"/>
          </a:p>
        </p:txBody>
      </p:sp>
      <p:pic>
        <p:nvPicPr>
          <p:cNvPr id="1026" name="Picture 2" descr="Diagram illustrating phases of drug development from discovery to market, segmented into laboratory, early clinical, late clinical, and market stages with color-coded sections. Key details include target finding, toxicity, preliminary trial, safety and dosing in healthy volunteers and patients, efficacy assessment, side effect comparison, and post-market surveillance, with timelines and patient numbers noted for each phase.&#10;&#10;AI-generated content may be incorrect.">
            <a:extLst>
              <a:ext uri="{FF2B5EF4-FFF2-40B4-BE49-F238E27FC236}">
                <a16:creationId xmlns:a16="http://schemas.microsoft.com/office/drawing/2014/main" id="{B5D46C16-FE68-EC20-20C0-E1AD28510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3087" y="1440794"/>
            <a:ext cx="8847909" cy="49769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B34298B-3711-5FB7-1771-4FEC53F18EAC}"/>
              </a:ext>
            </a:extLst>
          </p:cNvPr>
          <p:cNvSpPr txBox="1"/>
          <p:nvPr/>
        </p:nvSpPr>
        <p:spPr>
          <a:xfrm>
            <a:off x="447260" y="5217414"/>
            <a:ext cx="1898374" cy="1200329"/>
          </a:xfrm>
          <a:prstGeom prst="rect">
            <a:avLst/>
          </a:prstGeom>
          <a:noFill/>
        </p:spPr>
        <p:txBody>
          <a:bodyPr wrap="square" rtlCol="0">
            <a:spAutoFit/>
          </a:bodyPr>
          <a:lstStyle/>
          <a:p>
            <a:r>
              <a:rPr lang="en-US" dirty="0">
                <a:solidFill>
                  <a:schemeClr val="bg1"/>
                </a:solidFill>
              </a:rPr>
              <a:t>Note: Timeline and sample size can vary drastically</a:t>
            </a:r>
          </a:p>
        </p:txBody>
      </p:sp>
    </p:spTree>
    <p:extLst>
      <p:ext uri="{BB962C8B-B14F-4D97-AF65-F5344CB8AC3E}">
        <p14:creationId xmlns:p14="http://schemas.microsoft.com/office/powerpoint/2010/main" val="2024464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93958-BC6A-68F6-F13C-E747588892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EBCA7E-AEBF-563B-7DCC-FE2AA9D4B281}"/>
              </a:ext>
            </a:extLst>
          </p:cNvPr>
          <p:cNvSpPr>
            <a:spLocks noGrp="1"/>
          </p:cNvSpPr>
          <p:nvPr>
            <p:ph type="title"/>
          </p:nvPr>
        </p:nvSpPr>
        <p:spPr>
          <a:xfrm>
            <a:off x="576273" y="863458"/>
            <a:ext cx="11094723" cy="480364"/>
          </a:xfrm>
        </p:spPr>
        <p:txBody>
          <a:bodyPr/>
          <a:lstStyle/>
          <a:p>
            <a:r>
              <a:rPr lang="en-US" sz="3600" dirty="0"/>
              <a:t>Alternative Medicine</a:t>
            </a:r>
          </a:p>
        </p:txBody>
      </p:sp>
      <p:sp>
        <p:nvSpPr>
          <p:cNvPr id="3" name="Slide Number Placeholder 2">
            <a:extLst>
              <a:ext uri="{FF2B5EF4-FFF2-40B4-BE49-F238E27FC236}">
                <a16:creationId xmlns:a16="http://schemas.microsoft.com/office/drawing/2014/main" id="{1B25EFE9-CD75-AE17-5FDE-A661622C186B}"/>
              </a:ext>
            </a:extLst>
          </p:cNvPr>
          <p:cNvSpPr>
            <a:spLocks noGrp="1"/>
          </p:cNvSpPr>
          <p:nvPr>
            <p:ph type="sldNum" sz="quarter" idx="4"/>
          </p:nvPr>
        </p:nvSpPr>
        <p:spPr/>
        <p:txBody>
          <a:bodyPr/>
          <a:lstStyle/>
          <a:p>
            <a:fld id="{6D22F896-40B5-4ADD-8801-0D06FADFA095}" type="slidenum">
              <a:rPr lang="en-US" smtClean="0"/>
              <a:pPr/>
              <a:t>7</a:t>
            </a:fld>
            <a:endParaRPr lang="en-US" dirty="0"/>
          </a:p>
        </p:txBody>
      </p:sp>
      <p:sp>
        <p:nvSpPr>
          <p:cNvPr id="6" name="Content Placeholder 5">
            <a:extLst>
              <a:ext uri="{FF2B5EF4-FFF2-40B4-BE49-F238E27FC236}">
                <a16:creationId xmlns:a16="http://schemas.microsoft.com/office/drawing/2014/main" id="{278253BB-4DAF-2098-4DD1-C3B618B6F196}"/>
              </a:ext>
            </a:extLst>
          </p:cNvPr>
          <p:cNvSpPr>
            <a:spLocks noGrp="1"/>
          </p:cNvSpPr>
          <p:nvPr>
            <p:ph sz="quarter" idx="10"/>
          </p:nvPr>
        </p:nvSpPr>
        <p:spPr>
          <a:xfrm>
            <a:off x="566726" y="1343822"/>
            <a:ext cx="11104270" cy="5274691"/>
          </a:xfrm>
        </p:spPr>
        <p:txBody>
          <a:bodyPr>
            <a:normAutofit lnSpcReduction="10000"/>
          </a:bodyPr>
          <a:lstStyle/>
          <a:p>
            <a:pPr marL="342900" indent="-342900">
              <a:lnSpc>
                <a:spcPct val="170000"/>
              </a:lnSpc>
              <a:spcBef>
                <a:spcPts val="0"/>
              </a:spcBef>
              <a:spcAft>
                <a:spcPts val="0"/>
              </a:spcAft>
              <a:buFont typeface="Arial" panose="020B0604020202020204" pitchFamily="34" charset="0"/>
              <a:buChar char="•"/>
            </a:pPr>
            <a:r>
              <a:rPr lang="en-US" sz="1600" b="1" u="sng" dirty="0"/>
              <a:t>Alternative medicine</a:t>
            </a:r>
            <a:r>
              <a:rPr lang="en-US" sz="1600" dirty="0"/>
              <a:t> (also: comprehensive &amp; alternative medicine) is composed of medical treatments and approaches that fall beyond the scope of traditional medical practices. Typically, the treatments have not been developed with empirical research, and may not be regulated by governing bodies such as the Food &amp; Drug Administration</a:t>
            </a:r>
          </a:p>
          <a:p>
            <a:pPr marL="342900" indent="-342900">
              <a:lnSpc>
                <a:spcPct val="170000"/>
              </a:lnSpc>
              <a:spcBef>
                <a:spcPts val="0"/>
              </a:spcBef>
              <a:spcAft>
                <a:spcPts val="0"/>
              </a:spcAft>
              <a:buFont typeface="Arial" panose="020B0604020202020204" pitchFamily="34" charset="0"/>
              <a:buChar char="•"/>
            </a:pPr>
            <a:r>
              <a:rPr lang="en-US" sz="1600" dirty="0"/>
              <a:t>Many are based in a </a:t>
            </a:r>
            <a:r>
              <a:rPr lang="en-US" sz="1600" b="1" u="sng" dirty="0"/>
              <a:t>holistic</a:t>
            </a:r>
            <a:r>
              <a:rPr lang="en-US" sz="1600" dirty="0"/>
              <a:t> approach</a:t>
            </a:r>
          </a:p>
          <a:p>
            <a:pPr marL="342900" indent="-342900">
              <a:lnSpc>
                <a:spcPct val="170000"/>
              </a:lnSpc>
              <a:spcBef>
                <a:spcPts val="0"/>
              </a:spcBef>
              <a:spcAft>
                <a:spcPts val="0"/>
              </a:spcAft>
              <a:buFont typeface="Arial" panose="020B0604020202020204" pitchFamily="34" charset="0"/>
              <a:buChar char="•"/>
            </a:pPr>
            <a:r>
              <a:rPr lang="en-US" sz="1600" b="1" u="sng" dirty="0"/>
              <a:t>Traditional Chinese Medicine</a:t>
            </a:r>
          </a:p>
          <a:p>
            <a:pPr marL="690372" lvl="1">
              <a:lnSpc>
                <a:spcPct val="170000"/>
              </a:lnSpc>
              <a:spcBef>
                <a:spcPts val="0"/>
              </a:spcBef>
              <a:spcAft>
                <a:spcPts val="0"/>
              </a:spcAft>
            </a:pPr>
            <a:r>
              <a:rPr lang="en-US" sz="1600" dirty="0"/>
              <a:t>Focus on the flow of qi throughout the body</a:t>
            </a:r>
          </a:p>
          <a:p>
            <a:pPr marL="690372" lvl="1">
              <a:lnSpc>
                <a:spcPct val="170000"/>
              </a:lnSpc>
              <a:spcBef>
                <a:spcPts val="0"/>
              </a:spcBef>
              <a:spcAft>
                <a:spcPts val="0"/>
              </a:spcAft>
            </a:pPr>
            <a:r>
              <a:rPr lang="en-US" sz="1600" dirty="0"/>
              <a:t>Ex: acupuncture</a:t>
            </a:r>
          </a:p>
          <a:p>
            <a:pPr marL="342900" indent="-342900">
              <a:lnSpc>
                <a:spcPct val="170000"/>
              </a:lnSpc>
              <a:spcBef>
                <a:spcPts val="0"/>
              </a:spcBef>
              <a:spcAft>
                <a:spcPts val="0"/>
              </a:spcAft>
              <a:buFont typeface="Arial" panose="020B0604020202020204" pitchFamily="34" charset="0"/>
              <a:buChar char="•"/>
            </a:pPr>
            <a:r>
              <a:rPr lang="en-US" sz="1600" b="1" u="sng" dirty="0"/>
              <a:t>Ayurvedic medicine</a:t>
            </a:r>
          </a:p>
          <a:p>
            <a:pPr marL="690372" lvl="1">
              <a:lnSpc>
                <a:spcPct val="170000"/>
              </a:lnSpc>
              <a:spcBef>
                <a:spcPts val="0"/>
              </a:spcBef>
              <a:spcAft>
                <a:spcPts val="0"/>
              </a:spcAft>
            </a:pPr>
            <a:r>
              <a:rPr lang="en-US" sz="1600" dirty="0"/>
              <a:t>Focus on health balance, with emphasis on diet, exercise, and massage</a:t>
            </a:r>
          </a:p>
          <a:p>
            <a:pPr marL="342900" indent="-342900">
              <a:lnSpc>
                <a:spcPct val="170000"/>
              </a:lnSpc>
              <a:spcBef>
                <a:spcPts val="0"/>
              </a:spcBef>
              <a:spcAft>
                <a:spcPts val="0"/>
              </a:spcAft>
              <a:buFont typeface="Arial" panose="020B0604020202020204" pitchFamily="34" charset="0"/>
              <a:buChar char="•"/>
            </a:pPr>
            <a:r>
              <a:rPr lang="en-US" sz="1600" b="1" u="sng" dirty="0"/>
              <a:t>Homeopathy &amp; naturopathy</a:t>
            </a:r>
          </a:p>
          <a:p>
            <a:pPr marL="690372" lvl="1">
              <a:lnSpc>
                <a:spcPct val="170000"/>
              </a:lnSpc>
              <a:spcBef>
                <a:spcPts val="0"/>
              </a:spcBef>
              <a:spcAft>
                <a:spcPts val="0"/>
              </a:spcAft>
            </a:pPr>
            <a:r>
              <a:rPr lang="en-US" sz="1600" dirty="0"/>
              <a:t>Homeopathy: “treat like with like”</a:t>
            </a:r>
          </a:p>
          <a:p>
            <a:pPr marL="690372" lvl="1">
              <a:lnSpc>
                <a:spcPct val="170000"/>
              </a:lnSpc>
              <a:spcBef>
                <a:spcPts val="0"/>
              </a:spcBef>
              <a:spcAft>
                <a:spcPts val="0"/>
              </a:spcAft>
            </a:pPr>
            <a:r>
              <a:rPr lang="en-US" sz="1600" dirty="0"/>
              <a:t>Naturopathy: focus on fresh air, sunlight, and diet</a:t>
            </a:r>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1778042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D2F4-3ABE-35D8-5403-147FD7A6DF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22E305-5CB6-6BB3-EAB1-5C0D3D5C3264}"/>
              </a:ext>
            </a:extLst>
          </p:cNvPr>
          <p:cNvSpPr>
            <a:spLocks noGrp="1"/>
          </p:cNvSpPr>
          <p:nvPr>
            <p:ph type="title"/>
          </p:nvPr>
        </p:nvSpPr>
        <p:spPr>
          <a:xfrm>
            <a:off x="576273" y="863458"/>
            <a:ext cx="11094723" cy="480364"/>
          </a:xfrm>
        </p:spPr>
        <p:txBody>
          <a:bodyPr/>
          <a:lstStyle/>
          <a:p>
            <a:r>
              <a:rPr lang="en-US" sz="3600" dirty="0"/>
              <a:t>Alternative Medicine Treatments</a:t>
            </a:r>
          </a:p>
        </p:txBody>
      </p:sp>
      <p:sp>
        <p:nvSpPr>
          <p:cNvPr id="3" name="Slide Number Placeholder 2">
            <a:extLst>
              <a:ext uri="{FF2B5EF4-FFF2-40B4-BE49-F238E27FC236}">
                <a16:creationId xmlns:a16="http://schemas.microsoft.com/office/drawing/2014/main" id="{2D68BCE3-41AA-9F11-F510-6066248F0B68}"/>
              </a:ext>
            </a:extLst>
          </p:cNvPr>
          <p:cNvSpPr>
            <a:spLocks noGrp="1"/>
          </p:cNvSpPr>
          <p:nvPr>
            <p:ph type="sldNum" sz="quarter" idx="4"/>
          </p:nvPr>
        </p:nvSpPr>
        <p:spPr/>
        <p:txBody>
          <a:bodyPr/>
          <a:lstStyle/>
          <a:p>
            <a:fld id="{6D22F896-40B5-4ADD-8801-0D06FADFA095}" type="slidenum">
              <a:rPr lang="en-US" smtClean="0"/>
              <a:pPr/>
              <a:t>8</a:t>
            </a:fld>
            <a:endParaRPr lang="en-US" dirty="0"/>
          </a:p>
        </p:txBody>
      </p:sp>
      <p:sp>
        <p:nvSpPr>
          <p:cNvPr id="6" name="Content Placeholder 5">
            <a:extLst>
              <a:ext uri="{FF2B5EF4-FFF2-40B4-BE49-F238E27FC236}">
                <a16:creationId xmlns:a16="http://schemas.microsoft.com/office/drawing/2014/main" id="{CC849A4C-6CE6-6BDF-598B-67BED37385AF}"/>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dirty="0"/>
              <a:t>Dietary supplements</a:t>
            </a:r>
          </a:p>
          <a:p>
            <a:pPr marL="342900" indent="-342900">
              <a:lnSpc>
                <a:spcPct val="170000"/>
              </a:lnSpc>
              <a:spcBef>
                <a:spcPts val="0"/>
              </a:spcBef>
              <a:spcAft>
                <a:spcPts val="0"/>
              </a:spcAft>
              <a:buFont typeface="Arial" panose="020B0604020202020204" pitchFamily="34" charset="0"/>
              <a:buChar char="•"/>
            </a:pPr>
            <a:r>
              <a:rPr lang="en-US" sz="1600" dirty="0"/>
              <a:t>Prayer </a:t>
            </a:r>
          </a:p>
          <a:p>
            <a:pPr marL="342900" indent="-342900">
              <a:lnSpc>
                <a:spcPct val="170000"/>
              </a:lnSpc>
              <a:spcBef>
                <a:spcPts val="0"/>
              </a:spcBef>
              <a:spcAft>
                <a:spcPts val="0"/>
              </a:spcAft>
              <a:buFont typeface="Arial" panose="020B0604020202020204" pitchFamily="34" charset="0"/>
              <a:buChar char="•"/>
            </a:pPr>
            <a:r>
              <a:rPr lang="en-US" sz="1600" dirty="0"/>
              <a:t>Acupuncture</a:t>
            </a:r>
          </a:p>
          <a:p>
            <a:pPr marL="342900" indent="-342900">
              <a:lnSpc>
                <a:spcPct val="170000"/>
              </a:lnSpc>
              <a:spcBef>
                <a:spcPts val="0"/>
              </a:spcBef>
              <a:spcAft>
                <a:spcPts val="0"/>
              </a:spcAft>
              <a:buFont typeface="Arial" panose="020B0604020202020204" pitchFamily="34" charset="0"/>
              <a:buChar char="•"/>
            </a:pPr>
            <a:r>
              <a:rPr lang="en-US" sz="1600" dirty="0"/>
              <a:t>Yoga</a:t>
            </a:r>
          </a:p>
          <a:p>
            <a:pPr marL="342900" indent="-342900">
              <a:lnSpc>
                <a:spcPct val="170000"/>
              </a:lnSpc>
              <a:spcBef>
                <a:spcPts val="0"/>
              </a:spcBef>
              <a:spcAft>
                <a:spcPts val="0"/>
              </a:spcAft>
              <a:buFont typeface="Arial" panose="020B0604020202020204" pitchFamily="34" charset="0"/>
              <a:buChar char="•"/>
            </a:pPr>
            <a:r>
              <a:rPr lang="en-US" sz="1600" dirty="0"/>
              <a:t>Hypnosis</a:t>
            </a:r>
          </a:p>
          <a:p>
            <a:pPr marL="342900" indent="-342900">
              <a:lnSpc>
                <a:spcPct val="170000"/>
              </a:lnSpc>
              <a:spcBef>
                <a:spcPts val="0"/>
              </a:spcBef>
              <a:spcAft>
                <a:spcPts val="0"/>
              </a:spcAft>
              <a:buFont typeface="Arial" panose="020B0604020202020204" pitchFamily="34" charset="0"/>
              <a:buChar char="•"/>
            </a:pPr>
            <a:r>
              <a:rPr lang="en-US" sz="1600" dirty="0"/>
              <a:t>Meditation and guided imagery</a:t>
            </a:r>
          </a:p>
          <a:p>
            <a:pPr marL="342900" indent="-342900">
              <a:lnSpc>
                <a:spcPct val="170000"/>
              </a:lnSpc>
              <a:spcBef>
                <a:spcPts val="0"/>
              </a:spcBef>
              <a:spcAft>
                <a:spcPts val="0"/>
              </a:spcAft>
              <a:buFont typeface="Arial" panose="020B0604020202020204" pitchFamily="34" charset="0"/>
              <a:buChar char="•"/>
            </a:pPr>
            <a:r>
              <a:rPr lang="en-US" sz="1600" dirty="0"/>
              <a:t>Massage</a:t>
            </a:r>
          </a:p>
          <a:p>
            <a:pPr marL="342900" indent="-342900">
              <a:lnSpc>
                <a:spcPct val="170000"/>
              </a:lnSpc>
              <a:spcBef>
                <a:spcPts val="0"/>
              </a:spcBef>
              <a:spcAft>
                <a:spcPts val="0"/>
              </a:spcAft>
              <a:buFont typeface="Arial" panose="020B0604020202020204" pitchFamily="34" charset="0"/>
              <a:buChar char="•"/>
            </a:pPr>
            <a:r>
              <a:rPr lang="en-US" sz="1600" dirty="0"/>
              <a:t>Chiropractic medicine (semi-alternative)</a:t>
            </a:r>
          </a:p>
          <a:p>
            <a:pPr marL="342900" indent="-342900">
              <a:lnSpc>
                <a:spcPct val="170000"/>
              </a:lnSpc>
              <a:spcBef>
                <a:spcPts val="0"/>
              </a:spcBef>
              <a:spcAft>
                <a:spcPts val="0"/>
              </a:spcAft>
              <a:buFont typeface="Arial" panose="020B0604020202020204" pitchFamily="34" charset="0"/>
              <a:buChar char="•"/>
            </a:pPr>
            <a:endParaRPr lang="en-US" sz="1600" dirty="0"/>
          </a:p>
          <a:p>
            <a:pPr marL="342900" indent="-342900">
              <a:lnSpc>
                <a:spcPct val="170000"/>
              </a:lnSpc>
              <a:spcBef>
                <a:spcPts val="0"/>
              </a:spcBef>
              <a:spcAft>
                <a:spcPts val="0"/>
              </a:spcAft>
              <a:buFont typeface="Arial" panose="020B0604020202020204" pitchFamily="34" charset="0"/>
              <a:buChar char="•"/>
            </a:pPr>
            <a:r>
              <a:rPr lang="en-US" sz="1600" dirty="0"/>
              <a:t>Arguably best option: </a:t>
            </a:r>
            <a:r>
              <a:rPr lang="en-US" sz="1600" b="1" u="sng" dirty="0"/>
              <a:t>integrative medicine</a:t>
            </a:r>
          </a:p>
          <a:p>
            <a:pPr marL="690372" lvl="1">
              <a:lnSpc>
                <a:spcPct val="170000"/>
              </a:lnSpc>
              <a:spcBef>
                <a:spcPts val="0"/>
              </a:spcBef>
              <a:spcAft>
                <a:spcPts val="0"/>
              </a:spcAft>
            </a:pPr>
            <a:r>
              <a:rPr lang="en-US" sz="1600" dirty="0"/>
              <a:t>Remember the biopsychosocial model</a:t>
            </a:r>
          </a:p>
          <a:p>
            <a:pPr marL="342900" indent="-342900">
              <a:lnSpc>
                <a:spcPct val="170000"/>
              </a:lnSpc>
              <a:spcBef>
                <a:spcPts val="0"/>
              </a:spcBef>
              <a:spcAft>
                <a:spcPts val="0"/>
              </a:spcAft>
              <a:buFont typeface="Arial" panose="020B0604020202020204" pitchFamily="34" charset="0"/>
              <a:buChar char="•"/>
            </a:pPr>
            <a:endParaRPr lang="en-US" sz="1600" dirty="0"/>
          </a:p>
          <a:p>
            <a:pPr marL="342900" indent="-342900">
              <a:lnSpc>
                <a:spcPct val="170000"/>
              </a:lnSpc>
              <a:spcBef>
                <a:spcPts val="0"/>
              </a:spcBef>
              <a:spcAft>
                <a:spcPts val="0"/>
              </a:spcAft>
              <a:buFont typeface="Arial" panose="020B0604020202020204" pitchFamily="34" charset="0"/>
              <a:buChar char="•"/>
            </a:pPr>
            <a:endParaRPr lang="en-US" sz="1600" dirty="0"/>
          </a:p>
        </p:txBody>
      </p:sp>
      <p:pic>
        <p:nvPicPr>
          <p:cNvPr id="2050" name="Picture 2" descr="Diagram showing main meridian channels on front and side views of a human body, used for meridian and energy therapies. Channels are color-coded and labeled for organs including small intestine, triple heater, large intestine, stomach, liver, spleen, kidney, heart, lungs, bladder, gall bladder, and governing vessel.&#10;&#10;AI-generated content may be incorrect.">
            <a:extLst>
              <a:ext uri="{FF2B5EF4-FFF2-40B4-BE49-F238E27FC236}">
                <a16:creationId xmlns:a16="http://schemas.microsoft.com/office/drawing/2014/main" id="{9D4995C1-2906-2957-F73B-91527B29F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998" y="863458"/>
            <a:ext cx="3582763" cy="59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1D05F4-322C-937A-DD4C-3D7A214B2205}"/>
              </a:ext>
            </a:extLst>
          </p:cNvPr>
          <p:cNvSpPr>
            <a:spLocks noGrp="1"/>
          </p:cNvSpPr>
          <p:nvPr>
            <p:ph type="title"/>
          </p:nvPr>
        </p:nvSpPr>
        <p:spPr>
          <a:xfrm>
            <a:off x="148046" y="622663"/>
            <a:ext cx="11408227" cy="1717766"/>
          </a:xfrm>
        </p:spPr>
        <p:txBody>
          <a:bodyPr/>
          <a:lstStyle/>
          <a:p>
            <a:r>
              <a:rPr lang="en-US" sz="5400" dirty="0"/>
              <a:t>Patient-Provider Communication</a:t>
            </a:r>
          </a:p>
        </p:txBody>
      </p:sp>
      <p:sp>
        <p:nvSpPr>
          <p:cNvPr id="3" name="Slide Number Placeholder 2">
            <a:extLst>
              <a:ext uri="{FF2B5EF4-FFF2-40B4-BE49-F238E27FC236}">
                <a16:creationId xmlns:a16="http://schemas.microsoft.com/office/drawing/2014/main" id="{A2E9131E-3EA5-D34C-E37A-6760DF0C0606}"/>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9</a:t>
            </a:fld>
            <a:endParaRPr lang="en-US" dirty="0"/>
          </a:p>
        </p:txBody>
      </p:sp>
      <p:pic>
        <p:nvPicPr>
          <p:cNvPr id="9" name="Picture 8">
            <a:extLst>
              <a:ext uri="{FF2B5EF4-FFF2-40B4-BE49-F238E27FC236}">
                <a16:creationId xmlns:a16="http://schemas.microsoft.com/office/drawing/2014/main" id="{5BABAB31-73FE-1338-C9AC-2718DD87076E}"/>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296297" y="2025804"/>
            <a:ext cx="5439297" cy="3626198"/>
          </a:xfrm>
          <a:prstGeom prst="rect">
            <a:avLst/>
          </a:prstGeom>
        </p:spPr>
      </p:pic>
      <p:pic>
        <p:nvPicPr>
          <p:cNvPr id="12" name="Picture 11">
            <a:extLst>
              <a:ext uri="{FF2B5EF4-FFF2-40B4-BE49-F238E27FC236}">
                <a16:creationId xmlns:a16="http://schemas.microsoft.com/office/drawing/2014/main" id="{6B4320E1-8557-F854-C420-C02270E8439C}"/>
              </a:ext>
              <a:ext uri="{C183D7F6-B498-43B3-948B-1728B52AA6E4}">
                <adec:decorative xmlns:adec="http://schemas.microsoft.com/office/drawing/2017/decorative" val="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60199" y="2025664"/>
            <a:ext cx="5439297" cy="3628011"/>
          </a:xfrm>
          <a:prstGeom prst="rect">
            <a:avLst/>
          </a:prstGeom>
        </p:spPr>
      </p:pic>
    </p:spTree>
    <p:extLst>
      <p:ext uri="{BB962C8B-B14F-4D97-AF65-F5344CB8AC3E}">
        <p14:creationId xmlns:p14="http://schemas.microsoft.com/office/powerpoint/2010/main" val="4246829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9C4A-CF2F-C6C8-0E64-FE84ADD416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609B01-EC96-0FF1-D158-85E4B23DB021}"/>
              </a:ext>
            </a:extLst>
          </p:cNvPr>
          <p:cNvSpPr>
            <a:spLocks noGrp="1"/>
          </p:cNvSpPr>
          <p:nvPr>
            <p:ph type="title"/>
          </p:nvPr>
        </p:nvSpPr>
        <p:spPr/>
        <p:txBody>
          <a:bodyPr/>
          <a:lstStyle/>
          <a:p>
            <a:r>
              <a:rPr lang="en-US" sz="3600" dirty="0"/>
              <a:t>Health Care Communication</a:t>
            </a:r>
          </a:p>
        </p:txBody>
      </p:sp>
      <p:sp>
        <p:nvSpPr>
          <p:cNvPr id="3" name="Slide Number Placeholder 2">
            <a:extLst>
              <a:ext uri="{FF2B5EF4-FFF2-40B4-BE49-F238E27FC236}">
                <a16:creationId xmlns:a16="http://schemas.microsoft.com/office/drawing/2014/main" id="{A1F5A2A4-8286-4901-161A-1FF13A1AF927}"/>
              </a:ext>
            </a:extLst>
          </p:cNvPr>
          <p:cNvSpPr>
            <a:spLocks noGrp="1"/>
          </p:cNvSpPr>
          <p:nvPr>
            <p:ph type="sldNum" sz="quarter" idx="4"/>
          </p:nvPr>
        </p:nvSpPr>
        <p:spPr/>
        <p:txBody>
          <a:bodyPr/>
          <a:lstStyle/>
          <a:p>
            <a:fld id="{6D22F896-40B5-4ADD-8801-0D06FADFA095}" type="slidenum">
              <a:rPr lang="en-US" smtClean="0"/>
              <a:pPr/>
              <a:t>10</a:t>
            </a:fld>
            <a:endParaRPr lang="en-US" dirty="0"/>
          </a:p>
        </p:txBody>
      </p:sp>
      <p:sp>
        <p:nvSpPr>
          <p:cNvPr id="4" name="Content Placeholder 3">
            <a:extLst>
              <a:ext uri="{FF2B5EF4-FFF2-40B4-BE49-F238E27FC236}">
                <a16:creationId xmlns:a16="http://schemas.microsoft.com/office/drawing/2014/main" id="{E5CA30C3-6FB4-3DEF-02C1-CC64BE1006FC}"/>
              </a:ext>
            </a:extLst>
          </p:cNvPr>
          <p:cNvSpPr>
            <a:spLocks noGrp="1"/>
          </p:cNvSpPr>
          <p:nvPr>
            <p:ph sz="quarter" idx="11"/>
          </p:nvPr>
        </p:nvSpPr>
        <p:spPr>
          <a:xfrm>
            <a:off x="569574" y="2304695"/>
            <a:ext cx="5544513" cy="3967795"/>
          </a:xfrm>
        </p:spPr>
        <p:txBody>
          <a:bodyPr>
            <a:normAutofit/>
          </a:bodyPr>
          <a:lstStyle/>
          <a:p>
            <a:pPr marL="342900" indent="-342900">
              <a:lnSpc>
                <a:spcPct val="170000"/>
              </a:lnSpc>
              <a:spcBef>
                <a:spcPts val="0"/>
              </a:spcBef>
              <a:spcAft>
                <a:spcPts val="0"/>
              </a:spcAft>
            </a:pPr>
            <a:r>
              <a:rPr lang="en-US" dirty="0"/>
              <a:t>Multiple factors impact patient-provider communication:</a:t>
            </a:r>
          </a:p>
          <a:p>
            <a:pPr marL="690372" lvl="1">
              <a:lnSpc>
                <a:spcPct val="170000"/>
              </a:lnSpc>
              <a:spcBef>
                <a:spcPts val="0"/>
              </a:spcBef>
              <a:spcAft>
                <a:spcPts val="0"/>
              </a:spcAft>
            </a:pPr>
            <a:r>
              <a:rPr lang="en-US" sz="2000" dirty="0"/>
              <a:t>Setting</a:t>
            </a:r>
          </a:p>
          <a:p>
            <a:pPr marL="690372" lvl="1">
              <a:lnSpc>
                <a:spcPct val="170000"/>
              </a:lnSpc>
              <a:spcBef>
                <a:spcPts val="0"/>
              </a:spcBef>
              <a:spcAft>
                <a:spcPts val="0"/>
              </a:spcAft>
            </a:pPr>
            <a:r>
              <a:rPr lang="en-US" sz="2000" dirty="0"/>
              <a:t>Language/ culture</a:t>
            </a:r>
          </a:p>
          <a:p>
            <a:pPr marL="690372" lvl="1">
              <a:lnSpc>
                <a:spcPct val="170000"/>
              </a:lnSpc>
              <a:spcBef>
                <a:spcPts val="0"/>
              </a:spcBef>
              <a:spcAft>
                <a:spcPts val="0"/>
              </a:spcAft>
            </a:pPr>
            <a:r>
              <a:rPr lang="en-US" sz="2000" dirty="0"/>
              <a:t>Gender</a:t>
            </a:r>
          </a:p>
          <a:p>
            <a:pPr marL="690372" lvl="1">
              <a:lnSpc>
                <a:spcPct val="170000"/>
              </a:lnSpc>
              <a:spcBef>
                <a:spcPts val="0"/>
              </a:spcBef>
              <a:spcAft>
                <a:spcPts val="0"/>
              </a:spcAft>
            </a:pPr>
            <a:r>
              <a:rPr lang="en-US" sz="2000" dirty="0"/>
              <a:t>Illness and its severity</a:t>
            </a:r>
          </a:p>
          <a:p>
            <a:pPr marL="690372" lvl="1">
              <a:lnSpc>
                <a:spcPct val="170000"/>
              </a:lnSpc>
              <a:spcBef>
                <a:spcPts val="0"/>
              </a:spcBef>
              <a:spcAft>
                <a:spcPts val="0"/>
              </a:spcAft>
            </a:pPr>
            <a:r>
              <a:rPr lang="en-US" sz="2000" dirty="0"/>
              <a:t>Biases</a:t>
            </a:r>
          </a:p>
          <a:p>
            <a:endParaRPr lang="en-US" sz="2800" dirty="0"/>
          </a:p>
        </p:txBody>
      </p:sp>
      <p:sp>
        <p:nvSpPr>
          <p:cNvPr id="6" name="Content Placeholder 5">
            <a:extLst>
              <a:ext uri="{FF2B5EF4-FFF2-40B4-BE49-F238E27FC236}">
                <a16:creationId xmlns:a16="http://schemas.microsoft.com/office/drawing/2014/main" id="{92152B01-A9A6-0E57-5F0C-C3D9021B84A5}"/>
              </a:ext>
            </a:extLst>
          </p:cNvPr>
          <p:cNvSpPr>
            <a:spLocks noGrp="1"/>
          </p:cNvSpPr>
          <p:nvPr>
            <p:ph sz="quarter" idx="10"/>
          </p:nvPr>
        </p:nvSpPr>
        <p:spPr>
          <a:xfrm>
            <a:off x="6619852" y="2304694"/>
            <a:ext cx="5356799" cy="3967795"/>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dirty="0"/>
              <a:t>Potential breakdowns in communication:</a:t>
            </a:r>
          </a:p>
          <a:p>
            <a:pPr marL="690372" lvl="1">
              <a:lnSpc>
                <a:spcPct val="170000"/>
              </a:lnSpc>
              <a:spcBef>
                <a:spcPts val="0"/>
              </a:spcBef>
              <a:spcAft>
                <a:spcPts val="0"/>
              </a:spcAft>
            </a:pPr>
            <a:r>
              <a:rPr lang="en-US" dirty="0"/>
              <a:t>Inattentiveness</a:t>
            </a:r>
          </a:p>
          <a:p>
            <a:pPr marL="690372" lvl="1">
              <a:lnSpc>
                <a:spcPct val="170000"/>
              </a:lnSpc>
              <a:spcBef>
                <a:spcPts val="0"/>
              </a:spcBef>
              <a:spcAft>
                <a:spcPts val="0"/>
              </a:spcAft>
            </a:pPr>
            <a:r>
              <a:rPr lang="en-US" dirty="0"/>
              <a:t>Use of jargon</a:t>
            </a:r>
          </a:p>
          <a:p>
            <a:pPr marL="690372" lvl="1">
              <a:lnSpc>
                <a:spcPct val="170000"/>
              </a:lnSpc>
              <a:spcBef>
                <a:spcPts val="0"/>
              </a:spcBef>
              <a:spcAft>
                <a:spcPts val="0"/>
              </a:spcAft>
            </a:pPr>
            <a:r>
              <a:rPr lang="en-US" dirty="0"/>
              <a:t>Baby talk</a:t>
            </a:r>
          </a:p>
          <a:p>
            <a:pPr marL="690372" lvl="1">
              <a:lnSpc>
                <a:spcPct val="170000"/>
              </a:lnSpc>
              <a:spcBef>
                <a:spcPts val="0"/>
              </a:spcBef>
              <a:spcAft>
                <a:spcPts val="0"/>
              </a:spcAft>
            </a:pPr>
            <a:r>
              <a:rPr lang="en-US" dirty="0"/>
              <a:t>Patient depersonalization </a:t>
            </a:r>
          </a:p>
          <a:p>
            <a:pPr marL="690372" lvl="1">
              <a:lnSpc>
                <a:spcPct val="170000"/>
              </a:lnSpc>
              <a:spcBef>
                <a:spcPts val="0"/>
              </a:spcBef>
              <a:spcAft>
                <a:spcPts val="0"/>
              </a:spcAft>
            </a:pPr>
            <a:r>
              <a:rPr lang="en-US" dirty="0"/>
              <a:t>Stereotyping patients</a:t>
            </a:r>
          </a:p>
          <a:p>
            <a:pPr>
              <a:lnSpc>
                <a:spcPct val="170000"/>
              </a:lnSpc>
              <a:spcBef>
                <a:spcPts val="0"/>
              </a:spcBef>
              <a:spcAft>
                <a:spcPts val="0"/>
              </a:spcAft>
            </a:pPr>
            <a:endParaRPr lang="en-US" dirty="0"/>
          </a:p>
        </p:txBody>
      </p:sp>
    </p:spTree>
    <p:extLst>
      <p:ext uri="{BB962C8B-B14F-4D97-AF65-F5344CB8AC3E}">
        <p14:creationId xmlns:p14="http://schemas.microsoft.com/office/powerpoint/2010/main" val="86683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5686-B927-E571-52AD-614BF28A57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791BE81-0846-5C61-9050-7C0A6C41250C}"/>
              </a:ext>
            </a:extLst>
          </p:cNvPr>
          <p:cNvSpPr>
            <a:spLocks noGrp="1"/>
          </p:cNvSpPr>
          <p:nvPr>
            <p:ph type="title"/>
          </p:nvPr>
        </p:nvSpPr>
        <p:spPr>
          <a:xfrm>
            <a:off x="576273" y="863458"/>
            <a:ext cx="11094723" cy="480364"/>
          </a:xfrm>
        </p:spPr>
        <p:txBody>
          <a:bodyPr/>
          <a:lstStyle/>
          <a:p>
            <a:r>
              <a:rPr lang="en-US" sz="3600" dirty="0"/>
              <a:t>The Importance of Communication</a:t>
            </a:r>
          </a:p>
        </p:txBody>
      </p:sp>
      <p:sp>
        <p:nvSpPr>
          <p:cNvPr id="3" name="Slide Number Placeholder 2">
            <a:extLst>
              <a:ext uri="{FF2B5EF4-FFF2-40B4-BE49-F238E27FC236}">
                <a16:creationId xmlns:a16="http://schemas.microsoft.com/office/drawing/2014/main" id="{FDFDE7CD-1FA7-9A80-ECD5-C598635E5D6C}"/>
              </a:ext>
            </a:extLst>
          </p:cNvPr>
          <p:cNvSpPr>
            <a:spLocks noGrp="1"/>
          </p:cNvSpPr>
          <p:nvPr>
            <p:ph type="sldNum" sz="quarter" idx="4"/>
          </p:nvPr>
        </p:nvSpPr>
        <p:spPr/>
        <p:txBody>
          <a:bodyPr/>
          <a:lstStyle/>
          <a:p>
            <a:fld id="{6D22F896-40B5-4ADD-8801-0D06FADFA095}" type="slidenum">
              <a:rPr lang="en-US" smtClean="0"/>
              <a:pPr/>
              <a:t>11</a:t>
            </a:fld>
            <a:endParaRPr lang="en-US" dirty="0"/>
          </a:p>
        </p:txBody>
      </p:sp>
      <p:sp>
        <p:nvSpPr>
          <p:cNvPr id="6" name="Content Placeholder 5">
            <a:extLst>
              <a:ext uri="{FF2B5EF4-FFF2-40B4-BE49-F238E27FC236}">
                <a16:creationId xmlns:a16="http://schemas.microsoft.com/office/drawing/2014/main" id="{515FABAE-7E78-3F79-8DE7-A9E23909441F}"/>
              </a:ext>
            </a:extLst>
          </p:cNvPr>
          <p:cNvSpPr>
            <a:spLocks noGrp="1"/>
          </p:cNvSpPr>
          <p:nvPr>
            <p:ph sz="quarter" idx="10"/>
          </p:nvPr>
        </p:nvSpPr>
        <p:spPr>
          <a:xfrm>
            <a:off x="566726" y="1948070"/>
            <a:ext cx="11104270" cy="4670443"/>
          </a:xfrm>
        </p:spPr>
        <p:txBody>
          <a:bodyPr>
            <a:normAutofit fontScale="92500"/>
          </a:bodyPr>
          <a:lstStyle/>
          <a:p>
            <a:pPr marL="342900" indent="-342900">
              <a:lnSpc>
                <a:spcPct val="170000"/>
              </a:lnSpc>
              <a:spcBef>
                <a:spcPts val="0"/>
              </a:spcBef>
              <a:spcAft>
                <a:spcPts val="0"/>
              </a:spcAft>
              <a:buFont typeface="Arial" panose="020B0604020202020204" pitchFamily="34" charset="0"/>
              <a:buChar char="•"/>
            </a:pPr>
            <a:r>
              <a:rPr lang="en-US" sz="1800" b="1" u="sng" dirty="0"/>
              <a:t>Treatment adherence</a:t>
            </a:r>
            <a:r>
              <a:rPr lang="en-US" sz="1800" dirty="0"/>
              <a:t> – following the prescribed guidelines</a:t>
            </a:r>
          </a:p>
          <a:p>
            <a:pPr marL="342900" indent="-342900">
              <a:lnSpc>
                <a:spcPct val="170000"/>
              </a:lnSpc>
              <a:spcBef>
                <a:spcPts val="0"/>
              </a:spcBef>
              <a:spcAft>
                <a:spcPts val="0"/>
              </a:spcAft>
              <a:buFont typeface="Arial" panose="020B0604020202020204" pitchFamily="34" charset="0"/>
              <a:buChar char="•"/>
            </a:pPr>
            <a:r>
              <a:rPr lang="en-US" sz="1800" dirty="0"/>
              <a:t>Accurate and efficient treatment (or specialist recommendations)</a:t>
            </a:r>
          </a:p>
          <a:p>
            <a:pPr marL="342900" indent="-342900">
              <a:lnSpc>
                <a:spcPct val="170000"/>
              </a:lnSpc>
              <a:spcBef>
                <a:spcPts val="0"/>
              </a:spcBef>
              <a:spcAft>
                <a:spcPts val="0"/>
              </a:spcAft>
              <a:buFont typeface="Arial" panose="020B0604020202020204" pitchFamily="34" charset="0"/>
              <a:buChar char="•"/>
            </a:pPr>
            <a:r>
              <a:rPr lang="en-US" sz="1800" dirty="0"/>
              <a:t>Communication with patients’ families helps facilitate patient understanding and treatment adherence</a:t>
            </a:r>
          </a:p>
          <a:p>
            <a:pPr marL="342900" indent="-342900">
              <a:lnSpc>
                <a:spcPct val="170000"/>
              </a:lnSpc>
              <a:spcBef>
                <a:spcPts val="0"/>
              </a:spcBef>
              <a:spcAft>
                <a:spcPts val="0"/>
              </a:spcAft>
              <a:buFont typeface="Arial" panose="020B0604020202020204" pitchFamily="34" charset="0"/>
              <a:buChar char="•"/>
            </a:pPr>
            <a:endParaRPr lang="en-US" sz="1800" dirty="0"/>
          </a:p>
          <a:p>
            <a:pPr marL="342900" indent="-342900">
              <a:lnSpc>
                <a:spcPct val="170000"/>
              </a:lnSpc>
              <a:spcBef>
                <a:spcPts val="0"/>
              </a:spcBef>
              <a:spcAft>
                <a:spcPts val="0"/>
              </a:spcAft>
              <a:buFont typeface="Arial" panose="020B0604020202020204" pitchFamily="34" charset="0"/>
              <a:buChar char="•"/>
            </a:pPr>
            <a:r>
              <a:rPr lang="en-US" sz="1800" dirty="0"/>
              <a:t>Improving communication:</a:t>
            </a:r>
          </a:p>
          <a:p>
            <a:pPr marL="690372" lvl="1">
              <a:lnSpc>
                <a:spcPct val="170000"/>
              </a:lnSpc>
              <a:spcBef>
                <a:spcPts val="0"/>
              </a:spcBef>
              <a:spcAft>
                <a:spcPts val="0"/>
              </a:spcAft>
            </a:pPr>
            <a:r>
              <a:rPr lang="en-US" sz="1800" dirty="0"/>
              <a:t>Training providers </a:t>
            </a:r>
          </a:p>
          <a:p>
            <a:pPr marL="1056132" lvl="2">
              <a:lnSpc>
                <a:spcPct val="170000"/>
              </a:lnSpc>
              <a:spcBef>
                <a:spcPts val="0"/>
              </a:spcBef>
              <a:spcAft>
                <a:spcPts val="0"/>
              </a:spcAft>
            </a:pPr>
            <a:r>
              <a:rPr lang="en-US" sz="1800" dirty="0"/>
              <a:t>Ex: body-language, bedside manners, how to find the balance in knowledge per patient, etc.</a:t>
            </a:r>
          </a:p>
          <a:p>
            <a:pPr marL="690372" lvl="1">
              <a:lnSpc>
                <a:spcPct val="170000"/>
              </a:lnSpc>
              <a:spcBef>
                <a:spcPts val="0"/>
              </a:spcBef>
              <a:spcAft>
                <a:spcPts val="0"/>
              </a:spcAft>
            </a:pPr>
            <a:r>
              <a:rPr lang="en-US" sz="1800" dirty="0"/>
              <a:t>Training patients</a:t>
            </a:r>
          </a:p>
          <a:p>
            <a:pPr marL="1056132" lvl="2">
              <a:lnSpc>
                <a:spcPct val="170000"/>
              </a:lnSpc>
              <a:spcBef>
                <a:spcPts val="0"/>
              </a:spcBef>
              <a:spcAft>
                <a:spcPts val="0"/>
              </a:spcAft>
            </a:pPr>
            <a:r>
              <a:rPr lang="en-US" sz="1800" dirty="0"/>
              <a:t>Ex: creating a list of questions/ concerns before treatment</a:t>
            </a:r>
          </a:p>
          <a:p>
            <a:pPr marL="342900" indent="-342900">
              <a:lnSpc>
                <a:spcPct val="170000"/>
              </a:lnSpc>
              <a:spcBef>
                <a:spcPts val="0"/>
              </a:spcBef>
              <a:spcAft>
                <a:spcPts val="0"/>
              </a:spcAft>
              <a:buFont typeface="Arial" panose="020B0604020202020204" pitchFamily="34" charset="0"/>
              <a:buChar char="•"/>
            </a:pPr>
            <a:endParaRPr lang="en-US" sz="1800" dirty="0"/>
          </a:p>
        </p:txBody>
      </p:sp>
    </p:spTree>
    <p:extLst>
      <p:ext uri="{BB962C8B-B14F-4D97-AF65-F5344CB8AC3E}">
        <p14:creationId xmlns:p14="http://schemas.microsoft.com/office/powerpoint/2010/main" val="3315659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5BDC-8E16-8C4F-61B3-E1B77295CD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C659C4-865F-FF38-864A-4811F6FE166A}"/>
              </a:ext>
            </a:extLst>
          </p:cNvPr>
          <p:cNvSpPr>
            <a:spLocks noGrp="1"/>
          </p:cNvSpPr>
          <p:nvPr>
            <p:ph type="title"/>
          </p:nvPr>
        </p:nvSpPr>
        <p:spPr>
          <a:xfrm>
            <a:off x="576273" y="863458"/>
            <a:ext cx="11094723" cy="480364"/>
          </a:xfrm>
        </p:spPr>
        <p:txBody>
          <a:bodyPr/>
          <a:lstStyle/>
          <a:p>
            <a:r>
              <a:rPr lang="en-US" sz="3600" dirty="0"/>
              <a:t>Potential Problems</a:t>
            </a:r>
          </a:p>
        </p:txBody>
      </p:sp>
      <p:sp>
        <p:nvSpPr>
          <p:cNvPr id="3" name="Slide Number Placeholder 2">
            <a:extLst>
              <a:ext uri="{FF2B5EF4-FFF2-40B4-BE49-F238E27FC236}">
                <a16:creationId xmlns:a16="http://schemas.microsoft.com/office/drawing/2014/main" id="{DF6DFC1F-79AE-EAC2-C0A1-BADEC09F51A7}"/>
              </a:ext>
            </a:extLst>
          </p:cNvPr>
          <p:cNvSpPr>
            <a:spLocks noGrp="1"/>
          </p:cNvSpPr>
          <p:nvPr>
            <p:ph type="sldNum" sz="quarter" idx="4"/>
          </p:nvPr>
        </p:nvSpPr>
        <p:spPr/>
        <p:txBody>
          <a:bodyPr/>
          <a:lstStyle/>
          <a:p>
            <a:fld id="{6D22F896-40B5-4ADD-8801-0D06FADFA095}" type="slidenum">
              <a:rPr lang="en-US" smtClean="0"/>
              <a:pPr/>
              <a:t>12</a:t>
            </a:fld>
            <a:endParaRPr lang="en-US" dirty="0"/>
          </a:p>
        </p:txBody>
      </p:sp>
      <p:sp>
        <p:nvSpPr>
          <p:cNvPr id="6" name="Content Placeholder 5">
            <a:extLst>
              <a:ext uri="{FF2B5EF4-FFF2-40B4-BE49-F238E27FC236}">
                <a16:creationId xmlns:a16="http://schemas.microsoft.com/office/drawing/2014/main" id="{66C2231D-4173-F962-451C-7528D7D408D7}"/>
              </a:ext>
            </a:extLst>
          </p:cNvPr>
          <p:cNvSpPr>
            <a:spLocks noGrp="1"/>
          </p:cNvSpPr>
          <p:nvPr>
            <p:ph sz="quarter" idx="10"/>
          </p:nvPr>
        </p:nvSpPr>
        <p:spPr>
          <a:xfrm>
            <a:off x="566726" y="1343822"/>
            <a:ext cx="11104270" cy="5274691"/>
          </a:xfrm>
        </p:spPr>
        <p:txBody>
          <a:bodyPr>
            <a:normAutofit/>
          </a:bodyPr>
          <a:lstStyle/>
          <a:p>
            <a:pPr marL="342900" indent="-342900">
              <a:lnSpc>
                <a:spcPct val="170000"/>
              </a:lnSpc>
              <a:spcBef>
                <a:spcPts val="0"/>
              </a:spcBef>
              <a:spcAft>
                <a:spcPts val="0"/>
              </a:spcAft>
              <a:buFont typeface="Arial" panose="020B0604020202020204" pitchFamily="34" charset="0"/>
              <a:buChar char="•"/>
            </a:pPr>
            <a:r>
              <a:rPr lang="en-US" sz="1600" b="1" u="sng" dirty="0"/>
              <a:t>Adherence</a:t>
            </a:r>
            <a:endParaRPr lang="en-US" sz="1600" dirty="0"/>
          </a:p>
          <a:p>
            <a:pPr marL="690372" lvl="1">
              <a:lnSpc>
                <a:spcPct val="170000"/>
              </a:lnSpc>
              <a:spcBef>
                <a:spcPts val="0"/>
              </a:spcBef>
              <a:spcAft>
                <a:spcPts val="0"/>
              </a:spcAft>
            </a:pPr>
            <a:r>
              <a:rPr lang="en-US" sz="1600" dirty="0"/>
              <a:t>Directly related to health outcomes (up to and including death)</a:t>
            </a:r>
          </a:p>
          <a:p>
            <a:pPr marL="690372" lvl="1">
              <a:lnSpc>
                <a:spcPct val="170000"/>
              </a:lnSpc>
              <a:spcBef>
                <a:spcPts val="0"/>
              </a:spcBef>
              <a:spcAft>
                <a:spcPts val="0"/>
              </a:spcAft>
            </a:pPr>
            <a:r>
              <a:rPr lang="en-US" sz="1600" dirty="0"/>
              <a:t>Adherence rates range between 15% and 93% (though adherence is typically over-inflated)</a:t>
            </a:r>
          </a:p>
          <a:p>
            <a:pPr marL="690372" lvl="1">
              <a:lnSpc>
                <a:spcPct val="170000"/>
              </a:lnSpc>
              <a:spcBef>
                <a:spcPts val="0"/>
              </a:spcBef>
              <a:spcAft>
                <a:spcPts val="0"/>
              </a:spcAft>
            </a:pPr>
            <a:r>
              <a:rPr lang="en-US" sz="1600" dirty="0"/>
              <a:t>Creative nonadherence (modifying or supplementing) is a common example</a:t>
            </a:r>
          </a:p>
          <a:p>
            <a:pPr marL="342900" indent="-342900">
              <a:lnSpc>
                <a:spcPct val="170000"/>
              </a:lnSpc>
              <a:spcBef>
                <a:spcPts val="0"/>
              </a:spcBef>
              <a:spcAft>
                <a:spcPts val="0"/>
              </a:spcAft>
              <a:buFont typeface="Arial" panose="020B0604020202020204" pitchFamily="34" charset="0"/>
              <a:buChar char="•"/>
            </a:pPr>
            <a:r>
              <a:rPr lang="en-US" sz="1600" b="1" u="sng" dirty="0"/>
              <a:t>Placebo effect</a:t>
            </a:r>
            <a:endParaRPr lang="en-US" sz="1600" dirty="0"/>
          </a:p>
          <a:p>
            <a:pPr marL="690372" lvl="1">
              <a:lnSpc>
                <a:spcPct val="170000"/>
              </a:lnSpc>
              <a:spcBef>
                <a:spcPts val="0"/>
              </a:spcBef>
              <a:spcAft>
                <a:spcPts val="0"/>
              </a:spcAft>
            </a:pPr>
            <a:r>
              <a:rPr lang="en-US" sz="1600" dirty="0"/>
              <a:t>Can happen at chemical and physical level </a:t>
            </a:r>
          </a:p>
          <a:p>
            <a:pPr marL="1056132" lvl="2">
              <a:lnSpc>
                <a:spcPct val="170000"/>
              </a:lnSpc>
              <a:spcBef>
                <a:spcPts val="0"/>
              </a:spcBef>
              <a:spcAft>
                <a:spcPts val="0"/>
              </a:spcAft>
            </a:pPr>
            <a:r>
              <a:rPr lang="en-US" sz="1600" dirty="0"/>
              <a:t>Ex: useless drug improving asthma in 33% of children in the study</a:t>
            </a:r>
          </a:p>
          <a:p>
            <a:pPr marL="1056132" lvl="2">
              <a:lnSpc>
                <a:spcPct val="170000"/>
              </a:lnSpc>
              <a:spcBef>
                <a:spcPts val="0"/>
              </a:spcBef>
              <a:spcAft>
                <a:spcPts val="0"/>
              </a:spcAft>
            </a:pPr>
            <a:r>
              <a:rPr lang="en-US" sz="1600" dirty="0"/>
              <a:t>Ex: sham knee surgery reducing pain ratings as much as real surgery</a:t>
            </a:r>
          </a:p>
          <a:p>
            <a:pPr marL="690372" lvl="1">
              <a:lnSpc>
                <a:spcPct val="170000"/>
              </a:lnSpc>
              <a:spcBef>
                <a:spcPts val="0"/>
              </a:spcBef>
              <a:spcAft>
                <a:spcPts val="0"/>
              </a:spcAft>
            </a:pPr>
            <a:r>
              <a:rPr lang="en-US" sz="1600" dirty="0"/>
              <a:t>People want to feel better, so they do</a:t>
            </a:r>
          </a:p>
          <a:p>
            <a:pPr marL="690372" lvl="1">
              <a:lnSpc>
                <a:spcPct val="170000"/>
              </a:lnSpc>
              <a:spcBef>
                <a:spcPts val="0"/>
              </a:spcBef>
              <a:spcAft>
                <a:spcPts val="0"/>
              </a:spcAft>
            </a:pPr>
            <a:r>
              <a:rPr lang="en-US" sz="1600" dirty="0"/>
              <a:t>Can complicate the interpretation of any treatment</a:t>
            </a:r>
          </a:p>
          <a:p>
            <a:pPr marL="690372" lvl="1">
              <a:lnSpc>
                <a:spcPct val="170000"/>
              </a:lnSpc>
              <a:spcBef>
                <a:spcPts val="0"/>
              </a:spcBef>
              <a:spcAft>
                <a:spcPts val="0"/>
              </a:spcAft>
            </a:pPr>
            <a:endParaRPr lang="en-US" sz="1600" dirty="0"/>
          </a:p>
          <a:p>
            <a:pPr marL="342900" indent="-342900">
              <a:lnSpc>
                <a:spcPct val="170000"/>
              </a:lnSpc>
              <a:spcBef>
                <a:spcPts val="0"/>
              </a:spcBef>
              <a:spcAft>
                <a:spcPts val="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2384598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A7FAD2-E764-A293-303C-7B859B6FF6E2}"/>
              </a:ext>
            </a:extLst>
          </p:cNvPr>
          <p:cNvSpPr>
            <a:spLocks noGrp="1"/>
          </p:cNvSpPr>
          <p:nvPr>
            <p:ph type="title"/>
          </p:nvPr>
        </p:nvSpPr>
        <p:spPr/>
        <p:txBody>
          <a:bodyPr/>
          <a:lstStyle/>
          <a:p>
            <a:r>
              <a:rPr lang="en-US" dirty="0"/>
              <a:t>Next Time on PSY 440…</a:t>
            </a:r>
          </a:p>
        </p:txBody>
      </p:sp>
      <p:sp>
        <p:nvSpPr>
          <p:cNvPr id="3" name="Slide Number Placeholder 2">
            <a:extLst>
              <a:ext uri="{FF2B5EF4-FFF2-40B4-BE49-F238E27FC236}">
                <a16:creationId xmlns:a16="http://schemas.microsoft.com/office/drawing/2014/main" id="{C8541D32-D15B-C6A2-951F-4D7E6C4BF793}"/>
              </a:ext>
            </a:extLst>
          </p:cNvPr>
          <p:cNvSpPr>
            <a:spLocks noGrp="1"/>
          </p:cNvSpPr>
          <p:nvPr>
            <p:ph type="sldNum" sz="quarter" idx="4"/>
          </p:nvPr>
        </p:nvSpPr>
        <p:spPr/>
        <p:txBody>
          <a:bodyPr/>
          <a:lstStyle/>
          <a:p>
            <a:fld id="{6D22F896-40B5-4ADD-8801-0D06FADFA095}" type="slidenum">
              <a:rPr lang="en-US" smtClean="0"/>
              <a:pPr/>
              <a:t>13</a:t>
            </a:fld>
            <a:endParaRPr lang="en-US" dirty="0"/>
          </a:p>
        </p:txBody>
      </p:sp>
      <p:sp>
        <p:nvSpPr>
          <p:cNvPr id="7" name="Content Placeholder 6">
            <a:extLst>
              <a:ext uri="{FF2B5EF4-FFF2-40B4-BE49-F238E27FC236}">
                <a16:creationId xmlns:a16="http://schemas.microsoft.com/office/drawing/2014/main" id="{CD086B64-94DE-AF4E-22A3-E76EF672740B}"/>
              </a:ext>
            </a:extLst>
          </p:cNvPr>
          <p:cNvSpPr>
            <a:spLocks noGrp="1"/>
          </p:cNvSpPr>
          <p:nvPr>
            <p:ph sz="quarter" idx="11"/>
          </p:nvPr>
        </p:nvSpPr>
        <p:spPr/>
        <p:txBody>
          <a:bodyPr/>
          <a:lstStyle/>
          <a:p>
            <a:pPr marL="0" indent="0">
              <a:buNone/>
            </a:pPr>
            <a:r>
              <a:rPr lang="en-US" sz="2400" b="1" dirty="0"/>
              <a:t>Before Next Class:</a:t>
            </a:r>
            <a:endParaRPr lang="en-US" dirty="0"/>
          </a:p>
          <a:p>
            <a:r>
              <a:rPr lang="en-US" dirty="0"/>
              <a:t>Complete today’s journal prompt</a:t>
            </a:r>
          </a:p>
          <a:p>
            <a:pPr lvl="1"/>
            <a:r>
              <a:rPr lang="en-US" dirty="0"/>
              <a:t>Due 3/4 at 11:59 pm</a:t>
            </a:r>
          </a:p>
        </p:txBody>
      </p:sp>
      <p:sp>
        <p:nvSpPr>
          <p:cNvPr id="6" name="Content Placeholder 5">
            <a:extLst>
              <a:ext uri="{FF2B5EF4-FFF2-40B4-BE49-F238E27FC236}">
                <a16:creationId xmlns:a16="http://schemas.microsoft.com/office/drawing/2014/main" id="{55218FD0-6965-902B-EFD4-099460B3B3CB}"/>
              </a:ext>
            </a:extLst>
          </p:cNvPr>
          <p:cNvSpPr>
            <a:spLocks noGrp="1"/>
          </p:cNvSpPr>
          <p:nvPr>
            <p:ph sz="quarter" idx="10"/>
          </p:nvPr>
        </p:nvSpPr>
        <p:spPr/>
        <p:txBody>
          <a:bodyPr/>
          <a:lstStyle/>
          <a:p>
            <a:r>
              <a:rPr lang="en-US" sz="2400" b="1" dirty="0"/>
              <a:t>In Our Next Class:</a:t>
            </a:r>
          </a:p>
          <a:p>
            <a:pPr marL="342900" indent="-342900">
              <a:buFont typeface="Arial" panose="020B0604020202020204" pitchFamily="34" charset="0"/>
              <a:buChar char="•"/>
            </a:pPr>
            <a:r>
              <a:rPr lang="en-US" dirty="0"/>
              <a:t>Class activity!</a:t>
            </a:r>
          </a:p>
        </p:txBody>
      </p:sp>
    </p:spTree>
    <p:extLst>
      <p:ext uri="{BB962C8B-B14F-4D97-AF65-F5344CB8AC3E}">
        <p14:creationId xmlns:p14="http://schemas.microsoft.com/office/powerpoint/2010/main" val="3668912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FBC208-84B5-4BA7-8306-5BDC2F8CE1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3.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375</TotalTime>
  <Words>521</Words>
  <Application>Microsoft Office PowerPoint</Application>
  <PresentationFormat>Widescreen</PresentationFormat>
  <Paragraphs>98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Kalinga</vt:lpstr>
      <vt:lpstr>Wingdings</vt:lpstr>
      <vt:lpstr>Madison</vt:lpstr>
      <vt:lpstr>Responsibilities of  Providers and Their Communication with Patients</vt:lpstr>
      <vt:lpstr>Agenda</vt:lpstr>
      <vt:lpstr>Health Care Providers</vt:lpstr>
      <vt:lpstr>We call them providers… So, what all should all health care providers provide?</vt:lpstr>
      <vt:lpstr>Traditional vs. Alternative Medicine</vt:lpstr>
      <vt:lpstr>Clinical Trial Process</vt:lpstr>
      <vt:lpstr>Alternative Medicine</vt:lpstr>
      <vt:lpstr>Alternative Medicine Treatments</vt:lpstr>
      <vt:lpstr>Patient-Provider Communication</vt:lpstr>
      <vt:lpstr>Health Care Communication</vt:lpstr>
      <vt:lpstr>The Importance of Communication</vt:lpstr>
      <vt:lpstr>Potential Problems</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11</cp:revision>
  <dcterms:created xsi:type="dcterms:W3CDTF">2025-10-03T08:09:12Z</dcterms:created>
  <dcterms:modified xsi:type="dcterms:W3CDTF">2026-03-02T18:19:42Z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