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19"/>
  </p:notesMasterIdLst>
  <p:handoutMasterIdLst>
    <p:handoutMasterId r:id="rId20"/>
  </p:handoutMasterIdLst>
  <p:sldIdLst>
    <p:sldId id="341" r:id="rId5"/>
    <p:sldId id="307" r:id="rId6"/>
    <p:sldId id="349" r:id="rId7"/>
    <p:sldId id="348" r:id="rId8"/>
    <p:sldId id="353" r:id="rId9"/>
    <p:sldId id="344" r:id="rId10"/>
    <p:sldId id="345" r:id="rId11"/>
    <p:sldId id="346" r:id="rId12"/>
    <p:sldId id="354" r:id="rId13"/>
    <p:sldId id="347" r:id="rId14"/>
    <p:sldId id="352" r:id="rId15"/>
    <p:sldId id="350" r:id="rId16"/>
    <p:sldId id="351" r:id="rId17"/>
    <p:sldId id="34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77659" autoAdjust="0"/>
  </p:normalViewPr>
  <p:slideViewPr>
    <p:cSldViewPr snapToGrid="0">
      <p:cViewPr varScale="1">
        <p:scale>
          <a:sx n="84" d="100"/>
          <a:sy n="84" d="100"/>
        </p:scale>
        <p:origin x="3270" y="84"/>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2/6/2026</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144118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247643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210974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522057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509883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30052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148875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2588178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750224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3484888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247378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464367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dirty="0"/>
          </a:p>
        </p:txBody>
      </p:sp>
    </p:spTree>
    <p:extLst>
      <p:ext uri="{BB962C8B-B14F-4D97-AF65-F5344CB8AC3E}">
        <p14:creationId xmlns:p14="http://schemas.microsoft.com/office/powerpoint/2010/main" val="646292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ideo" Target="https://www.youtube.com/embed/7VZNGgDjsMo?feature=oembed" TargetMode="Externa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ideo" Target="https://www.youtube.com/embed/hBC7i-vHWsU?feature=oembed" TargetMode="Externa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twloha.com/find-help/help-by-topic/self-injury/" TargetMode="External"/><Relationship Id="rId7" Type="http://schemas.openxmlformats.org/officeDocument/2006/relationships/hyperlink" Target="https://betteraddictioncare.com/meetings/nebraska/kearney/"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studentreportinglabs.org/mentalhealthresources/" TargetMode="External"/><Relationship Id="rId5" Type="http://schemas.openxmlformats.org/officeDocument/2006/relationships/hyperlink" Target="https://www.nationaleatingdisorders.org/" TargetMode="External"/><Relationship Id="rId4" Type="http://schemas.openxmlformats.org/officeDocument/2006/relationships/hyperlink" Target="https://www.samhsa.gov/"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dirty="0"/>
              <a:t>Chapter 5- </a:t>
            </a:r>
            <a:br>
              <a:rPr lang="en-US" dirty="0"/>
            </a:br>
            <a:r>
              <a:rPr lang="en-US" dirty="0"/>
              <a:t>Health-Compromising Behaviors</a:t>
            </a:r>
          </a:p>
        </p:txBody>
      </p:sp>
    </p:spTree>
    <p:extLst>
      <p:ext uri="{BB962C8B-B14F-4D97-AF65-F5344CB8AC3E}">
        <p14:creationId xmlns:p14="http://schemas.microsoft.com/office/powerpoint/2010/main" val="3074248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3110502F-36D4-4E60-B6E9-08628B2C5D5E}"/>
              </a:ext>
            </a:extLst>
          </p:cNvPr>
          <p:cNvSpPr>
            <a:spLocks noGrp="1"/>
          </p:cNvSpPr>
          <p:nvPr>
            <p:ph idx="1"/>
          </p:nvPr>
        </p:nvSpPr>
        <p:spPr/>
        <p:txBody>
          <a:bodyPr/>
          <a:lstStyle/>
          <a:p>
            <a:r>
              <a:rPr lang="en-US" dirty="0"/>
              <a:t>Aspects of Health-Compromising Behaviors</a:t>
            </a:r>
          </a:p>
          <a:p>
            <a:r>
              <a:rPr lang="en-US" dirty="0"/>
              <a:t>Obesity</a:t>
            </a:r>
          </a:p>
          <a:p>
            <a:r>
              <a:rPr lang="en-US" dirty="0"/>
              <a:t>Eating Disorders</a:t>
            </a:r>
          </a:p>
          <a:p>
            <a:r>
              <a:rPr lang="en-US" dirty="0"/>
              <a:t>Addiction and Substance Use</a:t>
            </a:r>
          </a:p>
          <a:p>
            <a:r>
              <a:rPr lang="en-US" dirty="0"/>
              <a:t>Self-Harm </a:t>
            </a:r>
          </a:p>
          <a:p>
            <a:r>
              <a:rPr lang="en-US"/>
              <a:t>Resources</a:t>
            </a:r>
          </a:p>
        </p:txBody>
      </p:sp>
      <p:sp>
        <p:nvSpPr>
          <p:cNvPr id="39" name="Slide Number Placeholder 38">
            <a:extLst>
              <a:ext uri="{FF2B5EF4-FFF2-40B4-BE49-F238E27FC236}">
                <a16:creationId xmlns:a16="http://schemas.microsoft.com/office/drawing/2014/main" id="{86A23B90-D6E2-D980-7780-B6FC54FD8DE3}"/>
              </a:ext>
            </a:extLst>
          </p:cNvPr>
          <p:cNvSpPr>
            <a:spLocks noGrp="1"/>
          </p:cNvSpPr>
          <p:nvPr>
            <p:ph type="sldNum" sz="quarter" idx="4"/>
          </p:nvPr>
        </p:nvSpPr>
        <p:spPr/>
        <p:txBody>
          <a:bodyPr/>
          <a:lstStyle/>
          <a:p>
            <a:fld id="{3A4F6043-7A67-491B-98BC-F933DED7226D}" type="slidenum">
              <a:rPr lang="en-US" smtClean="0"/>
              <a:pPr/>
              <a:t>2</a:t>
            </a:fld>
            <a:endParaRPr lang="en-US" dirty="0"/>
          </a:p>
        </p:txBody>
      </p:sp>
      <p:sp>
        <p:nvSpPr>
          <p:cNvPr id="4" name="Slide Number Placeholder 5">
            <a:extLst>
              <a:ext uri="{FF2B5EF4-FFF2-40B4-BE49-F238E27FC236}">
                <a16:creationId xmlns:a16="http://schemas.microsoft.com/office/drawing/2014/main" id="{6E0FD4B5-4088-0CC7-E6CC-DEA779045EB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a:t>
            </a:fld>
            <a:endParaRPr lang="en-US" dirty="0"/>
          </a:p>
        </p:txBody>
      </p:sp>
    </p:spTree>
    <p:extLst>
      <p:ext uri="{BB962C8B-B14F-4D97-AF65-F5344CB8AC3E}">
        <p14:creationId xmlns:p14="http://schemas.microsoft.com/office/powerpoint/2010/main" val="147630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90C5A-387B-FEC9-A612-9DBD241EE156}"/>
              </a:ext>
            </a:extLst>
          </p:cNvPr>
          <p:cNvSpPr>
            <a:spLocks noGrp="1"/>
          </p:cNvSpPr>
          <p:nvPr>
            <p:ph type="title"/>
          </p:nvPr>
        </p:nvSpPr>
        <p:spPr/>
        <p:txBody>
          <a:bodyPr/>
          <a:lstStyle/>
          <a:p>
            <a:r>
              <a:rPr lang="en-US" dirty="0"/>
              <a:t>Public Service Announcement </a:t>
            </a:r>
          </a:p>
        </p:txBody>
      </p:sp>
      <p:sp>
        <p:nvSpPr>
          <p:cNvPr id="3" name="Content Placeholder 2">
            <a:extLst>
              <a:ext uri="{FF2B5EF4-FFF2-40B4-BE49-F238E27FC236}">
                <a16:creationId xmlns:a16="http://schemas.microsoft.com/office/drawing/2014/main" id="{9258BF6F-2BF4-A2D8-B506-B71F2F0991D8}"/>
              </a:ext>
            </a:extLst>
          </p:cNvPr>
          <p:cNvSpPr>
            <a:spLocks noGrp="1"/>
          </p:cNvSpPr>
          <p:nvPr>
            <p:ph idx="1"/>
          </p:nvPr>
        </p:nvSpPr>
        <p:spPr>
          <a:xfrm>
            <a:off x="422900" y="2350108"/>
            <a:ext cx="7423524" cy="3609461"/>
          </a:xfrm>
        </p:spPr>
        <p:txBody>
          <a:bodyPr/>
          <a:lstStyle/>
          <a:p>
            <a:r>
              <a:rPr lang="en-US" dirty="0"/>
              <a:t>Please be considerate during the conversations we have today. Many of the health behaviors we will discuss masquerade as invisible. You never know what the people around you have experienced (first, second, or third hand), so please operate with kindness and compassion. This class is meant to facilitate tough conversations about health, but that is only possible as long as we all act with respect, openness, and a willingness to listen.</a:t>
            </a:r>
          </a:p>
        </p:txBody>
      </p:sp>
      <p:sp>
        <p:nvSpPr>
          <p:cNvPr id="4" name="Slide Number Placeholder 3">
            <a:extLst>
              <a:ext uri="{FF2B5EF4-FFF2-40B4-BE49-F238E27FC236}">
                <a16:creationId xmlns:a16="http://schemas.microsoft.com/office/drawing/2014/main" id="{BEE1E6DE-495A-0D64-9971-FFAB6E80251F}"/>
              </a:ext>
            </a:extLst>
          </p:cNvPr>
          <p:cNvSpPr>
            <a:spLocks noGrp="1"/>
          </p:cNvSpPr>
          <p:nvPr>
            <p:ph type="sldNum" sz="quarter" idx="4"/>
          </p:nvPr>
        </p:nvSpPr>
        <p:spPr/>
        <p:txBody>
          <a:bodyPr/>
          <a:lstStyle/>
          <a:p>
            <a:fld id="{3A4F6043-7A67-491B-98BC-F933DED7226D}" type="slidenum">
              <a:rPr lang="en-US" smtClean="0"/>
              <a:pPr/>
              <a:t>3</a:t>
            </a:fld>
            <a:endParaRPr lang="en-US" dirty="0"/>
          </a:p>
        </p:txBody>
      </p:sp>
    </p:spTree>
    <p:extLst>
      <p:ext uri="{BB962C8B-B14F-4D97-AF65-F5344CB8AC3E}">
        <p14:creationId xmlns:p14="http://schemas.microsoft.com/office/powerpoint/2010/main" val="3914171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E5B628-D92E-D6BB-78D1-26F4A8762DFE}"/>
              </a:ext>
            </a:extLst>
          </p:cNvPr>
          <p:cNvSpPr>
            <a:spLocks noGrp="1"/>
          </p:cNvSpPr>
          <p:nvPr>
            <p:ph type="title"/>
          </p:nvPr>
        </p:nvSpPr>
        <p:spPr/>
        <p:txBody>
          <a:bodyPr/>
          <a:lstStyle/>
          <a:p>
            <a:r>
              <a:rPr lang="en-US" dirty="0"/>
              <a:t>Health-Compromising Behaviors</a:t>
            </a:r>
          </a:p>
        </p:txBody>
      </p:sp>
      <p:sp>
        <p:nvSpPr>
          <p:cNvPr id="6" name="Content Placeholder 5">
            <a:extLst>
              <a:ext uri="{FF2B5EF4-FFF2-40B4-BE49-F238E27FC236}">
                <a16:creationId xmlns:a16="http://schemas.microsoft.com/office/drawing/2014/main" id="{85AF3F9A-B5AC-19EA-CBC0-080757BBBC91}"/>
              </a:ext>
            </a:extLst>
          </p:cNvPr>
          <p:cNvSpPr>
            <a:spLocks noGrp="1"/>
          </p:cNvSpPr>
          <p:nvPr>
            <p:ph idx="1"/>
          </p:nvPr>
        </p:nvSpPr>
        <p:spPr/>
        <p:txBody>
          <a:bodyPr>
            <a:normAutofit fontScale="92500" lnSpcReduction="10000"/>
          </a:bodyPr>
          <a:lstStyle/>
          <a:p>
            <a:r>
              <a:rPr lang="en-US" dirty="0"/>
              <a:t>Most risky behaviors feel “good” or are in some way rewarding</a:t>
            </a:r>
          </a:p>
          <a:p>
            <a:r>
              <a:rPr lang="en-US" dirty="0"/>
              <a:t>Multiple behaviors can be considered health-compromising</a:t>
            </a:r>
          </a:p>
          <a:p>
            <a:pPr lvl="1"/>
            <a:r>
              <a:rPr lang="en-US" dirty="0"/>
              <a:t>Substance use</a:t>
            </a:r>
          </a:p>
          <a:p>
            <a:pPr lvl="1"/>
            <a:r>
              <a:rPr lang="en-US" dirty="0"/>
              <a:t>Obesity and eating disorders</a:t>
            </a:r>
          </a:p>
          <a:p>
            <a:pPr lvl="1"/>
            <a:r>
              <a:rPr lang="en-US" dirty="0"/>
              <a:t>Unprotected sex</a:t>
            </a:r>
          </a:p>
          <a:p>
            <a:pPr lvl="1"/>
            <a:r>
              <a:rPr lang="en-US" dirty="0"/>
              <a:t>Self harm</a:t>
            </a:r>
          </a:p>
          <a:p>
            <a:r>
              <a:rPr lang="en-US" dirty="0"/>
              <a:t>Many of these behaviors share underlying characteristics</a:t>
            </a:r>
          </a:p>
          <a:p>
            <a:pPr lvl="1"/>
            <a:r>
              <a:rPr lang="en-US" dirty="0"/>
              <a:t>Behaviors are habitual and addictive, but develop gradually</a:t>
            </a:r>
          </a:p>
          <a:p>
            <a:pPr lvl="1"/>
            <a:r>
              <a:rPr lang="en-US" dirty="0"/>
              <a:t>Adolescence is (usually) the window of vulnerability</a:t>
            </a:r>
          </a:p>
          <a:p>
            <a:pPr lvl="1"/>
            <a:r>
              <a:rPr lang="en-US" dirty="0"/>
              <a:t>Can be caused by stress and/or peer pressure</a:t>
            </a:r>
          </a:p>
          <a:p>
            <a:endParaRPr lang="en-US" dirty="0"/>
          </a:p>
        </p:txBody>
      </p:sp>
      <p:sp>
        <p:nvSpPr>
          <p:cNvPr id="4" name="Slide Number Placeholder 3">
            <a:extLst>
              <a:ext uri="{FF2B5EF4-FFF2-40B4-BE49-F238E27FC236}">
                <a16:creationId xmlns:a16="http://schemas.microsoft.com/office/drawing/2014/main" id="{3011D378-5BD0-6912-EA0A-62687AA80CE1}"/>
              </a:ext>
            </a:extLst>
          </p:cNvPr>
          <p:cNvSpPr>
            <a:spLocks noGrp="1"/>
          </p:cNvSpPr>
          <p:nvPr>
            <p:ph type="sldNum" sz="quarter" idx="12"/>
          </p:nvPr>
        </p:nvSpPr>
        <p:spPr/>
        <p:txBody>
          <a:bodyPr/>
          <a:lstStyle/>
          <a:p>
            <a:fld id="{3A4F6043-7A67-491B-98BC-F933DED7226D}" type="slidenum">
              <a:rPr lang="en-US" smtClean="0"/>
              <a:pPr/>
              <a:t>4</a:t>
            </a:fld>
            <a:endParaRPr lang="en-US" dirty="0"/>
          </a:p>
        </p:txBody>
      </p:sp>
    </p:spTree>
    <p:extLst>
      <p:ext uri="{BB962C8B-B14F-4D97-AF65-F5344CB8AC3E}">
        <p14:creationId xmlns:p14="http://schemas.microsoft.com/office/powerpoint/2010/main" val="3841929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7181-EE5D-F839-897B-35A82A390432}"/>
              </a:ext>
            </a:extLst>
          </p:cNvPr>
          <p:cNvSpPr>
            <a:spLocks noGrp="1"/>
          </p:cNvSpPr>
          <p:nvPr>
            <p:ph type="title"/>
          </p:nvPr>
        </p:nvSpPr>
        <p:spPr/>
        <p:txBody>
          <a:bodyPr/>
          <a:lstStyle/>
          <a:p>
            <a:r>
              <a:rPr lang="en-US" dirty="0"/>
              <a:t>Obesity</a:t>
            </a:r>
          </a:p>
        </p:txBody>
      </p:sp>
      <p:sp>
        <p:nvSpPr>
          <p:cNvPr id="3" name="Content Placeholder 2">
            <a:extLst>
              <a:ext uri="{FF2B5EF4-FFF2-40B4-BE49-F238E27FC236}">
                <a16:creationId xmlns:a16="http://schemas.microsoft.com/office/drawing/2014/main" id="{05742740-CE17-4A56-FB5A-18FDFB4C95E3}"/>
              </a:ext>
            </a:extLst>
          </p:cNvPr>
          <p:cNvSpPr>
            <a:spLocks noGrp="1"/>
          </p:cNvSpPr>
          <p:nvPr>
            <p:ph idx="1"/>
          </p:nvPr>
        </p:nvSpPr>
        <p:spPr/>
        <p:txBody>
          <a:bodyPr>
            <a:normAutofit fontScale="92500"/>
          </a:bodyPr>
          <a:lstStyle/>
          <a:p>
            <a:r>
              <a:rPr lang="en-US" b="1" u="sng" dirty="0"/>
              <a:t>Obesity </a:t>
            </a:r>
            <a:r>
              <a:rPr lang="en-US" dirty="0"/>
              <a:t>– an excessive accumulation of body fat</a:t>
            </a:r>
          </a:p>
          <a:p>
            <a:r>
              <a:rPr lang="en-US" dirty="0"/>
              <a:t>U.S. has the largest proportion of individuals struggling with obesity</a:t>
            </a:r>
          </a:p>
          <a:p>
            <a:pPr lvl="1"/>
            <a:r>
              <a:rPr lang="en-US" dirty="0"/>
              <a:t>68% of the population is overweight, 40% classify as obese</a:t>
            </a:r>
          </a:p>
          <a:p>
            <a:r>
              <a:rPr lang="en-US" dirty="0"/>
              <a:t>Potential Ramifications:</a:t>
            </a:r>
          </a:p>
          <a:p>
            <a:pPr lvl="1"/>
            <a:r>
              <a:rPr lang="en-US" dirty="0"/>
              <a:t>Reduces cancer survivability </a:t>
            </a:r>
          </a:p>
          <a:p>
            <a:pPr lvl="1"/>
            <a:r>
              <a:rPr lang="en-US" dirty="0"/>
              <a:t>Cardiovascular disease</a:t>
            </a:r>
          </a:p>
          <a:p>
            <a:pPr lvl="1"/>
            <a:r>
              <a:rPr lang="en-US" dirty="0"/>
              <a:t>Shortened life-spans</a:t>
            </a:r>
          </a:p>
          <a:p>
            <a:r>
              <a:rPr lang="en-US" dirty="0"/>
              <a:t>Weight stigma can undermine weight loss efforts by increasing stress</a:t>
            </a:r>
          </a:p>
          <a:p>
            <a:r>
              <a:rPr lang="en-US" dirty="0"/>
              <a:t>Cycles of weight gain and yo-yo dieting lower metabolic rate and increase chances of obesity</a:t>
            </a:r>
          </a:p>
        </p:txBody>
      </p:sp>
      <p:sp>
        <p:nvSpPr>
          <p:cNvPr id="4" name="Slide Number Placeholder 3">
            <a:extLst>
              <a:ext uri="{FF2B5EF4-FFF2-40B4-BE49-F238E27FC236}">
                <a16:creationId xmlns:a16="http://schemas.microsoft.com/office/drawing/2014/main" id="{5B0E2A0A-344E-4057-B0FB-0CC352EF8429}"/>
              </a:ext>
            </a:extLst>
          </p:cNvPr>
          <p:cNvSpPr>
            <a:spLocks noGrp="1"/>
          </p:cNvSpPr>
          <p:nvPr>
            <p:ph type="sldNum" sz="quarter" idx="12"/>
          </p:nvPr>
        </p:nvSpPr>
        <p:spPr/>
        <p:txBody>
          <a:bodyPr/>
          <a:lstStyle/>
          <a:p>
            <a:fld id="{3A4F6043-7A67-491B-98BC-F933DED7226D}" type="slidenum">
              <a:rPr lang="en-US" smtClean="0"/>
              <a:pPr/>
              <a:t>5</a:t>
            </a:fld>
            <a:endParaRPr lang="en-US" dirty="0"/>
          </a:p>
        </p:txBody>
      </p:sp>
    </p:spTree>
    <p:extLst>
      <p:ext uri="{BB962C8B-B14F-4D97-AF65-F5344CB8AC3E}">
        <p14:creationId xmlns:p14="http://schemas.microsoft.com/office/powerpoint/2010/main" val="2540628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F1DCD2-844B-1F4B-BB70-7B737F1CA705}"/>
              </a:ext>
            </a:extLst>
          </p:cNvPr>
          <p:cNvSpPr>
            <a:spLocks noGrp="1"/>
          </p:cNvSpPr>
          <p:nvPr>
            <p:ph type="title"/>
          </p:nvPr>
        </p:nvSpPr>
        <p:spPr/>
        <p:txBody>
          <a:bodyPr/>
          <a:lstStyle/>
          <a:p>
            <a:r>
              <a:rPr lang="en-US" dirty="0"/>
              <a:t>Eating &amp; Image Disorders</a:t>
            </a:r>
          </a:p>
        </p:txBody>
      </p:sp>
      <p:sp>
        <p:nvSpPr>
          <p:cNvPr id="6" name="Content Placeholder 5">
            <a:extLst>
              <a:ext uri="{FF2B5EF4-FFF2-40B4-BE49-F238E27FC236}">
                <a16:creationId xmlns:a16="http://schemas.microsoft.com/office/drawing/2014/main" id="{3F5B6FBD-5E7E-EF3D-DF6C-0326B6499031}"/>
              </a:ext>
            </a:extLst>
          </p:cNvPr>
          <p:cNvSpPr>
            <a:spLocks noGrp="1"/>
          </p:cNvSpPr>
          <p:nvPr>
            <p:ph idx="1"/>
          </p:nvPr>
        </p:nvSpPr>
        <p:spPr/>
        <p:txBody>
          <a:bodyPr>
            <a:normAutofit fontScale="92500"/>
          </a:bodyPr>
          <a:lstStyle/>
          <a:p>
            <a:r>
              <a:rPr lang="en-US" b="1" u="sng" dirty="0"/>
              <a:t>Anorexia nervosa </a:t>
            </a:r>
            <a:r>
              <a:rPr lang="en-US" dirty="0"/>
              <a:t>– an obsessive disorder where an individual will severely restrict their food intake </a:t>
            </a:r>
          </a:p>
          <a:p>
            <a:r>
              <a:rPr lang="en-US" b="1" u="sng" dirty="0"/>
              <a:t>Bulimia</a:t>
            </a:r>
            <a:r>
              <a:rPr lang="en-US" dirty="0"/>
              <a:t> – a disorder characterized by cycles of binge eating and purging </a:t>
            </a:r>
          </a:p>
          <a:p>
            <a:pPr lvl="1"/>
            <a:r>
              <a:rPr lang="en-US" dirty="0"/>
              <a:t>Purging can include vomiting, laxative abuse, extreme dieting/ fasting, and substance abuse</a:t>
            </a:r>
          </a:p>
          <a:p>
            <a:r>
              <a:rPr lang="en-US" b="1" u="sng" dirty="0"/>
              <a:t>Binge-eating</a:t>
            </a:r>
            <a:r>
              <a:rPr lang="en-US" dirty="0"/>
              <a:t> – a disorder characterized by excessive eating, often to the point of feeling sick</a:t>
            </a:r>
          </a:p>
          <a:p>
            <a:r>
              <a:rPr lang="en-US" b="1" u="sng" dirty="0"/>
              <a:t>Body dysmorphic disorder </a:t>
            </a:r>
            <a:r>
              <a:rPr lang="en-US" dirty="0"/>
              <a:t>– a preoccupation with a perceived defect in one’s physical appearance</a:t>
            </a:r>
          </a:p>
          <a:p>
            <a:r>
              <a:rPr lang="en-US" b="1" u="sng" dirty="0"/>
              <a:t>Excessive exercise </a:t>
            </a:r>
            <a:r>
              <a:rPr lang="en-US" dirty="0"/>
              <a:t>– a health-compromising behavior where an individual feels the compulsory need to exercise, to the point of damaging one’s self</a:t>
            </a:r>
          </a:p>
        </p:txBody>
      </p:sp>
      <p:sp>
        <p:nvSpPr>
          <p:cNvPr id="4" name="Slide Number Placeholder 3">
            <a:extLst>
              <a:ext uri="{FF2B5EF4-FFF2-40B4-BE49-F238E27FC236}">
                <a16:creationId xmlns:a16="http://schemas.microsoft.com/office/drawing/2014/main" id="{1ED8CF10-8367-3C40-43F5-967F2520CA17}"/>
              </a:ext>
            </a:extLst>
          </p:cNvPr>
          <p:cNvSpPr>
            <a:spLocks noGrp="1"/>
          </p:cNvSpPr>
          <p:nvPr>
            <p:ph type="sldNum" sz="quarter" idx="12"/>
          </p:nvPr>
        </p:nvSpPr>
        <p:spPr/>
        <p:txBody>
          <a:bodyPr/>
          <a:lstStyle/>
          <a:p>
            <a:fld id="{3A4F6043-7A67-491B-98BC-F933DED7226D}" type="slidenum">
              <a:rPr lang="en-US" smtClean="0"/>
              <a:pPr/>
              <a:t>6</a:t>
            </a:fld>
            <a:endParaRPr lang="en-US" dirty="0"/>
          </a:p>
        </p:txBody>
      </p:sp>
    </p:spTree>
    <p:extLst>
      <p:ext uri="{BB962C8B-B14F-4D97-AF65-F5344CB8AC3E}">
        <p14:creationId xmlns:p14="http://schemas.microsoft.com/office/powerpoint/2010/main" val="2302048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An Eating Disorder Specialist Explains How Trauma Creates Food Disorders">
            <a:hlinkClick r:id="" action="ppaction://media"/>
            <a:extLst>
              <a:ext uri="{FF2B5EF4-FFF2-40B4-BE49-F238E27FC236}">
                <a16:creationId xmlns:a16="http://schemas.microsoft.com/office/drawing/2014/main" id="{3DF86053-EFDD-9F04-B7D2-6FF236D8885E}"/>
              </a:ext>
            </a:extLst>
          </p:cNvPr>
          <p:cNvPicPr>
            <a:picLocks noGrp="1" noRot="1" noChangeAspect="1"/>
          </p:cNvPicPr>
          <p:nvPr>
            <p:ph idx="1"/>
            <a:videoFile r:link="rId1"/>
          </p:nvPr>
        </p:nvPicPr>
        <p:blipFill>
          <a:blip r:embed="rId4"/>
          <a:stretch>
            <a:fillRect/>
          </a:stretch>
        </p:blipFill>
        <p:spPr>
          <a:xfrm>
            <a:off x="1084217" y="597182"/>
            <a:ext cx="10023566" cy="5663635"/>
          </a:xfrm>
          <a:prstGeom prst="rect">
            <a:avLst/>
          </a:prstGeom>
        </p:spPr>
      </p:pic>
      <p:sp>
        <p:nvSpPr>
          <p:cNvPr id="4" name="Slide Number Placeholder 3">
            <a:extLst>
              <a:ext uri="{FF2B5EF4-FFF2-40B4-BE49-F238E27FC236}">
                <a16:creationId xmlns:a16="http://schemas.microsoft.com/office/drawing/2014/main" id="{C47A278F-B7C8-7C01-06A4-EF08006D7BEB}"/>
              </a:ext>
            </a:extLst>
          </p:cNvPr>
          <p:cNvSpPr>
            <a:spLocks noGrp="1"/>
          </p:cNvSpPr>
          <p:nvPr>
            <p:ph type="sldNum" sz="quarter" idx="12"/>
          </p:nvPr>
        </p:nvSpPr>
        <p:spPr/>
        <p:txBody>
          <a:bodyPr/>
          <a:lstStyle/>
          <a:p>
            <a:fld id="{3A4F6043-7A67-491B-98BC-F933DED7226D}" type="slidenum">
              <a:rPr lang="en-US" smtClean="0"/>
              <a:pPr/>
              <a:t>7</a:t>
            </a:fld>
            <a:endParaRPr lang="en-US" dirty="0"/>
          </a:p>
        </p:txBody>
      </p:sp>
      <p:sp>
        <p:nvSpPr>
          <p:cNvPr id="6" name="TextBox 5">
            <a:extLst>
              <a:ext uri="{FF2B5EF4-FFF2-40B4-BE49-F238E27FC236}">
                <a16:creationId xmlns:a16="http://schemas.microsoft.com/office/drawing/2014/main" id="{4ECBF85D-235D-98F4-1F5F-EA1079738D30}"/>
              </a:ext>
            </a:extLst>
          </p:cNvPr>
          <p:cNvSpPr txBox="1"/>
          <p:nvPr/>
        </p:nvSpPr>
        <p:spPr>
          <a:xfrm>
            <a:off x="6923314" y="6357258"/>
            <a:ext cx="5087418" cy="369332"/>
          </a:xfrm>
          <a:prstGeom prst="rect">
            <a:avLst/>
          </a:prstGeom>
          <a:noFill/>
        </p:spPr>
        <p:txBody>
          <a:bodyPr wrap="none" rtlCol="0">
            <a:spAutoFit/>
          </a:bodyPr>
          <a:lstStyle/>
          <a:p>
            <a:r>
              <a:rPr lang="en-US" dirty="0"/>
              <a:t>https://www.youtube.com/watch?v=7VZNGgDjsMo</a:t>
            </a:r>
          </a:p>
        </p:txBody>
      </p:sp>
    </p:spTree>
    <p:extLst>
      <p:ext uri="{BB962C8B-B14F-4D97-AF65-F5344CB8AC3E}">
        <p14:creationId xmlns:p14="http://schemas.microsoft.com/office/powerpoint/2010/main" val="131441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0756-1EBE-7247-B606-1CF0A1334BDA}"/>
              </a:ext>
            </a:extLst>
          </p:cNvPr>
          <p:cNvSpPr>
            <a:spLocks noGrp="1"/>
          </p:cNvSpPr>
          <p:nvPr>
            <p:ph type="title"/>
          </p:nvPr>
        </p:nvSpPr>
        <p:spPr/>
        <p:txBody>
          <a:bodyPr/>
          <a:lstStyle/>
          <a:p>
            <a:r>
              <a:rPr lang="en-US" dirty="0"/>
              <a:t>Addiction</a:t>
            </a:r>
          </a:p>
        </p:txBody>
      </p:sp>
      <p:sp>
        <p:nvSpPr>
          <p:cNvPr id="3" name="Content Placeholder 2">
            <a:extLst>
              <a:ext uri="{FF2B5EF4-FFF2-40B4-BE49-F238E27FC236}">
                <a16:creationId xmlns:a16="http://schemas.microsoft.com/office/drawing/2014/main" id="{23266147-BA9F-F45A-608C-B8346862A42F}"/>
              </a:ext>
            </a:extLst>
          </p:cNvPr>
          <p:cNvSpPr>
            <a:spLocks noGrp="1"/>
          </p:cNvSpPr>
          <p:nvPr>
            <p:ph idx="1"/>
          </p:nvPr>
        </p:nvSpPr>
        <p:spPr/>
        <p:txBody>
          <a:bodyPr>
            <a:normAutofit fontScale="85000" lnSpcReduction="10000"/>
          </a:bodyPr>
          <a:lstStyle/>
          <a:p>
            <a:r>
              <a:rPr lang="en-US" dirty="0"/>
              <a:t>Addiction – when a person has become physically or psychologically reliant on a substance</a:t>
            </a:r>
          </a:p>
          <a:p>
            <a:pPr lvl="1"/>
            <a:r>
              <a:rPr lang="en-US" dirty="0"/>
              <a:t>lasts a person’s lifetime</a:t>
            </a:r>
          </a:p>
          <a:p>
            <a:r>
              <a:rPr lang="en-US" b="1" u="sng" dirty="0"/>
              <a:t>Physical dependence </a:t>
            </a:r>
            <a:r>
              <a:rPr lang="en-US" dirty="0"/>
              <a:t>– changes in bodily functions that can cause withdrawal symptoms upon cessation of use</a:t>
            </a:r>
          </a:p>
          <a:p>
            <a:r>
              <a:rPr lang="en-US" b="1" u="sng" dirty="0"/>
              <a:t>Psychological dependence</a:t>
            </a:r>
            <a:r>
              <a:rPr lang="en-US" dirty="0"/>
              <a:t> – user is emotionally reliant on drug, and stopping may cause severe psychological distress</a:t>
            </a:r>
          </a:p>
          <a:p>
            <a:r>
              <a:rPr lang="en-US" b="1" u="sng" dirty="0"/>
              <a:t>Withdrawal</a:t>
            </a:r>
            <a:r>
              <a:rPr lang="en-US" dirty="0"/>
              <a:t> – experiencing a variety of symptoms (ranging from agitation to possible death) when a person stops using a drug</a:t>
            </a:r>
          </a:p>
          <a:p>
            <a:r>
              <a:rPr lang="en-US" b="1" u="sng" dirty="0"/>
              <a:t>Tolerance</a:t>
            </a:r>
            <a:r>
              <a:rPr lang="en-US" dirty="0"/>
              <a:t> – when a person needs more of a drug to receive the desired effect due to extended use</a:t>
            </a:r>
          </a:p>
          <a:p>
            <a:r>
              <a:rPr lang="en-US" b="1" u="sng" dirty="0"/>
              <a:t>Detoxification</a:t>
            </a:r>
            <a:r>
              <a:rPr lang="en-US" dirty="0"/>
              <a:t> – the process of slowly reducing substance use, to prevent severe withdrawal symptoms </a:t>
            </a:r>
          </a:p>
          <a:p>
            <a:endParaRPr lang="en-US" dirty="0"/>
          </a:p>
        </p:txBody>
      </p:sp>
      <p:sp>
        <p:nvSpPr>
          <p:cNvPr id="4" name="Slide Number Placeholder 3">
            <a:extLst>
              <a:ext uri="{FF2B5EF4-FFF2-40B4-BE49-F238E27FC236}">
                <a16:creationId xmlns:a16="http://schemas.microsoft.com/office/drawing/2014/main" id="{542890D4-5D08-4135-B8D7-0C2C7B58D520}"/>
              </a:ext>
            </a:extLst>
          </p:cNvPr>
          <p:cNvSpPr>
            <a:spLocks noGrp="1"/>
          </p:cNvSpPr>
          <p:nvPr>
            <p:ph type="sldNum" sz="quarter" idx="12"/>
          </p:nvPr>
        </p:nvSpPr>
        <p:spPr/>
        <p:txBody>
          <a:bodyPr/>
          <a:lstStyle/>
          <a:p>
            <a:fld id="{3A4F6043-7A67-491B-98BC-F933DED7226D}" type="slidenum">
              <a:rPr lang="en-US" smtClean="0"/>
              <a:pPr/>
              <a:t>8</a:t>
            </a:fld>
            <a:endParaRPr lang="en-US" dirty="0"/>
          </a:p>
        </p:txBody>
      </p:sp>
    </p:spTree>
    <p:extLst>
      <p:ext uri="{BB962C8B-B14F-4D97-AF65-F5344CB8AC3E}">
        <p14:creationId xmlns:p14="http://schemas.microsoft.com/office/powerpoint/2010/main" val="786606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E4DCA-C13B-16B1-265C-E9E3E879EB32}"/>
              </a:ext>
            </a:extLst>
          </p:cNvPr>
          <p:cNvSpPr>
            <a:spLocks noGrp="1"/>
          </p:cNvSpPr>
          <p:nvPr>
            <p:ph type="title"/>
          </p:nvPr>
        </p:nvSpPr>
        <p:spPr/>
        <p:txBody>
          <a:bodyPr/>
          <a:lstStyle/>
          <a:p>
            <a:r>
              <a:rPr lang="en-US" dirty="0"/>
              <a:t>Classifications of Drugs</a:t>
            </a:r>
          </a:p>
        </p:txBody>
      </p:sp>
      <p:pic>
        <p:nvPicPr>
          <p:cNvPr id="6" name="Content Placeholder 5" descr="Table categorizing four drug classes by effects on body, effects when used, and examples. Stimulants increase heart rate and cause alertness; depressants lower heart rate and induce relaxation; opiates relieve pain and cause sleepiness; hallucinogens alter perception and mental experiences.">
            <a:extLst>
              <a:ext uri="{FF2B5EF4-FFF2-40B4-BE49-F238E27FC236}">
                <a16:creationId xmlns:a16="http://schemas.microsoft.com/office/drawing/2014/main" id="{832192E6-9144-BB34-11FB-61F98C9DE62E}"/>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59136" y="1541844"/>
            <a:ext cx="11144016" cy="4639843"/>
          </a:xfrm>
          <a:prstGeom prst="rect">
            <a:avLst/>
          </a:prstGeom>
        </p:spPr>
      </p:pic>
      <p:sp>
        <p:nvSpPr>
          <p:cNvPr id="4" name="Slide Number Placeholder 3">
            <a:extLst>
              <a:ext uri="{FF2B5EF4-FFF2-40B4-BE49-F238E27FC236}">
                <a16:creationId xmlns:a16="http://schemas.microsoft.com/office/drawing/2014/main" id="{D400F022-1CCA-6D36-769E-FC84F6DB7792}"/>
              </a:ext>
            </a:extLst>
          </p:cNvPr>
          <p:cNvSpPr>
            <a:spLocks noGrp="1"/>
          </p:cNvSpPr>
          <p:nvPr>
            <p:ph type="sldNum" sz="quarter" idx="12"/>
          </p:nvPr>
        </p:nvSpPr>
        <p:spPr/>
        <p:txBody>
          <a:bodyPr/>
          <a:lstStyle/>
          <a:p>
            <a:fld id="{3A4F6043-7A67-491B-98BC-F933DED7226D}" type="slidenum">
              <a:rPr lang="en-US" smtClean="0"/>
              <a:pPr/>
              <a:t>9</a:t>
            </a:fld>
            <a:endParaRPr lang="en-US" dirty="0"/>
          </a:p>
        </p:txBody>
      </p:sp>
    </p:spTree>
    <p:extLst>
      <p:ext uri="{BB962C8B-B14F-4D97-AF65-F5344CB8AC3E}">
        <p14:creationId xmlns:p14="http://schemas.microsoft.com/office/powerpoint/2010/main" val="4266981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What causes addiction, and why is it so hard to treat? - Judy Grisel">
            <a:hlinkClick r:id="" action="ppaction://media"/>
            <a:extLst>
              <a:ext uri="{FF2B5EF4-FFF2-40B4-BE49-F238E27FC236}">
                <a16:creationId xmlns:a16="http://schemas.microsoft.com/office/drawing/2014/main" id="{1BAB65B0-DAE5-B361-9E89-132C3EA3DA78}"/>
              </a:ext>
            </a:extLst>
          </p:cNvPr>
          <p:cNvPicPr>
            <a:picLocks noGrp="1" noRot="1" noChangeAspect="1"/>
          </p:cNvPicPr>
          <p:nvPr>
            <p:ph idx="1"/>
            <a:videoFile r:link="rId1"/>
          </p:nvPr>
        </p:nvPicPr>
        <p:blipFill>
          <a:blip r:embed="rId4"/>
          <a:stretch>
            <a:fillRect/>
          </a:stretch>
        </p:blipFill>
        <p:spPr>
          <a:xfrm>
            <a:off x="1378494" y="763458"/>
            <a:ext cx="9435011" cy="5331083"/>
          </a:xfrm>
          <a:prstGeom prst="rect">
            <a:avLst/>
          </a:prstGeom>
        </p:spPr>
      </p:pic>
      <p:sp>
        <p:nvSpPr>
          <p:cNvPr id="4" name="Slide Number Placeholder 3">
            <a:extLst>
              <a:ext uri="{FF2B5EF4-FFF2-40B4-BE49-F238E27FC236}">
                <a16:creationId xmlns:a16="http://schemas.microsoft.com/office/drawing/2014/main" id="{91CE3D7E-1AA7-8CCB-9DC1-94688A6D2F3E}"/>
              </a:ext>
            </a:extLst>
          </p:cNvPr>
          <p:cNvSpPr>
            <a:spLocks noGrp="1"/>
          </p:cNvSpPr>
          <p:nvPr>
            <p:ph type="sldNum" sz="quarter" idx="12"/>
          </p:nvPr>
        </p:nvSpPr>
        <p:spPr/>
        <p:txBody>
          <a:bodyPr/>
          <a:lstStyle/>
          <a:p>
            <a:fld id="{3A4F6043-7A67-491B-98BC-F933DED7226D}" type="slidenum">
              <a:rPr lang="en-US" smtClean="0"/>
              <a:pPr/>
              <a:t>10</a:t>
            </a:fld>
            <a:endParaRPr lang="en-US" dirty="0"/>
          </a:p>
        </p:txBody>
      </p:sp>
      <p:sp>
        <p:nvSpPr>
          <p:cNvPr id="6" name="TextBox 5">
            <a:extLst>
              <a:ext uri="{FF2B5EF4-FFF2-40B4-BE49-F238E27FC236}">
                <a16:creationId xmlns:a16="http://schemas.microsoft.com/office/drawing/2014/main" id="{47EC0910-01F4-305A-D896-1F671226C9DB}"/>
              </a:ext>
            </a:extLst>
          </p:cNvPr>
          <p:cNvSpPr txBox="1"/>
          <p:nvPr/>
        </p:nvSpPr>
        <p:spPr>
          <a:xfrm>
            <a:off x="6507104" y="6308209"/>
            <a:ext cx="4996048" cy="369332"/>
          </a:xfrm>
          <a:prstGeom prst="rect">
            <a:avLst/>
          </a:prstGeom>
          <a:noFill/>
        </p:spPr>
        <p:txBody>
          <a:bodyPr wrap="none" rtlCol="0">
            <a:spAutoFit/>
          </a:bodyPr>
          <a:lstStyle/>
          <a:p>
            <a:r>
              <a:rPr lang="en-US" dirty="0"/>
              <a:t>https://www.youtube.com/watch?v=hBC7i-vHWsU</a:t>
            </a:r>
          </a:p>
        </p:txBody>
      </p:sp>
    </p:spTree>
    <p:extLst>
      <p:ext uri="{BB962C8B-B14F-4D97-AF65-F5344CB8AC3E}">
        <p14:creationId xmlns:p14="http://schemas.microsoft.com/office/powerpoint/2010/main" val="68410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59BA42-42EE-B746-B1AD-70D65FC048A9}"/>
              </a:ext>
            </a:extLst>
          </p:cNvPr>
          <p:cNvSpPr>
            <a:spLocks noGrp="1"/>
          </p:cNvSpPr>
          <p:nvPr>
            <p:ph type="title"/>
          </p:nvPr>
        </p:nvSpPr>
        <p:spPr/>
        <p:txBody>
          <a:bodyPr/>
          <a:lstStyle/>
          <a:p>
            <a:r>
              <a:rPr lang="en-US" dirty="0"/>
              <a:t>Common Addictions</a:t>
            </a:r>
          </a:p>
        </p:txBody>
      </p:sp>
      <p:sp>
        <p:nvSpPr>
          <p:cNvPr id="6" name="Text Placeholder 5">
            <a:extLst>
              <a:ext uri="{FF2B5EF4-FFF2-40B4-BE49-F238E27FC236}">
                <a16:creationId xmlns:a16="http://schemas.microsoft.com/office/drawing/2014/main" id="{CD86C4E4-2DC6-4BCF-B3F1-4F7290AB8BB6}"/>
              </a:ext>
            </a:extLst>
          </p:cNvPr>
          <p:cNvSpPr>
            <a:spLocks noGrp="1"/>
          </p:cNvSpPr>
          <p:nvPr>
            <p:ph type="body" idx="1"/>
          </p:nvPr>
        </p:nvSpPr>
        <p:spPr/>
        <p:txBody>
          <a:bodyPr>
            <a:normAutofit fontScale="85000" lnSpcReduction="10000"/>
          </a:bodyPr>
          <a:lstStyle/>
          <a:p>
            <a:r>
              <a:rPr lang="en-US" dirty="0"/>
              <a:t>Alcoholism</a:t>
            </a:r>
          </a:p>
        </p:txBody>
      </p:sp>
      <p:sp>
        <p:nvSpPr>
          <p:cNvPr id="7" name="Content Placeholder 6">
            <a:extLst>
              <a:ext uri="{FF2B5EF4-FFF2-40B4-BE49-F238E27FC236}">
                <a16:creationId xmlns:a16="http://schemas.microsoft.com/office/drawing/2014/main" id="{7EA07EFF-6D5D-2A67-5073-D8508719820D}"/>
              </a:ext>
            </a:extLst>
          </p:cNvPr>
          <p:cNvSpPr>
            <a:spLocks noGrp="1"/>
          </p:cNvSpPr>
          <p:nvPr>
            <p:ph sz="half" idx="2"/>
          </p:nvPr>
        </p:nvSpPr>
        <p:spPr/>
        <p:txBody>
          <a:bodyPr>
            <a:normAutofit lnSpcReduction="10000"/>
          </a:bodyPr>
          <a:lstStyle/>
          <a:p>
            <a:r>
              <a:rPr lang="en-US" dirty="0"/>
              <a:t>A reliance on alcohol, which often includes a high tolerance, difficulty stopping, and withdrawal symptoms</a:t>
            </a:r>
          </a:p>
          <a:p>
            <a:r>
              <a:rPr lang="en-US" dirty="0"/>
              <a:t>Treatments include CBT and  support programs like Alcoholics Anonymous</a:t>
            </a:r>
          </a:p>
          <a:p>
            <a:r>
              <a:rPr lang="en-US" dirty="0"/>
              <a:t>Often linked to stress &amp; coping</a:t>
            </a:r>
          </a:p>
        </p:txBody>
      </p:sp>
      <p:sp>
        <p:nvSpPr>
          <p:cNvPr id="8" name="Text Placeholder 7">
            <a:extLst>
              <a:ext uri="{FF2B5EF4-FFF2-40B4-BE49-F238E27FC236}">
                <a16:creationId xmlns:a16="http://schemas.microsoft.com/office/drawing/2014/main" id="{86D71D31-9DD2-7A3D-9030-B2EA1C93D409}"/>
              </a:ext>
            </a:extLst>
          </p:cNvPr>
          <p:cNvSpPr>
            <a:spLocks noGrp="1"/>
          </p:cNvSpPr>
          <p:nvPr>
            <p:ph type="body" sz="quarter" idx="3"/>
          </p:nvPr>
        </p:nvSpPr>
        <p:spPr/>
        <p:txBody>
          <a:bodyPr>
            <a:normAutofit fontScale="85000" lnSpcReduction="10000"/>
          </a:bodyPr>
          <a:lstStyle/>
          <a:p>
            <a:r>
              <a:rPr lang="en-US" dirty="0"/>
              <a:t>Smoking – Nicotine and Marijuana</a:t>
            </a:r>
          </a:p>
        </p:txBody>
      </p:sp>
      <p:sp>
        <p:nvSpPr>
          <p:cNvPr id="9" name="Content Placeholder 8">
            <a:extLst>
              <a:ext uri="{FF2B5EF4-FFF2-40B4-BE49-F238E27FC236}">
                <a16:creationId xmlns:a16="http://schemas.microsoft.com/office/drawing/2014/main" id="{A6AD85EF-9A08-B7E2-2937-43EBD042A95B}"/>
              </a:ext>
            </a:extLst>
          </p:cNvPr>
          <p:cNvSpPr>
            <a:spLocks noGrp="1"/>
          </p:cNvSpPr>
          <p:nvPr>
            <p:ph sz="quarter" idx="4"/>
          </p:nvPr>
        </p:nvSpPr>
        <p:spPr/>
        <p:txBody>
          <a:bodyPr>
            <a:normAutofit lnSpcReduction="10000"/>
          </a:bodyPr>
          <a:lstStyle/>
          <a:p>
            <a:r>
              <a:rPr lang="en-US" dirty="0"/>
              <a:t>Smoking causes 9 out of 10 lung cancer deaths</a:t>
            </a:r>
          </a:p>
          <a:p>
            <a:r>
              <a:rPr lang="en-US" dirty="0"/>
              <a:t>Transition from cigarettes to vapes</a:t>
            </a:r>
          </a:p>
          <a:p>
            <a:r>
              <a:rPr lang="en-US" dirty="0"/>
              <a:t>Myth = marijuana is not addictive</a:t>
            </a:r>
          </a:p>
          <a:p>
            <a:r>
              <a:rPr lang="en-US" dirty="0"/>
              <a:t>Marijuana has been linked with depression, anxiety, lung damage, cognitive decline, and compromised heart health</a:t>
            </a:r>
          </a:p>
        </p:txBody>
      </p:sp>
      <p:sp>
        <p:nvSpPr>
          <p:cNvPr id="4" name="Slide Number Placeholder 3">
            <a:extLst>
              <a:ext uri="{FF2B5EF4-FFF2-40B4-BE49-F238E27FC236}">
                <a16:creationId xmlns:a16="http://schemas.microsoft.com/office/drawing/2014/main" id="{C33443CB-BE12-18AF-F4EC-6FC15C599A82}"/>
              </a:ext>
            </a:extLst>
          </p:cNvPr>
          <p:cNvSpPr>
            <a:spLocks noGrp="1"/>
          </p:cNvSpPr>
          <p:nvPr>
            <p:ph type="sldNum" sz="quarter" idx="12"/>
          </p:nvPr>
        </p:nvSpPr>
        <p:spPr/>
        <p:txBody>
          <a:bodyPr/>
          <a:lstStyle/>
          <a:p>
            <a:fld id="{3A4F6043-7A67-491B-98BC-F933DED7226D}" type="slidenum">
              <a:rPr lang="en-US" smtClean="0"/>
              <a:pPr/>
              <a:t>11</a:t>
            </a:fld>
            <a:endParaRPr lang="en-US" dirty="0"/>
          </a:p>
        </p:txBody>
      </p:sp>
    </p:spTree>
    <p:extLst>
      <p:ext uri="{BB962C8B-B14F-4D97-AF65-F5344CB8AC3E}">
        <p14:creationId xmlns:p14="http://schemas.microsoft.com/office/powerpoint/2010/main" val="252516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A16FA-56F4-D67D-74D1-13AC745ACFF3}"/>
              </a:ext>
            </a:extLst>
          </p:cNvPr>
          <p:cNvSpPr>
            <a:spLocks noGrp="1"/>
          </p:cNvSpPr>
          <p:nvPr>
            <p:ph type="title"/>
          </p:nvPr>
        </p:nvSpPr>
        <p:spPr/>
        <p:txBody>
          <a:bodyPr/>
          <a:lstStyle/>
          <a:p>
            <a:r>
              <a:rPr lang="en-US" dirty="0"/>
              <a:t>Self Harm</a:t>
            </a:r>
          </a:p>
        </p:txBody>
      </p:sp>
      <p:pic>
        <p:nvPicPr>
          <p:cNvPr id="1026" name="Picture 2" descr="Fig 1">
            <a:extLst>
              <a:ext uri="{FF2B5EF4-FFF2-40B4-BE49-F238E27FC236}">
                <a16:creationId xmlns:a16="http://schemas.microsoft.com/office/drawing/2014/main" id="{A16C1145-5C8C-1523-1416-C0A073DEEC0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783138" y="1943460"/>
            <a:ext cx="6795178" cy="3822383"/>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a:extLst>
              <a:ext uri="{FF2B5EF4-FFF2-40B4-BE49-F238E27FC236}">
                <a16:creationId xmlns:a16="http://schemas.microsoft.com/office/drawing/2014/main" id="{3FE78428-D71D-02C9-9399-FA4B4B5D228F}"/>
              </a:ext>
            </a:extLst>
          </p:cNvPr>
          <p:cNvSpPr>
            <a:spLocks noGrp="1"/>
          </p:cNvSpPr>
          <p:nvPr>
            <p:ph type="body" sz="half" idx="2"/>
          </p:nvPr>
        </p:nvSpPr>
        <p:spPr>
          <a:xfrm>
            <a:off x="420624" y="2199340"/>
            <a:ext cx="4192473" cy="4114374"/>
          </a:xfrm>
        </p:spPr>
        <p:txBody>
          <a:bodyPr>
            <a:normAutofit/>
          </a:bodyPr>
          <a:lstStyle/>
          <a:p>
            <a:pPr marL="342900" indent="-342900">
              <a:buFont typeface="Arial" panose="020B0604020202020204" pitchFamily="34" charset="0"/>
              <a:buChar char="•"/>
            </a:pPr>
            <a:r>
              <a:rPr lang="en-US" sz="2400" dirty="0"/>
              <a:t>Multiple driving factors, including relieving mental pain and gaining control</a:t>
            </a:r>
          </a:p>
          <a:p>
            <a:pPr marL="342900" indent="-342900">
              <a:buFont typeface="Arial" panose="020B0604020202020204" pitchFamily="34" charset="0"/>
              <a:buChar char="•"/>
            </a:pPr>
            <a:r>
              <a:rPr lang="en-US" sz="2400" dirty="0"/>
              <a:t>Self-harm myths:</a:t>
            </a:r>
          </a:p>
          <a:p>
            <a:pPr marL="800100" lvl="1" indent="-342900">
              <a:buFont typeface="Arial" panose="020B0604020202020204" pitchFamily="34" charset="0"/>
              <a:buChar char="•"/>
            </a:pPr>
            <a:r>
              <a:rPr lang="en-US" sz="2000" dirty="0"/>
              <a:t>Attention seeking</a:t>
            </a:r>
          </a:p>
          <a:p>
            <a:pPr marL="800100" lvl="1" indent="-342900">
              <a:buFont typeface="Arial" panose="020B0604020202020204" pitchFamily="34" charset="0"/>
              <a:buChar char="•"/>
            </a:pPr>
            <a:r>
              <a:rPr lang="en-US" sz="2000" dirty="0"/>
              <a:t>Self-harm = suicidal ideation </a:t>
            </a:r>
          </a:p>
          <a:p>
            <a:pPr marL="800100" lvl="1" indent="-342900">
              <a:buFont typeface="Arial" panose="020B0604020202020204" pitchFamily="34" charset="0"/>
              <a:buChar char="•"/>
            </a:pPr>
            <a:r>
              <a:rPr lang="en-US" sz="2000" dirty="0"/>
              <a:t>Self-harm is limited to cutting</a:t>
            </a:r>
          </a:p>
          <a:p>
            <a:pPr marL="800100" lvl="1" indent="-342900">
              <a:buFont typeface="Arial" panose="020B0604020202020204" pitchFamily="34" charset="0"/>
              <a:buChar char="•"/>
            </a:pPr>
            <a:r>
              <a:rPr lang="en-US" sz="2000" dirty="0"/>
              <a:t>Self-harm = manipulation attempt</a:t>
            </a:r>
          </a:p>
        </p:txBody>
      </p:sp>
      <p:sp>
        <p:nvSpPr>
          <p:cNvPr id="4" name="Slide Number Placeholder 3">
            <a:extLst>
              <a:ext uri="{FF2B5EF4-FFF2-40B4-BE49-F238E27FC236}">
                <a16:creationId xmlns:a16="http://schemas.microsoft.com/office/drawing/2014/main" id="{A2E74399-05E1-430C-FA5E-C19A44D5D162}"/>
              </a:ext>
            </a:extLst>
          </p:cNvPr>
          <p:cNvSpPr>
            <a:spLocks noGrp="1"/>
          </p:cNvSpPr>
          <p:nvPr>
            <p:ph type="sldNum" sz="quarter" idx="12"/>
          </p:nvPr>
        </p:nvSpPr>
        <p:spPr/>
        <p:txBody>
          <a:bodyPr/>
          <a:lstStyle/>
          <a:p>
            <a:fld id="{3A4F6043-7A67-491B-98BC-F933DED7226D}" type="slidenum">
              <a:rPr lang="en-US" smtClean="0"/>
              <a:pPr/>
              <a:t>12</a:t>
            </a:fld>
            <a:endParaRPr lang="en-US" dirty="0"/>
          </a:p>
        </p:txBody>
      </p:sp>
      <p:sp>
        <p:nvSpPr>
          <p:cNvPr id="6" name="TextBox 5">
            <a:extLst>
              <a:ext uri="{FF2B5EF4-FFF2-40B4-BE49-F238E27FC236}">
                <a16:creationId xmlns:a16="http://schemas.microsoft.com/office/drawing/2014/main" id="{A923F5C9-0FA0-9996-6F54-9ADA78B36867}"/>
              </a:ext>
            </a:extLst>
          </p:cNvPr>
          <p:cNvSpPr txBox="1"/>
          <p:nvPr/>
        </p:nvSpPr>
        <p:spPr>
          <a:xfrm>
            <a:off x="6679474" y="6313714"/>
            <a:ext cx="4898842" cy="369332"/>
          </a:xfrm>
          <a:prstGeom prst="rect">
            <a:avLst/>
          </a:prstGeom>
          <a:noFill/>
        </p:spPr>
        <p:txBody>
          <a:bodyPr wrap="none" rtlCol="0">
            <a:spAutoFit/>
          </a:bodyPr>
          <a:lstStyle/>
          <a:p>
            <a:r>
              <a:rPr lang="en-US" dirty="0"/>
              <a:t>https://doi.org/10.1371/journal.pone.0328914.g001</a:t>
            </a:r>
          </a:p>
        </p:txBody>
      </p:sp>
    </p:spTree>
    <p:extLst>
      <p:ext uri="{BB962C8B-B14F-4D97-AF65-F5344CB8AC3E}">
        <p14:creationId xmlns:p14="http://schemas.microsoft.com/office/powerpoint/2010/main" val="1110935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58458A-BBEC-3186-BD8F-26C9305C9B59}"/>
              </a:ext>
            </a:extLst>
          </p:cNvPr>
          <p:cNvSpPr>
            <a:spLocks noGrp="1"/>
          </p:cNvSpPr>
          <p:nvPr>
            <p:ph type="title"/>
          </p:nvPr>
        </p:nvSpPr>
        <p:spPr/>
        <p:txBody>
          <a:bodyPr/>
          <a:lstStyle/>
          <a:p>
            <a:r>
              <a:rPr lang="en-US" dirty="0"/>
              <a:t>Resources</a:t>
            </a:r>
          </a:p>
        </p:txBody>
      </p:sp>
      <p:sp>
        <p:nvSpPr>
          <p:cNvPr id="6" name="Content Placeholder 5">
            <a:extLst>
              <a:ext uri="{FF2B5EF4-FFF2-40B4-BE49-F238E27FC236}">
                <a16:creationId xmlns:a16="http://schemas.microsoft.com/office/drawing/2014/main" id="{9E7F486F-2B36-AD17-2E5E-C34AB30700F8}"/>
              </a:ext>
            </a:extLst>
          </p:cNvPr>
          <p:cNvSpPr>
            <a:spLocks noGrp="1"/>
          </p:cNvSpPr>
          <p:nvPr>
            <p:ph idx="1"/>
          </p:nvPr>
        </p:nvSpPr>
        <p:spPr/>
        <p:txBody>
          <a:bodyPr>
            <a:normAutofit fontScale="92500" lnSpcReduction="10000"/>
          </a:bodyPr>
          <a:lstStyle/>
          <a:p>
            <a:r>
              <a:rPr lang="en-US" dirty="0"/>
              <a:t>To Write Love on Her Arms</a:t>
            </a:r>
          </a:p>
          <a:p>
            <a:pPr lvl="1"/>
            <a:r>
              <a:rPr lang="en-US" dirty="0">
                <a:hlinkClick r:id="rId3"/>
              </a:rPr>
              <a:t>https://twloha.com/find-help/help-by-topic/self-injury/</a:t>
            </a:r>
            <a:r>
              <a:rPr lang="en-US" dirty="0"/>
              <a:t> </a:t>
            </a:r>
          </a:p>
          <a:p>
            <a:r>
              <a:rPr lang="en-US" dirty="0"/>
              <a:t>Substance Abuse and Mental Health Services Administration</a:t>
            </a:r>
          </a:p>
          <a:p>
            <a:pPr lvl="1"/>
            <a:r>
              <a:rPr lang="en-US" dirty="0">
                <a:hlinkClick r:id="rId4"/>
              </a:rPr>
              <a:t>https://www.samhsa.gov/</a:t>
            </a:r>
            <a:r>
              <a:rPr lang="en-US" dirty="0"/>
              <a:t> </a:t>
            </a:r>
          </a:p>
          <a:p>
            <a:r>
              <a:rPr lang="en-US" dirty="0"/>
              <a:t>National Alliance for Eating Disorders</a:t>
            </a:r>
          </a:p>
          <a:p>
            <a:pPr lvl="1"/>
            <a:r>
              <a:rPr lang="en-US" dirty="0">
                <a:hlinkClick r:id="rId5"/>
              </a:rPr>
              <a:t>https://www.nationaleatingdisorders.org/</a:t>
            </a:r>
            <a:r>
              <a:rPr lang="en-US" dirty="0"/>
              <a:t> </a:t>
            </a:r>
          </a:p>
          <a:p>
            <a:r>
              <a:rPr lang="en-US" dirty="0"/>
              <a:t>Student Reporting Labs (provides lists on resources and info)</a:t>
            </a:r>
          </a:p>
          <a:p>
            <a:pPr lvl="1"/>
            <a:r>
              <a:rPr lang="en-US" dirty="0">
                <a:hlinkClick r:id="rId6"/>
              </a:rPr>
              <a:t>https://studentreportinglabs.org/mentalhealthresources/</a:t>
            </a:r>
            <a:r>
              <a:rPr lang="en-US" dirty="0"/>
              <a:t> </a:t>
            </a:r>
          </a:p>
          <a:p>
            <a:r>
              <a:rPr lang="en-US" dirty="0"/>
              <a:t>Alcoholics Anonymous (AA) and Narcotics Anonymous (NA) meetings in Kearney</a:t>
            </a:r>
          </a:p>
          <a:p>
            <a:pPr lvl="1"/>
            <a:r>
              <a:rPr lang="en-US" dirty="0">
                <a:hlinkClick r:id="rId7"/>
              </a:rPr>
              <a:t>https://betteraddictioncare.com/meetings/nebraska/kearney/</a:t>
            </a:r>
            <a:r>
              <a:rPr lang="en-US" dirty="0"/>
              <a:t> </a:t>
            </a:r>
          </a:p>
        </p:txBody>
      </p:sp>
      <p:sp>
        <p:nvSpPr>
          <p:cNvPr id="4" name="Slide Number Placeholder 3">
            <a:extLst>
              <a:ext uri="{FF2B5EF4-FFF2-40B4-BE49-F238E27FC236}">
                <a16:creationId xmlns:a16="http://schemas.microsoft.com/office/drawing/2014/main" id="{B3CFF63F-0616-862D-2BC2-64CE93C7A9C1}"/>
              </a:ext>
            </a:extLst>
          </p:cNvPr>
          <p:cNvSpPr>
            <a:spLocks noGrp="1"/>
          </p:cNvSpPr>
          <p:nvPr>
            <p:ph type="sldNum" sz="quarter" idx="12"/>
          </p:nvPr>
        </p:nvSpPr>
        <p:spPr/>
        <p:txBody>
          <a:bodyPr/>
          <a:lstStyle/>
          <a:p>
            <a:fld id="{3A4F6043-7A67-491B-98BC-F933DED7226D}" type="slidenum">
              <a:rPr lang="en-US" smtClean="0"/>
              <a:pPr/>
              <a:t>13</a:t>
            </a:fld>
            <a:endParaRPr lang="en-US" dirty="0"/>
          </a:p>
        </p:txBody>
      </p:sp>
    </p:spTree>
    <p:extLst>
      <p:ext uri="{BB962C8B-B14F-4D97-AF65-F5344CB8AC3E}">
        <p14:creationId xmlns:p14="http://schemas.microsoft.com/office/powerpoint/2010/main" val="2816993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B60B3-5C72-0BF0-2214-1EDF696F09B9}"/>
              </a:ext>
            </a:extLst>
          </p:cNvPr>
          <p:cNvSpPr>
            <a:spLocks noGrp="1"/>
          </p:cNvSpPr>
          <p:nvPr>
            <p:ph type="title"/>
          </p:nvPr>
        </p:nvSpPr>
        <p:spPr/>
        <p:txBody>
          <a:bodyPr/>
          <a:lstStyle/>
          <a:p>
            <a:r>
              <a:rPr lang="en-US" dirty="0"/>
              <a:t>Next time on PSY 440…</a:t>
            </a:r>
          </a:p>
        </p:txBody>
      </p:sp>
      <p:sp>
        <p:nvSpPr>
          <p:cNvPr id="6" name="Text Placeholder 5">
            <a:extLst>
              <a:ext uri="{FF2B5EF4-FFF2-40B4-BE49-F238E27FC236}">
                <a16:creationId xmlns:a16="http://schemas.microsoft.com/office/drawing/2014/main" id="{2CC80FD3-1002-27F1-9A53-B812E1F9CFB6}"/>
              </a:ext>
            </a:extLst>
          </p:cNvPr>
          <p:cNvSpPr>
            <a:spLocks noGrp="1"/>
          </p:cNvSpPr>
          <p:nvPr>
            <p:ph type="body" idx="1"/>
          </p:nvPr>
        </p:nvSpPr>
        <p:spPr/>
        <p:txBody>
          <a:bodyPr/>
          <a:lstStyle/>
          <a:p>
            <a:r>
              <a:rPr lang="en-US" dirty="0"/>
              <a:t>Before Next Class:</a:t>
            </a:r>
          </a:p>
        </p:txBody>
      </p:sp>
      <p:sp>
        <p:nvSpPr>
          <p:cNvPr id="7" name="Content Placeholder 6">
            <a:extLst>
              <a:ext uri="{FF2B5EF4-FFF2-40B4-BE49-F238E27FC236}">
                <a16:creationId xmlns:a16="http://schemas.microsoft.com/office/drawing/2014/main" id="{BDE661C5-7DB9-7445-1D52-D1334BF5614A}"/>
              </a:ext>
            </a:extLst>
          </p:cNvPr>
          <p:cNvSpPr>
            <a:spLocks noGrp="1"/>
          </p:cNvSpPr>
          <p:nvPr>
            <p:ph sz="half" idx="2"/>
          </p:nvPr>
        </p:nvSpPr>
        <p:spPr/>
        <p:txBody>
          <a:bodyPr>
            <a:normAutofit/>
          </a:bodyPr>
          <a:lstStyle/>
          <a:p>
            <a:r>
              <a:rPr lang="en-US" dirty="0"/>
              <a:t>Review BCP Feedback</a:t>
            </a:r>
          </a:p>
          <a:p>
            <a:r>
              <a:rPr lang="en-US" dirty="0"/>
              <a:t>Begin Behavior Change Data Collection</a:t>
            </a:r>
          </a:p>
          <a:p>
            <a:pPr lvl="1"/>
            <a:r>
              <a:rPr lang="en-US" dirty="0"/>
              <a:t>Runs 2/9 to 2/13, so you will begin before we see each other next</a:t>
            </a:r>
          </a:p>
          <a:p>
            <a:r>
              <a:rPr lang="en-US" dirty="0"/>
              <a:t>Study for Exam 1</a:t>
            </a:r>
          </a:p>
          <a:p>
            <a:pPr lvl="1"/>
            <a:r>
              <a:rPr lang="en-US" dirty="0"/>
              <a:t>Exam on Wednesday, 2/11</a:t>
            </a:r>
          </a:p>
          <a:p>
            <a:pPr lvl="1"/>
            <a:r>
              <a:rPr lang="en-US" dirty="0"/>
              <a:t>Discussion Board Extra Credit</a:t>
            </a:r>
          </a:p>
        </p:txBody>
      </p:sp>
      <p:sp>
        <p:nvSpPr>
          <p:cNvPr id="8" name="Text Placeholder 7">
            <a:extLst>
              <a:ext uri="{FF2B5EF4-FFF2-40B4-BE49-F238E27FC236}">
                <a16:creationId xmlns:a16="http://schemas.microsoft.com/office/drawing/2014/main" id="{FC1C67F9-0306-21A3-D08E-D74ED338AF0F}"/>
              </a:ext>
            </a:extLst>
          </p:cNvPr>
          <p:cNvSpPr>
            <a:spLocks noGrp="1"/>
          </p:cNvSpPr>
          <p:nvPr>
            <p:ph type="body" sz="quarter" idx="3"/>
          </p:nvPr>
        </p:nvSpPr>
        <p:spPr/>
        <p:txBody>
          <a:bodyPr/>
          <a:lstStyle/>
          <a:p>
            <a:r>
              <a:rPr lang="en-US" dirty="0"/>
              <a:t>In Our Next Class:</a:t>
            </a:r>
          </a:p>
        </p:txBody>
      </p:sp>
      <p:sp>
        <p:nvSpPr>
          <p:cNvPr id="9" name="Content Placeholder 8">
            <a:extLst>
              <a:ext uri="{FF2B5EF4-FFF2-40B4-BE49-F238E27FC236}">
                <a16:creationId xmlns:a16="http://schemas.microsoft.com/office/drawing/2014/main" id="{9565046A-8F72-1A8E-4A38-C84067A8AF69}"/>
              </a:ext>
            </a:extLst>
          </p:cNvPr>
          <p:cNvSpPr>
            <a:spLocks noGrp="1"/>
          </p:cNvSpPr>
          <p:nvPr>
            <p:ph sz="quarter" idx="4"/>
          </p:nvPr>
        </p:nvSpPr>
        <p:spPr/>
        <p:txBody>
          <a:bodyPr>
            <a:normAutofit/>
          </a:bodyPr>
          <a:lstStyle/>
          <a:p>
            <a:r>
              <a:rPr lang="en-US" dirty="0"/>
              <a:t>Class activity</a:t>
            </a:r>
          </a:p>
          <a:p>
            <a:pPr lvl="1"/>
            <a:r>
              <a:rPr lang="en-US" dirty="0"/>
              <a:t>Note: We will continue discussions on difficult topics like addiction. Please be aware of your mental health and boundaries you may need to set for yourself. </a:t>
            </a:r>
          </a:p>
        </p:txBody>
      </p:sp>
      <p:sp>
        <p:nvSpPr>
          <p:cNvPr id="4" name="Slide Number Placeholder 3">
            <a:extLst>
              <a:ext uri="{FF2B5EF4-FFF2-40B4-BE49-F238E27FC236}">
                <a16:creationId xmlns:a16="http://schemas.microsoft.com/office/drawing/2014/main" id="{485C7C62-A2E1-D0E6-6AA0-E0225DAC1A9D}"/>
              </a:ext>
            </a:extLst>
          </p:cNvPr>
          <p:cNvSpPr>
            <a:spLocks noGrp="1"/>
          </p:cNvSpPr>
          <p:nvPr>
            <p:ph type="sldNum" sz="quarter" idx="12"/>
          </p:nvPr>
        </p:nvSpPr>
        <p:spPr/>
        <p:txBody>
          <a:bodyPr/>
          <a:lstStyle/>
          <a:p>
            <a:fld id="{3A4F6043-7A67-491B-98BC-F933DED7226D}" type="slidenum">
              <a:rPr lang="en-US" smtClean="0"/>
              <a:pPr/>
              <a:t>14</a:t>
            </a:fld>
            <a:endParaRPr lang="en-US" dirty="0"/>
          </a:p>
        </p:txBody>
      </p:sp>
    </p:spTree>
    <p:extLst>
      <p:ext uri="{BB962C8B-B14F-4D97-AF65-F5344CB8AC3E}">
        <p14:creationId xmlns:p14="http://schemas.microsoft.com/office/powerpoint/2010/main" val="647258095"/>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B665E41-66EB-401D-940D-8E7024721BE5}">
  <ds:schemaRefs>
    <ds:schemaRef ds:uri="http://schemas.microsoft.com/sharepoint/v3/contenttype/forms"/>
  </ds:schemaRefs>
</ds:datastoreItem>
</file>

<file path=customXml/itemProps2.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Offset design</Template>
  <TotalTime>146</TotalTime>
  <Words>791</Words>
  <Application>Microsoft Office PowerPoint</Application>
  <PresentationFormat>Widescreen</PresentationFormat>
  <Paragraphs>103</Paragraphs>
  <Slides>14</Slides>
  <Notes>14</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Dante</vt:lpstr>
      <vt:lpstr>Dante (Headings)2</vt:lpstr>
      <vt:lpstr>Wingdings 2</vt:lpstr>
      <vt:lpstr>OffsetVTI</vt:lpstr>
      <vt:lpstr>Chapter 5-  Health-Compromising Behaviors</vt:lpstr>
      <vt:lpstr>Agenda</vt:lpstr>
      <vt:lpstr>Public Service Announcement </vt:lpstr>
      <vt:lpstr>Health-Compromising Behaviors</vt:lpstr>
      <vt:lpstr>Obesity</vt:lpstr>
      <vt:lpstr>Eating &amp; Image Disorders</vt:lpstr>
      <vt:lpstr>PowerPoint Presentation</vt:lpstr>
      <vt:lpstr>Addiction</vt:lpstr>
      <vt:lpstr>Classifications of Drugs</vt:lpstr>
      <vt:lpstr>PowerPoint Presentation</vt:lpstr>
      <vt:lpstr>Common Addictions</vt:lpstr>
      <vt:lpstr>Self Harm</vt:lpstr>
      <vt:lpstr>Resources</vt:lpstr>
      <vt:lpstr>Next time on PSY 440…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8</cp:revision>
  <dcterms:created xsi:type="dcterms:W3CDTF">2025-09-19T03:58:23Z</dcterms:created>
  <dcterms:modified xsi:type="dcterms:W3CDTF">2026-02-06T17:38:35Z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