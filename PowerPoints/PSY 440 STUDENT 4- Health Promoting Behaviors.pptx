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22"/>
  </p:notesMasterIdLst>
  <p:handoutMasterIdLst>
    <p:handoutMasterId r:id="rId23"/>
  </p:handoutMasterIdLst>
  <p:sldIdLst>
    <p:sldId id="341" r:id="rId5"/>
    <p:sldId id="307" r:id="rId6"/>
    <p:sldId id="344" r:id="rId7"/>
    <p:sldId id="350" r:id="rId8"/>
    <p:sldId id="351" r:id="rId9"/>
    <p:sldId id="352" r:id="rId10"/>
    <p:sldId id="345" r:id="rId11"/>
    <p:sldId id="357" r:id="rId12"/>
    <p:sldId id="346" r:id="rId13"/>
    <p:sldId id="353" r:id="rId14"/>
    <p:sldId id="347" r:id="rId15"/>
    <p:sldId id="348" r:id="rId16"/>
    <p:sldId id="354" r:id="rId17"/>
    <p:sldId id="349" r:id="rId18"/>
    <p:sldId id="355" r:id="rId19"/>
    <p:sldId id="356" r:id="rId20"/>
    <p:sldId id="34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0132" autoAdjust="0"/>
  </p:normalViewPr>
  <p:slideViewPr>
    <p:cSldViewPr snapToGrid="0">
      <p:cViewPr varScale="1">
        <p:scale>
          <a:sx n="86" d="100"/>
          <a:sy n="86" d="100"/>
        </p:scale>
        <p:origin x="3192" y="96"/>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2/2/2026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24204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62701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78465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84322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495655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8009-ABCD-4C13-24B5-E1502EB14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AAA16-6A41-553E-4E2E-CDB4B9E38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A2F36-A9C9-0231-262B-846C6132EC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67BFD1-5DCF-7076-709C-B62C97CB195B}"/>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3368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946423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21251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99357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46541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019620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73225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39914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03935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6292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rb7TVW77ZCs?feature=oembed" TargetMode="Externa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www.dietaryguidelines.gov/sites/default/files/2021-03/Dietary_Guidelines_for_Americans-2020-2025.pdf"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dirty="0"/>
              <a:t>Health-Promoting Behaviors</a:t>
            </a:r>
          </a:p>
        </p:txBody>
      </p:sp>
    </p:spTree>
    <p:extLst>
      <p:ext uri="{BB962C8B-B14F-4D97-AF65-F5344CB8AC3E}">
        <p14:creationId xmlns:p14="http://schemas.microsoft.com/office/powerpoint/2010/main" val="3074248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110502F-36D4-4E60-B6E9-08628B2C5D5E}"/>
              </a:ext>
            </a:extLst>
          </p:cNvPr>
          <p:cNvSpPr>
            <a:spLocks noGrp="1"/>
          </p:cNvSpPr>
          <p:nvPr>
            <p:ph idx="1"/>
          </p:nvPr>
        </p:nvSpPr>
        <p:spPr/>
        <p:txBody>
          <a:bodyPr>
            <a:normAutofit/>
          </a:bodyPr>
          <a:lstStyle/>
          <a:p>
            <a:r>
              <a:rPr lang="en-US" dirty="0"/>
              <a:t>Exercise</a:t>
            </a:r>
          </a:p>
          <a:p>
            <a:r>
              <a:rPr lang="en-US" dirty="0"/>
              <a:t>Accident Prevention</a:t>
            </a:r>
          </a:p>
          <a:p>
            <a:r>
              <a:rPr lang="en-US" dirty="0"/>
              <a:t>Vaccinations and Screening</a:t>
            </a:r>
          </a:p>
          <a:p>
            <a:r>
              <a:rPr lang="en-US" dirty="0"/>
              <a:t>Sun Safety Practices</a:t>
            </a:r>
          </a:p>
          <a:p>
            <a:r>
              <a:rPr lang="en-US" dirty="0"/>
              <a:t>Healthy Diets</a:t>
            </a:r>
          </a:p>
          <a:p>
            <a:r>
              <a:rPr lang="en-US" dirty="0"/>
              <a:t>Sleep</a:t>
            </a:r>
          </a:p>
        </p:txBody>
      </p:sp>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2</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a:t>
            </a:fld>
            <a:endParaRPr lang="en-US" dirty="0"/>
          </a:p>
        </p:txBody>
      </p:sp>
    </p:spTree>
    <p:extLst>
      <p:ext uri="{BB962C8B-B14F-4D97-AF65-F5344CB8AC3E}">
        <p14:creationId xmlns:p14="http://schemas.microsoft.com/office/powerpoint/2010/main" val="147630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3CE-9453-19A8-B3CE-247ED676183F}"/>
              </a:ext>
            </a:extLst>
          </p:cNvPr>
          <p:cNvSpPr>
            <a:spLocks noGrp="1"/>
          </p:cNvSpPr>
          <p:nvPr>
            <p:ph type="title"/>
          </p:nvPr>
        </p:nvSpPr>
        <p:spPr/>
        <p:txBody>
          <a:bodyPr/>
          <a:lstStyle/>
          <a:p>
            <a:r>
              <a:rPr lang="en-US" dirty="0"/>
              <a:t>Exercise</a:t>
            </a:r>
          </a:p>
        </p:txBody>
      </p:sp>
      <p:sp>
        <p:nvSpPr>
          <p:cNvPr id="5" name="Content Placeholder 4">
            <a:extLst>
              <a:ext uri="{FF2B5EF4-FFF2-40B4-BE49-F238E27FC236}">
                <a16:creationId xmlns:a16="http://schemas.microsoft.com/office/drawing/2014/main" id="{FA13F353-AFDE-AAE5-C5E0-97AEC0C109D9}"/>
              </a:ext>
            </a:extLst>
          </p:cNvPr>
          <p:cNvSpPr>
            <a:spLocks noGrp="1"/>
          </p:cNvSpPr>
          <p:nvPr>
            <p:ph idx="1"/>
          </p:nvPr>
        </p:nvSpPr>
        <p:spPr/>
        <p:txBody>
          <a:bodyPr/>
          <a:lstStyle/>
          <a:p>
            <a:r>
              <a:rPr lang="en-US" dirty="0"/>
              <a:t>Helps maintain mental and physical health.</a:t>
            </a:r>
          </a:p>
          <a:p>
            <a:r>
              <a:rPr lang="en-US" dirty="0"/>
              <a:t>Two aspects: increasing exercise and decreasing sedentary behavior</a:t>
            </a:r>
          </a:p>
          <a:p>
            <a:r>
              <a:rPr lang="en-US" b="1" dirty="0"/>
              <a:t>Sedentary behavior</a:t>
            </a:r>
            <a:r>
              <a:rPr lang="en-US" dirty="0"/>
              <a:t>: (while awake) sitting, reclining, or lying down</a:t>
            </a:r>
            <a:endParaRPr lang="en-US" b="1" dirty="0"/>
          </a:p>
          <a:p>
            <a:r>
              <a:rPr lang="en-US" b="1" dirty="0"/>
              <a:t>Aerobic exercises</a:t>
            </a:r>
            <a:r>
              <a:rPr lang="en-US" dirty="0"/>
              <a:t>: Marked by high intensity, long duration, and the need for endurance (aka, cardio)</a:t>
            </a:r>
          </a:p>
          <a:p>
            <a:r>
              <a:rPr lang="en-US" dirty="0"/>
              <a:t>Recommendation: 2.5 hours a week of moderate-intensity or 1.25 to 2.5 hours a week of vigorous-intensity aerobic physical activity or a mixture of both.</a:t>
            </a:r>
          </a:p>
          <a:p>
            <a:endParaRPr lang="en-US" dirty="0"/>
          </a:p>
        </p:txBody>
      </p:sp>
      <p:sp>
        <p:nvSpPr>
          <p:cNvPr id="4" name="Slide Number Placeholder 3">
            <a:extLst>
              <a:ext uri="{FF2B5EF4-FFF2-40B4-BE49-F238E27FC236}">
                <a16:creationId xmlns:a16="http://schemas.microsoft.com/office/drawing/2014/main" id="{273524C8-EAA9-9FBC-E587-8F4717B15761}"/>
              </a:ext>
            </a:extLst>
          </p:cNvPr>
          <p:cNvSpPr>
            <a:spLocks noGrp="1"/>
          </p:cNvSpPr>
          <p:nvPr>
            <p:ph type="sldNum" sz="quarter" idx="12"/>
          </p:nvPr>
        </p:nvSpPr>
        <p:spPr/>
        <p:txBody>
          <a:bodyPr/>
          <a:lstStyle/>
          <a:p>
            <a:fld id="{3A4F6043-7A67-491B-98BC-F933DED7226D}" type="slidenum">
              <a:rPr lang="en-US" smtClean="0"/>
              <a:pPr/>
              <a:t>3</a:t>
            </a:fld>
            <a:endParaRPr lang="en-US" dirty="0"/>
          </a:p>
        </p:txBody>
      </p:sp>
    </p:spTree>
    <p:extLst>
      <p:ext uri="{BB962C8B-B14F-4D97-AF65-F5344CB8AC3E}">
        <p14:creationId xmlns:p14="http://schemas.microsoft.com/office/powerpoint/2010/main" val="2402040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08FC0C-5AA9-886B-3425-0239FFE7EA1B}"/>
              </a:ext>
            </a:extLst>
          </p:cNvPr>
          <p:cNvSpPr>
            <a:spLocks noGrp="1"/>
          </p:cNvSpPr>
          <p:nvPr>
            <p:ph type="title"/>
          </p:nvPr>
        </p:nvSpPr>
        <p:spPr/>
        <p:txBody>
          <a:bodyPr/>
          <a:lstStyle/>
          <a:p>
            <a:r>
              <a:rPr lang="en-US" dirty="0"/>
              <a:t>Exercise</a:t>
            </a:r>
          </a:p>
        </p:txBody>
      </p:sp>
      <p:sp>
        <p:nvSpPr>
          <p:cNvPr id="6" name="Text Placeholder 5">
            <a:extLst>
              <a:ext uri="{FF2B5EF4-FFF2-40B4-BE49-F238E27FC236}">
                <a16:creationId xmlns:a16="http://schemas.microsoft.com/office/drawing/2014/main" id="{58E4EE63-C52B-ABE1-6CD2-8216F4AB9D4D}"/>
              </a:ext>
            </a:extLst>
          </p:cNvPr>
          <p:cNvSpPr>
            <a:spLocks noGrp="1"/>
          </p:cNvSpPr>
          <p:nvPr>
            <p:ph type="body" idx="1"/>
          </p:nvPr>
        </p:nvSpPr>
        <p:spPr/>
        <p:txBody>
          <a:bodyPr/>
          <a:lstStyle/>
          <a:p>
            <a:r>
              <a:rPr lang="en-US" dirty="0"/>
              <a:t>Physical Health Benefits</a:t>
            </a:r>
          </a:p>
        </p:txBody>
      </p:sp>
      <p:sp>
        <p:nvSpPr>
          <p:cNvPr id="7" name="Content Placeholder 6">
            <a:extLst>
              <a:ext uri="{FF2B5EF4-FFF2-40B4-BE49-F238E27FC236}">
                <a16:creationId xmlns:a16="http://schemas.microsoft.com/office/drawing/2014/main" id="{516460BE-052D-4CE8-A593-CABB342390AC}"/>
              </a:ext>
            </a:extLst>
          </p:cNvPr>
          <p:cNvSpPr>
            <a:spLocks noGrp="1"/>
          </p:cNvSpPr>
          <p:nvPr>
            <p:ph sz="half" idx="2"/>
          </p:nvPr>
        </p:nvSpPr>
        <p:spPr/>
        <p:txBody>
          <a:bodyPr>
            <a:normAutofit lnSpcReduction="10000"/>
          </a:bodyPr>
          <a:lstStyle/>
          <a:p>
            <a:r>
              <a:rPr lang="en-US" dirty="0"/>
              <a:t>Reduces risk of cardiovascular disease, Type 2 diabetes, metabolic syndrome, and some cancers.</a:t>
            </a:r>
          </a:p>
          <a:p>
            <a:r>
              <a:rPr lang="en-US" dirty="0"/>
              <a:t>Strengthens bones and muscles.</a:t>
            </a:r>
          </a:p>
          <a:p>
            <a:r>
              <a:rPr lang="en-US" dirty="0"/>
              <a:t>Improves heart health, sleep, and immune system functioning.</a:t>
            </a:r>
          </a:p>
          <a:p>
            <a:r>
              <a:rPr lang="en-US" dirty="0"/>
              <a:t>Promotes the growth of new neurons in the brain.</a:t>
            </a:r>
          </a:p>
          <a:p>
            <a:endParaRPr lang="en-US" dirty="0"/>
          </a:p>
          <a:p>
            <a:endParaRPr lang="en-US" dirty="0"/>
          </a:p>
        </p:txBody>
      </p:sp>
      <p:sp>
        <p:nvSpPr>
          <p:cNvPr id="8" name="Text Placeholder 7">
            <a:extLst>
              <a:ext uri="{FF2B5EF4-FFF2-40B4-BE49-F238E27FC236}">
                <a16:creationId xmlns:a16="http://schemas.microsoft.com/office/drawing/2014/main" id="{1714EEBF-1B2B-E5E2-8AEF-0B69724D67EA}"/>
              </a:ext>
            </a:extLst>
          </p:cNvPr>
          <p:cNvSpPr>
            <a:spLocks noGrp="1"/>
          </p:cNvSpPr>
          <p:nvPr>
            <p:ph type="body" sz="quarter" idx="3"/>
          </p:nvPr>
        </p:nvSpPr>
        <p:spPr/>
        <p:txBody>
          <a:bodyPr/>
          <a:lstStyle/>
          <a:p>
            <a:r>
              <a:rPr lang="en-US" dirty="0"/>
              <a:t>Mental Health Benefits</a:t>
            </a:r>
          </a:p>
        </p:txBody>
      </p:sp>
      <p:sp>
        <p:nvSpPr>
          <p:cNvPr id="9" name="Content Placeholder 8">
            <a:extLst>
              <a:ext uri="{FF2B5EF4-FFF2-40B4-BE49-F238E27FC236}">
                <a16:creationId xmlns:a16="http://schemas.microsoft.com/office/drawing/2014/main" id="{8A9E38CD-B17A-E5FD-C1F7-F543993AFABC}"/>
              </a:ext>
            </a:extLst>
          </p:cNvPr>
          <p:cNvSpPr>
            <a:spLocks noGrp="1"/>
          </p:cNvSpPr>
          <p:nvPr>
            <p:ph sz="quarter" idx="4"/>
          </p:nvPr>
        </p:nvSpPr>
        <p:spPr/>
        <p:txBody>
          <a:bodyPr>
            <a:normAutofit lnSpcReduction="10000"/>
          </a:bodyPr>
          <a:lstStyle/>
          <a:p>
            <a:r>
              <a:rPr lang="en-US" dirty="0"/>
              <a:t>Improves mood and general well-being.</a:t>
            </a:r>
          </a:p>
          <a:p>
            <a:r>
              <a:rPr lang="en-US" dirty="0"/>
              <a:t>Improves sense of self-efficacy.</a:t>
            </a:r>
          </a:p>
          <a:p>
            <a:r>
              <a:rPr lang="en-US" dirty="0"/>
              <a:t>Improves cognitive functioning.</a:t>
            </a:r>
          </a:p>
          <a:p>
            <a:r>
              <a:rPr lang="en-US" dirty="0"/>
              <a:t>Has economic benefits.</a:t>
            </a:r>
          </a:p>
          <a:p>
            <a:endParaRPr lang="en-US" dirty="0"/>
          </a:p>
        </p:txBody>
      </p:sp>
      <p:sp>
        <p:nvSpPr>
          <p:cNvPr id="4" name="Slide Number Placeholder 3">
            <a:extLst>
              <a:ext uri="{FF2B5EF4-FFF2-40B4-BE49-F238E27FC236}">
                <a16:creationId xmlns:a16="http://schemas.microsoft.com/office/drawing/2014/main" id="{06613660-29BE-DC35-9071-427D08CAE2F8}"/>
              </a:ext>
            </a:extLst>
          </p:cNvPr>
          <p:cNvSpPr>
            <a:spLocks noGrp="1"/>
          </p:cNvSpPr>
          <p:nvPr>
            <p:ph type="sldNum" sz="quarter" idx="12"/>
          </p:nvPr>
        </p:nvSpPr>
        <p:spPr/>
        <p:txBody>
          <a:bodyPr/>
          <a:lstStyle/>
          <a:p>
            <a:fld id="{3A4F6043-7A67-491B-98BC-F933DED7226D}" type="slidenum">
              <a:rPr lang="en-US" smtClean="0"/>
              <a:pPr/>
              <a:t>4</a:t>
            </a:fld>
            <a:endParaRPr lang="en-US" dirty="0"/>
          </a:p>
        </p:txBody>
      </p:sp>
    </p:spTree>
    <p:extLst>
      <p:ext uri="{BB962C8B-B14F-4D97-AF65-F5344CB8AC3E}">
        <p14:creationId xmlns:p14="http://schemas.microsoft.com/office/powerpoint/2010/main" val="3179050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0EE62C1-60EB-9747-BD39-B9E7CF252E71}"/>
              </a:ext>
            </a:extLst>
          </p:cNvPr>
          <p:cNvSpPr>
            <a:spLocks noGrp="1"/>
          </p:cNvSpPr>
          <p:nvPr>
            <p:ph type="title"/>
          </p:nvPr>
        </p:nvSpPr>
        <p:spPr>
          <a:xfrm>
            <a:off x="396052" y="2951571"/>
            <a:ext cx="6753686" cy="1968772"/>
          </a:xfrm>
        </p:spPr>
        <p:txBody>
          <a:bodyPr>
            <a:normAutofit fontScale="90000"/>
          </a:bodyPr>
          <a:lstStyle/>
          <a:p>
            <a:r>
              <a:rPr lang="en-US" sz="3600" dirty="0"/>
              <a:t>What characteristics about a person make them more likely to exercise?</a:t>
            </a:r>
            <a:br>
              <a:rPr lang="en-US" sz="3600" dirty="0"/>
            </a:br>
            <a:r>
              <a:rPr lang="en-US" sz="3600" dirty="0"/>
              <a:t>What characteristics about an environment can promote exercise?</a:t>
            </a:r>
          </a:p>
        </p:txBody>
      </p:sp>
      <p:sp>
        <p:nvSpPr>
          <p:cNvPr id="7" name="Slide Number Placeholder 6">
            <a:extLst>
              <a:ext uri="{FF2B5EF4-FFF2-40B4-BE49-F238E27FC236}">
                <a16:creationId xmlns:a16="http://schemas.microsoft.com/office/drawing/2014/main" id="{22A4D1B1-1F79-0900-E376-15D31AB58C26}"/>
              </a:ext>
            </a:extLst>
          </p:cNvPr>
          <p:cNvSpPr>
            <a:spLocks noGrp="1"/>
          </p:cNvSpPr>
          <p:nvPr>
            <p:ph type="sldNum" sz="quarter" idx="4"/>
          </p:nvPr>
        </p:nvSpPr>
        <p:spPr/>
        <p:txBody>
          <a:bodyPr/>
          <a:lstStyle/>
          <a:p>
            <a:fld id="{3A4F6043-7A67-491B-98BC-F933DED7226D}" type="slidenum">
              <a:rPr lang="en-US" smtClean="0"/>
              <a:pPr/>
              <a:t>5</a:t>
            </a:fld>
            <a:endParaRPr lang="en-US" dirty="0"/>
          </a:p>
        </p:txBody>
      </p:sp>
    </p:spTree>
    <p:extLst>
      <p:ext uri="{BB962C8B-B14F-4D97-AF65-F5344CB8AC3E}">
        <p14:creationId xmlns:p14="http://schemas.microsoft.com/office/powerpoint/2010/main" val="1585987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83D362-3D8F-1240-F602-47FDE558FCD8}"/>
              </a:ext>
            </a:extLst>
          </p:cNvPr>
          <p:cNvSpPr>
            <a:spLocks noGrp="1"/>
          </p:cNvSpPr>
          <p:nvPr>
            <p:ph type="title"/>
          </p:nvPr>
        </p:nvSpPr>
        <p:spPr/>
        <p:txBody>
          <a:bodyPr/>
          <a:lstStyle/>
          <a:p>
            <a:r>
              <a:rPr lang="en-US" dirty="0"/>
              <a:t>Exercise Interventions</a:t>
            </a:r>
          </a:p>
        </p:txBody>
      </p:sp>
      <p:sp>
        <p:nvSpPr>
          <p:cNvPr id="6" name="Content Placeholder 5">
            <a:extLst>
              <a:ext uri="{FF2B5EF4-FFF2-40B4-BE49-F238E27FC236}">
                <a16:creationId xmlns:a16="http://schemas.microsoft.com/office/drawing/2014/main" id="{10D4DED0-249A-097F-D793-7A1CD9D91BA1}"/>
              </a:ext>
            </a:extLst>
          </p:cNvPr>
          <p:cNvSpPr>
            <a:spLocks noGrp="1"/>
          </p:cNvSpPr>
          <p:nvPr>
            <p:ph idx="1"/>
          </p:nvPr>
        </p:nvSpPr>
        <p:spPr/>
        <p:txBody>
          <a:bodyPr/>
          <a:lstStyle/>
          <a:p>
            <a:pPr marL="342900" indent="-342900">
              <a:buFont typeface="Arial" panose="020B0604020202020204" pitchFamily="34" charset="0"/>
              <a:buChar char="•"/>
            </a:pPr>
            <a:r>
              <a:rPr lang="en-US" dirty="0"/>
              <a:t>Incorporate principles of self-control.</a:t>
            </a:r>
          </a:p>
          <a:p>
            <a:pPr marL="342900" indent="-342900">
              <a:buFont typeface="Arial" panose="020B0604020202020204" pitchFamily="34" charset="0"/>
              <a:buChar char="•"/>
            </a:pPr>
            <a:r>
              <a:rPr lang="en-US" dirty="0"/>
              <a:t>Increase motivation.</a:t>
            </a:r>
          </a:p>
          <a:p>
            <a:pPr marL="342900" indent="-342900">
              <a:buFont typeface="Arial" panose="020B0604020202020204" pitchFamily="34" charset="0"/>
              <a:buChar char="•"/>
            </a:pPr>
            <a:r>
              <a:rPr lang="en-US" dirty="0"/>
              <a:t>Increase and maintain physical activity.</a:t>
            </a:r>
          </a:p>
          <a:p>
            <a:pPr marL="342900" indent="-342900">
              <a:buFont typeface="Arial" panose="020B0604020202020204" pitchFamily="34" charset="0"/>
              <a:buChar char="•"/>
            </a:pPr>
            <a:r>
              <a:rPr lang="en-US" dirty="0"/>
              <a:t>Promote personal values.</a:t>
            </a:r>
          </a:p>
          <a:p>
            <a:pPr marL="342900" indent="-342900">
              <a:buFont typeface="Arial" panose="020B0604020202020204" pitchFamily="34" charset="0"/>
              <a:buChar char="•"/>
            </a:pPr>
            <a:r>
              <a:rPr lang="en-US" dirty="0"/>
              <a:t>Promote general lifestyle changes.</a:t>
            </a:r>
          </a:p>
          <a:p>
            <a:r>
              <a:rPr lang="en-US" dirty="0"/>
              <a:t>Relapse prevention techniques: Increase long-term adherence to exercise programs.</a:t>
            </a:r>
          </a:p>
          <a:p>
            <a:pPr lvl="1"/>
            <a:r>
              <a:rPr lang="en-US" dirty="0"/>
              <a:t>Setting personal goals.</a:t>
            </a:r>
          </a:p>
          <a:p>
            <a:pPr lvl="1"/>
            <a:r>
              <a:rPr lang="en-US" dirty="0"/>
              <a:t>Forming explicit implementation expectations.</a:t>
            </a:r>
          </a:p>
          <a:p>
            <a:endParaRPr lang="en-US" dirty="0"/>
          </a:p>
        </p:txBody>
      </p:sp>
      <p:sp>
        <p:nvSpPr>
          <p:cNvPr id="4" name="Slide Number Placeholder 3">
            <a:extLst>
              <a:ext uri="{FF2B5EF4-FFF2-40B4-BE49-F238E27FC236}">
                <a16:creationId xmlns:a16="http://schemas.microsoft.com/office/drawing/2014/main" id="{2E51C991-FC05-DEAF-1D4D-048C82FA1538}"/>
              </a:ext>
            </a:extLst>
          </p:cNvPr>
          <p:cNvSpPr>
            <a:spLocks noGrp="1"/>
          </p:cNvSpPr>
          <p:nvPr>
            <p:ph type="sldNum" sz="quarter" idx="12"/>
          </p:nvPr>
        </p:nvSpPr>
        <p:spPr/>
        <p:txBody>
          <a:bodyPr/>
          <a:lstStyle/>
          <a:p>
            <a:fld id="{3A4F6043-7A67-491B-98BC-F933DED7226D}" type="slidenum">
              <a:rPr lang="en-US" smtClean="0"/>
              <a:pPr/>
              <a:t>6</a:t>
            </a:fld>
            <a:endParaRPr lang="en-US" dirty="0"/>
          </a:p>
        </p:txBody>
      </p:sp>
    </p:spTree>
    <p:extLst>
      <p:ext uri="{BB962C8B-B14F-4D97-AF65-F5344CB8AC3E}">
        <p14:creationId xmlns:p14="http://schemas.microsoft.com/office/powerpoint/2010/main" val="222215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09022-AAEE-AE7C-3C28-9ADE8D61B01A}"/>
              </a:ext>
            </a:extLst>
          </p:cNvPr>
          <p:cNvSpPr>
            <a:spLocks noGrp="1"/>
          </p:cNvSpPr>
          <p:nvPr>
            <p:ph type="title"/>
          </p:nvPr>
        </p:nvSpPr>
        <p:spPr/>
        <p:txBody>
          <a:bodyPr/>
          <a:lstStyle/>
          <a:p>
            <a:r>
              <a:rPr lang="en-US" dirty="0"/>
              <a:t>Accident Prevention</a:t>
            </a:r>
          </a:p>
        </p:txBody>
      </p:sp>
      <p:sp>
        <p:nvSpPr>
          <p:cNvPr id="5" name="Content Placeholder 4">
            <a:extLst>
              <a:ext uri="{FF2B5EF4-FFF2-40B4-BE49-F238E27FC236}">
                <a16:creationId xmlns:a16="http://schemas.microsoft.com/office/drawing/2014/main" id="{FEE3D794-426E-AA3C-FF7C-0DDD9B293358}"/>
              </a:ext>
            </a:extLst>
          </p:cNvPr>
          <p:cNvSpPr>
            <a:spLocks noGrp="1"/>
          </p:cNvSpPr>
          <p:nvPr>
            <p:ph idx="1"/>
          </p:nvPr>
        </p:nvSpPr>
        <p:spPr/>
        <p:txBody>
          <a:bodyPr/>
          <a:lstStyle/>
          <a:p>
            <a:r>
              <a:rPr lang="en-US" dirty="0"/>
              <a:t>Accidents in the home (such as accidental poisonings and falls) are the most common causes of death and disability among children under age five.</a:t>
            </a:r>
          </a:p>
          <a:p>
            <a:r>
              <a:rPr lang="en-US" dirty="0"/>
              <a:t>Fall-related accidents are one of the most common cause of death and injuries in older adults.</a:t>
            </a:r>
          </a:p>
          <a:p>
            <a:r>
              <a:rPr lang="en-US" dirty="0"/>
              <a:t>Vehicle accidents are the leading cause of accidental deaths in the U.S.</a:t>
            </a:r>
          </a:p>
          <a:p>
            <a:r>
              <a:rPr lang="en-US" dirty="0"/>
              <a:t>Be cognizant of surroundings and other people</a:t>
            </a:r>
          </a:p>
          <a:p>
            <a:endParaRPr lang="en-US" dirty="0"/>
          </a:p>
        </p:txBody>
      </p:sp>
      <p:sp>
        <p:nvSpPr>
          <p:cNvPr id="4" name="Slide Number Placeholder 3">
            <a:extLst>
              <a:ext uri="{FF2B5EF4-FFF2-40B4-BE49-F238E27FC236}">
                <a16:creationId xmlns:a16="http://schemas.microsoft.com/office/drawing/2014/main" id="{991668C4-9CD5-98A6-FE28-DD07806A098A}"/>
              </a:ext>
            </a:extLst>
          </p:cNvPr>
          <p:cNvSpPr>
            <a:spLocks noGrp="1"/>
          </p:cNvSpPr>
          <p:nvPr>
            <p:ph type="sldNum" sz="quarter" idx="12"/>
          </p:nvPr>
        </p:nvSpPr>
        <p:spPr/>
        <p:txBody>
          <a:bodyPr/>
          <a:lstStyle/>
          <a:p>
            <a:fld id="{3A4F6043-7A67-491B-98BC-F933DED7226D}" type="slidenum">
              <a:rPr lang="en-US" smtClean="0"/>
              <a:pPr/>
              <a:t>7</a:t>
            </a:fld>
            <a:endParaRPr lang="en-US" dirty="0"/>
          </a:p>
        </p:txBody>
      </p:sp>
    </p:spTree>
    <p:extLst>
      <p:ext uri="{BB962C8B-B14F-4D97-AF65-F5344CB8AC3E}">
        <p14:creationId xmlns:p14="http://schemas.microsoft.com/office/powerpoint/2010/main" val="3758963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988EF-2A44-FBAE-C6BC-13760B0D85E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99A35A1-1066-0334-D1B4-17A77B716DAE}"/>
              </a:ext>
            </a:extLst>
          </p:cNvPr>
          <p:cNvSpPr>
            <a:spLocks noGrp="1"/>
          </p:cNvSpPr>
          <p:nvPr>
            <p:ph type="title"/>
          </p:nvPr>
        </p:nvSpPr>
        <p:spPr>
          <a:xfrm>
            <a:off x="396052" y="2951570"/>
            <a:ext cx="6753686" cy="2621915"/>
          </a:xfrm>
        </p:spPr>
        <p:txBody>
          <a:bodyPr>
            <a:normAutofit/>
          </a:bodyPr>
          <a:lstStyle/>
          <a:p>
            <a:r>
              <a:rPr lang="en-US" sz="3600" dirty="0"/>
              <a:t>Consider your current home. What are some things within your home that could increase the risk of falls or accidents?</a:t>
            </a:r>
          </a:p>
        </p:txBody>
      </p:sp>
      <p:sp>
        <p:nvSpPr>
          <p:cNvPr id="7" name="Slide Number Placeholder 6">
            <a:extLst>
              <a:ext uri="{FF2B5EF4-FFF2-40B4-BE49-F238E27FC236}">
                <a16:creationId xmlns:a16="http://schemas.microsoft.com/office/drawing/2014/main" id="{D8ADF763-E9A1-EDD0-AC0D-5AED7DE0FEC8}"/>
              </a:ext>
            </a:extLst>
          </p:cNvPr>
          <p:cNvSpPr>
            <a:spLocks noGrp="1"/>
          </p:cNvSpPr>
          <p:nvPr>
            <p:ph type="sldNum" sz="quarter" idx="4"/>
          </p:nvPr>
        </p:nvSpPr>
        <p:spPr/>
        <p:txBody>
          <a:bodyPr/>
          <a:lstStyle/>
          <a:p>
            <a:fld id="{3A4F6043-7A67-491B-98BC-F933DED7226D}" type="slidenum">
              <a:rPr lang="en-US" smtClean="0"/>
              <a:pPr/>
              <a:t>8</a:t>
            </a:fld>
            <a:endParaRPr lang="en-US" dirty="0"/>
          </a:p>
        </p:txBody>
      </p:sp>
    </p:spTree>
    <p:extLst>
      <p:ext uri="{BB962C8B-B14F-4D97-AF65-F5344CB8AC3E}">
        <p14:creationId xmlns:p14="http://schemas.microsoft.com/office/powerpoint/2010/main" val="4237630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D082-462E-6483-D4BF-C938BCFBB4DA}"/>
              </a:ext>
            </a:extLst>
          </p:cNvPr>
          <p:cNvSpPr>
            <a:spLocks noGrp="1"/>
          </p:cNvSpPr>
          <p:nvPr>
            <p:ph type="title"/>
          </p:nvPr>
        </p:nvSpPr>
        <p:spPr>
          <a:xfrm>
            <a:off x="420624" y="365126"/>
            <a:ext cx="10515600" cy="1021426"/>
          </a:xfrm>
        </p:spPr>
        <p:txBody>
          <a:bodyPr/>
          <a:lstStyle/>
          <a:p>
            <a:r>
              <a:rPr lang="en-US" dirty="0"/>
              <a:t>Vaccinations</a:t>
            </a:r>
          </a:p>
        </p:txBody>
      </p:sp>
      <p:pic>
        <p:nvPicPr>
          <p:cNvPr id="6" name="Online Media 5" title="How do vaccines work? - Kelwalin Dhanasarnsombut">
            <a:hlinkClick r:id="" action="ppaction://media"/>
            <a:extLst>
              <a:ext uri="{FF2B5EF4-FFF2-40B4-BE49-F238E27FC236}">
                <a16:creationId xmlns:a16="http://schemas.microsoft.com/office/drawing/2014/main" id="{12EE7AD5-8633-AB70-9336-FD2EF4CBE4EE}"/>
              </a:ext>
            </a:extLst>
          </p:cNvPr>
          <p:cNvPicPr>
            <a:picLocks noGrp="1" noRot="1" noChangeAspect="1"/>
          </p:cNvPicPr>
          <p:nvPr>
            <p:ph idx="1"/>
            <a:videoFile r:link="rId1"/>
          </p:nvPr>
        </p:nvPicPr>
        <p:blipFill>
          <a:blip r:embed="rId4"/>
          <a:stretch>
            <a:fillRect/>
          </a:stretch>
        </p:blipFill>
        <p:spPr>
          <a:xfrm>
            <a:off x="1474723" y="1386551"/>
            <a:ext cx="8407401" cy="4750451"/>
          </a:xfrm>
          <a:prstGeom prst="rect">
            <a:avLst/>
          </a:prstGeom>
        </p:spPr>
      </p:pic>
      <p:sp>
        <p:nvSpPr>
          <p:cNvPr id="4" name="Slide Number Placeholder 3">
            <a:extLst>
              <a:ext uri="{FF2B5EF4-FFF2-40B4-BE49-F238E27FC236}">
                <a16:creationId xmlns:a16="http://schemas.microsoft.com/office/drawing/2014/main" id="{A168F1E6-68B2-31EC-DCBC-14A743971D9B}"/>
              </a:ext>
            </a:extLst>
          </p:cNvPr>
          <p:cNvSpPr>
            <a:spLocks noGrp="1"/>
          </p:cNvSpPr>
          <p:nvPr>
            <p:ph type="sldNum" sz="quarter" idx="12"/>
          </p:nvPr>
        </p:nvSpPr>
        <p:spPr/>
        <p:txBody>
          <a:bodyPr/>
          <a:lstStyle/>
          <a:p>
            <a:fld id="{3A4F6043-7A67-491B-98BC-F933DED7226D}" type="slidenum">
              <a:rPr lang="en-US" smtClean="0"/>
              <a:pPr/>
              <a:t>9</a:t>
            </a:fld>
            <a:endParaRPr lang="en-US" dirty="0"/>
          </a:p>
        </p:txBody>
      </p:sp>
      <p:sp>
        <p:nvSpPr>
          <p:cNvPr id="7" name="TextBox 6">
            <a:extLst>
              <a:ext uri="{FF2B5EF4-FFF2-40B4-BE49-F238E27FC236}">
                <a16:creationId xmlns:a16="http://schemas.microsoft.com/office/drawing/2014/main" id="{1A62A63E-483C-BB0C-63BC-8E64ACE7F74D}"/>
              </a:ext>
            </a:extLst>
          </p:cNvPr>
          <p:cNvSpPr txBox="1"/>
          <p:nvPr/>
        </p:nvSpPr>
        <p:spPr>
          <a:xfrm>
            <a:off x="6463824" y="6383383"/>
            <a:ext cx="5039328" cy="369332"/>
          </a:xfrm>
          <a:prstGeom prst="rect">
            <a:avLst/>
          </a:prstGeom>
          <a:noFill/>
        </p:spPr>
        <p:txBody>
          <a:bodyPr wrap="none" rtlCol="0">
            <a:spAutoFit/>
          </a:bodyPr>
          <a:lstStyle/>
          <a:p>
            <a:r>
              <a:rPr lang="en-US" dirty="0"/>
              <a:t>https://www.youtube.com/watch?v=rb7TVW77ZCs</a:t>
            </a:r>
          </a:p>
        </p:txBody>
      </p:sp>
    </p:spTree>
    <p:extLst>
      <p:ext uri="{BB962C8B-B14F-4D97-AF65-F5344CB8AC3E}">
        <p14:creationId xmlns:p14="http://schemas.microsoft.com/office/powerpoint/2010/main" val="269750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CDA1B-7B7A-73C1-8DC8-0E5796C8C34D}"/>
              </a:ext>
            </a:extLst>
          </p:cNvPr>
          <p:cNvSpPr>
            <a:spLocks noGrp="1"/>
          </p:cNvSpPr>
          <p:nvPr>
            <p:ph type="title"/>
          </p:nvPr>
        </p:nvSpPr>
        <p:spPr>
          <a:xfrm>
            <a:off x="420624" y="365126"/>
            <a:ext cx="10515600" cy="967286"/>
          </a:xfrm>
        </p:spPr>
        <p:txBody>
          <a:bodyPr/>
          <a:lstStyle/>
          <a:p>
            <a:r>
              <a:rPr lang="en-US" dirty="0"/>
              <a:t>Screening</a:t>
            </a:r>
          </a:p>
        </p:txBody>
      </p:sp>
      <p:sp>
        <p:nvSpPr>
          <p:cNvPr id="3" name="Content Placeholder 2">
            <a:extLst>
              <a:ext uri="{FF2B5EF4-FFF2-40B4-BE49-F238E27FC236}">
                <a16:creationId xmlns:a16="http://schemas.microsoft.com/office/drawing/2014/main" id="{BE549B2B-32A1-E431-4363-F3E97D60D901}"/>
              </a:ext>
            </a:extLst>
          </p:cNvPr>
          <p:cNvSpPr>
            <a:spLocks noGrp="1"/>
          </p:cNvSpPr>
          <p:nvPr>
            <p:ph idx="1"/>
          </p:nvPr>
        </p:nvSpPr>
        <p:spPr>
          <a:xfrm>
            <a:off x="420624" y="1332413"/>
            <a:ext cx="10515600" cy="5094514"/>
          </a:xfrm>
        </p:spPr>
        <p:txBody>
          <a:bodyPr>
            <a:normAutofit fontScale="85000" lnSpcReduction="20000"/>
          </a:bodyPr>
          <a:lstStyle/>
          <a:p>
            <a:r>
              <a:rPr lang="en-US" dirty="0"/>
              <a:t>General recommendation: be aware of what conditions you may be at-risk for, then follow recommended guidelines for screening</a:t>
            </a:r>
          </a:p>
          <a:p>
            <a:r>
              <a:rPr lang="en-US" dirty="0"/>
              <a:t>Breast cancer</a:t>
            </a:r>
          </a:p>
          <a:p>
            <a:pPr lvl="1"/>
            <a:r>
              <a:rPr lang="en-US" dirty="0"/>
              <a:t>Most common type of cancer in women</a:t>
            </a:r>
          </a:p>
          <a:p>
            <a:pPr lvl="1"/>
            <a:r>
              <a:rPr lang="en-US" dirty="0"/>
              <a:t>Screening: mammogram</a:t>
            </a:r>
          </a:p>
          <a:p>
            <a:pPr lvl="1"/>
            <a:r>
              <a:rPr lang="en-US" dirty="0"/>
              <a:t>Suggested that screenings begin in 40s </a:t>
            </a:r>
          </a:p>
          <a:p>
            <a:r>
              <a:rPr lang="en-US" dirty="0"/>
              <a:t>Prostate cancer</a:t>
            </a:r>
          </a:p>
          <a:p>
            <a:pPr lvl="1"/>
            <a:r>
              <a:rPr lang="en-US" dirty="0"/>
              <a:t>Most common type of cancer in men</a:t>
            </a:r>
          </a:p>
          <a:p>
            <a:pPr lvl="1"/>
            <a:r>
              <a:rPr lang="en-US" dirty="0"/>
              <a:t>Screening: PSA blood test</a:t>
            </a:r>
          </a:p>
          <a:p>
            <a:pPr lvl="1"/>
            <a:r>
              <a:rPr lang="en-US" dirty="0"/>
              <a:t>Suggested that screenings begin in 40s</a:t>
            </a:r>
          </a:p>
          <a:p>
            <a:r>
              <a:rPr lang="en-US" dirty="0"/>
              <a:t>Colorectal cancer</a:t>
            </a:r>
          </a:p>
          <a:p>
            <a:pPr lvl="1"/>
            <a:r>
              <a:rPr lang="en-US" dirty="0"/>
              <a:t>Second-leading cause of cancer deaths</a:t>
            </a:r>
          </a:p>
          <a:p>
            <a:pPr lvl="1"/>
            <a:r>
              <a:rPr lang="en-US" dirty="0"/>
              <a:t>Screening: fecal, blood, or DNA test; colonoscopy or sigmoidoscopy </a:t>
            </a:r>
          </a:p>
          <a:p>
            <a:pPr lvl="1"/>
            <a:r>
              <a:rPr lang="en-US" dirty="0"/>
              <a:t>Suggested that screenings begin in 40s</a:t>
            </a:r>
          </a:p>
          <a:p>
            <a:endParaRPr lang="en-US" dirty="0"/>
          </a:p>
        </p:txBody>
      </p:sp>
      <p:sp>
        <p:nvSpPr>
          <p:cNvPr id="4" name="Slide Number Placeholder 3">
            <a:extLst>
              <a:ext uri="{FF2B5EF4-FFF2-40B4-BE49-F238E27FC236}">
                <a16:creationId xmlns:a16="http://schemas.microsoft.com/office/drawing/2014/main" id="{AF108E24-09ED-6D57-16C6-CEBE5679D73C}"/>
              </a:ext>
            </a:extLst>
          </p:cNvPr>
          <p:cNvSpPr>
            <a:spLocks noGrp="1"/>
          </p:cNvSpPr>
          <p:nvPr>
            <p:ph type="sldNum" sz="quarter" idx="12"/>
          </p:nvPr>
        </p:nvSpPr>
        <p:spPr/>
        <p:txBody>
          <a:bodyPr/>
          <a:lstStyle/>
          <a:p>
            <a:fld id="{3A4F6043-7A67-491B-98BC-F933DED7226D}" type="slidenum">
              <a:rPr lang="en-US" smtClean="0"/>
              <a:pPr/>
              <a:t>10</a:t>
            </a:fld>
            <a:endParaRPr lang="en-US" dirty="0"/>
          </a:p>
        </p:txBody>
      </p:sp>
    </p:spTree>
    <p:extLst>
      <p:ext uri="{BB962C8B-B14F-4D97-AF65-F5344CB8AC3E}">
        <p14:creationId xmlns:p14="http://schemas.microsoft.com/office/powerpoint/2010/main" val="1154733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C33D-7CD3-FFBE-ACE7-42E97F916DD4}"/>
              </a:ext>
            </a:extLst>
          </p:cNvPr>
          <p:cNvSpPr>
            <a:spLocks noGrp="1"/>
          </p:cNvSpPr>
          <p:nvPr>
            <p:ph type="title"/>
          </p:nvPr>
        </p:nvSpPr>
        <p:spPr/>
        <p:txBody>
          <a:bodyPr/>
          <a:lstStyle/>
          <a:p>
            <a:r>
              <a:rPr lang="en-US" dirty="0"/>
              <a:t>Sun Safety Practices</a:t>
            </a:r>
          </a:p>
        </p:txBody>
      </p:sp>
      <p:sp>
        <p:nvSpPr>
          <p:cNvPr id="6" name="Content Placeholder 5">
            <a:extLst>
              <a:ext uri="{FF2B5EF4-FFF2-40B4-BE49-F238E27FC236}">
                <a16:creationId xmlns:a16="http://schemas.microsoft.com/office/drawing/2014/main" id="{C7FF05E3-A8FB-2CC0-B92B-6B14DDB2D333}"/>
              </a:ext>
            </a:extLst>
          </p:cNvPr>
          <p:cNvSpPr>
            <a:spLocks noGrp="1"/>
          </p:cNvSpPr>
          <p:nvPr>
            <p:ph sz="half" idx="1"/>
          </p:nvPr>
        </p:nvSpPr>
        <p:spPr>
          <a:xfrm>
            <a:off x="420624" y="1825624"/>
            <a:ext cx="5181600" cy="4418421"/>
          </a:xfrm>
        </p:spPr>
        <p:txBody>
          <a:bodyPr>
            <a:normAutofit fontScale="85000" lnSpcReduction="20000"/>
          </a:bodyPr>
          <a:lstStyle/>
          <a:p>
            <a:r>
              <a:rPr lang="en-US" dirty="0"/>
              <a:t>Skin cancer is not reported/ categorized the same way as other forms of cancer</a:t>
            </a:r>
          </a:p>
          <a:p>
            <a:pPr lvl="1"/>
            <a:r>
              <a:rPr lang="en-US" dirty="0"/>
              <a:t>More people are diagnosed with skin cancer than all other forms of cancer combined (in the U.S.) </a:t>
            </a:r>
          </a:p>
          <a:p>
            <a:r>
              <a:rPr lang="en-US" dirty="0"/>
              <a:t>According to the Skin Cancer Foundation:</a:t>
            </a:r>
          </a:p>
          <a:p>
            <a:pPr lvl="1"/>
            <a:r>
              <a:rPr lang="en-US" dirty="0"/>
              <a:t>1 in 5 Americans will develop skin cancer by the age of 70.</a:t>
            </a:r>
          </a:p>
          <a:p>
            <a:pPr lvl="1"/>
            <a:r>
              <a:rPr lang="en-US" dirty="0"/>
              <a:t>More than 2 people die of skin cancer in the U.S. every hour.</a:t>
            </a:r>
          </a:p>
          <a:p>
            <a:pPr lvl="1"/>
            <a:r>
              <a:rPr lang="en-US" dirty="0"/>
              <a:t>Having 5 or more sunburns doubles your risk for melanoma.</a:t>
            </a:r>
          </a:p>
          <a:p>
            <a:pPr lvl="1"/>
            <a:r>
              <a:rPr lang="en-US" dirty="0"/>
              <a:t>When detected early, the 5-year survival rate for melanoma is 99 percent.</a:t>
            </a:r>
          </a:p>
        </p:txBody>
      </p:sp>
      <p:sp>
        <p:nvSpPr>
          <p:cNvPr id="4" name="Slide Number Placeholder 3">
            <a:extLst>
              <a:ext uri="{FF2B5EF4-FFF2-40B4-BE49-F238E27FC236}">
                <a16:creationId xmlns:a16="http://schemas.microsoft.com/office/drawing/2014/main" id="{08362AC0-ED2F-B022-D1E3-F464C1C57EDC}"/>
              </a:ext>
            </a:extLst>
          </p:cNvPr>
          <p:cNvSpPr>
            <a:spLocks noGrp="1"/>
          </p:cNvSpPr>
          <p:nvPr>
            <p:ph type="sldNum" sz="quarter" idx="12"/>
          </p:nvPr>
        </p:nvSpPr>
        <p:spPr/>
        <p:txBody>
          <a:bodyPr/>
          <a:lstStyle/>
          <a:p>
            <a:fld id="{3A4F6043-7A67-491B-98BC-F933DED7226D}" type="slidenum">
              <a:rPr lang="en-US" smtClean="0"/>
              <a:pPr/>
              <a:t>11</a:t>
            </a:fld>
            <a:endParaRPr lang="en-US" dirty="0"/>
          </a:p>
        </p:txBody>
      </p:sp>
      <p:pic>
        <p:nvPicPr>
          <p:cNvPr id="1026" name="Picture 2" descr="Sun protection infographic | healthdirect">
            <a:extLst>
              <a:ext uri="{FF2B5EF4-FFF2-40B4-BE49-F238E27FC236}">
                <a16:creationId xmlns:a16="http://schemas.microsoft.com/office/drawing/2014/main" id="{2AE5B177-918C-5911-E2D1-5BF7A3A7D8F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09243" y="1825625"/>
            <a:ext cx="4474076" cy="42068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EC58F53-69BC-8D0B-AB4D-E81E406A7694}"/>
              </a:ext>
            </a:extLst>
          </p:cNvPr>
          <p:cNvSpPr txBox="1"/>
          <p:nvPr/>
        </p:nvSpPr>
        <p:spPr>
          <a:xfrm>
            <a:off x="4911634" y="6378981"/>
            <a:ext cx="6724405" cy="369332"/>
          </a:xfrm>
          <a:prstGeom prst="rect">
            <a:avLst/>
          </a:prstGeom>
          <a:noFill/>
        </p:spPr>
        <p:txBody>
          <a:bodyPr wrap="none" rtlCol="0">
            <a:spAutoFit/>
          </a:bodyPr>
          <a:lstStyle/>
          <a:p>
            <a:r>
              <a:rPr lang="en-US" dirty="0"/>
              <a:t>https://www.skincancer.org/skin-cancer-information/skin-cancer-facts/</a:t>
            </a:r>
          </a:p>
        </p:txBody>
      </p:sp>
    </p:spTree>
    <p:extLst>
      <p:ext uri="{BB962C8B-B14F-4D97-AF65-F5344CB8AC3E}">
        <p14:creationId xmlns:p14="http://schemas.microsoft.com/office/powerpoint/2010/main" val="1497636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32245-754C-6E6D-B926-5BBEA7878233}"/>
              </a:ext>
            </a:extLst>
          </p:cNvPr>
          <p:cNvSpPr>
            <a:spLocks noGrp="1"/>
          </p:cNvSpPr>
          <p:nvPr>
            <p:ph type="title"/>
          </p:nvPr>
        </p:nvSpPr>
        <p:spPr/>
        <p:txBody>
          <a:bodyPr/>
          <a:lstStyle/>
          <a:p>
            <a:r>
              <a:rPr lang="en-US" dirty="0"/>
              <a:t>Healthy Diet</a:t>
            </a:r>
          </a:p>
        </p:txBody>
      </p:sp>
      <p:sp>
        <p:nvSpPr>
          <p:cNvPr id="5" name="Content Placeholder 4">
            <a:extLst>
              <a:ext uri="{FF2B5EF4-FFF2-40B4-BE49-F238E27FC236}">
                <a16:creationId xmlns:a16="http://schemas.microsoft.com/office/drawing/2014/main" id="{C63BDA09-E4C0-551F-1146-EA402388F533}"/>
              </a:ext>
            </a:extLst>
          </p:cNvPr>
          <p:cNvSpPr>
            <a:spLocks noGrp="1"/>
          </p:cNvSpPr>
          <p:nvPr>
            <p:ph sz="half" idx="1"/>
          </p:nvPr>
        </p:nvSpPr>
        <p:spPr/>
        <p:txBody>
          <a:bodyPr/>
          <a:lstStyle/>
          <a:p>
            <a:r>
              <a:rPr lang="en-US" b="1" dirty="0"/>
              <a:t>Hedonic eating</a:t>
            </a:r>
            <a:r>
              <a:rPr lang="en-US" dirty="0"/>
              <a:t> – eating food for pleasure rather than to satisfy hunger</a:t>
            </a:r>
          </a:p>
          <a:p>
            <a:r>
              <a:rPr lang="en-US" dirty="0"/>
              <a:t>The U.S. Agriculture Department regularly releases recommendations and statistics (see link for more)</a:t>
            </a:r>
          </a:p>
          <a:p>
            <a:r>
              <a:rPr lang="en-US" dirty="0"/>
              <a:t>When starting a specialized diet to lose weight, talk with a specialist. </a:t>
            </a:r>
          </a:p>
          <a:p>
            <a:r>
              <a:rPr lang="en-US" dirty="0"/>
              <a:t>Multiple resources available, such as </a:t>
            </a:r>
            <a:r>
              <a:rPr lang="en-US" dirty="0">
                <a:hlinkClick r:id="rId3"/>
              </a:rPr>
              <a:t>Mindful</a:t>
            </a:r>
            <a:endParaRPr lang="en-US" dirty="0"/>
          </a:p>
        </p:txBody>
      </p:sp>
      <p:pic>
        <p:nvPicPr>
          <p:cNvPr id="8" name="Content Placeholder 7">
            <a:extLst>
              <a:ext uri="{FF2B5EF4-FFF2-40B4-BE49-F238E27FC236}">
                <a16:creationId xmlns:a16="http://schemas.microsoft.com/office/drawing/2014/main" id="{3560D538-F0AD-868B-D534-345A6544EA4D}"/>
              </a:ext>
            </a:extLst>
          </p:cNvPr>
          <p:cNvPicPr>
            <a:picLocks noGrp="1" noChangeAspect="1"/>
          </p:cNvPicPr>
          <p:nvPr>
            <p:ph sz="half" idx="2"/>
          </p:nvPr>
        </p:nvPicPr>
        <p:blipFill>
          <a:blip r:embed="rId4"/>
          <a:stretch>
            <a:fillRect/>
          </a:stretch>
        </p:blipFill>
        <p:spPr>
          <a:xfrm>
            <a:off x="6589778" y="135278"/>
            <a:ext cx="4576321" cy="6056515"/>
          </a:xfrm>
        </p:spPr>
      </p:pic>
      <p:sp>
        <p:nvSpPr>
          <p:cNvPr id="4" name="Slide Number Placeholder 3">
            <a:extLst>
              <a:ext uri="{FF2B5EF4-FFF2-40B4-BE49-F238E27FC236}">
                <a16:creationId xmlns:a16="http://schemas.microsoft.com/office/drawing/2014/main" id="{BECD29F5-9530-8842-4089-DF4C5611E098}"/>
              </a:ext>
            </a:extLst>
          </p:cNvPr>
          <p:cNvSpPr>
            <a:spLocks noGrp="1"/>
          </p:cNvSpPr>
          <p:nvPr>
            <p:ph type="sldNum" sz="quarter" idx="12"/>
          </p:nvPr>
        </p:nvSpPr>
        <p:spPr/>
        <p:txBody>
          <a:bodyPr/>
          <a:lstStyle/>
          <a:p>
            <a:fld id="{3A4F6043-7A67-491B-98BC-F933DED7226D}" type="slidenum">
              <a:rPr lang="en-US" smtClean="0"/>
              <a:pPr/>
              <a:t>12</a:t>
            </a:fld>
            <a:endParaRPr lang="en-US" dirty="0"/>
          </a:p>
        </p:txBody>
      </p:sp>
      <p:sp>
        <p:nvSpPr>
          <p:cNvPr id="9" name="TextBox 8">
            <a:extLst>
              <a:ext uri="{FF2B5EF4-FFF2-40B4-BE49-F238E27FC236}">
                <a16:creationId xmlns:a16="http://schemas.microsoft.com/office/drawing/2014/main" id="{EAFEC41D-B150-17A6-0724-AD9FA0F7327A}"/>
              </a:ext>
            </a:extLst>
          </p:cNvPr>
          <p:cNvSpPr txBox="1"/>
          <p:nvPr/>
        </p:nvSpPr>
        <p:spPr>
          <a:xfrm>
            <a:off x="1683768" y="6421640"/>
            <a:ext cx="10505184" cy="369332"/>
          </a:xfrm>
          <a:prstGeom prst="rect">
            <a:avLst/>
          </a:prstGeom>
          <a:noFill/>
        </p:spPr>
        <p:txBody>
          <a:bodyPr wrap="none" rtlCol="0">
            <a:spAutoFit/>
          </a:bodyPr>
          <a:lstStyle/>
          <a:p>
            <a:r>
              <a:rPr lang="en-US" dirty="0"/>
              <a:t>https://www.dietaryguidelines.gov/sites/default/files/2021-03/Dietary_Guidelines_for_Americans-2020-2025.pdf</a:t>
            </a:r>
          </a:p>
        </p:txBody>
      </p:sp>
    </p:spTree>
    <p:extLst>
      <p:ext uri="{BB962C8B-B14F-4D97-AF65-F5344CB8AC3E}">
        <p14:creationId xmlns:p14="http://schemas.microsoft.com/office/powerpoint/2010/main" val="3193462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7241F-154D-4740-1421-9505E8652C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4E2AB-1341-4A9C-1148-B5840E9077C1}"/>
              </a:ext>
            </a:extLst>
          </p:cNvPr>
          <p:cNvSpPr>
            <a:spLocks noGrp="1"/>
          </p:cNvSpPr>
          <p:nvPr>
            <p:ph type="title"/>
          </p:nvPr>
        </p:nvSpPr>
        <p:spPr>
          <a:xfrm>
            <a:off x="420624" y="365125"/>
            <a:ext cx="10515600" cy="854075"/>
          </a:xfrm>
        </p:spPr>
        <p:txBody>
          <a:bodyPr/>
          <a:lstStyle/>
          <a:p>
            <a:r>
              <a:rPr lang="en-US" dirty="0"/>
              <a:t>Sleep</a:t>
            </a:r>
          </a:p>
        </p:txBody>
      </p:sp>
      <p:sp>
        <p:nvSpPr>
          <p:cNvPr id="5" name="Content Placeholder 4">
            <a:extLst>
              <a:ext uri="{FF2B5EF4-FFF2-40B4-BE49-F238E27FC236}">
                <a16:creationId xmlns:a16="http://schemas.microsoft.com/office/drawing/2014/main" id="{7B7D28A0-D2A7-27ED-7922-FC52BA460F50}"/>
              </a:ext>
            </a:extLst>
          </p:cNvPr>
          <p:cNvSpPr>
            <a:spLocks noGrp="1"/>
          </p:cNvSpPr>
          <p:nvPr>
            <p:ph idx="1"/>
          </p:nvPr>
        </p:nvSpPr>
        <p:spPr>
          <a:xfrm>
            <a:off x="420624" y="1280160"/>
            <a:ext cx="11082528" cy="5320937"/>
          </a:xfrm>
        </p:spPr>
        <p:txBody>
          <a:bodyPr>
            <a:normAutofit fontScale="85000" lnSpcReduction="20000"/>
          </a:bodyPr>
          <a:lstStyle/>
          <a:p>
            <a:r>
              <a:rPr lang="en-US" dirty="0"/>
              <a:t>7-9 hours per night (for individuals at least 18 years old)</a:t>
            </a:r>
          </a:p>
          <a:p>
            <a:r>
              <a:rPr lang="en-US" b="1" dirty="0"/>
              <a:t>Sleep debt</a:t>
            </a:r>
            <a:r>
              <a:rPr lang="en-US" dirty="0"/>
              <a:t> – the cumulative amount of sleep lost over time when an individual does not get enough sleep</a:t>
            </a:r>
          </a:p>
          <a:p>
            <a:pPr lvl="1"/>
            <a:r>
              <a:rPr lang="en-US" dirty="0"/>
              <a:t>Note: your body charges interest!!</a:t>
            </a:r>
          </a:p>
          <a:p>
            <a:r>
              <a:rPr lang="en-US" dirty="0"/>
              <a:t>Two general categories of sleep: REM (rapid eye movement) and NREM (non-REM) </a:t>
            </a:r>
          </a:p>
          <a:p>
            <a:pPr lvl="1"/>
            <a:r>
              <a:rPr lang="en-US" dirty="0"/>
              <a:t>NREM sleep is further categorized by three stages</a:t>
            </a:r>
          </a:p>
          <a:p>
            <a:pPr lvl="1"/>
            <a:r>
              <a:rPr lang="en-US" dirty="0"/>
              <a:t>REM sleep is when dreaming occurs</a:t>
            </a:r>
          </a:p>
          <a:p>
            <a:r>
              <a:rPr lang="en-US" dirty="0"/>
              <a:t>NREM sleep is crucial for multiple life functions, including:</a:t>
            </a:r>
          </a:p>
          <a:p>
            <a:pPr lvl="1"/>
            <a:r>
              <a:rPr lang="en-US" dirty="0"/>
              <a:t>Restoring energy</a:t>
            </a:r>
          </a:p>
          <a:p>
            <a:pPr lvl="1"/>
            <a:r>
              <a:rPr lang="en-US" dirty="0"/>
              <a:t>Strengthening the immune system</a:t>
            </a:r>
          </a:p>
          <a:p>
            <a:pPr lvl="1"/>
            <a:r>
              <a:rPr lang="en-US" dirty="0"/>
              <a:t>Promoting release of the growth hormone</a:t>
            </a:r>
          </a:p>
          <a:p>
            <a:r>
              <a:rPr lang="en-US" dirty="0"/>
              <a:t>Similarly, REM sleep is important for many aspects of life, but especially:</a:t>
            </a:r>
          </a:p>
          <a:p>
            <a:pPr lvl="1"/>
            <a:r>
              <a:rPr lang="en-US" dirty="0"/>
              <a:t>Solving problems</a:t>
            </a:r>
          </a:p>
          <a:p>
            <a:pPr lvl="1"/>
            <a:r>
              <a:rPr lang="en-US" dirty="0"/>
              <a:t>Consolidating memories and knowledge</a:t>
            </a:r>
          </a:p>
          <a:p>
            <a:r>
              <a:rPr lang="en-US" dirty="0"/>
              <a:t>Sleep can be categorized by types of brain waves</a:t>
            </a:r>
          </a:p>
        </p:txBody>
      </p:sp>
      <p:sp>
        <p:nvSpPr>
          <p:cNvPr id="4" name="Slide Number Placeholder 3">
            <a:extLst>
              <a:ext uri="{FF2B5EF4-FFF2-40B4-BE49-F238E27FC236}">
                <a16:creationId xmlns:a16="http://schemas.microsoft.com/office/drawing/2014/main" id="{F0C7B54A-DF12-0B2B-16C5-85667F6850C1}"/>
              </a:ext>
            </a:extLst>
          </p:cNvPr>
          <p:cNvSpPr>
            <a:spLocks noGrp="1"/>
          </p:cNvSpPr>
          <p:nvPr>
            <p:ph type="sldNum" sz="quarter" idx="12"/>
          </p:nvPr>
        </p:nvSpPr>
        <p:spPr/>
        <p:txBody>
          <a:bodyPr/>
          <a:lstStyle/>
          <a:p>
            <a:fld id="{3A4F6043-7A67-491B-98BC-F933DED7226D}" type="slidenum">
              <a:rPr lang="en-US" smtClean="0"/>
              <a:pPr/>
              <a:t>13</a:t>
            </a:fld>
            <a:endParaRPr lang="en-US" dirty="0"/>
          </a:p>
        </p:txBody>
      </p:sp>
    </p:spTree>
    <p:extLst>
      <p:ext uri="{BB962C8B-B14F-4D97-AF65-F5344CB8AC3E}">
        <p14:creationId xmlns:p14="http://schemas.microsoft.com/office/powerpoint/2010/main" val="2242643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A7273-8B65-CF9F-DABF-1C82FC0271E3}"/>
              </a:ext>
            </a:extLst>
          </p:cNvPr>
          <p:cNvSpPr>
            <a:spLocks noGrp="1"/>
          </p:cNvSpPr>
          <p:nvPr>
            <p:ph type="title"/>
          </p:nvPr>
        </p:nvSpPr>
        <p:spPr/>
        <p:txBody>
          <a:bodyPr>
            <a:normAutofit fontScale="90000"/>
          </a:bodyPr>
          <a:lstStyle/>
          <a:p>
            <a:r>
              <a:rPr lang="en-US" dirty="0"/>
              <a:t>Types of Brain</a:t>
            </a:r>
            <a:br>
              <a:rPr lang="en-US" dirty="0"/>
            </a:br>
            <a:r>
              <a:rPr lang="en-US" dirty="0"/>
              <a:t>Waves</a:t>
            </a:r>
          </a:p>
        </p:txBody>
      </p:sp>
      <p:sp>
        <p:nvSpPr>
          <p:cNvPr id="6" name="Content Placeholder 5">
            <a:extLst>
              <a:ext uri="{FF2B5EF4-FFF2-40B4-BE49-F238E27FC236}">
                <a16:creationId xmlns:a16="http://schemas.microsoft.com/office/drawing/2014/main" id="{69351BE6-2309-8323-2ECB-32BB128D332B}"/>
              </a:ext>
            </a:extLst>
          </p:cNvPr>
          <p:cNvSpPr>
            <a:spLocks noGrp="1"/>
          </p:cNvSpPr>
          <p:nvPr>
            <p:ph sz="half" idx="1"/>
          </p:nvPr>
        </p:nvSpPr>
        <p:spPr>
          <a:xfrm>
            <a:off x="420624" y="2525485"/>
            <a:ext cx="3611445" cy="3506521"/>
          </a:xfrm>
        </p:spPr>
        <p:txBody>
          <a:bodyPr/>
          <a:lstStyle/>
          <a:p>
            <a:r>
              <a:rPr lang="en-US" b="1" dirty="0"/>
              <a:t>Amplitude</a:t>
            </a:r>
            <a:r>
              <a:rPr lang="en-US" dirty="0"/>
              <a:t>: the height of a wave; determines loudness</a:t>
            </a:r>
          </a:p>
          <a:p>
            <a:r>
              <a:rPr lang="en-US" b="1" dirty="0"/>
              <a:t>Frequency</a:t>
            </a:r>
            <a:r>
              <a:rPr lang="en-US" dirty="0"/>
              <a:t>: the distance between waves; determines pitch</a:t>
            </a:r>
          </a:p>
          <a:p>
            <a:endParaRPr lang="en-US" dirty="0"/>
          </a:p>
        </p:txBody>
      </p:sp>
      <p:sp>
        <p:nvSpPr>
          <p:cNvPr id="4" name="Slide Number Placeholder 3">
            <a:extLst>
              <a:ext uri="{FF2B5EF4-FFF2-40B4-BE49-F238E27FC236}">
                <a16:creationId xmlns:a16="http://schemas.microsoft.com/office/drawing/2014/main" id="{98DFB0DD-F3A8-041A-3C24-B94BA410869F}"/>
              </a:ext>
            </a:extLst>
          </p:cNvPr>
          <p:cNvSpPr>
            <a:spLocks noGrp="1"/>
          </p:cNvSpPr>
          <p:nvPr>
            <p:ph type="sldNum" sz="quarter" idx="12"/>
          </p:nvPr>
        </p:nvSpPr>
        <p:spPr/>
        <p:txBody>
          <a:bodyPr/>
          <a:lstStyle/>
          <a:p>
            <a:fld id="{3A4F6043-7A67-491B-98BC-F933DED7226D}" type="slidenum">
              <a:rPr lang="en-US" smtClean="0"/>
              <a:pPr/>
              <a:t>14</a:t>
            </a:fld>
            <a:endParaRPr lang="en-US" dirty="0"/>
          </a:p>
        </p:txBody>
      </p:sp>
      <p:pic>
        <p:nvPicPr>
          <p:cNvPr id="8" name="Picture 2" descr="This is Your Brain on TrueDark® Twilights | TrueDark">
            <a:extLst>
              <a:ext uri="{FF2B5EF4-FFF2-40B4-BE49-F238E27FC236}">
                <a16:creationId xmlns:a16="http://schemas.microsoft.com/office/drawing/2014/main" id="{6551DB2B-7393-780B-6F37-3CF31DDE6B93}"/>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384"/>
          <a:stretch/>
        </p:blipFill>
        <p:spPr bwMode="auto">
          <a:xfrm>
            <a:off x="4476207" y="1002481"/>
            <a:ext cx="6460082" cy="4885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348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F6987-F2C4-C6FD-C1BF-6C132C582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1C1FE-2997-6538-CA72-3CBB136011C6}"/>
              </a:ext>
            </a:extLst>
          </p:cNvPr>
          <p:cNvSpPr>
            <a:spLocks noGrp="1"/>
          </p:cNvSpPr>
          <p:nvPr>
            <p:ph type="title"/>
          </p:nvPr>
        </p:nvSpPr>
        <p:spPr>
          <a:xfrm>
            <a:off x="411915" y="388143"/>
            <a:ext cx="3010553" cy="3365251"/>
          </a:xfrm>
        </p:spPr>
        <p:txBody>
          <a:bodyPr/>
          <a:lstStyle/>
          <a:p>
            <a:r>
              <a:rPr lang="en-US" dirty="0"/>
              <a:t>Stages of Sleep</a:t>
            </a:r>
          </a:p>
        </p:txBody>
      </p:sp>
      <p:pic>
        <p:nvPicPr>
          <p:cNvPr id="6" name="Content Placeholder 5">
            <a:extLst>
              <a:ext uri="{FF2B5EF4-FFF2-40B4-BE49-F238E27FC236}">
                <a16:creationId xmlns:a16="http://schemas.microsoft.com/office/drawing/2014/main" id="{61214E86-7330-6C00-1AC2-9B8A285FE902}"/>
              </a:ext>
            </a:extLst>
          </p:cNvPr>
          <p:cNvPicPr>
            <a:picLocks noGrp="1" noChangeAspect="1"/>
          </p:cNvPicPr>
          <p:nvPr>
            <p:ph idx="1"/>
          </p:nvPr>
        </p:nvPicPr>
        <p:blipFill>
          <a:blip r:embed="rId3"/>
          <a:stretch>
            <a:fillRect/>
          </a:stretch>
        </p:blipFill>
        <p:spPr>
          <a:xfrm>
            <a:off x="3842698" y="446444"/>
            <a:ext cx="7660454" cy="5751519"/>
          </a:xfrm>
          <a:prstGeom prst="rect">
            <a:avLst/>
          </a:prstGeom>
        </p:spPr>
      </p:pic>
      <p:sp>
        <p:nvSpPr>
          <p:cNvPr id="4" name="Slide Number Placeholder 3">
            <a:extLst>
              <a:ext uri="{FF2B5EF4-FFF2-40B4-BE49-F238E27FC236}">
                <a16:creationId xmlns:a16="http://schemas.microsoft.com/office/drawing/2014/main" id="{53A77AA2-FE84-0299-FD78-F8B4446620A5}"/>
              </a:ext>
            </a:extLst>
          </p:cNvPr>
          <p:cNvSpPr>
            <a:spLocks noGrp="1"/>
          </p:cNvSpPr>
          <p:nvPr>
            <p:ph type="sldNum" sz="quarter" idx="12"/>
          </p:nvPr>
        </p:nvSpPr>
        <p:spPr/>
        <p:txBody>
          <a:bodyPr/>
          <a:lstStyle/>
          <a:p>
            <a:fld id="{3A4F6043-7A67-491B-98BC-F933DED7226D}" type="slidenum">
              <a:rPr lang="en-US" smtClean="0"/>
              <a:pPr/>
              <a:t>15</a:t>
            </a:fld>
            <a:endParaRPr lang="en-US" dirty="0"/>
          </a:p>
        </p:txBody>
      </p:sp>
    </p:spTree>
    <p:extLst>
      <p:ext uri="{BB962C8B-B14F-4D97-AF65-F5344CB8AC3E}">
        <p14:creationId xmlns:p14="http://schemas.microsoft.com/office/powerpoint/2010/main" val="3618436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F23BA-5F56-0D34-21AF-BA2925B9ED25}"/>
              </a:ext>
            </a:extLst>
          </p:cNvPr>
          <p:cNvSpPr>
            <a:spLocks noGrp="1"/>
          </p:cNvSpPr>
          <p:nvPr>
            <p:ph type="title"/>
          </p:nvPr>
        </p:nvSpPr>
        <p:spPr/>
        <p:txBody>
          <a:bodyPr/>
          <a:lstStyle/>
          <a:p>
            <a:r>
              <a:rPr lang="en-US" dirty="0"/>
              <a:t>Ramifications of Poor Sleep</a:t>
            </a:r>
          </a:p>
        </p:txBody>
      </p:sp>
      <p:sp>
        <p:nvSpPr>
          <p:cNvPr id="4" name="Slide Number Placeholder 3">
            <a:extLst>
              <a:ext uri="{FF2B5EF4-FFF2-40B4-BE49-F238E27FC236}">
                <a16:creationId xmlns:a16="http://schemas.microsoft.com/office/drawing/2014/main" id="{4C1EC8CF-AE0E-AD13-DE23-821726DC6129}"/>
              </a:ext>
            </a:extLst>
          </p:cNvPr>
          <p:cNvSpPr>
            <a:spLocks noGrp="1"/>
          </p:cNvSpPr>
          <p:nvPr>
            <p:ph type="sldNum" sz="quarter" idx="12"/>
          </p:nvPr>
        </p:nvSpPr>
        <p:spPr/>
        <p:txBody>
          <a:bodyPr/>
          <a:lstStyle/>
          <a:p>
            <a:fld id="{3A4F6043-7A67-491B-98BC-F933DED7226D}" type="slidenum">
              <a:rPr lang="en-US" smtClean="0"/>
              <a:pPr/>
              <a:t>16</a:t>
            </a:fld>
            <a:endParaRPr lang="en-US" dirty="0"/>
          </a:p>
        </p:txBody>
      </p:sp>
      <p:pic>
        <p:nvPicPr>
          <p:cNvPr id="5" name="Figure" descr="An illustration of the top half of a human body identifies the locations in the body that correspond with various adverse affects of sleep deprivation. The brain is labeled with Irritability,&quot; &quot;Cognitive impairment,&quot; &quot;Memory lapses or loss,&quot; &quot;Impaired moral judgement,&quot; &quot;Severe yawning,&quot; &quot;Hallucinations,&quot; and &quot;Symptoms similar to ADHD.&quot; The heart is labeled with Increased heart rate variability and Risk of heart disease. The muscles are labeled with Increased reaction time, Decreased accuracy, Tremors, and Aches. There is an organ near the stomach labeled Risk of diabetes Type 2. Other risks include Growth suppression, Risk of obesity, Decreased temperature, and Impaired immune system.">
            <a:extLst>
              <a:ext uri="{FF2B5EF4-FFF2-40B4-BE49-F238E27FC236}">
                <a16:creationId xmlns:a16="http://schemas.microsoft.com/office/drawing/2014/main" id="{0FF3392C-A191-7C9A-0994-3F412FE9D007}"/>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2731910" y="1690688"/>
            <a:ext cx="8204314" cy="4388354"/>
          </a:xfrm>
          <a:prstGeom prst="rect">
            <a:avLst/>
          </a:prstGeom>
          <a:noFill/>
        </p:spPr>
      </p:pic>
    </p:spTree>
    <p:extLst>
      <p:ext uri="{BB962C8B-B14F-4D97-AF65-F5344CB8AC3E}">
        <p14:creationId xmlns:p14="http://schemas.microsoft.com/office/powerpoint/2010/main" val="3272207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B60B3-5C72-0BF0-2214-1EDF696F09B9}"/>
              </a:ext>
            </a:extLst>
          </p:cNvPr>
          <p:cNvSpPr>
            <a:spLocks noGrp="1"/>
          </p:cNvSpPr>
          <p:nvPr>
            <p:ph type="title"/>
          </p:nvPr>
        </p:nvSpPr>
        <p:spPr/>
        <p:txBody>
          <a:bodyPr/>
          <a:lstStyle/>
          <a:p>
            <a:r>
              <a:rPr lang="en-US" dirty="0"/>
              <a:t>Next time on PSY 440…</a:t>
            </a:r>
          </a:p>
        </p:txBody>
      </p:sp>
      <p:sp>
        <p:nvSpPr>
          <p:cNvPr id="6" name="Text Placeholder 5">
            <a:extLst>
              <a:ext uri="{FF2B5EF4-FFF2-40B4-BE49-F238E27FC236}">
                <a16:creationId xmlns:a16="http://schemas.microsoft.com/office/drawing/2014/main" id="{2CC80FD3-1002-27F1-9A53-B812E1F9CFB6}"/>
              </a:ext>
            </a:extLst>
          </p:cNvPr>
          <p:cNvSpPr>
            <a:spLocks noGrp="1"/>
          </p:cNvSpPr>
          <p:nvPr>
            <p:ph type="body" idx="1"/>
          </p:nvPr>
        </p:nvSpPr>
        <p:spPr/>
        <p:txBody>
          <a:bodyPr/>
          <a:lstStyle/>
          <a:p>
            <a:r>
              <a:rPr lang="en-US" dirty="0"/>
              <a:t>Before Next Class:</a:t>
            </a:r>
          </a:p>
        </p:txBody>
      </p:sp>
      <p:sp>
        <p:nvSpPr>
          <p:cNvPr id="7" name="Content Placeholder 6">
            <a:extLst>
              <a:ext uri="{FF2B5EF4-FFF2-40B4-BE49-F238E27FC236}">
                <a16:creationId xmlns:a16="http://schemas.microsoft.com/office/drawing/2014/main" id="{BDE661C5-7DB9-7445-1D52-D1334BF5614A}"/>
              </a:ext>
            </a:extLst>
          </p:cNvPr>
          <p:cNvSpPr>
            <a:spLocks noGrp="1"/>
          </p:cNvSpPr>
          <p:nvPr>
            <p:ph sz="half" idx="2"/>
          </p:nvPr>
        </p:nvSpPr>
        <p:spPr/>
        <p:txBody>
          <a:bodyPr>
            <a:normAutofit/>
          </a:bodyPr>
          <a:lstStyle/>
          <a:p>
            <a:r>
              <a:rPr lang="en-US" dirty="0"/>
              <a:t>Complete Friday’s assignment (Week 3- Class Activity #2)</a:t>
            </a:r>
          </a:p>
          <a:p>
            <a:pPr lvl="1"/>
            <a:r>
              <a:rPr lang="en-US" dirty="0"/>
              <a:t>Due TONIGHT at 11:59pm</a:t>
            </a:r>
          </a:p>
          <a:p>
            <a:r>
              <a:rPr lang="en-US" dirty="0"/>
              <a:t>Complete today’s activity (the journal prompt)</a:t>
            </a:r>
          </a:p>
          <a:p>
            <a:pPr lvl="1"/>
            <a:r>
              <a:rPr lang="en-US" dirty="0"/>
              <a:t>Due Wednesday at 11:59pm</a:t>
            </a:r>
          </a:p>
          <a:p>
            <a:r>
              <a:rPr lang="en-US" dirty="0"/>
              <a:t>Research towards your BCP</a:t>
            </a:r>
          </a:p>
        </p:txBody>
      </p:sp>
      <p:sp>
        <p:nvSpPr>
          <p:cNvPr id="8" name="Text Placeholder 7">
            <a:extLst>
              <a:ext uri="{FF2B5EF4-FFF2-40B4-BE49-F238E27FC236}">
                <a16:creationId xmlns:a16="http://schemas.microsoft.com/office/drawing/2014/main" id="{FC1C67F9-0306-21A3-D08E-D74ED338AF0F}"/>
              </a:ext>
            </a:extLst>
          </p:cNvPr>
          <p:cNvSpPr>
            <a:spLocks noGrp="1"/>
          </p:cNvSpPr>
          <p:nvPr>
            <p:ph type="body" sz="quarter" idx="3"/>
          </p:nvPr>
        </p:nvSpPr>
        <p:spPr/>
        <p:txBody>
          <a:bodyPr/>
          <a:lstStyle/>
          <a:p>
            <a:r>
              <a:rPr lang="en-US" dirty="0"/>
              <a:t>In Our Next Class:</a:t>
            </a:r>
          </a:p>
        </p:txBody>
      </p:sp>
      <p:sp>
        <p:nvSpPr>
          <p:cNvPr id="9" name="Content Placeholder 8">
            <a:extLst>
              <a:ext uri="{FF2B5EF4-FFF2-40B4-BE49-F238E27FC236}">
                <a16:creationId xmlns:a16="http://schemas.microsoft.com/office/drawing/2014/main" id="{9565046A-8F72-1A8E-4A38-C84067A8AF69}"/>
              </a:ext>
            </a:extLst>
          </p:cNvPr>
          <p:cNvSpPr>
            <a:spLocks noGrp="1"/>
          </p:cNvSpPr>
          <p:nvPr>
            <p:ph sz="quarter" idx="4"/>
          </p:nvPr>
        </p:nvSpPr>
        <p:spPr/>
        <p:txBody>
          <a:bodyPr>
            <a:normAutofit/>
          </a:bodyPr>
          <a:lstStyle/>
          <a:p>
            <a:r>
              <a:rPr lang="en-US" dirty="0"/>
              <a:t>Class activity! </a:t>
            </a:r>
          </a:p>
        </p:txBody>
      </p:sp>
      <p:sp>
        <p:nvSpPr>
          <p:cNvPr id="4" name="Slide Number Placeholder 3">
            <a:extLst>
              <a:ext uri="{FF2B5EF4-FFF2-40B4-BE49-F238E27FC236}">
                <a16:creationId xmlns:a16="http://schemas.microsoft.com/office/drawing/2014/main" id="{485C7C62-A2E1-D0E6-6AA0-E0225DAC1A9D}"/>
              </a:ext>
            </a:extLst>
          </p:cNvPr>
          <p:cNvSpPr>
            <a:spLocks noGrp="1"/>
          </p:cNvSpPr>
          <p:nvPr>
            <p:ph type="sldNum" sz="quarter" idx="12"/>
          </p:nvPr>
        </p:nvSpPr>
        <p:spPr/>
        <p:txBody>
          <a:bodyPr/>
          <a:lstStyle/>
          <a:p>
            <a:fld id="{3A4F6043-7A67-491B-98BC-F933DED7226D}" type="slidenum">
              <a:rPr lang="en-US" smtClean="0"/>
              <a:pPr/>
              <a:t>17</a:t>
            </a:fld>
            <a:endParaRPr lang="en-US" dirty="0"/>
          </a:p>
        </p:txBody>
      </p:sp>
    </p:spTree>
    <p:extLst>
      <p:ext uri="{BB962C8B-B14F-4D97-AF65-F5344CB8AC3E}">
        <p14:creationId xmlns:p14="http://schemas.microsoft.com/office/powerpoint/2010/main" val="647258095"/>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B665E41-66EB-401D-940D-8E7024721B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281</TotalTime>
  <Words>831</Words>
  <Application>Microsoft Office PowerPoint</Application>
  <PresentationFormat>Widescreen</PresentationFormat>
  <Paragraphs>118</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Dante</vt:lpstr>
      <vt:lpstr>Dante (Headings)2</vt:lpstr>
      <vt:lpstr>Wingdings 2</vt:lpstr>
      <vt:lpstr>OffsetVTI</vt:lpstr>
      <vt:lpstr>Health-Promoting Behaviors</vt:lpstr>
      <vt:lpstr>Agenda</vt:lpstr>
      <vt:lpstr>Exercise</vt:lpstr>
      <vt:lpstr>Exercise</vt:lpstr>
      <vt:lpstr>What characteristics about a person make them more likely to exercise? What characteristics about an environment can promote exercise?</vt:lpstr>
      <vt:lpstr>Exercise Interventions</vt:lpstr>
      <vt:lpstr>Accident Prevention</vt:lpstr>
      <vt:lpstr>Consider your current home. What are some things within your home that could increase the risk of falls or accidents?</vt:lpstr>
      <vt:lpstr>Vaccinations</vt:lpstr>
      <vt:lpstr>Screening</vt:lpstr>
      <vt:lpstr>Sun Safety Practices</vt:lpstr>
      <vt:lpstr>Healthy Diet</vt:lpstr>
      <vt:lpstr>Sleep</vt:lpstr>
      <vt:lpstr>Types of Brain Waves</vt:lpstr>
      <vt:lpstr>Stages of Sleep</vt:lpstr>
      <vt:lpstr>Ramifications of Poor Sleep</vt:lpstr>
      <vt:lpstr>Next time on PSY 440…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6</cp:revision>
  <dcterms:created xsi:type="dcterms:W3CDTF">2025-09-15T03:08:38Z</dcterms:created>
  <dcterms:modified xsi:type="dcterms:W3CDTF">2026-02-02T17:28:36Z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