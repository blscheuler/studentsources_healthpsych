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32" r:id="rId7"/>
    <p:sldId id="333" r:id="rId8"/>
    <p:sldId id="334" r:id="rId9"/>
    <p:sldId id="335" r:id="rId10"/>
    <p:sldId id="338" r:id="rId11"/>
    <p:sldId id="337" r:id="rId12"/>
    <p:sldId id="336" r:id="rId13"/>
    <p:sldId id="339" r:id="rId14"/>
    <p:sldId id="340" r:id="rId15"/>
    <p:sldId id="3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85" d="100"/>
          <a:sy n="85" d="100"/>
        </p:scale>
        <p:origin x="1002" y="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A7A5-B7AF-3F1C-45E9-C024C90A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8A943-5874-3665-B44C-2A66E81C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B7B2A-2957-19EA-2FE5-5FB59EA09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04500-3667-BB3E-7C47-9ECC5F541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6716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119B-C5EF-E45E-CF78-B3E81E9F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815E6-4098-0AF8-D78A-10C0FD26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29327-A831-A150-60DD-34BE12AC2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C391-3512-3A5C-9A65-213755800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612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C32E-AE98-D33A-1105-A6BF7EF7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14D3-C844-B1CD-C99B-9F40F4973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A8A44-3480-ED36-A049-3B89389F9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3EB91-E3E0-5EF8-7007-AF8F3480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5132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C7D9-AF18-C53E-E02C-48EF6AD8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5E55F-0650-D7F0-678A-74E4C5D1C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37EBC-C344-590F-206D-AA56F83DE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1F145-E625-F302-F474-A0AD9CB5E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873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8094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0C6A-2BBB-1A39-8C9D-AE295486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DD47E-3200-313F-1D47-D6FE68667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568D7-E397-3504-9F00-975DEA830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20430-93E1-C9EA-2503-A3F18469C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3488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08D5-AA8E-759E-A0A5-FF7CB2BA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BB391-FF57-9CF6-828D-D90AFD55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46F64-6696-4E56-BB5F-5C3DFCB8D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CD844-760C-75F4-92C4-6247D29F8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0385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D440-4066-ACCA-3FEA-37C5AEEF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31228-2E0D-C1B1-1DD0-7B9F8ADDB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4AC3B-7C74-8696-FD70-486E3BCF4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DEEB0-EFA3-852F-9016-2969F70F0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6154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0672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082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pjVI8iCoWoY?feature=oembed" TargetMode="Externa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Jgh6lDV1UQ?feature=oembed" TargetMode="Externa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Psychoneuroimmunology and Immune-Related Disorders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2" y="914400"/>
            <a:ext cx="5828503" cy="5029200"/>
          </a:xfrm>
        </p:spPr>
        <p:txBody>
          <a:bodyPr/>
          <a:lstStyle/>
          <a:p>
            <a:r>
              <a:rPr lang="en-US" sz="11500" b="1" dirty="0">
                <a:solidFill>
                  <a:srgbClr val="002060"/>
                </a:solidFill>
              </a:rPr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736855"/>
              </p:ext>
            </p:extLst>
          </p:nvPr>
        </p:nvGraphicFramePr>
        <p:xfrm>
          <a:off x="6643315" y="1143000"/>
          <a:ext cx="4954174" cy="3983198"/>
        </p:xfrm>
        <a:graphic>
          <a:graphicData uri="http://schemas.openxmlformats.org/drawingml/2006/table">
            <a:tbl>
              <a:tblPr firstRow="1" bandRow="1"/>
              <a:tblGrid>
                <a:gridCol w="4954174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latin typeface="+mn-lt"/>
                          <a:cs typeface="Gill Sans Light" panose="020B0302020104020203" pitchFamily="34" charset="-79"/>
                        </a:rPr>
                        <a:t>The Immune System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HIV and AIDS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Arthritis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Type 1 Diabetes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3BB4-4134-7734-2009-79657B93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5C9958-7791-563B-9B38-17FE0FB5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The Immune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14235-59DB-A9E6-D2B6-BE5517F594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Psychoneuroimmunology </a:t>
            </a:r>
            <a:r>
              <a:rPr lang="en-US" sz="2400" dirty="0"/>
              <a:t>– the study of how psychological factors (like mental health and behavior) and response-related systems of the body (particularly the nervous, endocrine, and immune systems) interconnect and impact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immune system is the surveillance system of the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do we see if the immune system is working?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See if immune cells (like lymphocytes) are active, proliferating, and transforming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Assess the production of antibodies in response to foreign material (like latent viruses)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 the level of immune system products (like cytokines)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Evaluate outcomes, such as wound healing speed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7811D-C303-789D-32F3-3DFE07962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8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B2DA-9616-8591-2A71-778B52B7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3EAF7D-0222-C917-8F55-723E89C6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The Immune System &amp; Stress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4BEF5C-B906-E304-A667-DC684FBF8D4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immune system and stress have a complex relationship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Different kinds of stressors require different kinds of defenses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Ex: something short-term, like injury response vs. longer time-framed, like specific immunity development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Immune responses come at a cost, so efficiency requires that some immune aspects are suppressed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impacts the sympathetic nervous system and the HPA axis, both of which influence immune functioning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can impact other mental health aspects, such as negative affect, which also impacts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Treating stress has led to better health outcomes in multiple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99CE9-76CE-2567-704E-08BB5AFFF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93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06A7-2B5A-72B8-F462-177E5F8D6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6C9C19-5FFA-82DC-2108-C07C912B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869133"/>
            <a:ext cx="10360152" cy="914400"/>
          </a:xfrm>
        </p:spPr>
        <p:txBody>
          <a:bodyPr/>
          <a:lstStyle/>
          <a:p>
            <a:r>
              <a:rPr lang="en-US" dirty="0"/>
              <a:t>HIV and AIDS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143A60-1910-6EA7-8FDB-97667F306C5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2900" y="2039111"/>
            <a:ext cx="5949257" cy="38404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Human immunodeficiency virus (HIV) </a:t>
            </a:r>
            <a:r>
              <a:rPr lang="en-US" sz="2400" dirty="0"/>
              <a:t>– a retrovirus that attacks the helper T cells and macrophages of the immune system. HIV is (to our knowledge) only transferred through the exchange of cell-containing bodily fluids (ex: blood and semen).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HIV, if untreated, can progress to 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Acquired immune deficiency syndrome (AIDS) </a:t>
            </a:r>
            <a:r>
              <a:rPr lang="en-US" sz="2400" dirty="0"/>
              <a:t>– a chronic disease where the immune system is severely damaged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E36F1-134F-5BAE-95BC-E98AB6206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 descr="A diagram of a person's body is impacted by HIV. List includes:&#10;-mouth sores&#10;-fatigue&#10;-Sore throat&#10;-diarrhea&#10;-night sweats&#10;-muscle aches&#10;-rash&#10;-fever and chills&#10;-swollen lymph nodes">
            <a:extLst>
              <a:ext uri="{FF2B5EF4-FFF2-40B4-BE49-F238E27FC236}">
                <a16:creationId xmlns:a16="http://schemas.microsoft.com/office/drawing/2014/main" id="{ECCCB2F2-38D3-B185-A7BF-3021CE717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928" y="967287"/>
            <a:ext cx="5021580" cy="50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7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A43F-58E1-6A47-5943-29F0B135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258949-8676-4CF7-874A-4C83D022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HIV and AIDS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7ADA04-32D0-DD6B-9038-610DFD81EA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Misconception: HIV can be spread through casual contact (hugging, kissing,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Fact: HIV can only be spread through cell-containing fluids (blood, semen [including pre-ejaculate], vaginal fluid, and breast milk)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Misconception: Gay men are responsible for the spread of HIV and 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Fact: Worldwide, 70-75% of HIV cases pass between heterosexual contact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Misconception: Once you have HIV, you can never have sex again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Fact: HIV can be treated with a daily pill. After 1-6 months on the pill, HIV is undetectable in a patient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Undetectable = </a:t>
            </a:r>
            <a:r>
              <a:rPr lang="en-US" sz="2400" dirty="0" err="1"/>
              <a:t>Untransmittable</a:t>
            </a:r>
            <a:r>
              <a:rPr lang="en-US" sz="2400" dirty="0"/>
              <a:t>   (U=U)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4910B-3754-99AC-C470-D1C33907D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58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674639D-C1C9-292C-1A22-319932D26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820" y="594360"/>
            <a:ext cx="5641848" cy="674370"/>
          </a:xfrm>
        </p:spPr>
        <p:txBody>
          <a:bodyPr/>
          <a:lstStyle/>
          <a:p>
            <a:r>
              <a:rPr lang="en-US" dirty="0"/>
              <a:t>Living with HIV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5DADD179-1673-C769-D0C1-86A7D56BD4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6" name="Online Media 5" title="FACES of HIV:Donald's Story">
            <a:hlinkClick r:id="" action="ppaction://media"/>
            <a:extLst>
              <a:ext uri="{FF2B5EF4-FFF2-40B4-BE49-F238E27FC236}">
                <a16:creationId xmlns:a16="http://schemas.microsoft.com/office/drawing/2014/main" id="{264A1B39-693B-C46D-4FA7-7684469441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39398" y="1268730"/>
            <a:ext cx="9113203" cy="5148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CE68C0-66A8-940D-54B2-E6EB4DEC8E58}"/>
              </a:ext>
            </a:extLst>
          </p:cNvPr>
          <p:cNvSpPr txBox="1"/>
          <p:nvPr/>
        </p:nvSpPr>
        <p:spPr>
          <a:xfrm>
            <a:off x="6967434" y="6488668"/>
            <a:ext cx="463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https://www.youtube.com/watch?v=pjVI8iCoWoY</a:t>
            </a:r>
          </a:p>
        </p:txBody>
      </p:sp>
    </p:spTree>
    <p:extLst>
      <p:ext uri="{BB962C8B-B14F-4D97-AF65-F5344CB8AC3E}">
        <p14:creationId xmlns:p14="http://schemas.microsoft.com/office/powerpoint/2010/main" val="69291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2961-38BF-BBC3-7997-02A6F62F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608B38-B5E6-9C79-DE8A-1CD45D27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Arthritis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CC8CFF-7FB7-6B8B-0FD2-41AD9A3E2C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Arthritis </a:t>
            </a:r>
            <a:r>
              <a:rPr lang="en-US" sz="2400" dirty="0"/>
              <a:t>– Greek for “joint inflammation;” a category of illnesses where the lining of joints become painful, stiff, and/ or swollen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Osteoarthritis </a:t>
            </a:r>
            <a:r>
              <a:rPr lang="en-US" sz="2400" dirty="0"/>
              <a:t>– a form of arthritis caused by the articular cartilage around joints cracking and wearing away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Tends to affect weight-bearing joints, such as the hips, knees, and spine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Most patients are 50+ years 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Rheumatoid arthritis </a:t>
            </a:r>
            <a:r>
              <a:rPr lang="en-US" sz="2400" dirty="0"/>
              <a:t>– an autoimmune disease where the immune system attacks the lining of the joints, causing pain, stiffness, and inflammation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This disease most often attacks people in the 40-60 age group, but can happen at any age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unmanaged, the surrounding muscle and bone can be destroyed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Treatments for both forms of arthritis can include anti-inflammatory medication, weight control, exercise, and pain killers. Surgery may be involved in serious cases.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A0A6F-7F42-4624-EF89-1520FA0DF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1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B60B-2D48-BB6D-6E37-72F9094D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4C9065-9E25-961B-E4F4-B0EE432D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 1 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03724F-AD13-3703-A0C3-2269F55A20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514689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 1 Diabetes </a:t>
            </a:r>
            <a:r>
              <a:rPr lang="en-US" sz="2400" dirty="0"/>
              <a:t>– an autoimmune disorder where the immune system attacks the insulin-producing cells in the pancreas, leading to severe (and potentially deadly) insulin deficiency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Type 1 diabetes often develops early in life (typically between 4 and 7 years old, or 10 and 13 years old)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Early symptoms include: frequent urination, thirst, weight loss, fatigue, nausea, and good cravings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no cure, but can be managed with frequent monitoring and insulin injections (3-5 times per day)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Stress exacerbates type 1 diabetes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4575A-E011-9BB0-C59E-39950603E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4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5B2B7-AE49-F0AA-35DD-CF5964EA8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98987E-44A4-98E3-B937-4EA6DD86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 1 Diabetes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4C31B0-B2ED-C658-3AAB-5B9EE8D249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514689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long-term complications: cardiovascular disease, neuropathy, kidney damage, eye damage, pregnancy complications, and skin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Immediate risk: </a:t>
            </a:r>
            <a:r>
              <a:rPr lang="en-US" sz="2400" b="1" dirty="0"/>
              <a:t>diabetic hypoglycemia</a:t>
            </a:r>
            <a:r>
              <a:rPr lang="en-US" sz="2400" dirty="0"/>
              <a:t> – low blood sugar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Hypoglycemia warning signs: faded skin color, shaking, sweating, feel cold, irregular heartbeat, fatigue, difficulty concentrating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Call 911 if symptoms are severe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DON’T GIVE INSULIN – this will make their blood sugar drop more (insulin tells cells to absorb sugar from blood)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Instead, patients takes sugar pills or a glucagon shot/ nasal spray (a hormone that tells liver to release stored glucose)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6987-890F-7F45-99E3-92A01CC8B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90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6E41-C858-1452-C6D1-C00B801E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514350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Living with Type 1 Diabetes</a:t>
            </a:r>
          </a:p>
        </p:txBody>
      </p:sp>
      <p:pic>
        <p:nvPicPr>
          <p:cNvPr id="6" name="Online Media 5" title="Living with Type 1 Diabetes">
            <a:hlinkClick r:id="" action="ppaction://media"/>
            <a:extLst>
              <a:ext uri="{FF2B5EF4-FFF2-40B4-BE49-F238E27FC236}">
                <a16:creationId xmlns:a16="http://schemas.microsoft.com/office/drawing/2014/main" id="{B35EED5F-E413-1F3C-E875-1ADFE35BD73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62281" y="1403662"/>
            <a:ext cx="8767619" cy="495370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CB66-9802-36FC-1444-D79EB294D6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68493" y="6357366"/>
            <a:ext cx="5443348" cy="418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https://www.youtube.com/watch?v=NJgh6lDV1UQ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EC6B5-B4B6-F6E8-AE1B-75E31EA3D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BBD74A-9A7D-E58C-3F51-E02DC762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DA13C1D-EA80-4B25-3243-78FB54D7F47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Before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Work on 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 today’s journal prompt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Due Friday at 11:59 pm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F48A430-B8AF-1DC0-DA44-029337EE89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Activity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3CE4A-7631-B354-9299-9CA7821E9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161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860</TotalTime>
  <Words>844</Words>
  <Application>Microsoft Office PowerPoint</Application>
  <PresentationFormat>Widescreen</PresentationFormat>
  <Paragraphs>81</Paragraphs>
  <Slides>12</Slides>
  <Notes>12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Gill Sans Nova Light</vt:lpstr>
      <vt:lpstr>Sagona Book</vt:lpstr>
      <vt:lpstr>Custom</vt:lpstr>
      <vt:lpstr>Psychoneuroimmunology and Immune-Related Disorders</vt:lpstr>
      <vt:lpstr>Agenda</vt:lpstr>
      <vt:lpstr>The Immune System</vt:lpstr>
      <vt:lpstr>The Immune System &amp; Stress</vt:lpstr>
      <vt:lpstr>HIV and AIDS</vt:lpstr>
      <vt:lpstr>HIV and AIDS</vt:lpstr>
      <vt:lpstr>Living with HIV</vt:lpstr>
      <vt:lpstr>Arthritis</vt:lpstr>
      <vt:lpstr>Type 1 Diabetes</vt:lpstr>
      <vt:lpstr>Type 1 Diabetes</vt:lpstr>
      <vt:lpstr>Living with Type 1 Diabetes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Scheuler, Bryanna</cp:lastModifiedBy>
  <cp:revision>16</cp:revision>
  <dcterms:created xsi:type="dcterms:W3CDTF">2025-10-29T06:28:47Z</dcterms:created>
  <dcterms:modified xsi:type="dcterms:W3CDTF">2026-03-30T13:22:56Z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