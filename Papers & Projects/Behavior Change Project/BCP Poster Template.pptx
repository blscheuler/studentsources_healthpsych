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6576000" cy="329184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85"/>
    <a:srgbClr val="014C84"/>
    <a:srgbClr val="000062"/>
    <a:srgbClr val="CCCCCC"/>
    <a:srgbClr val="F2F2F2"/>
    <a:srgbClr val="E6E6E6"/>
    <a:srgbClr val="AA0000"/>
    <a:srgbClr val="000099"/>
    <a:srgbClr val="9900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23" d="100"/>
          <a:sy n="23" d="100"/>
        </p:scale>
        <p:origin x="3786" y="78"/>
      </p:cViewPr>
      <p:guideLst>
        <p:guide orient="horz" pos="10368"/>
        <p:guide pos="11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46CF9AC-58DC-032A-D332-D918E609C5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t" anchorCtr="0" compatLnSpc="1">
            <a:prstTxWarp prst="textNoShape">
              <a:avLst/>
            </a:prstTxWarp>
          </a:bodyPr>
          <a:lstStyle>
            <a:lvl1pPr defTabSz="973138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847004F-455D-AA98-F88A-8665B96B28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t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4493F85-659B-F48C-3553-B0FA6D84F8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b" anchorCtr="0" compatLnSpc="1">
            <a:prstTxWarp prst="textNoShape">
              <a:avLst/>
            </a:prstTxWarp>
          </a:bodyPr>
          <a:lstStyle>
            <a:lvl1pPr defTabSz="973138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DFFEAA5-FFFF-4D1F-AC0A-F1027E281C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b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200"/>
            </a:lvl1pPr>
          </a:lstStyle>
          <a:p>
            <a:fld id="{2A9FDE32-9DE7-46D7-97DF-02CA25E651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F041E8-4663-F684-8EFF-25059A4CE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B1C27-347B-FA55-C0D9-FC59E3D6CB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7ABE77E-3940-4AF1-86E3-B2968DF173A0}" type="datetimeFigureOut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3A10983-4BC0-95A0-AF40-F50F5E7F8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657350" y="720725"/>
            <a:ext cx="40005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48AF420-2572-554F-270E-A49C4E465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829FA-3E1E-D5A0-B0D6-A00A267250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07E4-740B-740C-D5D2-80EFA25C2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9F19BD1-0161-49A0-BDFA-7EBE76FC320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D7818CDF-D9C7-6E49-7673-9599E6C550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30DAD69C-7441-4B4D-4E3A-7B6DBE4A99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B01505-6309-5B8F-9E69-77810EAED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203CA97-E6ED-433A-AEEC-598D3EF4A167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10226675"/>
            <a:ext cx="3108960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8653125"/>
            <a:ext cx="25603200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BC64A6-5D31-DE48-D323-20404893F4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B4002F-F52D-986C-48B5-F5602BE94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BA0CEC-E5F8-AC92-3743-B1D80A685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720EA4-E608-4B40-A2DA-95C09CD048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55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65E767-17F3-02FB-FD74-B521C4F3E2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065972-AC64-016E-92D1-CB464386C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9A8E65-8DB0-F4F9-805C-F8F852B171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05C1F3-A0D4-4014-8376-4E00F03001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14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0" y="21153438"/>
            <a:ext cx="31089600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50" y="13952538"/>
            <a:ext cx="31089600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C17AE1-C55D-E1A8-8D6C-1A3016BDFD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8A60A0-CA95-F9CC-03BE-4BEF3B067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88FA1C-B501-8E1B-76D5-0D0442A40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4BE961-3763-4C89-A473-B61DDA3635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39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200" y="9509125"/>
            <a:ext cx="15468600" cy="19751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64200" y="9509125"/>
            <a:ext cx="15468600" cy="19751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4B511-4C32-555A-1B47-ACBBEC0133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C66B7-91C7-BD9B-F008-B39ED9DD05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91DB6D-3A9B-2F9A-EABC-A6A4241D14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244751-1C7A-4231-AE92-69E92F9A11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73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317625"/>
            <a:ext cx="3291840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7369175"/>
            <a:ext cx="1616075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00" y="10439400"/>
            <a:ext cx="1616075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100" y="7369175"/>
            <a:ext cx="161671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100" y="10439400"/>
            <a:ext cx="161671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28B919-90CB-5C14-C60C-963665C82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C1D285-0296-FBF8-A759-CDE7482262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A803AA-C7BC-5DA1-941D-FA110F3C4E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805F51-F91B-40EC-A9C9-AAADFD481E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17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1C7945-037F-3B7F-EF06-396230669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F46D32B-3008-1D16-3F34-C97FC88FF3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C68F63-0683-B448-8DF1-6DCA0DE8FC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48551B-91FA-41A7-B6BD-40714FD7E3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77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576CEE8-3A75-04A9-A00E-DA6D0E034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2E1D56-2133-56FC-B0BD-DC8CE72E0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B5A20C5-9D03-AC5E-5087-D92E4C49D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14CC1-EF90-4060-B5FD-74A8D1723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16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311275"/>
            <a:ext cx="1203325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200" y="1311275"/>
            <a:ext cx="204470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6888163"/>
            <a:ext cx="1203325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AA201-B452-E315-EF85-51C8EBA309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63F997-76AE-5033-9F8F-08A113A9A8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C2A9B-A620-1939-BF12-EBBF174BA6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F81346-9D92-4303-824B-0919FF9D28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49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0" y="23042563"/>
            <a:ext cx="21945600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9150" y="2941638"/>
            <a:ext cx="21945600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9150" y="25763538"/>
            <a:ext cx="21945600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D916A-3D51-B6B8-7F8B-E1E6672B12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745A2-23B4-9B3F-7AF9-B65CADB40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6725F-909F-6F17-B7BA-A6EC752F5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9D0647-BA3E-48AE-98CB-B2614D18A0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7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B6D576-0354-3B75-F4D0-5D3AEF7B59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EED5B4-6C1E-C005-9CE9-7CD0701C2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207381-5EAD-A717-9839-649B9B9019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E6875E-B905-477A-85E0-A7B5E785EF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26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060400" y="2925763"/>
            <a:ext cx="7772400" cy="2633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3200" y="2925763"/>
            <a:ext cx="23164800" cy="2633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FE0502-32E8-87BF-6773-75621AFD16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EABDB4-0273-80AE-C0DB-7AD263BFC9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246ACA-8F19-B1F4-F2FD-427D94F082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CEEC5D-F077-4811-883F-F646C33AA6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61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C00471-0970-16C1-EC98-F34DEDC4C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43200" y="2925763"/>
            <a:ext cx="3108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FCB4EB-DB3E-D5A6-0529-B02CF7D8C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3200" y="9509125"/>
            <a:ext cx="31089600" cy="1975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87C5927-7A6A-EE88-FBBC-220160666B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743200" y="29992638"/>
            <a:ext cx="7620000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defTabSz="4806950" eaLnBrk="1" hangingPunct="1">
              <a:defRPr sz="7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264523-C2C6-E96D-E922-D3DB2E5317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496800" y="29992638"/>
            <a:ext cx="11582400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ctr" defTabSz="4806950" eaLnBrk="1" hangingPunct="1">
              <a:defRPr sz="7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923AA1-8746-50EA-1B66-108F22D5F4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6212800" y="29992638"/>
            <a:ext cx="7620000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r" defTabSz="4806950" eaLnBrk="1" hangingPunct="1">
              <a:defRPr sz="7400"/>
            </a:lvl1pPr>
          </a:lstStyle>
          <a:p>
            <a:fld id="{B5AF3642-CF2B-4937-9CDE-39EAE649F0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2pPr>
      <a:lvl3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3pPr>
      <a:lvl4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4pPr>
      <a:lvl5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5pPr>
      <a:lvl6pPr marL="4572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6pPr>
      <a:lvl7pPr marL="9144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7pPr>
      <a:lvl8pPr marL="13716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8pPr>
      <a:lvl9pPr marL="18288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pitchFamily="18" charset="0"/>
        </a:defRPr>
      </a:lvl9pPr>
    </p:titleStyle>
    <p:bodyStyle>
      <a:lvl1pPr marL="1803400" indent="-1803400" algn="l" defTabSz="4806950" rtl="0" eaLnBrk="0" fontAlgn="base" hangingPunct="0">
        <a:spcBef>
          <a:spcPct val="20000"/>
        </a:spcBef>
        <a:spcAft>
          <a:spcPct val="0"/>
        </a:spcAft>
        <a:buChar char="•"/>
        <a:defRPr sz="16800">
          <a:solidFill>
            <a:schemeClr val="tx1"/>
          </a:solidFill>
          <a:latin typeface="+mn-lt"/>
          <a:ea typeface="+mn-ea"/>
          <a:cs typeface="+mn-cs"/>
        </a:defRPr>
      </a:lvl1pPr>
      <a:lvl2pPr marL="3905250" indent="-1501775" algn="l" defTabSz="4806950" rtl="0" eaLnBrk="0" fontAlgn="base" hangingPunct="0">
        <a:spcBef>
          <a:spcPct val="20000"/>
        </a:spcBef>
        <a:spcAft>
          <a:spcPct val="0"/>
        </a:spcAft>
        <a:buChar char="–"/>
        <a:defRPr sz="14700">
          <a:solidFill>
            <a:schemeClr val="tx1"/>
          </a:solidFill>
          <a:latin typeface="+mn-lt"/>
        </a:defRPr>
      </a:lvl2pPr>
      <a:lvl3pPr marL="6008688" indent="-1201738" algn="l" defTabSz="4806950" rtl="0" eaLnBrk="0" fontAlgn="base" hangingPunct="0">
        <a:spcBef>
          <a:spcPct val="20000"/>
        </a:spcBef>
        <a:spcAft>
          <a:spcPct val="0"/>
        </a:spcAft>
        <a:buChar char="•"/>
        <a:defRPr sz="12600">
          <a:solidFill>
            <a:schemeClr val="tx1"/>
          </a:solidFill>
          <a:latin typeface="+mn-lt"/>
        </a:defRPr>
      </a:lvl3pPr>
      <a:lvl4pPr marL="8412163" indent="-1201738" algn="l" defTabSz="4806950" rtl="0" eaLnBrk="0" fontAlgn="base" hangingPunct="0">
        <a:spcBef>
          <a:spcPct val="20000"/>
        </a:spcBef>
        <a:spcAft>
          <a:spcPct val="0"/>
        </a:spcAft>
        <a:buChar char="–"/>
        <a:defRPr sz="10500">
          <a:solidFill>
            <a:schemeClr val="tx1"/>
          </a:solidFill>
          <a:latin typeface="+mn-lt"/>
        </a:defRPr>
      </a:lvl4pPr>
      <a:lvl5pPr marL="10815638" indent="-1201738" algn="l" defTabSz="4806950" rtl="0" eaLnBrk="0" fontAlgn="base" hangingPunct="0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5pPr>
      <a:lvl6pPr marL="112728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6pPr>
      <a:lvl7pPr marL="117300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7pPr>
      <a:lvl8pPr marL="121872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8pPr>
      <a:lvl9pPr marL="126444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23">
            <a:extLst>
              <a:ext uri="{FF2B5EF4-FFF2-40B4-BE49-F238E27FC236}">
                <a16:creationId xmlns:a16="http://schemas.microsoft.com/office/drawing/2014/main" id="{2433D1ED-7EC4-2CFB-2A53-F82FC5B2C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5123795"/>
            <a:ext cx="35890200" cy="275211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sp>
        <p:nvSpPr>
          <p:cNvPr id="2272" name="AutoShape 224">
            <a:extLst>
              <a:ext uri="{FF2B5EF4-FFF2-40B4-BE49-F238E27FC236}">
                <a16:creationId xmlns:a16="http://schemas.microsoft.com/office/drawing/2014/main" id="{B0469913-8EAC-9823-4648-BFBE73C6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363"/>
            <a:ext cx="27125613" cy="2636837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78822" dir="1804115" algn="ctr" rotWithShape="0">
              <a:srgbClr val="787878"/>
            </a:outerShdw>
          </a:effectLst>
        </p:spPr>
        <p:txBody>
          <a:bodyPr lIns="196169" tIns="182880" rIns="196169" bIns="101091" anchor="ctr" anchorCtr="1"/>
          <a:lstStyle>
            <a:lvl1pPr algn="ctr" defTabSz="4806950">
              <a:defRPr sz="23100">
                <a:solidFill>
                  <a:schemeClr val="tx2"/>
                </a:solidFill>
                <a:latin typeface="Times New Roman" pitchFamily="18" charset="0"/>
              </a:defRPr>
            </a:lvl1pPr>
            <a:lvl2pPr algn="ctr" defTabSz="4806950">
              <a:defRPr sz="23100">
                <a:solidFill>
                  <a:schemeClr val="tx2"/>
                </a:solidFill>
                <a:latin typeface="Times New Roman" pitchFamily="18" charset="0"/>
              </a:defRPr>
            </a:lvl2pPr>
            <a:lvl3pPr algn="ctr" defTabSz="4806950">
              <a:defRPr sz="23100">
                <a:solidFill>
                  <a:schemeClr val="tx2"/>
                </a:solidFill>
                <a:latin typeface="Times New Roman" pitchFamily="18" charset="0"/>
              </a:defRPr>
            </a:lvl3pPr>
            <a:lvl4pPr algn="ctr" defTabSz="4806950">
              <a:defRPr sz="23100">
                <a:solidFill>
                  <a:schemeClr val="tx2"/>
                </a:solidFill>
                <a:latin typeface="Times New Roman" pitchFamily="18" charset="0"/>
              </a:defRPr>
            </a:lvl4pPr>
            <a:lvl5pPr algn="ctr" defTabSz="4806950">
              <a:defRPr sz="231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defTabSz="4806950" fontAlgn="base">
              <a:spcBef>
                <a:spcPct val="0"/>
              </a:spcBef>
              <a:spcAft>
                <a:spcPct val="0"/>
              </a:spcAft>
              <a:defRPr sz="231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defTabSz="4806950" fontAlgn="base">
              <a:spcBef>
                <a:spcPct val="0"/>
              </a:spcBef>
              <a:spcAft>
                <a:spcPct val="0"/>
              </a:spcAft>
              <a:defRPr sz="231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defTabSz="4806950" fontAlgn="base">
              <a:spcBef>
                <a:spcPct val="0"/>
              </a:spcBef>
              <a:spcAft>
                <a:spcPct val="0"/>
              </a:spcAft>
              <a:defRPr sz="231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defTabSz="4806950" fontAlgn="base">
              <a:spcBef>
                <a:spcPct val="0"/>
              </a:spcBef>
              <a:spcAft>
                <a:spcPct val="0"/>
              </a:spcAft>
              <a:defRPr sz="231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Project Title</a:t>
            </a:r>
            <a:endParaRPr lang="en-US" altLang="en-US" sz="6600" b="1" i="1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  <p:sp>
        <p:nvSpPr>
          <p:cNvPr id="4106" name="Rectangle 233">
            <a:extLst>
              <a:ext uri="{FF2B5EF4-FFF2-40B4-BE49-F238E27FC236}">
                <a16:creationId xmlns:a16="http://schemas.microsoft.com/office/drawing/2014/main" id="{2F2E1D1C-2B00-658A-4836-A2AAFC3EE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21183600"/>
            <a:ext cx="10969625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B0125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/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br>
              <a:rPr lang="en-US" altLang="en-US" sz="2800">
                <a:solidFill>
                  <a:srgbClr val="000066"/>
                </a:solidFill>
                <a:latin typeface="Arial" panose="020B0604020202020204" pitchFamily="34" charset="0"/>
              </a:rPr>
            </a:br>
            <a:endParaRPr lang="en-US" altLang="en-US" sz="28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4109" name="Text Box 238">
            <a:extLst>
              <a:ext uri="{FF2B5EF4-FFF2-40B4-BE49-F238E27FC236}">
                <a16:creationId xmlns:a16="http://schemas.microsoft.com/office/drawing/2014/main" id="{981F7214-3149-4255-A21B-B43906DAE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991600"/>
            <a:ext cx="10969625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solidFill>
                <a:srgbClr val="00006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solidFill>
                <a:srgbClr val="000062"/>
              </a:solidFill>
              <a:latin typeface="Arial" panose="020B0604020202020204" pitchFamily="34" charset="0"/>
            </a:endParaRPr>
          </a:p>
        </p:txBody>
      </p:sp>
      <p:sp>
        <p:nvSpPr>
          <p:cNvPr id="4112" name="Text Box 255">
            <a:extLst>
              <a:ext uri="{FF2B5EF4-FFF2-40B4-BE49-F238E27FC236}">
                <a16:creationId xmlns:a16="http://schemas.microsoft.com/office/drawing/2014/main" id="{8212E37A-AF44-04CC-328A-B653EBE8A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50" y="7086601"/>
            <a:ext cx="11125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/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Words go here</a:t>
            </a:r>
          </a:p>
        </p:txBody>
      </p:sp>
      <p:sp>
        <p:nvSpPr>
          <p:cNvPr id="4118" name="Text Box 265">
            <a:extLst>
              <a:ext uri="{FF2B5EF4-FFF2-40B4-BE49-F238E27FC236}">
                <a16:creationId xmlns:a16="http://schemas.microsoft.com/office/drawing/2014/main" id="{7FD3C181-0476-C0A1-37E5-4EF56BD1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1800" y="119634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36C710-DBBB-8683-A223-F16B07F94DF8}"/>
              </a:ext>
            </a:extLst>
          </p:cNvPr>
          <p:cNvSpPr txBox="1"/>
          <p:nvPr/>
        </p:nvSpPr>
        <p:spPr>
          <a:xfrm>
            <a:off x="5640990" y="3277612"/>
            <a:ext cx="2529243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6000" dirty="0">
                <a:effectLst>
                  <a:outerShdw blurRad="50800" dist="25400" dir="5400000" algn="t" rotWithShape="0">
                    <a:schemeClr val="accent6">
                      <a:alpha val="40000"/>
                    </a:schemeClr>
                  </a:outerShdw>
                </a:effectLst>
                <a:latin typeface="Verdana" pitchFamily="34" charset="0"/>
                <a:cs typeface="Arial" pitchFamily="34" charset="0"/>
              </a:rPr>
              <a:t>Student Name</a:t>
            </a:r>
            <a:endParaRPr lang="en-US" sz="6000" baseline="30000" dirty="0">
              <a:effectLst>
                <a:outerShdw blurRad="50800" dist="25400" dir="5400000" algn="t" rotWithShape="0">
                  <a:schemeClr val="accent6">
                    <a:alpha val="40000"/>
                  </a:schemeClr>
                </a:outerShdw>
              </a:effectLst>
              <a:latin typeface="Verdana" pitchFamily="34" charset="0"/>
              <a:cs typeface="Arial" pitchFamily="34" charset="0"/>
            </a:endParaRPr>
          </a:p>
          <a:p>
            <a:pPr algn="ctr" eaLnBrk="1" hangingPunct="1">
              <a:defRPr/>
            </a:pPr>
            <a:r>
              <a:rPr lang="en-US" sz="4400" dirty="0">
                <a:effectLst>
                  <a:outerShdw blurRad="50800" dist="38100" dir="5400000" algn="t" rotWithShape="0">
                    <a:schemeClr val="accent6">
                      <a:alpha val="40000"/>
                    </a:schemeClr>
                  </a:outerShdw>
                </a:effectLst>
                <a:latin typeface="Verdana" pitchFamily="34" charset="0"/>
                <a:cs typeface="Arial" pitchFamily="34" charset="0"/>
              </a:rPr>
              <a:t>The University of Nebraska Kearney</a:t>
            </a:r>
          </a:p>
        </p:txBody>
      </p:sp>
      <p:sp>
        <p:nvSpPr>
          <p:cNvPr id="16" name="Text Box 256">
            <a:extLst>
              <a:ext uri="{FF2B5EF4-FFF2-40B4-BE49-F238E27FC236}">
                <a16:creationId xmlns:a16="http://schemas.microsoft.com/office/drawing/2014/main" id="{952AD00C-E70F-413B-0016-2A1EABE6C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50" y="24691539"/>
            <a:ext cx="11125200" cy="3385542"/>
          </a:xfrm>
          <a:prstGeom prst="rect">
            <a:avLst/>
          </a:prstGeom>
          <a:solidFill>
            <a:srgbClr val="E6E6E6"/>
          </a:solidFill>
          <a:ln>
            <a:solidFill>
              <a:srgbClr val="000062"/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SMART goal goes here</a:t>
            </a:r>
          </a:p>
          <a:p>
            <a:pPr marL="457200" indent="-457200" eaLnBrk="1" hangingPunct="1"/>
            <a:r>
              <a:rPr lang="en-US" altLang="en-US" sz="2800" b="1" dirty="0">
                <a:latin typeface="Arial" panose="020B0604020202020204" pitchFamily="34" charset="0"/>
              </a:rPr>
              <a:t>Specific</a:t>
            </a:r>
            <a:r>
              <a:rPr lang="en-US" altLang="en-US" sz="2800" dirty="0">
                <a:latin typeface="Arial" panose="020B0604020202020204" pitchFamily="34" charset="0"/>
              </a:rPr>
              <a:t>: explain</a:t>
            </a:r>
          </a:p>
          <a:p>
            <a:pPr marL="457200" indent="-457200" eaLnBrk="1" hangingPunct="1"/>
            <a:r>
              <a:rPr lang="en-US" altLang="en-US" sz="2800" b="1" dirty="0">
                <a:latin typeface="Arial" panose="020B0604020202020204" pitchFamily="34" charset="0"/>
              </a:rPr>
              <a:t>Measurable</a:t>
            </a:r>
            <a:r>
              <a:rPr lang="en-US" altLang="en-US" sz="2800" dirty="0">
                <a:latin typeface="Arial" panose="020B0604020202020204" pitchFamily="34" charset="0"/>
              </a:rPr>
              <a:t>: explain </a:t>
            </a:r>
          </a:p>
          <a:p>
            <a:pPr marL="457200" indent="-457200" eaLnBrk="1" hangingPunct="1"/>
            <a:r>
              <a:rPr lang="en-US" altLang="en-US" sz="2800" b="1" dirty="0">
                <a:latin typeface="Arial" panose="020B0604020202020204" pitchFamily="34" charset="0"/>
              </a:rPr>
              <a:t>Achievable</a:t>
            </a:r>
            <a:r>
              <a:rPr lang="en-US" altLang="en-US" sz="2800" dirty="0">
                <a:latin typeface="Arial" panose="020B0604020202020204" pitchFamily="34" charset="0"/>
              </a:rPr>
              <a:t>: explain</a:t>
            </a:r>
          </a:p>
          <a:p>
            <a:pPr marL="457200" indent="-457200" eaLnBrk="1" hangingPunct="1"/>
            <a:r>
              <a:rPr lang="en-US" altLang="en-US" sz="2800" b="1" dirty="0">
                <a:latin typeface="Arial" panose="020B0604020202020204" pitchFamily="34" charset="0"/>
              </a:rPr>
              <a:t>Relevant</a:t>
            </a:r>
            <a:r>
              <a:rPr lang="en-US" altLang="en-US" sz="2800" dirty="0">
                <a:latin typeface="Arial" panose="020B0604020202020204" pitchFamily="34" charset="0"/>
              </a:rPr>
              <a:t>: explain </a:t>
            </a:r>
          </a:p>
          <a:p>
            <a:pPr marL="457200" indent="-457200" eaLnBrk="1" hangingPunct="1"/>
            <a:r>
              <a:rPr lang="en-US" altLang="en-US" sz="2800" b="1" dirty="0">
                <a:latin typeface="Arial" panose="020B0604020202020204" pitchFamily="34" charset="0"/>
              </a:rPr>
              <a:t>Timebound</a:t>
            </a:r>
            <a:r>
              <a:rPr lang="en-US" altLang="en-US" sz="2800" dirty="0">
                <a:latin typeface="Arial" panose="020B0604020202020204" pitchFamily="34" charset="0"/>
              </a:rPr>
              <a:t>: explain</a:t>
            </a: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7" name="Text Box 256">
            <a:extLst>
              <a:ext uri="{FF2B5EF4-FFF2-40B4-BE49-F238E27FC236}">
                <a16:creationId xmlns:a16="http://schemas.microsoft.com/office/drawing/2014/main" id="{493DB384-B8B9-0CB0-790E-72742536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3312" y="7086601"/>
            <a:ext cx="1112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Word go here</a:t>
            </a:r>
          </a:p>
        </p:txBody>
      </p:sp>
      <p:sp>
        <p:nvSpPr>
          <p:cNvPr id="10" name="AutoShape 271">
            <a:extLst>
              <a:ext uri="{FF2B5EF4-FFF2-40B4-BE49-F238E27FC236}">
                <a16:creationId xmlns:a16="http://schemas.microsoft.com/office/drawing/2014/main" id="{8472F062-9A7D-62CC-D21E-BF1EDE85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-199458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400" b="1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</a:t>
            </a:r>
            <a:r>
              <a:rPr lang="en-US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Shrinking Spotlight Model</a:t>
            </a:r>
          </a:p>
        </p:txBody>
      </p:sp>
      <p:sp>
        <p:nvSpPr>
          <p:cNvPr id="18" name="AutoShape 271">
            <a:extLst>
              <a:ext uri="{FF2B5EF4-FFF2-40B4-BE49-F238E27FC236}">
                <a16:creationId xmlns:a16="http://schemas.microsoft.com/office/drawing/2014/main" id="{44B72519-1C4A-23F3-ABBE-564B4980E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12" y="57150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Rename Based on Topic</a:t>
            </a:r>
          </a:p>
        </p:txBody>
      </p:sp>
      <p:sp>
        <p:nvSpPr>
          <p:cNvPr id="31" name="Text Box 256">
            <a:extLst>
              <a:ext uri="{FF2B5EF4-FFF2-40B4-BE49-F238E27FC236}">
                <a16:creationId xmlns:a16="http://schemas.microsoft.com/office/drawing/2014/main" id="{12629F92-5FF4-82FF-DC0E-638DD80EA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4000" y="26581906"/>
            <a:ext cx="11125200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References go here (don’t forget there’s editable examples AND detailed instructions AND a checklist in the project instructions</a:t>
            </a:r>
          </a:p>
          <a:p>
            <a:pPr eaLnBrk="1" hangingPunct="1">
              <a:buFont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ALSO, don’t forget the AI reference. With your 3+ peer-reviewed references and your AI reference, there should be at least 4 references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6270AB-CE84-473E-BBB2-85FEDC993E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61" t="23439" r="32063" b="24094"/>
          <a:stretch/>
        </p:blipFill>
        <p:spPr>
          <a:xfrm>
            <a:off x="518578" y="607556"/>
            <a:ext cx="3661229" cy="2772372"/>
          </a:xfrm>
          <a:prstGeom prst="rect">
            <a:avLst/>
          </a:prstGeom>
        </p:spPr>
      </p:pic>
      <p:sp>
        <p:nvSpPr>
          <p:cNvPr id="11" name="Text Box 256">
            <a:extLst>
              <a:ext uri="{FF2B5EF4-FFF2-40B4-BE49-F238E27FC236}">
                <a16:creationId xmlns:a16="http://schemas.microsoft.com/office/drawing/2014/main" id="{E4954192-2802-4D22-A45E-60852BA26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70952" y="7086601"/>
            <a:ext cx="1112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Words go here</a:t>
            </a:r>
          </a:p>
        </p:txBody>
      </p:sp>
      <p:sp>
        <p:nvSpPr>
          <p:cNvPr id="4" name="AutoShape 271">
            <a:extLst>
              <a:ext uri="{FF2B5EF4-FFF2-40B4-BE49-F238E27FC236}">
                <a16:creationId xmlns:a16="http://schemas.microsoft.com/office/drawing/2014/main" id="{07305EFE-7018-E3E0-18A5-D630B275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11" y="230886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SMART Goal</a:t>
            </a:r>
          </a:p>
        </p:txBody>
      </p:sp>
      <p:sp>
        <p:nvSpPr>
          <p:cNvPr id="6" name="AutoShape 271">
            <a:extLst>
              <a:ext uri="{FF2B5EF4-FFF2-40B4-BE49-F238E27FC236}">
                <a16:creationId xmlns:a16="http://schemas.microsoft.com/office/drawing/2014/main" id="{54D8F12F-9059-D415-6F48-E87F3397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11" y="12215097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Project Rationale</a:t>
            </a:r>
          </a:p>
        </p:txBody>
      </p:sp>
      <p:sp>
        <p:nvSpPr>
          <p:cNvPr id="7" name="Text Box 255">
            <a:extLst>
              <a:ext uri="{FF2B5EF4-FFF2-40B4-BE49-F238E27FC236}">
                <a16:creationId xmlns:a16="http://schemas.microsoft.com/office/drawing/2014/main" id="{6CFF7B8C-66CB-3FD6-0197-68174F564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51" y="13563600"/>
            <a:ext cx="11125200" cy="693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/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Word go here</a:t>
            </a:r>
          </a:p>
        </p:txBody>
      </p:sp>
      <p:sp>
        <p:nvSpPr>
          <p:cNvPr id="12" name="AutoShape 271">
            <a:extLst>
              <a:ext uri="{FF2B5EF4-FFF2-40B4-BE49-F238E27FC236}">
                <a16:creationId xmlns:a16="http://schemas.microsoft.com/office/drawing/2014/main" id="{51E56B3D-80C4-1F68-8DA1-9E97D6D07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1100" y="57150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Data Collection Plan</a:t>
            </a:r>
          </a:p>
        </p:txBody>
      </p:sp>
      <p:sp>
        <p:nvSpPr>
          <p:cNvPr id="23" name="AutoShape 271">
            <a:extLst>
              <a:ext uri="{FF2B5EF4-FFF2-40B4-BE49-F238E27FC236}">
                <a16:creationId xmlns:a16="http://schemas.microsoft.com/office/drawing/2014/main" id="{BF9F855F-6DF7-2E07-39FB-672525BB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1788" y="57150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AI Feedback</a:t>
            </a:r>
          </a:p>
        </p:txBody>
      </p:sp>
      <p:sp>
        <p:nvSpPr>
          <p:cNvPr id="24" name="AutoShape 271">
            <a:extLst>
              <a:ext uri="{FF2B5EF4-FFF2-40B4-BE49-F238E27FC236}">
                <a16:creationId xmlns:a16="http://schemas.microsoft.com/office/drawing/2014/main" id="{40BD07BB-7EB4-0CC4-2952-F97447C42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1099" y="12215097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Results</a:t>
            </a:r>
          </a:p>
        </p:txBody>
      </p:sp>
      <p:sp>
        <p:nvSpPr>
          <p:cNvPr id="26" name="AutoShape 271">
            <a:extLst>
              <a:ext uri="{FF2B5EF4-FFF2-40B4-BE49-F238E27FC236}">
                <a16:creationId xmlns:a16="http://schemas.microsoft.com/office/drawing/2014/main" id="{DB851F53-2708-F006-D3A4-771BD505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1788" y="132588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Reflection &amp; Conclusion</a:t>
            </a:r>
          </a:p>
        </p:txBody>
      </p:sp>
      <p:sp>
        <p:nvSpPr>
          <p:cNvPr id="27" name="AutoShape 271">
            <a:extLst>
              <a:ext uri="{FF2B5EF4-FFF2-40B4-BE49-F238E27FC236}">
                <a16:creationId xmlns:a16="http://schemas.microsoft.com/office/drawing/2014/main" id="{DF9F2C38-C110-2B4D-FF7E-43AE6449F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34786" y="25298400"/>
            <a:ext cx="10969625" cy="914400"/>
          </a:xfrm>
          <a:prstGeom prst="roundRect">
            <a:avLst>
              <a:gd name="adj" fmla="val 50000"/>
            </a:avLst>
          </a:prstGeom>
          <a:solidFill>
            <a:srgbClr val="004D85"/>
          </a:solidFill>
          <a:ln>
            <a:noFill/>
          </a:ln>
          <a:effectLst>
            <a:outerShdw dist="251447" dir="2700000" algn="ctr" rotWithShape="0">
              <a:srgbClr val="787878"/>
            </a:outerShdw>
          </a:effectLst>
        </p:spPr>
        <p:txBody>
          <a:bodyPr wrap="none" lIns="43748" tIns="21122" rIns="43748" bIns="21122" anchor="ctr"/>
          <a:lstStyle>
            <a:lvl1pPr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968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41275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609600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815975" defTabSz="4127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2731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7303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1875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644775" defTabSz="4127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	References</a:t>
            </a:r>
          </a:p>
        </p:txBody>
      </p:sp>
      <p:sp>
        <p:nvSpPr>
          <p:cNvPr id="28" name="Text Box 256">
            <a:extLst>
              <a:ext uri="{FF2B5EF4-FFF2-40B4-BE49-F238E27FC236}">
                <a16:creationId xmlns:a16="http://schemas.microsoft.com/office/drawing/2014/main" id="{5D9C4DF3-8E54-C00F-3C5C-55FD5E5EF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0749" y="14478000"/>
            <a:ext cx="11125200" cy="414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What Worked?</a:t>
            </a:r>
          </a:p>
          <a:p>
            <a:pPr marL="457200" indent="-457200" eaLnBrk="1" hangingPunct="1"/>
            <a:r>
              <a:rPr lang="en-US" altLang="en-US" sz="2800" dirty="0">
                <a:latin typeface="Arial" panose="020B0604020202020204" pitchFamily="34" charset="0"/>
              </a:rPr>
              <a:t>words</a:t>
            </a:r>
          </a:p>
          <a:p>
            <a:pPr eaLnBrk="1" hangingPunct="1"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Challenges</a:t>
            </a:r>
          </a:p>
          <a:p>
            <a:pPr marL="457200" indent="-457200" eaLnBrk="1" hangingPunct="1"/>
            <a:r>
              <a:rPr lang="en-US" altLang="en-US" sz="2800" dirty="0">
                <a:latin typeface="Arial" panose="020B0604020202020204" pitchFamily="34" charset="0"/>
              </a:rPr>
              <a:t>More words</a:t>
            </a:r>
          </a:p>
          <a:p>
            <a:pPr eaLnBrk="1" hangingPunct="1"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Future Directions</a:t>
            </a:r>
          </a:p>
          <a:p>
            <a:pPr marL="457200" indent="-457200" eaLnBrk="1" hangingPunct="1"/>
            <a:r>
              <a:rPr lang="en-US" altLang="en-US" sz="2800" dirty="0">
                <a:latin typeface="Arial" panose="020B0604020202020204" pitchFamily="34" charset="0"/>
              </a:rPr>
              <a:t>Other words</a:t>
            </a:r>
          </a:p>
          <a:p>
            <a:pPr eaLnBrk="1" hangingPunct="1"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Conclusion words go here</a:t>
            </a:r>
          </a:p>
        </p:txBody>
      </p:sp>
      <p:sp>
        <p:nvSpPr>
          <p:cNvPr id="29" name="Text Box 256">
            <a:extLst>
              <a:ext uri="{FF2B5EF4-FFF2-40B4-BE49-F238E27FC236}">
                <a16:creationId xmlns:a16="http://schemas.microsoft.com/office/drawing/2014/main" id="{3E3379FB-D94F-BC7F-6226-EA83BDDE0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5919" y="13563600"/>
            <a:ext cx="1112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rIns="182880">
            <a:spAutoFit/>
          </a:bodyPr>
          <a:lstStyle>
            <a:lvl1pPr>
              <a:spcBef>
                <a:spcPct val="20000"/>
              </a:spcBef>
              <a:buChar char="•"/>
              <a:defRPr sz="16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Words AND a visual go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139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Verdana</vt:lpstr>
      <vt:lpstr>Default Design</vt:lpstr>
      <vt:lpstr>PowerPoint Presentation</vt:lpstr>
    </vt:vector>
  </TitlesOfParts>
  <Company>NCO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Office</dc:creator>
  <cp:lastModifiedBy>Bryanna Scheuler</cp:lastModifiedBy>
  <cp:revision>112</cp:revision>
  <dcterms:created xsi:type="dcterms:W3CDTF">2000-03-30T12:26:29Z</dcterms:created>
  <dcterms:modified xsi:type="dcterms:W3CDTF">2026-06-05T03:39:32Z</dcterms:modified>
</cp:coreProperties>
</file>